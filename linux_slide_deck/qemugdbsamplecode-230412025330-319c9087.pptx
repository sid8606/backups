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1146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2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9689-5689-7909-ED5A-0C1433CF4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616560-8955-9E0F-37C6-2F315B550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03537-27DD-0604-3E32-38128D01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81F2D-F7BE-EBE0-20C3-D1AE6452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2B94E-55D2-E461-AA77-1D8D6EBF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476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B00E8-49AA-72B1-EFFB-7449951C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48C32-E83C-1E5D-94DE-B8771A357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52BB3-6C74-372E-67DA-649F9F76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172A3-85BB-5D14-3E65-CC028497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BF095-88DA-DFF7-1376-7FBC8394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963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F3E37-E214-EDC9-113B-3F9DBCB4E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085BB-6839-CA0B-1A3E-BABDA0DB1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BA4FA-2655-22AE-16DE-82B52E9D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5D0C2-6467-E5DA-F5AD-FA5DD0E62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8BDD-165B-64CE-F018-318FB392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7300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E33FC-2243-D4E1-3420-4BEEA676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27C54-5AC7-6C36-B7A5-F9D40E578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E8810B-A0E0-3415-24EC-30C1E2E31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1947E-F1AA-C26C-8AB7-27DFD1ECF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4FCB1-7A8B-FD6B-A1C6-D079F57F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13955-64A6-4F0E-1822-C0782962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405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89196-400C-FB80-3CF3-4C3717CA1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31282-90E5-5ABF-DD1E-EB7C0CAD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F0CE63-A18F-9391-B3B9-100F5170B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3960A-C300-5168-9ED1-B7B0C3702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DCC95-0E3C-B312-8355-3FB602ADB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94AFD0-3220-6B03-EA0D-0517838B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9D5D32-9E1E-AB8B-9134-AAF589B6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151DE-FE6B-A351-5DAF-5EEA1C27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981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4D36D-9741-C094-5EA1-BACE5119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652578-D81C-164D-A291-FD809B7D7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1CB2D-7A4A-F580-D920-8566E783E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B15B1-C325-0F64-2E96-EE48633A7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088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0EB5AA-973E-EC61-33E1-FFEE39626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3B41D-6BE8-93C7-655D-92DC057BA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DF65C-59F2-2CCD-D6C4-100D0A83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8839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BAFC-9D81-70F1-F57E-D5E8461A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2F3DC-D080-FD53-3028-935C93DA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05D7A-A735-E88A-D92B-15C297C9C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978BF-151B-502B-92BA-EECE4F80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295EC-3950-ABE1-E8AD-E5B4EBEA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33DDF-B2BC-FED4-3466-502CE612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4632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9F78-419E-496A-AD20-1A249DAF7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F06546-3F7F-9D32-5D0E-6FE7AB3E9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188ED-894E-FCCA-EDD5-A7091F9D08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70EA6-B26A-B1BC-FDE5-C372CCCD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1AE32-D2B1-3CA8-D5FF-8FD43FD2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5D68B-AABD-FD98-9F01-674C91EB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68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A1D2-6B6D-3C93-0077-C27238E0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A04A8-8C3A-16AC-39AE-A01B37A25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4B8B-7D0D-936E-D475-45578F77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3337-0D5D-12D5-C56D-B85F07152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DFAA9-41D5-8D54-32B7-0E3C8A867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839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5DF8A-468D-ACC7-099A-D5AEFBB36E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4B9C9-8E6E-DD92-CE45-45DF33A14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9AF62-7B37-7C79-BB0C-A3C8FAC83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0A21E-8B17-4BF4-7E32-EBE78506A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52A6B-2339-3F0D-99FD-6C35936B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4917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418D12-3A90-6AC9-3159-0A84E5A94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092F2-5559-A043-71CD-42C84DC5F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0F468-7D4C-3CFA-C837-35A925577C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B8FF4C-8901-4BCD-8901-0BC16666DEE6}" type="datetimeFigureOut">
              <a:rPr lang="zh-TW" altLang="en-US" smtClean="0"/>
              <a:t>2023/4/12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7119F-6956-AF97-4E08-DEBB862DE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B9BA6-C34F-593D-5342-E1380AB01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EFDFE-3205-4633-A0D4-AF2C110EF0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217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AdrianHuang/qemu-gdb-the-efficient-way-to-understanddebug-linux-kernel-codedata-structu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drianHuang/gdb-linux-real-mode/blob/master/sample-code/t_mmap.c" TargetMode="External"/><Relationship Id="rId5" Type="http://schemas.openxmlformats.org/officeDocument/2006/relationships/hyperlink" Target="https://www.slideshare.net/AdrianHuang/memory-mapping-implementation-mmap-in-linux-kernel-251745285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98631E-3EA1-4B14-B8F7-FB8503812023}"/>
              </a:ext>
            </a:extLst>
          </p:cNvPr>
          <p:cNvSpPr txBox="1"/>
          <p:nvPr/>
        </p:nvSpPr>
        <p:spPr>
          <a:xfrm>
            <a:off x="7635240" y="4510851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* Based on kernel 6.2 (x86_64) – QEMU </a:t>
            </a:r>
          </a:p>
          <a:p>
            <a:r>
              <a:rPr lang="en-US" sz="2000" b="1" dirty="0"/>
              <a:t>* 2-socket CPUs (4 cores/socket)</a:t>
            </a:r>
          </a:p>
          <a:p>
            <a:r>
              <a:rPr lang="en-US" sz="2000" b="1" dirty="0"/>
              <a:t>* 16GB memory</a:t>
            </a:r>
          </a:p>
          <a:p>
            <a:r>
              <a:rPr lang="en-US" sz="2000" b="1" dirty="0"/>
              <a:t>* Kernel parameter: </a:t>
            </a:r>
            <a:r>
              <a:rPr lang="en-US" sz="2000" b="1" dirty="0" err="1"/>
              <a:t>nokaslr</a:t>
            </a:r>
            <a:r>
              <a:rPr lang="en-US" sz="2000" b="1" dirty="0"/>
              <a:t> </a:t>
            </a:r>
            <a:r>
              <a:rPr lang="en-US" sz="2000" b="1" dirty="0" err="1"/>
              <a:t>norandmaps</a:t>
            </a:r>
            <a:endParaRPr lang="en-US" sz="2000" b="1" dirty="0"/>
          </a:p>
          <a:p>
            <a:r>
              <a:rPr lang="en-US" sz="2000" b="1" dirty="0"/>
              <a:t>* KASAN: disabled</a:t>
            </a:r>
          </a:p>
          <a:p>
            <a:r>
              <a:rPr lang="en-US" sz="2000" b="1" dirty="0"/>
              <a:t>* </a:t>
            </a:r>
            <a:r>
              <a:rPr lang="en-US" sz="2000" b="1" dirty="0" err="1"/>
              <a:t>Userspace</a:t>
            </a:r>
            <a:r>
              <a:rPr lang="en-US" sz="2000" b="1" dirty="0"/>
              <a:t>: ASLR is disabled</a:t>
            </a:r>
          </a:p>
          <a:p>
            <a:r>
              <a:rPr lang="en-US" sz="2000" b="1" dirty="0"/>
              <a:t>* Host OS: Ubuntu 20.04.1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A49CCE-584C-4AF2-91F8-1A6950D1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240" y="745348"/>
            <a:ext cx="1220724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qemu + </a:t>
            </a:r>
            <a:r>
              <a:rPr lang="en-US" sz="4800" dirty="0" err="1"/>
              <a:t>gdb</a:t>
            </a:r>
            <a:r>
              <a:rPr lang="en-US" sz="4800" dirty="0"/>
              <a:t> + </a:t>
            </a:r>
            <a:r>
              <a:rPr lang="en-US" sz="4800" dirty="0" err="1"/>
              <a:t>sample_code</a:t>
            </a:r>
            <a:r>
              <a:rPr lang="en-US" sz="4800" dirty="0"/>
              <a:t>: Run sample code in QEMU OS and observe Linux Kernel behavior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19C8784D-42B8-4BF4-975C-D3A7A2708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92083"/>
            <a:ext cx="9144000" cy="165576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Adrian Huang | Apr, 2023</a:t>
            </a:r>
          </a:p>
        </p:txBody>
      </p:sp>
    </p:spTree>
    <p:extLst>
      <p:ext uri="{BB962C8B-B14F-4D97-AF65-F5344CB8AC3E}">
        <p14:creationId xmlns:p14="http://schemas.microsoft.com/office/powerpoint/2010/main" val="327657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059271-A9A6-55B4-72FD-23A8580250BF}"/>
              </a:ext>
            </a:extLst>
          </p:cNvPr>
          <p:cNvSpPr txBox="1"/>
          <p:nvPr/>
        </p:nvSpPr>
        <p:spPr>
          <a:xfrm>
            <a:off x="357325" y="2644196"/>
            <a:ext cx="120714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4000" b="1" i="0" dirty="0">
                <a:solidFill>
                  <a:srgbClr val="0E0F25"/>
                </a:solidFill>
                <a:effectLst/>
                <a:latin typeface="Source Sans Pro" panose="020B0503030403020204" pitchFamily="34" charset="0"/>
                <a:hlinkClick r:id="rId2"/>
              </a:rPr>
              <a:t>qemu + </a:t>
            </a:r>
            <a:r>
              <a:rPr lang="en-US" altLang="zh-TW" sz="4000" b="1" i="0" dirty="0" err="1">
                <a:solidFill>
                  <a:srgbClr val="0E0F25"/>
                </a:solidFill>
                <a:effectLst/>
                <a:latin typeface="Source Sans Pro" panose="020B0503030403020204" pitchFamily="34" charset="0"/>
                <a:hlinkClick r:id="rId2"/>
              </a:rPr>
              <a:t>gdb</a:t>
            </a:r>
            <a:r>
              <a:rPr lang="en-US" altLang="zh-TW" sz="4000" b="1" i="0" dirty="0">
                <a:solidFill>
                  <a:srgbClr val="0E0F25"/>
                </a:solidFill>
                <a:effectLst/>
                <a:latin typeface="Source Sans Pro" panose="020B0503030403020204" pitchFamily="34" charset="0"/>
                <a:hlinkClick r:id="rId2"/>
              </a:rPr>
              <a:t>: The efficient way to understand/debug Linux kernel code/data structure</a:t>
            </a:r>
            <a:endParaRPr lang="en-US" altLang="zh-TW" sz="4000" b="1" i="0" dirty="0">
              <a:solidFill>
                <a:srgbClr val="0E0F25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DA84A-C7C4-D374-04D7-1854A866824C}"/>
              </a:ext>
            </a:extLst>
          </p:cNvPr>
          <p:cNvSpPr txBox="1"/>
          <p:nvPr/>
        </p:nvSpPr>
        <p:spPr>
          <a:xfrm>
            <a:off x="357325" y="1945776"/>
            <a:ext cx="84870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/>
              <a:t>Refer this slide first:</a:t>
            </a:r>
            <a:endParaRPr lang="zh-TW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96229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3F73CFC-CB1D-45BA-AE80-2E6378F01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8" y="1448545"/>
            <a:ext cx="5754046" cy="361066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6587B2-98F6-4690-ABEA-DF4304AE5416}"/>
              </a:ext>
            </a:extLst>
          </p:cNvPr>
          <p:cNvSpPr txBox="1"/>
          <p:nvPr/>
        </p:nvSpPr>
        <p:spPr>
          <a:xfrm>
            <a:off x="6033287" y="3156959"/>
            <a:ext cx="2141616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Console #2: </a:t>
            </a:r>
            <a:r>
              <a:rPr lang="en-US" sz="1600" b="1" dirty="0" err="1">
                <a:solidFill>
                  <a:schemeClr val="bg1"/>
                </a:solidFill>
              </a:rPr>
              <a:t>gdb</a:t>
            </a:r>
            <a:r>
              <a:rPr lang="en-US" sz="1600" b="1" dirty="0">
                <a:solidFill>
                  <a:schemeClr val="bg1"/>
                </a:solidFill>
              </a:rPr>
              <a:t> console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12710-3D55-4BF6-8192-210D9F603E21}"/>
              </a:ext>
            </a:extLst>
          </p:cNvPr>
          <p:cNvSpPr txBox="1"/>
          <p:nvPr/>
        </p:nvSpPr>
        <p:spPr>
          <a:xfrm>
            <a:off x="6067979" y="1217190"/>
            <a:ext cx="2491741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Console #1: QEMU: Guest OS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C705B32-4B48-4239-8A06-A102CA17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93" y="189337"/>
            <a:ext cx="10842542" cy="686836"/>
          </a:xfrm>
        </p:spPr>
        <p:txBody>
          <a:bodyPr>
            <a:normAutofit fontScale="90000"/>
          </a:bodyPr>
          <a:lstStyle/>
          <a:p>
            <a:pPr>
              <a:tabLst>
                <a:tab pos="685800" algn="l"/>
              </a:tabLst>
            </a:pPr>
            <a:r>
              <a:rPr lang="en-US" altLang="zh-TW" dirty="0"/>
              <a:t>Observe page fault behavior about </a:t>
            </a:r>
            <a:r>
              <a:rPr lang="en-US" altLang="zh-TW" dirty="0" err="1"/>
              <a:t>mmap</a:t>
            </a:r>
            <a:r>
              <a:rPr lang="en-US" altLang="zh-TW" dirty="0"/>
              <a:t> address: Conditional breakpoint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3EE01F-6EC3-4965-9D5A-597DC74B220C}"/>
              </a:ext>
            </a:extLst>
          </p:cNvPr>
          <p:cNvSpPr/>
          <p:nvPr/>
        </p:nvSpPr>
        <p:spPr>
          <a:xfrm>
            <a:off x="91564" y="4633843"/>
            <a:ext cx="5832346" cy="325281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C84E76-28AB-4A32-BD21-45BA925301A1}"/>
              </a:ext>
            </a:extLst>
          </p:cNvPr>
          <p:cNvSpPr txBox="1"/>
          <p:nvPr/>
        </p:nvSpPr>
        <p:spPr>
          <a:xfrm>
            <a:off x="100291" y="1182122"/>
            <a:ext cx="3456717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r>
              <a:rPr lang="en-US" sz="1600" b="1" dirty="0" err="1">
                <a:solidFill>
                  <a:schemeClr val="bg1"/>
                </a:solidFill>
              </a:rPr>
              <a:t>gdb</a:t>
            </a:r>
            <a:r>
              <a:rPr lang="en-US" sz="1600" b="1" dirty="0">
                <a:solidFill>
                  <a:schemeClr val="bg1"/>
                </a:solidFill>
              </a:rPr>
              <a:t>-files/gdb-linux-kernel-real-mode.txt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B73502-1B69-182F-1522-15E8603C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77697"/>
            <a:ext cx="4838700" cy="1114425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2C0A3A-A86A-FDCE-6A11-71F791A19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9822" y="3418641"/>
            <a:ext cx="6040614" cy="164056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337807-FCDA-C6CB-21DE-4693A632D65C}"/>
              </a:ext>
            </a:extLst>
          </p:cNvPr>
          <p:cNvSpPr txBox="1"/>
          <p:nvPr/>
        </p:nvSpPr>
        <p:spPr>
          <a:xfrm>
            <a:off x="2491515" y="5624046"/>
            <a:ext cx="6864789" cy="89255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ym typeface="Wingdings" panose="05000000000000000000" pitchFamily="2" charset="2"/>
              </a:rPr>
              <a:t>0x7ffff7ff9000 is the </a:t>
            </a:r>
            <a:r>
              <a:rPr lang="en-US" altLang="zh-TW" dirty="0" err="1">
                <a:sym typeface="Wingdings" panose="05000000000000000000" pitchFamily="2" charset="2"/>
              </a:rPr>
              <a:t>mmap</a:t>
            </a:r>
            <a:r>
              <a:rPr lang="en-US" altLang="zh-TW" dirty="0">
                <a:sym typeface="Wingdings" panose="05000000000000000000" pitchFamily="2" charset="2"/>
              </a:rPr>
              <a:t> address provide by Linux Kernel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zh-TW" sz="1600" dirty="0">
                <a:sym typeface="Wingdings" panose="05000000000000000000" pitchFamily="2" charset="2"/>
              </a:rPr>
              <a:t>Reference: </a:t>
            </a:r>
            <a:r>
              <a:rPr lang="en-US" altLang="zh-TW" sz="1600" dirty="0">
                <a:hlinkClick r:id="rId5"/>
              </a:rPr>
              <a:t>Memory Mapping Implementation (</a:t>
            </a:r>
            <a:r>
              <a:rPr lang="en-US" altLang="zh-TW" sz="1600" dirty="0" err="1">
                <a:hlinkClick r:id="rId5"/>
              </a:rPr>
              <a:t>mmap</a:t>
            </a:r>
            <a:r>
              <a:rPr lang="en-US" altLang="zh-TW" sz="1600" dirty="0">
                <a:hlinkClick r:id="rId5"/>
              </a:rPr>
              <a:t>) in Linux Kernel</a:t>
            </a:r>
            <a:endParaRPr lang="en-US" altLang="zh-TW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sym typeface="Wingdings" panose="05000000000000000000" pitchFamily="2" charset="2"/>
              </a:rPr>
              <a:t>Sample code to trigger the conditional breakpoint: </a:t>
            </a:r>
            <a:r>
              <a:rPr lang="en-US" altLang="zh-TW" dirty="0">
                <a:sym typeface="Wingdings" panose="05000000000000000000" pitchFamily="2" charset="2"/>
                <a:hlinkClick r:id="rId6"/>
              </a:rPr>
              <a:t>t_mmap.c</a:t>
            </a:r>
            <a:endParaRPr lang="en-US" altLang="zh-TW" dirty="0"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131F7D-0403-30CF-2936-5ED87141F3D5}"/>
              </a:ext>
            </a:extLst>
          </p:cNvPr>
          <p:cNvSpPr txBox="1"/>
          <p:nvPr/>
        </p:nvSpPr>
        <p:spPr>
          <a:xfrm>
            <a:off x="2479610" y="5377825"/>
            <a:ext cx="512738" cy="246221"/>
          </a:xfrm>
          <a:prstGeom prst="rect">
            <a:avLst/>
          </a:prstGeom>
          <a:solidFill>
            <a:schemeClr val="tx1"/>
          </a:solidFill>
          <a:ln w="12700">
            <a:noFill/>
          </a:ln>
        </p:spPr>
        <p:txBody>
          <a:bodyPr wrap="square" lIns="45720" tIns="0" rIns="0" bIns="0" rtlCol="0">
            <a:spAutoFit/>
          </a:bodyPr>
          <a:lstStyle/>
          <a:p>
            <a:r>
              <a:rPr lang="en-US" altLang="zh-TW" sz="1600" b="1" dirty="0">
                <a:solidFill>
                  <a:schemeClr val="bg1"/>
                </a:solidFill>
              </a:rPr>
              <a:t>Note</a:t>
            </a:r>
            <a:endParaRPr lang="en-US" sz="11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9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154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Source Sans Pro</vt:lpstr>
      <vt:lpstr>Wingdings</vt:lpstr>
      <vt:lpstr>Office Theme</vt:lpstr>
      <vt:lpstr>qemu + gdb + sample_code: Run sample code in QEMU OS and observe Linux Kernel behavior</vt:lpstr>
      <vt:lpstr>PowerPoint Presentation</vt:lpstr>
      <vt:lpstr>Observe page fault behavior about mmap address: Conditional breakpoint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qemu + gdb + sample_code: Run sample code in QEMU OS and debug Linux Kern el</dc:title>
  <dc:creator>Adrian Huang</dc:creator>
  <cp:lastModifiedBy>Adrian Huang</cp:lastModifiedBy>
  <cp:revision>8</cp:revision>
  <dcterms:created xsi:type="dcterms:W3CDTF">2023-04-12T01:57:01Z</dcterms:created>
  <dcterms:modified xsi:type="dcterms:W3CDTF">2023-04-12T02:52:32Z</dcterms:modified>
</cp:coreProperties>
</file>