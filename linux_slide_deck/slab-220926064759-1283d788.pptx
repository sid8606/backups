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3"/>
  </p:notesMasterIdLst>
  <p:sldIdLst>
    <p:sldId id="256" r:id="rId2"/>
    <p:sldId id="574" r:id="rId3"/>
    <p:sldId id="432" r:id="rId4"/>
    <p:sldId id="963" r:id="rId5"/>
    <p:sldId id="938" r:id="rId6"/>
    <p:sldId id="1073" r:id="rId7"/>
    <p:sldId id="1079" r:id="rId8"/>
    <p:sldId id="1080" r:id="rId9"/>
    <p:sldId id="1076" r:id="rId10"/>
    <p:sldId id="1041" r:id="rId11"/>
    <p:sldId id="942" r:id="rId12"/>
    <p:sldId id="948" r:id="rId13"/>
    <p:sldId id="949" r:id="rId14"/>
    <p:sldId id="947" r:id="rId15"/>
    <p:sldId id="946" r:id="rId16"/>
    <p:sldId id="943" r:id="rId17"/>
    <p:sldId id="945" r:id="rId18"/>
    <p:sldId id="964" r:id="rId19"/>
    <p:sldId id="976" r:id="rId20"/>
    <p:sldId id="951" r:id="rId21"/>
    <p:sldId id="978" r:id="rId22"/>
    <p:sldId id="979" r:id="rId23"/>
    <p:sldId id="980" r:id="rId24"/>
    <p:sldId id="952" r:id="rId25"/>
    <p:sldId id="953" r:id="rId26"/>
    <p:sldId id="954" r:id="rId27"/>
    <p:sldId id="981" r:id="rId28"/>
    <p:sldId id="1043" r:id="rId29"/>
    <p:sldId id="1044" r:id="rId30"/>
    <p:sldId id="1061" r:id="rId31"/>
    <p:sldId id="965" r:id="rId32"/>
    <p:sldId id="959" r:id="rId33"/>
    <p:sldId id="961" r:id="rId34"/>
    <p:sldId id="969" r:id="rId35"/>
    <p:sldId id="982" r:id="rId36"/>
    <p:sldId id="990" r:id="rId37"/>
    <p:sldId id="991" r:id="rId38"/>
    <p:sldId id="992" r:id="rId39"/>
    <p:sldId id="993" r:id="rId40"/>
    <p:sldId id="996" r:id="rId41"/>
    <p:sldId id="997" r:id="rId42"/>
    <p:sldId id="1000" r:id="rId43"/>
    <p:sldId id="1002" r:id="rId44"/>
    <p:sldId id="1001" r:id="rId45"/>
    <p:sldId id="1004" r:id="rId46"/>
    <p:sldId id="1005" r:id="rId47"/>
    <p:sldId id="1006" r:id="rId48"/>
    <p:sldId id="1007" r:id="rId49"/>
    <p:sldId id="1008" r:id="rId50"/>
    <p:sldId id="1009" r:id="rId51"/>
    <p:sldId id="1010" r:id="rId52"/>
    <p:sldId id="1011" r:id="rId53"/>
    <p:sldId id="1013" r:id="rId54"/>
    <p:sldId id="1083" r:id="rId55"/>
    <p:sldId id="1012" r:id="rId56"/>
    <p:sldId id="1019" r:id="rId57"/>
    <p:sldId id="1016" r:id="rId58"/>
    <p:sldId id="1017" r:id="rId59"/>
    <p:sldId id="1018" r:id="rId60"/>
    <p:sldId id="1020" r:id="rId61"/>
    <p:sldId id="1046" r:id="rId62"/>
    <p:sldId id="1021" r:id="rId63"/>
    <p:sldId id="1022" r:id="rId64"/>
    <p:sldId id="1023" r:id="rId65"/>
    <p:sldId id="1024" r:id="rId66"/>
    <p:sldId id="1025" r:id="rId67"/>
    <p:sldId id="1082" r:id="rId68"/>
    <p:sldId id="1081" r:id="rId69"/>
    <p:sldId id="1048" r:id="rId70"/>
    <p:sldId id="1049" r:id="rId71"/>
    <p:sldId id="1050" r:id="rId72"/>
    <p:sldId id="1054" r:id="rId73"/>
    <p:sldId id="1055" r:id="rId74"/>
    <p:sldId id="1056" r:id="rId75"/>
    <p:sldId id="1051" r:id="rId76"/>
    <p:sldId id="1053" r:id="rId77"/>
    <p:sldId id="1058" r:id="rId78"/>
    <p:sldId id="1059" r:id="rId79"/>
    <p:sldId id="1060" r:id="rId80"/>
    <p:sldId id="1084" r:id="rId81"/>
    <p:sldId id="1062" r:id="rId82"/>
    <p:sldId id="1029" r:id="rId83"/>
    <p:sldId id="1031" r:id="rId84"/>
    <p:sldId id="1032" r:id="rId85"/>
    <p:sldId id="1033" r:id="rId86"/>
    <p:sldId id="1034" r:id="rId87"/>
    <p:sldId id="1035" r:id="rId88"/>
    <p:sldId id="1063" r:id="rId89"/>
    <p:sldId id="1065" r:id="rId90"/>
    <p:sldId id="1066" r:id="rId91"/>
    <p:sldId id="1067" r:id="rId92"/>
    <p:sldId id="1068" r:id="rId93"/>
    <p:sldId id="1069" r:id="rId94"/>
    <p:sldId id="1085" r:id="rId95"/>
    <p:sldId id="1071" r:id="rId96"/>
    <p:sldId id="410" r:id="rId97"/>
    <p:sldId id="1078" r:id="rId98"/>
    <p:sldId id="1072" r:id="rId99"/>
    <p:sldId id="1039" r:id="rId100"/>
    <p:sldId id="1038" r:id="rId101"/>
    <p:sldId id="1074" r:id="rId1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rian Huang12" initials="AH" lastIdx="1" clrIdx="0">
    <p:extLst>
      <p:ext uri="{19B8F6BF-5375-455C-9EA6-DF929625EA0E}">
        <p15:presenceInfo xmlns:p15="http://schemas.microsoft.com/office/powerpoint/2012/main" userId="S::ahuang12@lenovo.com::4a3b20b1-4d8d-470c-93f1-894b44d1fc7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49" autoAdjust="0"/>
    <p:restoredTop sz="93594" autoAdjust="0"/>
  </p:normalViewPr>
  <p:slideViewPr>
    <p:cSldViewPr snapToGrid="0">
      <p:cViewPr>
        <p:scale>
          <a:sx n="100" d="100"/>
          <a:sy n="100" d="100"/>
        </p:scale>
        <p:origin x="1452" y="228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8E347-0ECA-48D2-BDA9-1CAD9C016429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92166-0D90-47E3-9C28-BD94E8100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54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41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25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56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98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91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89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82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98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795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52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39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503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75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463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26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6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099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226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302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798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545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853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841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787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292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47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125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Wedson</a:t>
            </a:r>
            <a:r>
              <a:rPr lang="en-US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Almeida Filho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1551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Wedson</a:t>
            </a:r>
            <a:r>
              <a:rPr lang="en-US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Almeida Filho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316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Wedson</a:t>
            </a:r>
            <a:r>
              <a:rPr lang="en-US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Almeida Filho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966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Wedson</a:t>
            </a:r>
            <a:r>
              <a:rPr lang="en-US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Almeida Filho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465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Wedson</a:t>
            </a:r>
            <a:r>
              <a:rPr lang="en-US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Almeida Filho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83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Wedson</a:t>
            </a:r>
            <a:r>
              <a:rPr lang="en-US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Almeida Filho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928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Wedson</a:t>
            </a:r>
            <a:r>
              <a:rPr lang="en-US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Almeida Filho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317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Wedson</a:t>
            </a:r>
            <a:r>
              <a:rPr lang="en-US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Almeida Filho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261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Wedson</a:t>
            </a:r>
            <a:r>
              <a:rPr lang="en-US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Almeida Filho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735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7046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Wedson</a:t>
            </a:r>
            <a:r>
              <a:rPr lang="en-US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Almeida Filho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20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Wedson</a:t>
            </a:r>
            <a:r>
              <a:rPr lang="en-US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Almeida Filho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036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Wedson</a:t>
            </a:r>
            <a:r>
              <a:rPr lang="en-US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Almeida Filho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492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Wedson</a:t>
            </a:r>
            <a:r>
              <a:rPr lang="en-US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Almeida Filho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110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Wedson</a:t>
            </a:r>
            <a:r>
              <a:rPr lang="en-US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Almeida Filho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435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Wedson</a:t>
            </a:r>
            <a:r>
              <a:rPr lang="en-US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Almeida Filho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100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436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660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953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92166-0D90-47E3-9C28-BD94E81006E3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01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4B0E-C422-44A3-927E-162922AEA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4427F-CA17-4E05-8DDD-F20F29A93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13E7B-71D3-4E74-A2F8-8AA0B0E4B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D2A03-922F-4443-A0CF-3871FB87844D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57AA8-AEDD-442B-9097-FC873C329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07852-DAF6-4FB6-8F32-AD63E6827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4EC0-1093-467C-9585-2E4DDC66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0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8AF8-B95D-46F8-AD78-5886B82CE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A2F1-FF36-442A-B6C8-3D58C02A1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DD708-E8E3-4AB4-B7A6-973E38F3A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D2A03-922F-4443-A0CF-3871FB87844D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2B329-EB6E-4863-AD5D-8147C365C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F5E2D-4F85-49A4-8439-9E97F153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4EC0-1093-467C-9585-2E4DDC66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83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A50DD-D29D-4367-A137-CE6617191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846C3-CAEF-4F7D-B1F5-636D1A9FB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7FE16-CEB6-4A93-A30D-47794DD2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D2A03-922F-4443-A0CF-3871FB87844D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EA320-210F-4828-9E5E-744A43033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39D03-F330-43DE-AE47-F62F3F4A1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4EC0-1093-467C-9585-2E4DDC66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84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C580-AF30-4D6C-83AE-2DFC19441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BEA9A-2E1C-4976-8B04-F368EF3D05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8D8F0-520C-48D2-9857-9A3630517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230A5-7E06-4741-9D71-8DEA2970D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D2A03-922F-4443-A0CF-3871FB87844D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46513-191A-4754-AC32-F96BF0AEE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A3788-9635-476A-9F5B-919340A79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4EC0-1093-467C-9585-2E4DDC66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80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B0C7D-1B7A-40F7-92F4-BAF0299C2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017BB-0A04-478C-96AD-FC7A62AD6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AC456-C186-4361-AD62-F73CCCEBF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FDB5B-D4D3-454D-A0FC-7B9AED7BD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7B8039-AE14-49BD-8FCF-4D0242581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456D1-F732-4432-91DD-2F008CB63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D2A03-922F-4443-A0CF-3871FB87844D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176CF-DDEF-46C1-A43B-DADFB536D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CC7D6A-E1A9-4ED9-9C96-9EEDA5A25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4EC0-1093-467C-9585-2E4DDC66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20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F5981-F0D0-4273-BDDF-2FD90FB6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F74CF5-FE3D-4C51-9CD1-83B0F7139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D2A03-922F-4443-A0CF-3871FB87844D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0E2DC-3D3C-4AEF-85D1-7034C64B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153D6-98B4-4808-9A05-36D222021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4EC0-1093-467C-9585-2E4DDC66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61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CF542D-9047-449A-90A1-444DF4F3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D2A03-922F-4443-A0CF-3871FB87844D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9F69E2-3942-409B-B2EE-3953E8426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4A269-F0CD-4DD5-B781-85386185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4EC0-1093-467C-9585-2E4DDC66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6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364D9-B4C1-4DA4-940C-0F2915E5E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C98AB-4FA5-4240-AF14-1A1B22F7E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E72A7-93A7-48A7-91B1-6D484BB6F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A2AC4-7892-4657-BEAC-185A2FB19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D2A03-922F-4443-A0CF-3871FB87844D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B97E0-77B1-4ADD-882F-76E8A4981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42B45-BF07-44D2-B720-A6F3950AD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4EC0-1093-467C-9585-2E4DDC66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81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DCF9A-A6E9-4CEC-AEE4-FABB02894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E66152-CE27-4CCB-9E2A-9815898750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649FA-633F-4EC9-8999-B727CBB94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EDE45-5BA5-4B0C-8BA2-D0E659BF6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D2A03-922F-4443-A0CF-3871FB87844D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F8500-9895-41FA-A676-27F37DB34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A6E67-2C85-4557-B487-1D25046E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4EC0-1093-467C-9585-2E4DDC66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0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946C-5651-4E75-99A8-CB0C1925D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667B8-BBD2-47BC-AF77-8BA322E34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FC9DC-5537-4D0C-99D5-BB4D040E2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D2A03-922F-4443-A0CF-3871FB87844D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79F27-C5CA-4C3A-94B7-3E4FF758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747B0-16A7-4DD3-88E4-EBF23B6F4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4EC0-1093-467C-9585-2E4DDC66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00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9CE9F8-2CB9-4B69-B9D3-46CF57646C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176C3-BC16-43F8-9C4D-B4F1BC18E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16A90-8E08-4918-8101-3A2EC0A4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D2A03-922F-4443-A0CF-3871FB87844D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50EE4-A81F-4F1B-A4F0-FB5ED389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7F6D9-1ACA-4B21-8A95-6C7E0FB84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4EC0-1093-467C-9585-2E4DDC66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54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30D4FB-72C3-4855-83D5-41408081C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C28CE-1A64-49E7-8837-53671AD32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D598-B945-4366-AAFF-0F826250CD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D2A03-922F-4443-A0CF-3871FB87844D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AB49C-4A01-4759-B84B-63F45E2E1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236D0-DC8C-40A2-82E4-1F8A45292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64EC0-1093-467C-9585-2E4DDC66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79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lideshare.net/AdrianHuang/decompressed-vmlinux-linux-kernel-initialization-from-page-table-configuration-perspective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blogs.com/LoyenWang/p/11922887.html" TargetMode="Externa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98631E-3EA1-4B14-B8F7-FB8503812023}"/>
              </a:ext>
            </a:extLst>
          </p:cNvPr>
          <p:cNvSpPr txBox="1"/>
          <p:nvPr/>
        </p:nvSpPr>
        <p:spPr>
          <a:xfrm>
            <a:off x="7635240" y="4577526"/>
            <a:ext cx="457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* Based on kernel 5.11 (x86_64) – QEMU </a:t>
            </a:r>
          </a:p>
          <a:p>
            <a:r>
              <a:rPr lang="en-US" sz="2000" b="1" dirty="0"/>
              <a:t>* 2-socket CPUs (4 cores/socket)</a:t>
            </a:r>
          </a:p>
          <a:p>
            <a:r>
              <a:rPr lang="en-US" sz="2000" b="1" dirty="0"/>
              <a:t>* 16GB memory</a:t>
            </a:r>
          </a:p>
          <a:p>
            <a:r>
              <a:rPr lang="en-US" sz="2000" b="1" dirty="0"/>
              <a:t>* Kernel parameter: </a:t>
            </a:r>
            <a:r>
              <a:rPr lang="en-US" sz="2000" b="1" dirty="0" err="1"/>
              <a:t>nokaslr</a:t>
            </a:r>
            <a:r>
              <a:rPr lang="en-US" sz="2000" b="1" dirty="0"/>
              <a:t> </a:t>
            </a:r>
            <a:r>
              <a:rPr lang="en-US" sz="2000" b="1" dirty="0" err="1"/>
              <a:t>norandmaps</a:t>
            </a:r>
            <a:endParaRPr lang="en-US" sz="2000" b="1" dirty="0"/>
          </a:p>
          <a:p>
            <a:r>
              <a:rPr lang="en-US" sz="2000" b="1" dirty="0"/>
              <a:t>* KASAN: disabled</a:t>
            </a:r>
          </a:p>
          <a:p>
            <a:r>
              <a:rPr lang="en-US" sz="2000" b="1" dirty="0"/>
              <a:t>* </a:t>
            </a:r>
            <a:r>
              <a:rPr lang="en-US" sz="2000" b="1" dirty="0" err="1"/>
              <a:t>Userspace</a:t>
            </a:r>
            <a:r>
              <a:rPr lang="en-US" sz="2000" b="1" dirty="0"/>
              <a:t>: ASLR is disabled</a:t>
            </a:r>
          </a:p>
          <a:p>
            <a:r>
              <a:rPr lang="en-US" sz="2000" b="1" dirty="0"/>
              <a:t>* Legacy BIOS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BA49CCE-584C-4AF2-91F8-1A6950D1F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240" y="745348"/>
            <a:ext cx="12207240" cy="2387600"/>
          </a:xfrm>
        </p:spPr>
        <p:txBody>
          <a:bodyPr>
            <a:normAutofit/>
          </a:bodyPr>
          <a:lstStyle/>
          <a:p>
            <a:r>
              <a:rPr lang="en-US" sz="4800" dirty="0"/>
              <a:t>Slab Allocator in Linux Kernel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9C8784D-42B8-4BF4-975C-D3A7A2708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92083"/>
            <a:ext cx="9144000" cy="165576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Adrian Huang | Aug, 2022</a:t>
            </a:r>
          </a:p>
        </p:txBody>
      </p:sp>
    </p:spTree>
    <p:extLst>
      <p:ext uri="{BB962C8B-B14F-4D97-AF65-F5344CB8AC3E}">
        <p14:creationId xmlns:p14="http://schemas.microsoft.com/office/powerpoint/2010/main" val="3276578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54246-5B21-421C-B2D6-DED3906E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033" y="57118"/>
            <a:ext cx="10515600" cy="623919"/>
          </a:xfrm>
        </p:spPr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5473493-A435-45F1-B6DD-45CC11AEB784}"/>
              </a:ext>
            </a:extLst>
          </p:cNvPr>
          <p:cNvSpPr txBox="1">
            <a:spLocks/>
          </p:cNvSpPr>
          <p:nvPr/>
        </p:nvSpPr>
        <p:spPr>
          <a:xfrm>
            <a:off x="194388" y="793003"/>
            <a:ext cx="11871921" cy="606499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Slab &amp; Buddy System</a:t>
            </a:r>
          </a:p>
          <a:p>
            <a:endParaRPr lang="en-US" dirty="0"/>
          </a:p>
          <a:p>
            <a:r>
              <a:rPr lang="en-US" dirty="0"/>
              <a:t>Slab Concept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“Chicken or the egg” problem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Will not focus the differences about slab/</a:t>
            </a:r>
            <a:r>
              <a:rPr lang="en-US" sz="2400" dirty="0" err="1"/>
              <a:t>slub</a:t>
            </a:r>
            <a:r>
              <a:rPr lang="en-US" sz="2400" dirty="0"/>
              <a:t>/slob: Lots of info about them in Internet.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Note: SLUB is the default allocator since 2.6.23.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[Init &amp; Creation] </a:t>
            </a:r>
            <a:r>
              <a:rPr lang="en-US" sz="2800" dirty="0" err="1">
                <a:solidFill>
                  <a:schemeClr val="tx1"/>
                </a:solidFill>
              </a:rPr>
              <a:t>kmem_cache_init</a:t>
            </a:r>
            <a:r>
              <a:rPr lang="en-US" dirty="0">
                <a:solidFill>
                  <a:schemeClr val="tx1"/>
                </a:solidFill>
              </a:rPr>
              <a:t>(): Let’s check the initialization detail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How to initialize ‘</a:t>
            </a:r>
            <a:r>
              <a:rPr lang="en-US" dirty="0" err="1">
                <a:solidFill>
                  <a:schemeClr val="tx1"/>
                </a:solidFill>
              </a:rPr>
              <a:t>boot_kmem_cache</a:t>
            </a:r>
            <a:r>
              <a:rPr lang="en-US" dirty="0">
                <a:solidFill>
                  <a:schemeClr val="tx1"/>
                </a:solidFill>
              </a:rPr>
              <a:t>’ and ‘</a:t>
            </a:r>
            <a:r>
              <a:rPr lang="en-US" dirty="0" err="1">
                <a:solidFill>
                  <a:schemeClr val="tx1"/>
                </a:solidFill>
              </a:rPr>
              <a:t>boot_kmem_cache_node</a:t>
            </a:r>
            <a:r>
              <a:rPr lang="en-US" dirty="0">
                <a:solidFill>
                  <a:schemeClr val="tx1"/>
                </a:solidFill>
              </a:rPr>
              <a:t>’?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What are </a:t>
            </a:r>
            <a:r>
              <a:rPr lang="en-US" dirty="0" err="1">
                <a:solidFill>
                  <a:schemeClr val="tx1"/>
                </a:solidFill>
              </a:rPr>
              <a:t>freepointers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Data structures: </a:t>
            </a:r>
            <a:r>
              <a:rPr lang="en-US" dirty="0" err="1">
                <a:solidFill>
                  <a:schemeClr val="tx1"/>
                </a:solidFill>
              </a:rPr>
              <a:t>kmem_cache</a:t>
            </a:r>
            <a:r>
              <a:rPr lang="en-US" dirty="0">
                <a:solidFill>
                  <a:schemeClr val="tx1"/>
                </a:solidFill>
              </a:rPr>
              <a:t> &amp; </a:t>
            </a:r>
            <a:r>
              <a:rPr lang="en-US" dirty="0" err="1">
                <a:solidFill>
                  <a:schemeClr val="tx1"/>
                </a:solidFill>
              </a:rPr>
              <a:t>kmem_cache_node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[Comparison] Generic </a:t>
            </a:r>
            <a:r>
              <a:rPr lang="en-US" dirty="0" err="1">
                <a:solidFill>
                  <a:schemeClr val="tx1"/>
                </a:solidFill>
              </a:rPr>
              <a:t>kmem_cache_create</a:t>
            </a:r>
            <a:r>
              <a:rPr lang="en-US" dirty="0">
                <a:solidFill>
                  <a:schemeClr val="tx1"/>
                </a:solidFill>
              </a:rPr>
              <a:t>() &amp; low-level implementation __</a:t>
            </a:r>
            <a:r>
              <a:rPr lang="en-US" dirty="0" err="1">
                <a:solidFill>
                  <a:schemeClr val="tx1"/>
                </a:solidFill>
              </a:rPr>
              <a:t>kmem_cache_create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r>
              <a:rPr lang="en-US" dirty="0"/>
              <a:t>[Cache allocation] </a:t>
            </a:r>
            <a:r>
              <a:rPr lang="en-US" dirty="0" err="1"/>
              <a:t>slab_alloc_node</a:t>
            </a:r>
            <a:r>
              <a:rPr lang="en-US" dirty="0"/>
              <a:t> – Allocate a slab cache with specific node id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Fast path &amp; slow path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Will follow </a:t>
            </a:r>
            <a:r>
              <a:rPr lang="en-US" sz="2000" dirty="0" err="1"/>
              <a:t>kmem_cache_init</a:t>
            </a:r>
            <a:r>
              <a:rPr lang="en-US" sz="2000" dirty="0"/>
              <a:t>() flow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sz="2800" dirty="0"/>
              <a:t>[Cache release/free] </a:t>
            </a:r>
            <a:r>
              <a:rPr lang="en-US" sz="2800" dirty="0" err="1"/>
              <a:t>kmem_cache_free</a:t>
            </a:r>
            <a:r>
              <a:rPr lang="en-US" sz="2800" dirty="0"/>
              <a:t>()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Fast path &amp; slow path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 err="1">
                <a:solidFill>
                  <a:schemeClr val="tx1"/>
                </a:solidFill>
              </a:rPr>
              <a:t>kmalloc</a:t>
            </a:r>
            <a:r>
              <a:rPr lang="en-US" sz="2800" dirty="0">
                <a:solidFill>
                  <a:schemeClr val="tx1"/>
                </a:solidFill>
              </a:rPr>
              <a:t> &amp; slab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406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020E6-9710-42F7-98FE-3090D45B2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17418"/>
            <a:ext cx="10515600" cy="514441"/>
          </a:xfrm>
        </p:spPr>
        <p:txBody>
          <a:bodyPr>
            <a:normAutofit fontScale="90000"/>
          </a:bodyPr>
          <a:lstStyle/>
          <a:p>
            <a:r>
              <a:rPr lang="en-US" dirty="0"/>
              <a:t>Slab &amp; Buddy System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AC08973-1724-45BF-B39D-F7439811A089}"/>
              </a:ext>
            </a:extLst>
          </p:cNvPr>
          <p:cNvGrpSpPr/>
          <p:nvPr/>
        </p:nvGrpSpPr>
        <p:grpSpPr>
          <a:xfrm>
            <a:off x="984164" y="1119817"/>
            <a:ext cx="4558793" cy="3927568"/>
            <a:chOff x="984164" y="1119817"/>
            <a:chExt cx="4558793" cy="39275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373D625-B636-4BCE-87BE-A57124199657}"/>
                </a:ext>
              </a:extLst>
            </p:cNvPr>
            <p:cNvSpPr/>
            <p:nvPr/>
          </p:nvSpPr>
          <p:spPr>
            <a:xfrm>
              <a:off x="1114793" y="3509959"/>
              <a:ext cx="3701143" cy="5312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Buddy System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alloc_page</a:t>
              </a:r>
              <a:r>
                <a:rPr lang="en-US" sz="1200" dirty="0">
                  <a:solidFill>
                    <a:schemeClr val="tx1"/>
                  </a:solidFill>
                </a:rPr>
                <a:t>(s), __</a:t>
              </a:r>
              <a:r>
                <a:rPr lang="en-US" sz="1200" dirty="0" err="1">
                  <a:solidFill>
                    <a:schemeClr val="tx1"/>
                  </a:solidFill>
                </a:rPr>
                <a:t>get_free_page</a:t>
              </a:r>
              <a:r>
                <a:rPr lang="en-US" sz="1200" dirty="0">
                  <a:solidFill>
                    <a:schemeClr val="tx1"/>
                  </a:solidFill>
                </a:rPr>
                <a:t>(s)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0541D7-832F-4845-A92D-FB75AC21CE5D}"/>
                </a:ext>
              </a:extLst>
            </p:cNvPr>
            <p:cNvSpPr/>
            <p:nvPr/>
          </p:nvSpPr>
          <p:spPr>
            <a:xfrm>
              <a:off x="3030678" y="2916692"/>
              <a:ext cx="1785258" cy="35269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Slab Allocator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EBEC807-AFDE-4F71-BD5F-BEC4021BF402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3923307" y="2661966"/>
              <a:ext cx="0" cy="25472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BB09A5-266F-4438-8060-8CE100936028}"/>
                </a:ext>
              </a:extLst>
            </p:cNvPr>
            <p:cNvSpPr txBox="1"/>
            <p:nvPr/>
          </p:nvSpPr>
          <p:spPr>
            <a:xfrm>
              <a:off x="2380706" y="2158551"/>
              <a:ext cx="31622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kmem_cache_alloc</a:t>
              </a:r>
              <a:r>
                <a:rPr lang="en-US" sz="1400" dirty="0"/>
                <a:t>/</a:t>
              </a:r>
              <a:r>
                <a:rPr lang="en-US" sz="1400" dirty="0" err="1"/>
                <a:t>kmem_cache_free</a:t>
              </a:r>
              <a:br>
                <a:rPr lang="en-US" sz="1400" dirty="0"/>
              </a:br>
              <a:r>
                <a:rPr lang="en-US" sz="1400" dirty="0" err="1"/>
                <a:t>kmalloc</a:t>
              </a:r>
              <a:r>
                <a:rPr lang="en-US" sz="1400" dirty="0"/>
                <a:t>/</a:t>
              </a:r>
              <a:r>
                <a:rPr lang="en-US" sz="1400" dirty="0" err="1"/>
                <a:t>kfree</a:t>
              </a:r>
              <a:endParaRPr lang="en-US" sz="14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2FD1385-08C2-4D48-9A99-EA04E5D716FD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>
              <a:off x="3919344" y="3269389"/>
              <a:ext cx="3963" cy="23422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B76212E-1BE7-4F87-B87E-00287382F23D}"/>
                </a:ext>
              </a:extLst>
            </p:cNvPr>
            <p:cNvCxnSpPr/>
            <p:nvPr/>
          </p:nvCxnSpPr>
          <p:spPr>
            <a:xfrm>
              <a:off x="984164" y="1764250"/>
              <a:ext cx="398852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922BBB-4940-4C9E-8D7D-AC15AD7A1238}"/>
                </a:ext>
              </a:extLst>
            </p:cNvPr>
            <p:cNvSpPr/>
            <p:nvPr/>
          </p:nvSpPr>
          <p:spPr>
            <a:xfrm>
              <a:off x="1114792" y="1119817"/>
              <a:ext cx="1654629" cy="3243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glibc</a:t>
              </a:r>
              <a:r>
                <a:rPr lang="en-US" sz="1200" dirty="0">
                  <a:solidFill>
                    <a:schemeClr val="tx1"/>
                  </a:solidFill>
                </a:rPr>
                <a:t>: malloc/free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36D6046-656F-4A96-888E-96E0F7FEBB64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1942107" y="1444212"/>
              <a:ext cx="0" cy="206574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A8A919-3379-4AA3-B667-AEAFD912B923}"/>
                </a:ext>
              </a:extLst>
            </p:cNvPr>
            <p:cNvSpPr txBox="1"/>
            <p:nvPr/>
          </p:nvSpPr>
          <p:spPr>
            <a:xfrm>
              <a:off x="1888221" y="1433764"/>
              <a:ext cx="9579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brk</a:t>
              </a:r>
              <a:r>
                <a:rPr lang="en-US" sz="1400" dirty="0"/>
                <a:t>/</a:t>
              </a:r>
              <a:r>
                <a:rPr lang="en-US" sz="1400" dirty="0" err="1"/>
                <a:t>mmap</a:t>
              </a:r>
              <a:endParaRPr lang="en-US" sz="140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AB8D359-5E6C-48D6-9044-288E34C722A9}"/>
                </a:ext>
              </a:extLst>
            </p:cNvPr>
            <p:cNvCxnSpPr/>
            <p:nvPr/>
          </p:nvCxnSpPr>
          <p:spPr>
            <a:xfrm>
              <a:off x="1036415" y="4219707"/>
              <a:ext cx="398852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0C93931-ACD7-4D8D-A971-22C32BC12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8940" y="4460995"/>
              <a:ext cx="701934" cy="52289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B519628-B8F9-40E5-B5E5-BB522C84A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7724" y="4524495"/>
              <a:ext cx="701934" cy="52289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7BE3669-5E9E-4DE7-B8D8-37176A15F672}"/>
                </a:ext>
              </a:extLst>
            </p:cNvPr>
            <p:cNvSpPr txBox="1"/>
            <p:nvPr/>
          </p:nvSpPr>
          <p:spPr>
            <a:xfrm>
              <a:off x="2458735" y="4398234"/>
              <a:ext cx="6389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. . .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F5BEFC3-78C4-48E9-AA4C-DB8242A1EDCB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 flipH="1">
              <a:off x="2119907" y="4041181"/>
              <a:ext cx="1" cy="41981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7C73E31-2C7A-4804-964B-7DACA6EA716C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3448691" y="4041181"/>
              <a:ext cx="0" cy="48331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DF880E7-EB93-4FFD-9CE3-831B485A0D54}"/>
                </a:ext>
              </a:extLst>
            </p:cNvPr>
            <p:cNvCxnSpPr>
              <a:cxnSpLocks/>
            </p:cNvCxnSpPr>
            <p:nvPr/>
          </p:nvCxnSpPr>
          <p:spPr>
            <a:xfrm>
              <a:off x="2477224" y="2977285"/>
              <a:ext cx="0" cy="52632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9E934A6-A312-45FF-B131-609F1C50C517}"/>
                </a:ext>
              </a:extLst>
            </p:cNvPr>
            <p:cNvSpPr txBox="1"/>
            <p:nvPr/>
          </p:nvSpPr>
          <p:spPr>
            <a:xfrm>
              <a:off x="2126714" y="2690053"/>
              <a:ext cx="7796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vmalloc</a:t>
              </a:r>
              <a:endParaRPr lang="en-US" sz="14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011D684-A500-4910-A0C3-E539FF673DC0}"/>
                </a:ext>
              </a:extLst>
            </p:cNvPr>
            <p:cNvSpPr txBox="1"/>
            <p:nvPr/>
          </p:nvSpPr>
          <p:spPr>
            <a:xfrm>
              <a:off x="3919344" y="1395326"/>
              <a:ext cx="12017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User Space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7775B59-2F22-4133-9B7C-75115D627D72}"/>
                </a:ext>
              </a:extLst>
            </p:cNvPr>
            <p:cNvSpPr txBox="1"/>
            <p:nvPr/>
          </p:nvSpPr>
          <p:spPr>
            <a:xfrm>
              <a:off x="3919344" y="1727095"/>
              <a:ext cx="13160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Kernel Space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7288E78-2E7F-4FDE-A004-5DADB56672BF}"/>
                </a:ext>
              </a:extLst>
            </p:cNvPr>
            <p:cNvSpPr txBox="1"/>
            <p:nvPr/>
          </p:nvSpPr>
          <p:spPr>
            <a:xfrm>
              <a:off x="4014610" y="4202825"/>
              <a:ext cx="11104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Hardware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E96F63-9FC7-4AAE-8A0C-541AE2F371F3}"/>
              </a:ext>
            </a:extLst>
          </p:cNvPr>
          <p:cNvGrpSpPr/>
          <p:nvPr/>
        </p:nvGrpSpPr>
        <p:grpSpPr>
          <a:xfrm>
            <a:off x="5952371" y="1608569"/>
            <a:ext cx="6083363" cy="2469355"/>
            <a:chOff x="5952371" y="1608569"/>
            <a:chExt cx="6083363" cy="246935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1D35818-5CE1-4846-821A-5631A627EE26}"/>
                </a:ext>
              </a:extLst>
            </p:cNvPr>
            <p:cNvSpPr txBox="1"/>
            <p:nvPr/>
          </p:nvSpPr>
          <p:spPr>
            <a:xfrm>
              <a:off x="5965859" y="1861933"/>
              <a:ext cx="6069875" cy="221599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Balance between </a:t>
              </a:r>
              <a:r>
                <a:rPr lang="en-US" sz="1400" b="1" dirty="0" err="1"/>
                <a:t>brk</a:t>
              </a:r>
              <a:r>
                <a:rPr lang="en-US" sz="1400" b="1" dirty="0"/>
                <a:t>()</a:t>
              </a:r>
              <a:r>
                <a:rPr lang="en-US" sz="1400" dirty="0"/>
                <a:t> and </a:t>
              </a:r>
              <a:r>
                <a:rPr lang="en-US" sz="1400" b="1" dirty="0" err="1"/>
                <a:t>mmap</a:t>
              </a:r>
              <a:r>
                <a:rPr lang="en-US" sz="1400" b="1" dirty="0"/>
                <a:t>()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Use </a:t>
              </a:r>
              <a:r>
                <a:rPr lang="en-US" sz="1400" dirty="0" err="1"/>
                <a:t>brk</a:t>
              </a:r>
              <a:r>
                <a:rPr lang="en-US" sz="1400" dirty="0"/>
                <a:t>() if request size &lt; DEFAULT_MMAP_THRESHOLD_MIN (128 KB)</a:t>
              </a:r>
            </a:p>
            <a:p>
              <a:pPr marL="742950" lvl="1" indent="-285750">
                <a:buFont typeface="Courier New" panose="02070309020205020404" pitchFamily="49" charset="0"/>
                <a:buChar char="o"/>
              </a:pPr>
              <a:r>
                <a:rPr lang="en-US" sz="1200" dirty="0"/>
                <a:t>The heap can be trimmed only if memory is freed at the top end.</a:t>
              </a:r>
            </a:p>
            <a:p>
              <a:pPr marL="742950" lvl="1" indent="-285750">
                <a:buFont typeface="Courier New" panose="02070309020205020404" pitchFamily="49" charset="0"/>
                <a:buChar char="o"/>
              </a:pPr>
              <a:r>
                <a:rPr lang="en-US" sz="1200" dirty="0" err="1"/>
                <a:t>sbrk</a:t>
              </a:r>
              <a:r>
                <a:rPr lang="en-US" sz="1200" dirty="0"/>
                <a:t>() is implemented as a library function that uses the </a:t>
              </a:r>
              <a:r>
                <a:rPr lang="en-US" sz="1200" dirty="0" err="1"/>
                <a:t>brk</a:t>
              </a:r>
              <a:r>
                <a:rPr lang="en-US" sz="1200" dirty="0"/>
                <a:t>() system call.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Use </a:t>
              </a:r>
              <a:r>
                <a:rPr lang="en-US" sz="1400" dirty="0" err="1"/>
                <a:t>mmap</a:t>
              </a:r>
              <a:r>
                <a:rPr lang="en-US" sz="1400" dirty="0"/>
                <a:t>() if request size &gt;= DEFAULT_MMAP_THRESHOLD_MIN (128 KB)</a:t>
              </a:r>
            </a:p>
            <a:p>
              <a:pPr marL="742950" lvl="1" indent="-285750">
                <a:buFont typeface="Courier New" panose="02070309020205020404" pitchFamily="49" charset="0"/>
                <a:buChar char="o"/>
              </a:pPr>
              <a:r>
                <a:rPr lang="en-US" sz="1200" dirty="0"/>
                <a:t>The allocated memory blocks can be independently released back to the system.</a:t>
              </a:r>
            </a:p>
            <a:p>
              <a:pPr marL="742950" lvl="1" indent="-285750">
                <a:buFont typeface="Courier New" panose="02070309020205020404" pitchFamily="49" charset="0"/>
                <a:buChar char="o"/>
              </a:pPr>
              <a:r>
                <a:rPr lang="en-US" sz="1200" dirty="0"/>
                <a:t>Deallocated space is not placed on the free list for reuse by later allocations.</a:t>
              </a:r>
            </a:p>
            <a:p>
              <a:pPr marL="742950" lvl="1" indent="-285750">
                <a:buFont typeface="Courier New" panose="02070309020205020404" pitchFamily="49" charset="0"/>
                <a:buChar char="o"/>
              </a:pPr>
              <a:r>
                <a:rPr lang="en-US" sz="1200" dirty="0"/>
                <a:t>Memory may be wasted because </a:t>
              </a:r>
              <a:r>
                <a:rPr lang="en-US" sz="1200" dirty="0" err="1"/>
                <a:t>mmap</a:t>
              </a:r>
              <a:r>
                <a:rPr lang="en-US" sz="1200" dirty="0"/>
                <a:t> allocations must be page-aligned; and the kernel must perform the expensive task of zeroing out memory allocated.</a:t>
              </a:r>
            </a:p>
            <a:p>
              <a:pPr marL="742950" lvl="1" indent="-285750">
                <a:buFont typeface="Courier New" panose="02070309020205020404" pitchFamily="49" charset="0"/>
                <a:buChar char="o"/>
              </a:pPr>
              <a:r>
                <a:rPr lang="en-US" sz="1200" dirty="0"/>
                <a:t>Note: </a:t>
              </a:r>
              <a:r>
                <a:rPr lang="en-US" sz="1200" dirty="0" err="1"/>
                <a:t>glibc</a:t>
              </a:r>
              <a:r>
                <a:rPr lang="en-US" sz="1200" dirty="0"/>
                <a:t> uses the dynamic </a:t>
              </a:r>
              <a:r>
                <a:rPr lang="en-US" sz="1200" dirty="0" err="1"/>
                <a:t>mmap</a:t>
              </a:r>
              <a:r>
                <a:rPr lang="en-US" sz="1200" dirty="0"/>
                <a:t> threshold</a:t>
              </a:r>
            </a:p>
            <a:p>
              <a:pPr marL="742950" lvl="1" indent="-285750">
                <a:buFont typeface="Courier New" panose="02070309020205020404" pitchFamily="49" charset="0"/>
                <a:buChar char="o"/>
              </a:pPr>
              <a:r>
                <a:rPr lang="en-US" sz="1200" dirty="0"/>
                <a:t>Detail: `man </a:t>
              </a:r>
              <a:r>
                <a:rPr lang="en-US" sz="1200" dirty="0" err="1"/>
                <a:t>mallopt</a:t>
              </a:r>
              <a:r>
                <a:rPr lang="en-US" sz="1200" dirty="0"/>
                <a:t>`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E8DE300-9232-43BA-B92E-0AB222C57AC9}"/>
                </a:ext>
              </a:extLst>
            </p:cNvPr>
            <p:cNvSpPr txBox="1"/>
            <p:nvPr/>
          </p:nvSpPr>
          <p:spPr>
            <a:xfrm>
              <a:off x="5952371" y="1608569"/>
              <a:ext cx="1211300" cy="246221"/>
            </a:xfrm>
            <a:prstGeom prst="rect">
              <a:avLst/>
            </a:prstGeom>
            <a:solidFill>
              <a:schemeClr val="tx1"/>
            </a:solidFill>
            <a:ln w="12700">
              <a:noFill/>
            </a:ln>
          </p:spPr>
          <p:txBody>
            <a:bodyPr wrap="square" lIns="4572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[</a:t>
              </a:r>
              <a:r>
                <a:rPr lang="en-US" sz="1600" b="1" dirty="0" err="1">
                  <a:solidFill>
                    <a:schemeClr val="bg1"/>
                  </a:solidFill>
                </a:rPr>
                <a:t>glibc</a:t>
              </a:r>
              <a:r>
                <a:rPr lang="en-US" sz="1600" b="1" dirty="0">
                  <a:solidFill>
                    <a:schemeClr val="bg1"/>
                  </a:solidFill>
                </a:rPr>
                <a:t>] malloc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9794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64C7A36F-0467-4CDB-AD4A-A3B128E9B528}"/>
              </a:ext>
            </a:extLst>
          </p:cNvPr>
          <p:cNvCxnSpPr>
            <a:cxnSpLocks/>
          </p:cNvCxnSpPr>
          <p:nvPr/>
        </p:nvCxnSpPr>
        <p:spPr>
          <a:xfrm>
            <a:off x="8788038" y="3396584"/>
            <a:ext cx="5928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E495C5D-E89D-4EA8-81B2-1A462BA45DAB}"/>
              </a:ext>
            </a:extLst>
          </p:cNvPr>
          <p:cNvCxnSpPr>
            <a:cxnSpLocks/>
          </p:cNvCxnSpPr>
          <p:nvPr/>
        </p:nvCxnSpPr>
        <p:spPr>
          <a:xfrm>
            <a:off x="7058802" y="5918905"/>
            <a:ext cx="439978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E29ABE5-9813-49C0-B402-213A918D1097}"/>
              </a:ext>
            </a:extLst>
          </p:cNvPr>
          <p:cNvCxnSpPr>
            <a:cxnSpLocks/>
          </p:cNvCxnSpPr>
          <p:nvPr/>
        </p:nvCxnSpPr>
        <p:spPr>
          <a:xfrm>
            <a:off x="5357704" y="3402813"/>
            <a:ext cx="412254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8D57FF7-5A3E-4F00-9FBF-EEF66B0EC35F}"/>
              </a:ext>
            </a:extLst>
          </p:cNvPr>
          <p:cNvCxnSpPr>
            <a:cxnSpLocks/>
          </p:cNvCxnSpPr>
          <p:nvPr/>
        </p:nvCxnSpPr>
        <p:spPr>
          <a:xfrm>
            <a:off x="7046672" y="3407576"/>
            <a:ext cx="439978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010AD8-7238-4CAF-A1A4-6B2B2E2E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62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Slab Concept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2E057C-F55D-43B4-B33B-808B12349313}"/>
              </a:ext>
            </a:extLst>
          </p:cNvPr>
          <p:cNvSpPr/>
          <p:nvPr/>
        </p:nvSpPr>
        <p:spPr>
          <a:xfrm>
            <a:off x="2219460" y="2682148"/>
            <a:ext cx="1318847" cy="3780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Slab Allocator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B52A14-4FE8-46E6-B31A-755FC37FB737}"/>
              </a:ext>
            </a:extLst>
          </p:cNvPr>
          <p:cNvSpPr/>
          <p:nvPr/>
        </p:nvSpPr>
        <p:spPr>
          <a:xfrm>
            <a:off x="4071705" y="724824"/>
            <a:ext cx="1318847" cy="18742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Slab Cache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(page order = 0)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3D3E0A-F787-4563-9408-7C14AFE76451}"/>
              </a:ext>
            </a:extLst>
          </p:cNvPr>
          <p:cNvSpPr/>
          <p:nvPr/>
        </p:nvSpPr>
        <p:spPr>
          <a:xfrm>
            <a:off x="4019692" y="3396584"/>
            <a:ext cx="1318847" cy="25223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Slab Cache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(p</a:t>
            </a:r>
            <a:r>
              <a:rPr lang="en-US" sz="1400" dirty="0">
                <a:solidFill>
                  <a:schemeClr val="tx1"/>
                </a:solidFill>
              </a:rPr>
              <a:t>age order = 1)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97662B-106A-4A2A-9397-F0E69AC3D3EB}"/>
              </a:ext>
            </a:extLst>
          </p:cNvPr>
          <p:cNvSpPr/>
          <p:nvPr/>
        </p:nvSpPr>
        <p:spPr>
          <a:xfrm>
            <a:off x="7469201" y="1978642"/>
            <a:ext cx="1318847" cy="6246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Page #0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E43CAF-552D-4284-8D59-D77ABBB41A3E}"/>
              </a:ext>
            </a:extLst>
          </p:cNvPr>
          <p:cNvSpPr/>
          <p:nvPr/>
        </p:nvSpPr>
        <p:spPr>
          <a:xfrm>
            <a:off x="9290958" y="2440238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E9DA13-2E54-4A93-B3D7-16FEC4B12CB3}"/>
              </a:ext>
            </a:extLst>
          </p:cNvPr>
          <p:cNvSpPr/>
          <p:nvPr/>
        </p:nvSpPr>
        <p:spPr>
          <a:xfrm>
            <a:off x="9290957" y="2277214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49AFA1-235B-41E3-BA9F-5B280CB0547F}"/>
              </a:ext>
            </a:extLst>
          </p:cNvPr>
          <p:cNvSpPr/>
          <p:nvPr/>
        </p:nvSpPr>
        <p:spPr>
          <a:xfrm>
            <a:off x="9290957" y="2128844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00DA3C-41A6-4378-B31B-3A65DBCAFC61}"/>
              </a:ext>
            </a:extLst>
          </p:cNvPr>
          <p:cNvSpPr/>
          <p:nvPr/>
        </p:nvSpPr>
        <p:spPr>
          <a:xfrm>
            <a:off x="9290956" y="1965820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793990-260E-4739-87A5-8DC4A4F8F210}"/>
              </a:ext>
            </a:extLst>
          </p:cNvPr>
          <p:cNvSpPr/>
          <p:nvPr/>
        </p:nvSpPr>
        <p:spPr>
          <a:xfrm>
            <a:off x="7469200" y="1332587"/>
            <a:ext cx="1318847" cy="6460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41C96A-4A35-429D-B000-FD1DB1330B51}"/>
              </a:ext>
            </a:extLst>
          </p:cNvPr>
          <p:cNvSpPr/>
          <p:nvPr/>
        </p:nvSpPr>
        <p:spPr>
          <a:xfrm>
            <a:off x="7469200" y="724823"/>
            <a:ext cx="1318847" cy="6193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Page #N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9184A6-F888-4E2B-9C2D-2DFF7331057F}"/>
              </a:ext>
            </a:extLst>
          </p:cNvPr>
          <p:cNvSpPr/>
          <p:nvPr/>
        </p:nvSpPr>
        <p:spPr>
          <a:xfrm>
            <a:off x="9290958" y="1815619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6EC590-4860-4EFD-A366-546B0E29BD08}"/>
              </a:ext>
            </a:extLst>
          </p:cNvPr>
          <p:cNvSpPr/>
          <p:nvPr/>
        </p:nvSpPr>
        <p:spPr>
          <a:xfrm>
            <a:off x="9290957" y="1652595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111FB3-8DFD-425C-ADD7-3A76AD2F3364}"/>
              </a:ext>
            </a:extLst>
          </p:cNvPr>
          <p:cNvSpPr/>
          <p:nvPr/>
        </p:nvSpPr>
        <p:spPr>
          <a:xfrm>
            <a:off x="9290957" y="1504225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E0A633-BE91-4BA3-BFD9-AF0BA8A1C373}"/>
              </a:ext>
            </a:extLst>
          </p:cNvPr>
          <p:cNvSpPr/>
          <p:nvPr/>
        </p:nvSpPr>
        <p:spPr>
          <a:xfrm>
            <a:off x="9290956" y="1341201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E63435-3E2B-447F-BDAA-B60918115808}"/>
              </a:ext>
            </a:extLst>
          </p:cNvPr>
          <p:cNvSpPr/>
          <p:nvPr/>
        </p:nvSpPr>
        <p:spPr>
          <a:xfrm>
            <a:off x="9290956" y="1199241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B82701-D673-4ED2-B71B-452E86D9ABF6}"/>
              </a:ext>
            </a:extLst>
          </p:cNvPr>
          <p:cNvSpPr/>
          <p:nvPr/>
        </p:nvSpPr>
        <p:spPr>
          <a:xfrm>
            <a:off x="9290955" y="1036217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84D056-92FE-4730-8623-A2969E7AFDA3}"/>
              </a:ext>
            </a:extLst>
          </p:cNvPr>
          <p:cNvSpPr/>
          <p:nvPr/>
        </p:nvSpPr>
        <p:spPr>
          <a:xfrm>
            <a:off x="9290955" y="887847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E3ED0D-5A20-4352-A2FC-8EEC118BF655}"/>
              </a:ext>
            </a:extLst>
          </p:cNvPr>
          <p:cNvSpPr/>
          <p:nvPr/>
        </p:nvSpPr>
        <p:spPr>
          <a:xfrm>
            <a:off x="9290954" y="724823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60F52EA-EB90-4A5A-AF85-FB5A0BC7F768}"/>
              </a:ext>
            </a:extLst>
          </p:cNvPr>
          <p:cNvCxnSpPr>
            <a:endCxn id="11" idx="2"/>
          </p:cNvCxnSpPr>
          <p:nvPr/>
        </p:nvCxnSpPr>
        <p:spPr>
          <a:xfrm>
            <a:off x="8788047" y="2603261"/>
            <a:ext cx="995924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959F531-CD0D-4C9C-8106-E0FB169D5E74}"/>
              </a:ext>
            </a:extLst>
          </p:cNvPr>
          <p:cNvCxnSpPr>
            <a:endCxn id="28" idx="0"/>
          </p:cNvCxnSpPr>
          <p:nvPr/>
        </p:nvCxnSpPr>
        <p:spPr>
          <a:xfrm>
            <a:off x="8788047" y="724823"/>
            <a:ext cx="99592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90C9E90-4769-4E71-AB7F-FFA380502821}"/>
              </a:ext>
            </a:extLst>
          </p:cNvPr>
          <p:cNvCxnSpPr>
            <a:cxnSpLocks/>
          </p:cNvCxnSpPr>
          <p:nvPr/>
        </p:nvCxnSpPr>
        <p:spPr>
          <a:xfrm>
            <a:off x="8788043" y="1978642"/>
            <a:ext cx="502911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ight Brace 37">
            <a:extLst>
              <a:ext uri="{FF2B5EF4-FFF2-40B4-BE49-F238E27FC236}">
                <a16:creationId xmlns:a16="http://schemas.microsoft.com/office/drawing/2014/main" id="{7CDFD785-1A0A-4E76-84DF-13861DF93DD0}"/>
              </a:ext>
            </a:extLst>
          </p:cNvPr>
          <p:cNvSpPr/>
          <p:nvPr/>
        </p:nvSpPr>
        <p:spPr>
          <a:xfrm>
            <a:off x="10319375" y="1990088"/>
            <a:ext cx="214221" cy="601727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1E2D83-BD7E-4942-B183-CCFC218E55E0}"/>
              </a:ext>
            </a:extLst>
          </p:cNvPr>
          <p:cNvSpPr txBox="1"/>
          <p:nvPr/>
        </p:nvSpPr>
        <p:spPr>
          <a:xfrm>
            <a:off x="10582663" y="2047331"/>
            <a:ext cx="971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 objects per page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E49F552-5060-4CF0-A0C3-8F4579A5F541}"/>
              </a:ext>
            </a:extLst>
          </p:cNvPr>
          <p:cNvSpPr/>
          <p:nvPr/>
        </p:nvSpPr>
        <p:spPr>
          <a:xfrm>
            <a:off x="7469196" y="4650588"/>
            <a:ext cx="1318847" cy="6246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Page #1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AAADC9A-3451-4508-8E47-68A3474B7B0E}"/>
              </a:ext>
            </a:extLst>
          </p:cNvPr>
          <p:cNvSpPr/>
          <p:nvPr/>
        </p:nvSpPr>
        <p:spPr>
          <a:xfrm>
            <a:off x="9290953" y="4955572"/>
            <a:ext cx="986025" cy="3196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B49470E-5CAA-4822-BDE0-75E9DBF3AA8E}"/>
              </a:ext>
            </a:extLst>
          </p:cNvPr>
          <p:cNvSpPr/>
          <p:nvPr/>
        </p:nvSpPr>
        <p:spPr>
          <a:xfrm>
            <a:off x="7469195" y="4004533"/>
            <a:ext cx="1318847" cy="6460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38DE4AA-69D3-46BD-917B-833B98F1A091}"/>
              </a:ext>
            </a:extLst>
          </p:cNvPr>
          <p:cNvSpPr/>
          <p:nvPr/>
        </p:nvSpPr>
        <p:spPr>
          <a:xfrm>
            <a:off x="7469195" y="3396769"/>
            <a:ext cx="1318847" cy="6193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Page #N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5DAA510-84E3-4DC8-B234-6C7076B01EC4}"/>
              </a:ext>
            </a:extLst>
          </p:cNvPr>
          <p:cNvCxnSpPr>
            <a:cxnSpLocks/>
            <a:endCxn id="41" idx="2"/>
          </p:cNvCxnSpPr>
          <p:nvPr/>
        </p:nvCxnSpPr>
        <p:spPr>
          <a:xfrm>
            <a:off x="8788042" y="5275207"/>
            <a:ext cx="995924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0E77ACD-F573-4DF2-9157-99396A5C8CB4}"/>
              </a:ext>
            </a:extLst>
          </p:cNvPr>
          <p:cNvCxnSpPr>
            <a:cxnSpLocks/>
          </p:cNvCxnSpPr>
          <p:nvPr/>
        </p:nvCxnSpPr>
        <p:spPr>
          <a:xfrm>
            <a:off x="8788038" y="4650588"/>
            <a:ext cx="502911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ight Brace 57">
            <a:extLst>
              <a:ext uri="{FF2B5EF4-FFF2-40B4-BE49-F238E27FC236}">
                <a16:creationId xmlns:a16="http://schemas.microsoft.com/office/drawing/2014/main" id="{B3F841DB-48A5-45A2-BC24-10EB2CAB8E5F}"/>
              </a:ext>
            </a:extLst>
          </p:cNvPr>
          <p:cNvSpPr/>
          <p:nvPr/>
        </p:nvSpPr>
        <p:spPr>
          <a:xfrm>
            <a:off x="10314607" y="5290689"/>
            <a:ext cx="214221" cy="632977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A290BB-ECEA-47B0-A51D-ABB541C72C12}"/>
              </a:ext>
            </a:extLst>
          </p:cNvPr>
          <p:cNvSpPr txBox="1"/>
          <p:nvPr/>
        </p:nvSpPr>
        <p:spPr>
          <a:xfrm>
            <a:off x="10515600" y="5343169"/>
            <a:ext cx="992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 objects per page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C7E6D1A-5DA6-4255-A48F-8D310F5A54F3}"/>
              </a:ext>
            </a:extLst>
          </p:cNvPr>
          <p:cNvSpPr/>
          <p:nvPr/>
        </p:nvSpPr>
        <p:spPr>
          <a:xfrm>
            <a:off x="9290949" y="4650586"/>
            <a:ext cx="986025" cy="3123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5823AD1-0E6D-4693-8BF0-68A0424D382F}"/>
              </a:ext>
            </a:extLst>
          </p:cNvPr>
          <p:cNvSpPr/>
          <p:nvPr/>
        </p:nvSpPr>
        <p:spPr>
          <a:xfrm>
            <a:off x="9290949" y="4331374"/>
            <a:ext cx="986025" cy="3196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9548DDD-395D-47D2-AD79-C608E6D96999}"/>
              </a:ext>
            </a:extLst>
          </p:cNvPr>
          <p:cNvSpPr/>
          <p:nvPr/>
        </p:nvSpPr>
        <p:spPr>
          <a:xfrm>
            <a:off x="9290945" y="4019065"/>
            <a:ext cx="986025" cy="3196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A1A1016-C7BD-4105-B73D-65F2F406F88A}"/>
              </a:ext>
            </a:extLst>
          </p:cNvPr>
          <p:cNvSpPr/>
          <p:nvPr/>
        </p:nvSpPr>
        <p:spPr>
          <a:xfrm>
            <a:off x="9290949" y="3707918"/>
            <a:ext cx="986025" cy="3196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A76CE03-3A3E-46EB-AF2D-98EFD981C395}"/>
              </a:ext>
            </a:extLst>
          </p:cNvPr>
          <p:cNvSpPr/>
          <p:nvPr/>
        </p:nvSpPr>
        <p:spPr>
          <a:xfrm>
            <a:off x="9290945" y="3396585"/>
            <a:ext cx="986025" cy="3123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B14C080-76C6-4E01-850D-C382FA42ADAB}"/>
              </a:ext>
            </a:extLst>
          </p:cNvPr>
          <p:cNvSpPr txBox="1"/>
          <p:nvPr/>
        </p:nvSpPr>
        <p:spPr>
          <a:xfrm>
            <a:off x="4547261" y="2590851"/>
            <a:ext cx="378475" cy="958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4000" b="1" dirty="0"/>
              <a:t>.</a:t>
            </a:r>
          </a:p>
          <a:p>
            <a:pPr>
              <a:lnSpc>
                <a:spcPts val="1200"/>
              </a:lnSpc>
            </a:pPr>
            <a:endParaRPr lang="en-US" sz="4000" b="1" dirty="0"/>
          </a:p>
          <a:p>
            <a:pPr>
              <a:lnSpc>
                <a:spcPts val="1200"/>
              </a:lnSpc>
            </a:pPr>
            <a:r>
              <a:rPr lang="en-US" sz="4000" b="1" dirty="0"/>
              <a:t>.</a:t>
            </a:r>
          </a:p>
          <a:p>
            <a:pPr>
              <a:lnSpc>
                <a:spcPts val="1200"/>
              </a:lnSpc>
            </a:pPr>
            <a:endParaRPr lang="en-US" sz="4000" b="1" dirty="0"/>
          </a:p>
          <a:p>
            <a:pPr>
              <a:lnSpc>
                <a:spcPts val="1200"/>
              </a:lnSpc>
            </a:pPr>
            <a:r>
              <a:rPr lang="en-US" sz="4000" b="1" dirty="0"/>
              <a:t>.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502EFE0A-047D-4B9E-9D82-E76D9709FBD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538307" y="1661953"/>
            <a:ext cx="533398" cy="1209230"/>
          </a:xfrm>
          <a:prstGeom prst="bentConnector3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A8C085F6-2526-44D6-B270-A14D98E20CEE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538307" y="2871183"/>
            <a:ext cx="481385" cy="1786580"/>
          </a:xfrm>
          <a:prstGeom prst="bentConnector3">
            <a:avLst>
              <a:gd name="adj1" fmla="val 55277"/>
            </a:avLst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3DF4DDF-A028-408D-BA84-243DE08D6C3B}"/>
              </a:ext>
            </a:extLst>
          </p:cNvPr>
          <p:cNvCxnSpPr>
            <a:cxnSpLocks/>
          </p:cNvCxnSpPr>
          <p:nvPr/>
        </p:nvCxnSpPr>
        <p:spPr>
          <a:xfrm>
            <a:off x="7063290" y="721899"/>
            <a:ext cx="40590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776EEB1-B8D1-4BE7-93B8-92ED5D517ED4}"/>
              </a:ext>
            </a:extLst>
          </p:cNvPr>
          <p:cNvCxnSpPr>
            <a:cxnSpLocks/>
          </p:cNvCxnSpPr>
          <p:nvPr/>
        </p:nvCxnSpPr>
        <p:spPr>
          <a:xfrm>
            <a:off x="1732669" y="2631654"/>
            <a:ext cx="486791" cy="1384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3BD0935C-FBCB-47FC-A287-460396E55432}"/>
              </a:ext>
            </a:extLst>
          </p:cNvPr>
          <p:cNvCxnSpPr>
            <a:cxnSpLocks/>
          </p:cNvCxnSpPr>
          <p:nvPr/>
        </p:nvCxnSpPr>
        <p:spPr>
          <a:xfrm>
            <a:off x="1716550" y="2880429"/>
            <a:ext cx="48679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9CC8E91-C887-4DA7-BC2C-B3CCD319479F}"/>
              </a:ext>
            </a:extLst>
          </p:cNvPr>
          <p:cNvCxnSpPr>
            <a:cxnSpLocks/>
          </p:cNvCxnSpPr>
          <p:nvPr/>
        </p:nvCxnSpPr>
        <p:spPr>
          <a:xfrm flipV="1">
            <a:off x="1732669" y="2990791"/>
            <a:ext cx="470672" cy="794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BE251814-FCBC-4BD6-928D-264FBF377D58}"/>
              </a:ext>
            </a:extLst>
          </p:cNvPr>
          <p:cNvSpPr txBox="1"/>
          <p:nvPr/>
        </p:nvSpPr>
        <p:spPr>
          <a:xfrm>
            <a:off x="311542" y="2653533"/>
            <a:ext cx="1513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Memory (object) allocation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E01CA5B-E944-41CA-83A2-BE909546D952}"/>
              </a:ext>
            </a:extLst>
          </p:cNvPr>
          <p:cNvSpPr txBox="1"/>
          <p:nvPr/>
        </p:nvSpPr>
        <p:spPr>
          <a:xfrm>
            <a:off x="1528667" y="5585115"/>
            <a:ext cx="22244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 object = data structure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8D23D1-359A-429B-A674-992C9BDFA322}"/>
              </a:ext>
            </a:extLst>
          </p:cNvPr>
          <p:cNvSpPr txBox="1"/>
          <p:nvPr/>
        </p:nvSpPr>
        <p:spPr>
          <a:xfrm>
            <a:off x="4242854" y="273998"/>
            <a:ext cx="976545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slab_caches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2FE1DD-E195-416C-A83D-84C9A8A00C62}"/>
              </a:ext>
            </a:extLst>
          </p:cNvPr>
          <p:cNvSpPr txBox="1"/>
          <p:nvPr/>
        </p:nvSpPr>
        <p:spPr>
          <a:xfrm>
            <a:off x="4071705" y="7683"/>
            <a:ext cx="1356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global </a:t>
            </a:r>
            <a:r>
              <a:rPr lang="en-US" sz="1400" dirty="0" err="1"/>
              <a:t>list_head</a:t>
            </a:r>
            <a:endParaRPr lang="en-US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62E55A3-A318-4D6E-A839-CD2791E4BB58}"/>
              </a:ext>
            </a:extLst>
          </p:cNvPr>
          <p:cNvCxnSpPr>
            <a:stCxn id="53" idx="2"/>
            <a:endCxn id="6" idx="0"/>
          </p:cNvCxnSpPr>
          <p:nvPr/>
        </p:nvCxnSpPr>
        <p:spPr>
          <a:xfrm>
            <a:off x="4731127" y="489442"/>
            <a:ext cx="2" cy="23538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FFAC24C8-C07C-4A0B-9F79-C689A79AED9F}"/>
              </a:ext>
            </a:extLst>
          </p:cNvPr>
          <p:cNvSpPr/>
          <p:nvPr/>
        </p:nvSpPr>
        <p:spPr>
          <a:xfrm>
            <a:off x="5744444" y="1975718"/>
            <a:ext cx="1318847" cy="6246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slab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0D7A836-4FA0-4794-9FD9-9F5483DD3CD3}"/>
              </a:ext>
            </a:extLst>
          </p:cNvPr>
          <p:cNvSpPr/>
          <p:nvPr/>
        </p:nvSpPr>
        <p:spPr>
          <a:xfrm>
            <a:off x="5744443" y="1329663"/>
            <a:ext cx="1318847" cy="6460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5E42896-2C2E-449A-A098-0EBBA9BF2700}"/>
              </a:ext>
            </a:extLst>
          </p:cNvPr>
          <p:cNvSpPr/>
          <p:nvPr/>
        </p:nvSpPr>
        <p:spPr>
          <a:xfrm>
            <a:off x="5744443" y="721899"/>
            <a:ext cx="1318847" cy="61930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slab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0A8DA62-681E-4096-932B-56DEEFC9E16D}"/>
              </a:ext>
            </a:extLst>
          </p:cNvPr>
          <p:cNvCxnSpPr>
            <a:cxnSpLocks/>
          </p:cNvCxnSpPr>
          <p:nvPr/>
        </p:nvCxnSpPr>
        <p:spPr>
          <a:xfrm>
            <a:off x="7063290" y="2603879"/>
            <a:ext cx="40590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596B9C9-05B2-49E8-A1FD-73D3949D2B61}"/>
              </a:ext>
            </a:extLst>
          </p:cNvPr>
          <p:cNvCxnSpPr>
            <a:cxnSpLocks/>
          </p:cNvCxnSpPr>
          <p:nvPr/>
        </p:nvCxnSpPr>
        <p:spPr>
          <a:xfrm>
            <a:off x="7039108" y="1975716"/>
            <a:ext cx="40590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ADB9CA9-3D16-47C9-85BC-FE1812F49956}"/>
              </a:ext>
            </a:extLst>
          </p:cNvPr>
          <p:cNvCxnSpPr>
            <a:cxnSpLocks/>
          </p:cNvCxnSpPr>
          <p:nvPr/>
        </p:nvCxnSpPr>
        <p:spPr>
          <a:xfrm>
            <a:off x="7039108" y="1341201"/>
            <a:ext cx="40590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66F7974-397F-4BD0-8405-0F4F45B60D32}"/>
              </a:ext>
            </a:extLst>
          </p:cNvPr>
          <p:cNvCxnSpPr>
            <a:cxnSpLocks/>
          </p:cNvCxnSpPr>
          <p:nvPr/>
        </p:nvCxnSpPr>
        <p:spPr>
          <a:xfrm flipV="1">
            <a:off x="5367230" y="721899"/>
            <a:ext cx="377213" cy="5741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34382B09-BD77-4382-BAA2-71B2B0F8AB8C}"/>
              </a:ext>
            </a:extLst>
          </p:cNvPr>
          <p:cNvSpPr/>
          <p:nvPr/>
        </p:nvSpPr>
        <p:spPr>
          <a:xfrm>
            <a:off x="5744444" y="4652086"/>
            <a:ext cx="1318847" cy="1266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slab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8C7C69A-AEFE-4438-A07C-41EF28EF71C0}"/>
              </a:ext>
            </a:extLst>
          </p:cNvPr>
          <p:cNvSpPr/>
          <p:nvPr/>
        </p:nvSpPr>
        <p:spPr>
          <a:xfrm>
            <a:off x="5744443" y="3402437"/>
            <a:ext cx="1318847" cy="12496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F48C057-1500-4D1B-BDA6-3901A07E32AE}"/>
              </a:ext>
            </a:extLst>
          </p:cNvPr>
          <p:cNvSpPr/>
          <p:nvPr/>
        </p:nvSpPr>
        <p:spPr>
          <a:xfrm>
            <a:off x="7469195" y="5273623"/>
            <a:ext cx="1318847" cy="6437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Page #0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DBB809-9DD5-4BFA-BA56-09C272598917}"/>
              </a:ext>
            </a:extLst>
          </p:cNvPr>
          <p:cNvCxnSpPr>
            <a:cxnSpLocks/>
          </p:cNvCxnSpPr>
          <p:nvPr/>
        </p:nvCxnSpPr>
        <p:spPr>
          <a:xfrm>
            <a:off x="5396902" y="2599569"/>
            <a:ext cx="353891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1AAAFAE2-47B3-4A57-984A-3D722EAD921A}"/>
              </a:ext>
            </a:extLst>
          </p:cNvPr>
          <p:cNvSpPr/>
          <p:nvPr/>
        </p:nvSpPr>
        <p:spPr>
          <a:xfrm>
            <a:off x="9290441" y="5579896"/>
            <a:ext cx="986025" cy="337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D23A9F7-718B-4F83-ACA7-043C74E2E60B}"/>
              </a:ext>
            </a:extLst>
          </p:cNvPr>
          <p:cNvSpPr/>
          <p:nvPr/>
        </p:nvSpPr>
        <p:spPr>
          <a:xfrm>
            <a:off x="9290437" y="5274910"/>
            <a:ext cx="986025" cy="3123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11024D8-61DE-4765-9298-3C1E6B18D358}"/>
              </a:ext>
            </a:extLst>
          </p:cNvPr>
          <p:cNvCxnSpPr>
            <a:cxnSpLocks/>
          </p:cNvCxnSpPr>
          <p:nvPr/>
        </p:nvCxnSpPr>
        <p:spPr>
          <a:xfrm>
            <a:off x="8788038" y="5918905"/>
            <a:ext cx="502399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7668B5A-0C8A-4054-8153-ABE76DFA2238}"/>
              </a:ext>
            </a:extLst>
          </p:cNvPr>
          <p:cNvCxnSpPr>
            <a:cxnSpLocks/>
          </p:cNvCxnSpPr>
          <p:nvPr/>
        </p:nvCxnSpPr>
        <p:spPr>
          <a:xfrm>
            <a:off x="7046672" y="4650586"/>
            <a:ext cx="439978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0113FC7-6E78-4D04-88AC-E172B594936E}"/>
              </a:ext>
            </a:extLst>
          </p:cNvPr>
          <p:cNvCxnSpPr>
            <a:cxnSpLocks/>
          </p:cNvCxnSpPr>
          <p:nvPr/>
        </p:nvCxnSpPr>
        <p:spPr>
          <a:xfrm>
            <a:off x="5332189" y="5918942"/>
            <a:ext cx="412254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40">
            <a:extLst>
              <a:ext uri="{FF2B5EF4-FFF2-40B4-BE49-F238E27FC236}">
                <a16:creationId xmlns:a16="http://schemas.microsoft.com/office/drawing/2014/main" id="{A58A8FDD-525C-4383-BCB5-3641FACBD2B3}"/>
              </a:ext>
            </a:extLst>
          </p:cNvPr>
          <p:cNvSpPr/>
          <p:nvPr/>
        </p:nvSpPr>
        <p:spPr>
          <a:xfrm>
            <a:off x="257175" y="6032524"/>
            <a:ext cx="11868150" cy="79205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sz="2800" b="1" dirty="0">
                <a:solidFill>
                  <a:schemeClr val="tx1"/>
                </a:solidFill>
              </a:rPr>
              <a:t>Allocating/freeing data structures is the common operations in Linux kernel</a:t>
            </a:r>
          </a:p>
          <a:p>
            <a:pPr marL="514350" indent="-514350">
              <a:buAutoNum type="arabicPeriod"/>
            </a:pPr>
            <a:r>
              <a:rPr lang="en-US" sz="2800" b="1" dirty="0">
                <a:solidFill>
                  <a:schemeClr val="tx1"/>
                </a:solidFill>
              </a:rPr>
              <a:t>Slab is a generic data structure-caching layer</a:t>
            </a:r>
          </a:p>
        </p:txBody>
      </p:sp>
    </p:spTree>
    <p:extLst>
      <p:ext uri="{BB962C8B-B14F-4D97-AF65-F5344CB8AC3E}">
        <p14:creationId xmlns:p14="http://schemas.microsoft.com/office/powerpoint/2010/main" val="3970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86">
            <a:extLst>
              <a:ext uri="{FF2B5EF4-FFF2-40B4-BE49-F238E27FC236}">
                <a16:creationId xmlns:a16="http://schemas.microsoft.com/office/drawing/2014/main" id="{75BD9CEA-186D-46F6-B0D0-0A436B5FCB7C}"/>
              </a:ext>
            </a:extLst>
          </p:cNvPr>
          <p:cNvSpPr/>
          <p:nvPr/>
        </p:nvSpPr>
        <p:spPr>
          <a:xfrm>
            <a:off x="4472560" y="3689526"/>
            <a:ext cx="4509515" cy="242216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71AD74B-8172-4526-9826-E7AB9424F43D}"/>
              </a:ext>
            </a:extLst>
          </p:cNvPr>
          <p:cNvSpPr/>
          <p:nvPr/>
        </p:nvSpPr>
        <p:spPr>
          <a:xfrm>
            <a:off x="4463113" y="163182"/>
            <a:ext cx="4518962" cy="3428641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10AD8-7238-4CAF-A1A4-6B2B2E2E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62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Slab Cache</a:t>
            </a:r>
          </a:p>
        </p:txBody>
      </p:sp>
      <p:sp>
        <p:nvSpPr>
          <p:cNvPr id="101" name="矩形 40">
            <a:extLst>
              <a:ext uri="{FF2B5EF4-FFF2-40B4-BE49-F238E27FC236}">
                <a16:creationId xmlns:a16="http://schemas.microsoft.com/office/drawing/2014/main" id="{EC23BBA4-4F56-427F-A2F0-41DB61395C40}"/>
              </a:ext>
            </a:extLst>
          </p:cNvPr>
          <p:cNvSpPr/>
          <p:nvPr/>
        </p:nvSpPr>
        <p:spPr>
          <a:xfrm>
            <a:off x="209550" y="6226755"/>
            <a:ext cx="11772899" cy="4608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</a:rPr>
              <a:t>Node-based cache: </a:t>
            </a:r>
            <a:r>
              <a:rPr lang="en-US" sz="2800" b="1" dirty="0" err="1">
                <a:solidFill>
                  <a:schemeClr val="tx1"/>
                </a:solidFill>
              </a:rPr>
              <a:t>freelist</a:t>
            </a:r>
            <a:r>
              <a:rPr lang="en-US" sz="2800" b="1" dirty="0">
                <a:solidFill>
                  <a:schemeClr val="tx1"/>
                </a:solidFill>
              </a:rPr>
              <a:t> concept is implemented in page struct (not shown)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5181C43-F440-4589-A2E0-9F6088BC02B3}"/>
              </a:ext>
            </a:extLst>
          </p:cNvPr>
          <p:cNvSpPr/>
          <p:nvPr/>
        </p:nvSpPr>
        <p:spPr>
          <a:xfrm>
            <a:off x="6949518" y="602981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AAE8359-FDCB-4DD0-ABE2-F15C9E379A8E}"/>
              </a:ext>
            </a:extLst>
          </p:cNvPr>
          <p:cNvSpPr/>
          <p:nvPr/>
        </p:nvSpPr>
        <p:spPr>
          <a:xfrm rot="5400000">
            <a:off x="6657272" y="1085866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C0BDF37-74EE-4AAA-A166-368AC1484106}"/>
              </a:ext>
            </a:extLst>
          </p:cNvPr>
          <p:cNvSpPr/>
          <p:nvPr/>
        </p:nvSpPr>
        <p:spPr>
          <a:xfrm rot="5400000">
            <a:off x="6845525" y="1085867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0E127C-345D-4108-8179-4BDCF0AC8ECD}"/>
              </a:ext>
            </a:extLst>
          </p:cNvPr>
          <p:cNvSpPr txBox="1"/>
          <p:nvPr/>
        </p:nvSpPr>
        <p:spPr>
          <a:xfrm>
            <a:off x="7272208" y="928716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1F6D744-CB6E-4E0D-9449-1DA383F0C10A}"/>
              </a:ext>
            </a:extLst>
          </p:cNvPr>
          <p:cNvSpPr/>
          <p:nvPr/>
        </p:nvSpPr>
        <p:spPr>
          <a:xfrm rot="5400000">
            <a:off x="7207957" y="1086803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299FE3-42B8-44B0-A9B8-E43217C5092A}"/>
              </a:ext>
            </a:extLst>
          </p:cNvPr>
          <p:cNvSpPr txBox="1"/>
          <p:nvPr/>
        </p:nvSpPr>
        <p:spPr>
          <a:xfrm>
            <a:off x="7063495" y="534341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32C243-9A53-4E0E-BAFE-BDF172499B5A}"/>
              </a:ext>
            </a:extLst>
          </p:cNvPr>
          <p:cNvSpPr txBox="1"/>
          <p:nvPr/>
        </p:nvSpPr>
        <p:spPr>
          <a:xfrm>
            <a:off x="5436456" y="1986842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A6145D-C379-480E-AD73-16E6E4B733C7}"/>
              </a:ext>
            </a:extLst>
          </p:cNvPr>
          <p:cNvSpPr/>
          <p:nvPr/>
        </p:nvSpPr>
        <p:spPr>
          <a:xfrm>
            <a:off x="4881579" y="967345"/>
            <a:ext cx="1427216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#0)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E76C757-CF4E-4245-A374-4AED73581B46}"/>
              </a:ext>
            </a:extLst>
          </p:cNvPr>
          <p:cNvSpPr/>
          <p:nvPr/>
        </p:nvSpPr>
        <p:spPr>
          <a:xfrm>
            <a:off x="4881579" y="1393770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0DAC7CE-53A5-40C6-94DD-195F82A4AF72}"/>
              </a:ext>
            </a:extLst>
          </p:cNvPr>
          <p:cNvSpPr/>
          <p:nvPr/>
        </p:nvSpPr>
        <p:spPr>
          <a:xfrm>
            <a:off x="4881574" y="1604388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4D14553-733A-4D87-8625-E8E89057FC42}"/>
              </a:ext>
            </a:extLst>
          </p:cNvPr>
          <p:cNvSpPr/>
          <p:nvPr/>
        </p:nvSpPr>
        <p:spPr>
          <a:xfrm>
            <a:off x="4881577" y="1814583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CF4A0BE-5749-4159-A8F2-6E891ED95995}"/>
              </a:ext>
            </a:extLst>
          </p:cNvPr>
          <p:cNvSpPr/>
          <p:nvPr/>
        </p:nvSpPr>
        <p:spPr>
          <a:xfrm>
            <a:off x="4881574" y="2371751"/>
            <a:ext cx="1427216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8BFA659-3AE3-4B85-9BD7-6E56E509A597}"/>
              </a:ext>
            </a:extLst>
          </p:cNvPr>
          <p:cNvSpPr/>
          <p:nvPr/>
        </p:nvSpPr>
        <p:spPr>
          <a:xfrm>
            <a:off x="4881574" y="2798176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struct page *page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ECCBBD5-30B4-4B7A-BC89-2CDE032662F0}"/>
              </a:ext>
            </a:extLst>
          </p:cNvPr>
          <p:cNvSpPr/>
          <p:nvPr/>
        </p:nvSpPr>
        <p:spPr>
          <a:xfrm>
            <a:off x="4881569" y="3008794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296BED3-4067-4E62-B674-F3ECB04335B9}"/>
              </a:ext>
            </a:extLst>
          </p:cNvPr>
          <p:cNvSpPr/>
          <p:nvPr/>
        </p:nvSpPr>
        <p:spPr>
          <a:xfrm>
            <a:off x="4881572" y="3218989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A989CC34-BF76-44D3-8D57-3F83556CEBD4}"/>
              </a:ext>
            </a:extLst>
          </p:cNvPr>
          <p:cNvCxnSpPr>
            <a:cxnSpLocks/>
            <a:stCxn id="79" idx="3"/>
            <a:endCxn id="60" idx="0"/>
          </p:cNvCxnSpPr>
          <p:nvPr/>
        </p:nvCxnSpPr>
        <p:spPr>
          <a:xfrm flipV="1">
            <a:off x="6308795" y="602981"/>
            <a:ext cx="1008420" cy="896016"/>
          </a:xfrm>
          <a:prstGeom prst="bentConnector4">
            <a:avLst>
              <a:gd name="adj1" fmla="val 31769"/>
              <a:gd name="adj2" fmla="val 12551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F9CE4257-32CC-40A8-9612-C4FF1F9DE32E}"/>
              </a:ext>
            </a:extLst>
          </p:cNvPr>
          <p:cNvCxnSpPr>
            <a:cxnSpLocks/>
            <a:stCxn id="81" idx="3"/>
            <a:endCxn id="62" idx="3"/>
          </p:cNvCxnSpPr>
          <p:nvPr/>
        </p:nvCxnSpPr>
        <p:spPr>
          <a:xfrm flipV="1">
            <a:off x="6308790" y="1562821"/>
            <a:ext cx="921335" cy="14679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CCF3663-D621-47F8-88F4-0D8121F86594}"/>
              </a:ext>
            </a:extLst>
          </p:cNvPr>
          <p:cNvSpPr/>
          <p:nvPr/>
        </p:nvSpPr>
        <p:spPr>
          <a:xfrm>
            <a:off x="6949518" y="2038903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C114D2C-8090-4737-ABBF-F3E6D552CF2A}"/>
              </a:ext>
            </a:extLst>
          </p:cNvPr>
          <p:cNvSpPr/>
          <p:nvPr/>
        </p:nvSpPr>
        <p:spPr>
          <a:xfrm rot="5400000">
            <a:off x="6657272" y="2521788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CD8676B-99CC-44A4-8F8F-974920D04C6D}"/>
              </a:ext>
            </a:extLst>
          </p:cNvPr>
          <p:cNvSpPr/>
          <p:nvPr/>
        </p:nvSpPr>
        <p:spPr>
          <a:xfrm rot="5400000">
            <a:off x="6845525" y="2521789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5959CA6-3A7A-4C3F-9A9D-A282E336DFF9}"/>
              </a:ext>
            </a:extLst>
          </p:cNvPr>
          <p:cNvSpPr txBox="1"/>
          <p:nvPr/>
        </p:nvSpPr>
        <p:spPr>
          <a:xfrm>
            <a:off x="7272208" y="2364638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8FCA2FD-50EC-4A46-A9F1-2EA62F061D40}"/>
              </a:ext>
            </a:extLst>
          </p:cNvPr>
          <p:cNvSpPr/>
          <p:nvPr/>
        </p:nvSpPr>
        <p:spPr>
          <a:xfrm rot="5400000">
            <a:off x="7207957" y="2522725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DFC9A56-51DE-421B-8B77-3960EFE26DF4}"/>
              </a:ext>
            </a:extLst>
          </p:cNvPr>
          <p:cNvSpPr txBox="1"/>
          <p:nvPr/>
        </p:nvSpPr>
        <p:spPr>
          <a:xfrm>
            <a:off x="7062929" y="1983637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1E43DF8-F296-4AC4-9C1C-2D4A2C124C8E}"/>
              </a:ext>
            </a:extLst>
          </p:cNvPr>
          <p:cNvSpPr/>
          <p:nvPr/>
        </p:nvSpPr>
        <p:spPr>
          <a:xfrm>
            <a:off x="8004608" y="2031974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78413DB-126A-41A7-BB05-73AECD63427A}"/>
              </a:ext>
            </a:extLst>
          </p:cNvPr>
          <p:cNvSpPr/>
          <p:nvPr/>
        </p:nvSpPr>
        <p:spPr>
          <a:xfrm rot="5400000">
            <a:off x="7712362" y="2514859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EC010DF-31AA-4075-8E24-2DC62307434B}"/>
              </a:ext>
            </a:extLst>
          </p:cNvPr>
          <p:cNvSpPr/>
          <p:nvPr/>
        </p:nvSpPr>
        <p:spPr>
          <a:xfrm rot="5400000">
            <a:off x="7900615" y="2514860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3877DFD-43C0-489A-989A-6C9836F05B4F}"/>
              </a:ext>
            </a:extLst>
          </p:cNvPr>
          <p:cNvSpPr txBox="1"/>
          <p:nvPr/>
        </p:nvSpPr>
        <p:spPr>
          <a:xfrm>
            <a:off x="8327298" y="2357709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F8DEDAB-5997-4A81-B7EC-07FAED380E9B}"/>
              </a:ext>
            </a:extLst>
          </p:cNvPr>
          <p:cNvSpPr/>
          <p:nvPr/>
        </p:nvSpPr>
        <p:spPr>
          <a:xfrm rot="5400000">
            <a:off x="8263047" y="251579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41C987D-6DB8-441E-8DCD-0EC8C72984B5}"/>
              </a:ext>
            </a:extLst>
          </p:cNvPr>
          <p:cNvSpPr txBox="1"/>
          <p:nvPr/>
        </p:nvSpPr>
        <p:spPr>
          <a:xfrm>
            <a:off x="8162559" y="1970263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1DE9055B-FBD2-4B8B-906C-8167CBF6B010}"/>
              </a:ext>
            </a:extLst>
          </p:cNvPr>
          <p:cNvCxnSpPr>
            <a:cxnSpLocks/>
            <a:stCxn id="82" idx="3"/>
            <a:endCxn id="121" idx="0"/>
          </p:cNvCxnSpPr>
          <p:nvPr/>
        </p:nvCxnSpPr>
        <p:spPr>
          <a:xfrm>
            <a:off x="6308793" y="1919810"/>
            <a:ext cx="1008422" cy="11909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7E96D23B-57A6-49B5-BE6B-19578F56C896}"/>
              </a:ext>
            </a:extLst>
          </p:cNvPr>
          <p:cNvCxnSpPr/>
          <p:nvPr/>
        </p:nvCxnSpPr>
        <p:spPr>
          <a:xfrm>
            <a:off x="7684911" y="2137525"/>
            <a:ext cx="31969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9E2A6C5-1A19-45AE-B81C-EE45CDE6985A}"/>
              </a:ext>
            </a:extLst>
          </p:cNvPr>
          <p:cNvSpPr/>
          <p:nvPr/>
        </p:nvSpPr>
        <p:spPr>
          <a:xfrm>
            <a:off x="4881569" y="4182296"/>
            <a:ext cx="1519231" cy="4374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(Node #0)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C5BC1EB-DEDA-416E-B9C0-B907160B3DC0}"/>
              </a:ext>
            </a:extLst>
          </p:cNvPr>
          <p:cNvSpPr/>
          <p:nvPr/>
        </p:nvSpPr>
        <p:spPr>
          <a:xfrm>
            <a:off x="4881569" y="4616974"/>
            <a:ext cx="1519231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9EE2316-10E6-4A15-B39F-37EA2AA5C73A}"/>
              </a:ext>
            </a:extLst>
          </p:cNvPr>
          <p:cNvSpPr/>
          <p:nvPr/>
        </p:nvSpPr>
        <p:spPr>
          <a:xfrm>
            <a:off x="4881569" y="5250987"/>
            <a:ext cx="1519231" cy="4374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(Node #N)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B5FE843-9A60-467A-BBBB-717387D3C2B9}"/>
              </a:ext>
            </a:extLst>
          </p:cNvPr>
          <p:cNvSpPr/>
          <p:nvPr/>
        </p:nvSpPr>
        <p:spPr>
          <a:xfrm>
            <a:off x="4881569" y="5685665"/>
            <a:ext cx="1519231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8D0643C-0148-47E6-8814-DDA27692C1CB}"/>
              </a:ext>
            </a:extLst>
          </p:cNvPr>
          <p:cNvSpPr txBox="1"/>
          <p:nvPr/>
        </p:nvSpPr>
        <p:spPr>
          <a:xfrm>
            <a:off x="5522181" y="4807209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D5C1E2C4-DC99-4BBD-AFBB-AA5F1657DB33}"/>
              </a:ext>
            </a:extLst>
          </p:cNvPr>
          <p:cNvSpPr/>
          <p:nvPr/>
        </p:nvSpPr>
        <p:spPr>
          <a:xfrm>
            <a:off x="6949518" y="4172886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F04C28C-0C6D-4F15-BDEE-7253D195D19E}"/>
              </a:ext>
            </a:extLst>
          </p:cNvPr>
          <p:cNvSpPr/>
          <p:nvPr/>
        </p:nvSpPr>
        <p:spPr>
          <a:xfrm rot="5400000">
            <a:off x="6657272" y="4655771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46D53C97-15CE-4127-A9C9-ED67CD860D32}"/>
              </a:ext>
            </a:extLst>
          </p:cNvPr>
          <p:cNvSpPr/>
          <p:nvPr/>
        </p:nvSpPr>
        <p:spPr>
          <a:xfrm rot="5400000">
            <a:off x="6845525" y="4655772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F4D541C-9063-4EE9-A4BA-C054ACEAC072}"/>
              </a:ext>
            </a:extLst>
          </p:cNvPr>
          <p:cNvSpPr txBox="1"/>
          <p:nvPr/>
        </p:nvSpPr>
        <p:spPr>
          <a:xfrm>
            <a:off x="7272208" y="4498621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48ED0A5-AFB7-4C08-A86A-5C13C3814883}"/>
              </a:ext>
            </a:extLst>
          </p:cNvPr>
          <p:cNvSpPr/>
          <p:nvPr/>
        </p:nvSpPr>
        <p:spPr>
          <a:xfrm rot="5400000">
            <a:off x="7207957" y="4656708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635DF08-C233-4BA1-94CD-A560A55E9137}"/>
              </a:ext>
            </a:extLst>
          </p:cNvPr>
          <p:cNvSpPr txBox="1"/>
          <p:nvPr/>
        </p:nvSpPr>
        <p:spPr>
          <a:xfrm>
            <a:off x="7062929" y="4117620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3C236FF-DD41-4181-83D3-F569E50B75F7}"/>
              </a:ext>
            </a:extLst>
          </p:cNvPr>
          <p:cNvSpPr/>
          <p:nvPr/>
        </p:nvSpPr>
        <p:spPr>
          <a:xfrm>
            <a:off x="8004608" y="4165957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384DB26-627C-48DA-B016-26131C6F48A0}"/>
              </a:ext>
            </a:extLst>
          </p:cNvPr>
          <p:cNvSpPr/>
          <p:nvPr/>
        </p:nvSpPr>
        <p:spPr>
          <a:xfrm rot="5400000">
            <a:off x="7712362" y="4648842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8230B71-4DBF-4D1D-A439-0529277E7E42}"/>
              </a:ext>
            </a:extLst>
          </p:cNvPr>
          <p:cNvSpPr/>
          <p:nvPr/>
        </p:nvSpPr>
        <p:spPr>
          <a:xfrm rot="5400000">
            <a:off x="7900615" y="4648843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98A08B7-FFD7-4C1F-80B7-DF3079B3DC16}"/>
              </a:ext>
            </a:extLst>
          </p:cNvPr>
          <p:cNvSpPr txBox="1"/>
          <p:nvPr/>
        </p:nvSpPr>
        <p:spPr>
          <a:xfrm>
            <a:off x="8327298" y="4491692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E1E34DA-1AC5-42B8-945C-57C717836108}"/>
              </a:ext>
            </a:extLst>
          </p:cNvPr>
          <p:cNvSpPr/>
          <p:nvPr/>
        </p:nvSpPr>
        <p:spPr>
          <a:xfrm rot="5400000">
            <a:off x="8263047" y="464977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B2B68F3-2159-4413-B8B9-A8689FEB6050}"/>
              </a:ext>
            </a:extLst>
          </p:cNvPr>
          <p:cNvSpPr txBox="1"/>
          <p:nvPr/>
        </p:nvSpPr>
        <p:spPr>
          <a:xfrm>
            <a:off x="8162559" y="4104246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2E612C48-5F59-479A-B2C7-D42FE5EFBEBC}"/>
              </a:ext>
            </a:extLst>
          </p:cNvPr>
          <p:cNvCxnSpPr/>
          <p:nvPr/>
        </p:nvCxnSpPr>
        <p:spPr>
          <a:xfrm>
            <a:off x="7684911" y="4271508"/>
            <a:ext cx="31969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AFD5A5F9-C223-4F2C-8033-6ABC65C3E2FD}"/>
              </a:ext>
            </a:extLst>
          </p:cNvPr>
          <p:cNvCxnSpPr>
            <a:stCxn id="143" idx="3"/>
          </p:cNvCxnSpPr>
          <p:nvPr/>
        </p:nvCxnSpPr>
        <p:spPr>
          <a:xfrm flipV="1">
            <a:off x="6400800" y="4271508"/>
            <a:ext cx="548718" cy="450693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F6618F4-D6FB-4025-8D46-48090AB24190}"/>
              </a:ext>
            </a:extLst>
          </p:cNvPr>
          <p:cNvSpPr/>
          <p:nvPr/>
        </p:nvSpPr>
        <p:spPr>
          <a:xfrm>
            <a:off x="1781984" y="2402960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C3DE938-D47C-4E0E-9F91-04BF811A5012}"/>
              </a:ext>
            </a:extLst>
          </p:cNvPr>
          <p:cNvSpPr/>
          <p:nvPr/>
        </p:nvSpPr>
        <p:spPr>
          <a:xfrm>
            <a:off x="1781984" y="2865519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9BE78E3-F397-49C0-A77F-DCC25E345B83}"/>
              </a:ext>
            </a:extLst>
          </p:cNvPr>
          <p:cNvSpPr/>
          <p:nvPr/>
        </p:nvSpPr>
        <p:spPr>
          <a:xfrm>
            <a:off x="1781984" y="3070960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3F5C2243-44DC-4EEE-BD77-60718BA6F064}"/>
              </a:ext>
            </a:extLst>
          </p:cNvPr>
          <p:cNvCxnSpPr>
            <a:stCxn id="163" idx="3"/>
            <a:endCxn id="77" idx="1"/>
          </p:cNvCxnSpPr>
          <p:nvPr/>
        </p:nvCxnSpPr>
        <p:spPr>
          <a:xfrm flipV="1">
            <a:off x="3614049" y="1183952"/>
            <a:ext cx="1267530" cy="178679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0B1C0CEB-5A44-4741-8039-1FE004D2EB91}"/>
              </a:ext>
            </a:extLst>
          </p:cNvPr>
          <p:cNvCxnSpPr>
            <a:stCxn id="163" idx="3"/>
            <a:endCxn id="84" idx="1"/>
          </p:cNvCxnSpPr>
          <p:nvPr/>
        </p:nvCxnSpPr>
        <p:spPr>
          <a:xfrm flipV="1">
            <a:off x="3614049" y="2588358"/>
            <a:ext cx="1267525" cy="38238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EA21911C-BE65-4F5B-88A7-0168EFB384CF}"/>
              </a:ext>
            </a:extLst>
          </p:cNvPr>
          <p:cNvCxnSpPr>
            <a:stCxn id="173" idx="3"/>
            <a:endCxn id="142" idx="1"/>
          </p:cNvCxnSpPr>
          <p:nvPr/>
        </p:nvCxnSpPr>
        <p:spPr>
          <a:xfrm>
            <a:off x="3614049" y="3176187"/>
            <a:ext cx="1267520" cy="122484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DC37723-B7A8-471A-95E0-9E1EB75B4AE6}"/>
              </a:ext>
            </a:extLst>
          </p:cNvPr>
          <p:cNvSpPr txBox="1"/>
          <p:nvPr/>
        </p:nvSpPr>
        <p:spPr>
          <a:xfrm>
            <a:off x="4519508" y="214091"/>
            <a:ext cx="1205281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percpu</a:t>
            </a:r>
            <a:r>
              <a:rPr lang="en-US" sz="16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899A084-3BE0-424A-BD1B-97F5F1FB9BE3}"/>
              </a:ext>
            </a:extLst>
          </p:cNvPr>
          <p:cNvSpPr txBox="1"/>
          <p:nvPr/>
        </p:nvSpPr>
        <p:spPr>
          <a:xfrm>
            <a:off x="7230125" y="5762610"/>
            <a:ext cx="1609722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Node-based cache</a:t>
            </a:r>
          </a:p>
        </p:txBody>
      </p:sp>
    </p:spTree>
    <p:extLst>
      <p:ext uri="{BB962C8B-B14F-4D97-AF65-F5344CB8AC3E}">
        <p14:creationId xmlns:p14="http://schemas.microsoft.com/office/powerpoint/2010/main" val="2293755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86">
            <a:extLst>
              <a:ext uri="{FF2B5EF4-FFF2-40B4-BE49-F238E27FC236}">
                <a16:creationId xmlns:a16="http://schemas.microsoft.com/office/drawing/2014/main" id="{75BD9CEA-186D-46F6-B0D0-0A436B5FCB7C}"/>
              </a:ext>
            </a:extLst>
          </p:cNvPr>
          <p:cNvSpPr/>
          <p:nvPr/>
        </p:nvSpPr>
        <p:spPr>
          <a:xfrm>
            <a:off x="8797837" y="1976738"/>
            <a:ext cx="3107471" cy="124787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71AD74B-8172-4526-9826-E7AB9424F43D}"/>
              </a:ext>
            </a:extLst>
          </p:cNvPr>
          <p:cNvSpPr/>
          <p:nvPr/>
        </p:nvSpPr>
        <p:spPr>
          <a:xfrm>
            <a:off x="8797836" y="366637"/>
            <a:ext cx="3107471" cy="150397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10AD8-7238-4CAF-A1A4-6B2B2E2E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62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Slab Cache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5181C43-F440-4589-A2E0-9F6088BC02B3}"/>
              </a:ext>
            </a:extLst>
          </p:cNvPr>
          <p:cNvSpPr/>
          <p:nvPr/>
        </p:nvSpPr>
        <p:spPr>
          <a:xfrm>
            <a:off x="11023581" y="706529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AAE8359-FDCB-4DD0-ABE2-F15C9E379A8E}"/>
              </a:ext>
            </a:extLst>
          </p:cNvPr>
          <p:cNvSpPr/>
          <p:nvPr/>
        </p:nvSpPr>
        <p:spPr>
          <a:xfrm rot="5400000">
            <a:off x="10731335" y="1189414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C0BDF37-74EE-4AAA-A166-368AC1484106}"/>
              </a:ext>
            </a:extLst>
          </p:cNvPr>
          <p:cNvSpPr/>
          <p:nvPr/>
        </p:nvSpPr>
        <p:spPr>
          <a:xfrm rot="5400000">
            <a:off x="10919588" y="1189415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0E127C-345D-4108-8179-4BDCF0AC8ECD}"/>
              </a:ext>
            </a:extLst>
          </p:cNvPr>
          <p:cNvSpPr txBox="1"/>
          <p:nvPr/>
        </p:nvSpPr>
        <p:spPr>
          <a:xfrm>
            <a:off x="11346271" y="1032264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1F6D744-CB6E-4E0D-9449-1DA383F0C10A}"/>
              </a:ext>
            </a:extLst>
          </p:cNvPr>
          <p:cNvSpPr/>
          <p:nvPr/>
        </p:nvSpPr>
        <p:spPr>
          <a:xfrm rot="5400000">
            <a:off x="11282020" y="1187970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299FE3-42B8-44B0-A9B8-E43217C5092A}"/>
              </a:ext>
            </a:extLst>
          </p:cNvPr>
          <p:cNvSpPr txBox="1"/>
          <p:nvPr/>
        </p:nvSpPr>
        <p:spPr>
          <a:xfrm>
            <a:off x="11137558" y="637889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32C243-9A53-4E0E-BAFE-BDF172499B5A}"/>
              </a:ext>
            </a:extLst>
          </p:cNvPr>
          <p:cNvSpPr txBox="1"/>
          <p:nvPr/>
        </p:nvSpPr>
        <p:spPr>
          <a:xfrm>
            <a:off x="9809280" y="1407613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A6145D-C379-480E-AD73-16E6E4B733C7}"/>
              </a:ext>
            </a:extLst>
          </p:cNvPr>
          <p:cNvSpPr/>
          <p:nvPr/>
        </p:nvSpPr>
        <p:spPr>
          <a:xfrm>
            <a:off x="8951371" y="653827"/>
            <a:ext cx="1825498" cy="203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kmem_cache_cpu</a:t>
            </a:r>
            <a:r>
              <a:rPr lang="en-US" sz="1200" dirty="0">
                <a:solidFill>
                  <a:schemeClr val="tx1"/>
                </a:solidFill>
              </a:rPr>
              <a:t> (CPU #0)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E76C757-CF4E-4245-A374-4AED73581B46}"/>
              </a:ext>
            </a:extLst>
          </p:cNvPr>
          <p:cNvSpPr/>
          <p:nvPr/>
        </p:nvSpPr>
        <p:spPr>
          <a:xfrm>
            <a:off x="8954916" y="857103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0DAC7CE-53A5-40C6-94DD-195F82A4AF72}"/>
              </a:ext>
            </a:extLst>
          </p:cNvPr>
          <p:cNvSpPr/>
          <p:nvPr/>
        </p:nvSpPr>
        <p:spPr>
          <a:xfrm>
            <a:off x="8954911" y="1067721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4D14553-733A-4D87-8625-E8E89057FC42}"/>
              </a:ext>
            </a:extLst>
          </p:cNvPr>
          <p:cNvSpPr/>
          <p:nvPr/>
        </p:nvSpPr>
        <p:spPr>
          <a:xfrm>
            <a:off x="8954914" y="1277916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A989CC34-BF76-44D3-8D57-3F83556CEBD4}"/>
              </a:ext>
            </a:extLst>
          </p:cNvPr>
          <p:cNvCxnSpPr>
            <a:cxnSpLocks/>
            <a:stCxn id="79" idx="3"/>
            <a:endCxn id="60" idx="0"/>
          </p:cNvCxnSpPr>
          <p:nvPr/>
        </p:nvCxnSpPr>
        <p:spPr>
          <a:xfrm flipV="1">
            <a:off x="10776869" y="706529"/>
            <a:ext cx="614409" cy="255801"/>
          </a:xfrm>
          <a:prstGeom prst="bentConnector4">
            <a:avLst>
              <a:gd name="adj1" fmla="val 20077"/>
              <a:gd name="adj2" fmla="val 14468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F9CE4257-32CC-40A8-9612-C4FF1F9DE32E}"/>
              </a:ext>
            </a:extLst>
          </p:cNvPr>
          <p:cNvCxnSpPr>
            <a:cxnSpLocks/>
            <a:stCxn id="81" idx="3"/>
            <a:endCxn id="62" idx="3"/>
          </p:cNvCxnSpPr>
          <p:nvPr/>
        </p:nvCxnSpPr>
        <p:spPr>
          <a:xfrm>
            <a:off x="10776864" y="1172948"/>
            <a:ext cx="527324" cy="493421"/>
          </a:xfrm>
          <a:prstGeom prst="bentConnector4">
            <a:avLst>
              <a:gd name="adj1" fmla="val 13533"/>
              <a:gd name="adj2" fmla="val 12573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9E2A6C5-1A19-45AE-B81C-EE45CDE6985A}"/>
              </a:ext>
            </a:extLst>
          </p:cNvPr>
          <p:cNvSpPr/>
          <p:nvPr/>
        </p:nvSpPr>
        <p:spPr>
          <a:xfrm>
            <a:off x="8938286" y="2365922"/>
            <a:ext cx="1921019" cy="219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 (Node #0)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C5BC1EB-DEDA-416E-B9C0-B907160B3DC0}"/>
              </a:ext>
            </a:extLst>
          </p:cNvPr>
          <p:cNvSpPr/>
          <p:nvPr/>
        </p:nvSpPr>
        <p:spPr>
          <a:xfrm>
            <a:off x="8938286" y="2589186"/>
            <a:ext cx="192101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8D0643C-0148-47E6-8814-DDA27692C1CB}"/>
              </a:ext>
            </a:extLst>
          </p:cNvPr>
          <p:cNvSpPr txBox="1"/>
          <p:nvPr/>
        </p:nvSpPr>
        <p:spPr>
          <a:xfrm>
            <a:off x="9625086" y="2774959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D5C1E2C4-DC99-4BBD-AFBB-AA5F1657DB33}"/>
              </a:ext>
            </a:extLst>
          </p:cNvPr>
          <p:cNvSpPr/>
          <p:nvPr/>
        </p:nvSpPr>
        <p:spPr>
          <a:xfrm>
            <a:off x="11109573" y="2176848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F04C28C-0C6D-4F15-BDEE-7253D195D19E}"/>
              </a:ext>
            </a:extLst>
          </p:cNvPr>
          <p:cNvSpPr/>
          <p:nvPr/>
        </p:nvSpPr>
        <p:spPr>
          <a:xfrm rot="5400000">
            <a:off x="10817327" y="2659733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46D53C97-15CE-4127-A9C9-ED67CD860D32}"/>
              </a:ext>
            </a:extLst>
          </p:cNvPr>
          <p:cNvSpPr/>
          <p:nvPr/>
        </p:nvSpPr>
        <p:spPr>
          <a:xfrm rot="5400000">
            <a:off x="11005580" y="2659734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F4D541C-9063-4EE9-A4BA-C054ACEAC072}"/>
              </a:ext>
            </a:extLst>
          </p:cNvPr>
          <p:cNvSpPr txBox="1"/>
          <p:nvPr/>
        </p:nvSpPr>
        <p:spPr>
          <a:xfrm>
            <a:off x="11432263" y="2502583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48ED0A5-AFB7-4C08-A86A-5C13C3814883}"/>
              </a:ext>
            </a:extLst>
          </p:cNvPr>
          <p:cNvSpPr/>
          <p:nvPr/>
        </p:nvSpPr>
        <p:spPr>
          <a:xfrm rot="5400000">
            <a:off x="11368012" y="265828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635DF08-C233-4BA1-94CD-A560A55E9137}"/>
              </a:ext>
            </a:extLst>
          </p:cNvPr>
          <p:cNvSpPr txBox="1"/>
          <p:nvPr/>
        </p:nvSpPr>
        <p:spPr>
          <a:xfrm>
            <a:off x="11222984" y="2121582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AFD5A5F9-C223-4F2C-8033-6ABC65C3E2FD}"/>
              </a:ext>
            </a:extLst>
          </p:cNvPr>
          <p:cNvCxnSpPr>
            <a:cxnSpLocks/>
            <a:stCxn id="143" idx="3"/>
          </p:cNvCxnSpPr>
          <p:nvPr/>
        </p:nvCxnSpPr>
        <p:spPr>
          <a:xfrm flipV="1">
            <a:off x="10859305" y="2283201"/>
            <a:ext cx="234764" cy="4112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F6618F4-D6FB-4025-8D46-48090AB24190}"/>
              </a:ext>
            </a:extLst>
          </p:cNvPr>
          <p:cNvSpPr/>
          <p:nvPr/>
        </p:nvSpPr>
        <p:spPr>
          <a:xfrm>
            <a:off x="6417946" y="1252792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C3DE938-D47C-4E0E-9F91-04BF811A5012}"/>
              </a:ext>
            </a:extLst>
          </p:cNvPr>
          <p:cNvSpPr/>
          <p:nvPr/>
        </p:nvSpPr>
        <p:spPr>
          <a:xfrm>
            <a:off x="6417946" y="1715351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9BE78E3-F397-49C0-A77F-DCC25E345B83}"/>
              </a:ext>
            </a:extLst>
          </p:cNvPr>
          <p:cNvSpPr/>
          <p:nvPr/>
        </p:nvSpPr>
        <p:spPr>
          <a:xfrm>
            <a:off x="6417946" y="1920792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3F5C2243-44DC-4EEE-BD77-60718BA6F064}"/>
              </a:ext>
            </a:extLst>
          </p:cNvPr>
          <p:cNvCxnSpPr>
            <a:cxnSpLocks/>
            <a:stCxn id="163" idx="3"/>
            <a:endCxn id="77" idx="1"/>
          </p:cNvCxnSpPr>
          <p:nvPr/>
        </p:nvCxnSpPr>
        <p:spPr>
          <a:xfrm flipV="1">
            <a:off x="8250011" y="755684"/>
            <a:ext cx="701360" cy="10648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EA21911C-BE65-4F5B-88A7-0168EFB384CF}"/>
              </a:ext>
            </a:extLst>
          </p:cNvPr>
          <p:cNvCxnSpPr>
            <a:cxnSpLocks/>
            <a:stCxn id="173" idx="3"/>
            <a:endCxn id="142" idx="1"/>
          </p:cNvCxnSpPr>
          <p:nvPr/>
        </p:nvCxnSpPr>
        <p:spPr>
          <a:xfrm>
            <a:off x="8250011" y="2026019"/>
            <a:ext cx="688275" cy="449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DC37723-B7A8-471A-95E0-9E1EB75B4AE6}"/>
              </a:ext>
            </a:extLst>
          </p:cNvPr>
          <p:cNvSpPr txBox="1"/>
          <p:nvPr/>
        </p:nvSpPr>
        <p:spPr>
          <a:xfrm>
            <a:off x="9317376" y="411088"/>
            <a:ext cx="103460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percpu</a:t>
            </a:r>
            <a:r>
              <a:rPr lang="en-US" sz="14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899A084-3BE0-424A-BD1B-97F5F1FB9BE3}"/>
              </a:ext>
            </a:extLst>
          </p:cNvPr>
          <p:cNvSpPr txBox="1"/>
          <p:nvPr/>
        </p:nvSpPr>
        <p:spPr>
          <a:xfrm>
            <a:off x="9145958" y="2058571"/>
            <a:ext cx="142947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93035D-A4F8-4A1B-91B9-6A9EAB3FF003}"/>
              </a:ext>
            </a:extLst>
          </p:cNvPr>
          <p:cNvSpPr/>
          <p:nvPr/>
        </p:nvSpPr>
        <p:spPr>
          <a:xfrm>
            <a:off x="6301212" y="289713"/>
            <a:ext cx="5794218" cy="3036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7B910C-2DA9-4A8E-BF92-BD7A1E07CA2F}"/>
              </a:ext>
            </a:extLst>
          </p:cNvPr>
          <p:cNvSpPr txBox="1"/>
          <p:nvPr/>
        </p:nvSpPr>
        <p:spPr>
          <a:xfrm>
            <a:off x="6285408" y="74269"/>
            <a:ext cx="359192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Cache]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80DB5CAF-48A6-4DAC-B983-7AC5D28CB462}"/>
              </a:ext>
            </a:extLst>
          </p:cNvPr>
          <p:cNvSpPr/>
          <p:nvPr/>
        </p:nvSpPr>
        <p:spPr>
          <a:xfrm>
            <a:off x="8800140" y="5372452"/>
            <a:ext cx="3107471" cy="124787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1BA646B4-E960-40D1-BA72-92711A264CE3}"/>
              </a:ext>
            </a:extLst>
          </p:cNvPr>
          <p:cNvSpPr/>
          <p:nvPr/>
        </p:nvSpPr>
        <p:spPr>
          <a:xfrm>
            <a:off x="8800139" y="3762351"/>
            <a:ext cx="3107471" cy="150397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4E62169-B50A-4E33-BB80-C89DAB32F1E7}"/>
              </a:ext>
            </a:extLst>
          </p:cNvPr>
          <p:cNvSpPr/>
          <p:nvPr/>
        </p:nvSpPr>
        <p:spPr>
          <a:xfrm>
            <a:off x="11025884" y="4102243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F1660F06-22E4-4B97-889C-FA5344568E91}"/>
              </a:ext>
            </a:extLst>
          </p:cNvPr>
          <p:cNvSpPr/>
          <p:nvPr/>
        </p:nvSpPr>
        <p:spPr>
          <a:xfrm rot="5400000">
            <a:off x="10733638" y="4585128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109ADEE-849E-41A7-920E-25DAB851473A}"/>
              </a:ext>
            </a:extLst>
          </p:cNvPr>
          <p:cNvSpPr/>
          <p:nvPr/>
        </p:nvSpPr>
        <p:spPr>
          <a:xfrm rot="5400000">
            <a:off x="10921891" y="4585129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35EBB347-F431-4D27-8520-F636B8D188E3}"/>
              </a:ext>
            </a:extLst>
          </p:cNvPr>
          <p:cNvSpPr txBox="1"/>
          <p:nvPr/>
        </p:nvSpPr>
        <p:spPr>
          <a:xfrm>
            <a:off x="11348574" y="4427978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1975750-DD72-40DC-8A05-413DF696A432}"/>
              </a:ext>
            </a:extLst>
          </p:cNvPr>
          <p:cNvSpPr/>
          <p:nvPr/>
        </p:nvSpPr>
        <p:spPr>
          <a:xfrm rot="5400000">
            <a:off x="11284323" y="4586065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F0369D9-474B-4F30-862C-673516861279}"/>
              </a:ext>
            </a:extLst>
          </p:cNvPr>
          <p:cNvSpPr txBox="1"/>
          <p:nvPr/>
        </p:nvSpPr>
        <p:spPr>
          <a:xfrm>
            <a:off x="11139861" y="4033603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C1828FF-7989-4C03-8FFD-1E0FDFDB6A0F}"/>
              </a:ext>
            </a:extLst>
          </p:cNvPr>
          <p:cNvSpPr txBox="1"/>
          <p:nvPr/>
        </p:nvSpPr>
        <p:spPr>
          <a:xfrm>
            <a:off x="9811583" y="4803327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A4EB899-3EF5-4078-8593-51E6B21F6CCD}"/>
              </a:ext>
            </a:extLst>
          </p:cNvPr>
          <p:cNvSpPr/>
          <p:nvPr/>
        </p:nvSpPr>
        <p:spPr>
          <a:xfrm>
            <a:off x="8953674" y="4049541"/>
            <a:ext cx="1825498" cy="203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kmem_cache_cpu</a:t>
            </a:r>
            <a:r>
              <a:rPr lang="en-US" sz="1200" dirty="0">
                <a:solidFill>
                  <a:schemeClr val="tx1"/>
                </a:solidFill>
              </a:rPr>
              <a:t> (CPU #0)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E441D74E-3D17-4C7D-869B-55BCF0E22282}"/>
              </a:ext>
            </a:extLst>
          </p:cNvPr>
          <p:cNvSpPr/>
          <p:nvPr/>
        </p:nvSpPr>
        <p:spPr>
          <a:xfrm>
            <a:off x="8957219" y="4252817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61D813E-2826-4B17-A90D-BFEC33C03B77}"/>
              </a:ext>
            </a:extLst>
          </p:cNvPr>
          <p:cNvSpPr/>
          <p:nvPr/>
        </p:nvSpPr>
        <p:spPr>
          <a:xfrm>
            <a:off x="8957214" y="4463435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A4FABE9-20E6-4BF2-8404-4F997E38F0F4}"/>
              </a:ext>
            </a:extLst>
          </p:cNvPr>
          <p:cNvSpPr/>
          <p:nvPr/>
        </p:nvSpPr>
        <p:spPr>
          <a:xfrm>
            <a:off x="8957217" y="4673630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cxnSp>
        <p:nvCxnSpPr>
          <p:cNvPr id="207" name="Connector: Elbow 206">
            <a:extLst>
              <a:ext uri="{FF2B5EF4-FFF2-40B4-BE49-F238E27FC236}">
                <a16:creationId xmlns:a16="http://schemas.microsoft.com/office/drawing/2014/main" id="{E0C1589C-66A8-4F47-BF7F-03D3538ACDCA}"/>
              </a:ext>
            </a:extLst>
          </p:cNvPr>
          <p:cNvCxnSpPr>
            <a:cxnSpLocks/>
            <a:stCxn id="204" idx="3"/>
            <a:endCxn id="196" idx="0"/>
          </p:cNvCxnSpPr>
          <p:nvPr/>
        </p:nvCxnSpPr>
        <p:spPr>
          <a:xfrm flipV="1">
            <a:off x="10779172" y="4102243"/>
            <a:ext cx="614409" cy="255801"/>
          </a:xfrm>
          <a:prstGeom prst="bentConnector4">
            <a:avLst>
              <a:gd name="adj1" fmla="val 20077"/>
              <a:gd name="adj2" fmla="val 14468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: Elbow 207">
            <a:extLst>
              <a:ext uri="{FF2B5EF4-FFF2-40B4-BE49-F238E27FC236}">
                <a16:creationId xmlns:a16="http://schemas.microsoft.com/office/drawing/2014/main" id="{B0ECA1DE-796B-4B4A-95C2-2DB8E102AE06}"/>
              </a:ext>
            </a:extLst>
          </p:cNvPr>
          <p:cNvCxnSpPr>
            <a:cxnSpLocks/>
            <a:stCxn id="205" idx="3"/>
            <a:endCxn id="200" idx="3"/>
          </p:cNvCxnSpPr>
          <p:nvPr/>
        </p:nvCxnSpPr>
        <p:spPr>
          <a:xfrm>
            <a:off x="10779167" y="4568662"/>
            <a:ext cx="889756" cy="494357"/>
          </a:xfrm>
          <a:prstGeom prst="bentConnector4">
            <a:avLst>
              <a:gd name="adj1" fmla="val 18212"/>
              <a:gd name="adj2" fmla="val 12426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Rectangle 208">
            <a:extLst>
              <a:ext uri="{FF2B5EF4-FFF2-40B4-BE49-F238E27FC236}">
                <a16:creationId xmlns:a16="http://schemas.microsoft.com/office/drawing/2014/main" id="{931D62B5-C2F1-4BB1-B339-73C9869E230A}"/>
              </a:ext>
            </a:extLst>
          </p:cNvPr>
          <p:cNvSpPr/>
          <p:nvPr/>
        </p:nvSpPr>
        <p:spPr>
          <a:xfrm>
            <a:off x="8940589" y="5761636"/>
            <a:ext cx="1921019" cy="219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 (Node #0)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921499E-90A9-4D65-88E9-4E556A4CCEFD}"/>
              </a:ext>
            </a:extLst>
          </p:cNvPr>
          <p:cNvSpPr/>
          <p:nvPr/>
        </p:nvSpPr>
        <p:spPr>
          <a:xfrm>
            <a:off x="8940589" y="5984900"/>
            <a:ext cx="192101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D8161B2-96E0-4120-AB41-DC22C543E814}"/>
              </a:ext>
            </a:extLst>
          </p:cNvPr>
          <p:cNvSpPr txBox="1"/>
          <p:nvPr/>
        </p:nvSpPr>
        <p:spPr>
          <a:xfrm>
            <a:off x="9627389" y="6170673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12BFF7A-19A2-424D-A2EF-E5A0C159D89F}"/>
              </a:ext>
            </a:extLst>
          </p:cNvPr>
          <p:cNvSpPr/>
          <p:nvPr/>
        </p:nvSpPr>
        <p:spPr>
          <a:xfrm>
            <a:off x="11111876" y="5572562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39665E64-4937-4AF5-B9F8-E1E9ECB3B50F}"/>
              </a:ext>
            </a:extLst>
          </p:cNvPr>
          <p:cNvSpPr/>
          <p:nvPr/>
        </p:nvSpPr>
        <p:spPr>
          <a:xfrm rot="5400000">
            <a:off x="10819630" y="6055447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37D2CA5-5A98-4840-8D2F-8B2C3BDDD50E}"/>
              </a:ext>
            </a:extLst>
          </p:cNvPr>
          <p:cNvSpPr/>
          <p:nvPr/>
        </p:nvSpPr>
        <p:spPr>
          <a:xfrm rot="5400000">
            <a:off x="11007883" y="6055448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353B8CC-F406-4736-9591-2B547EDFFA03}"/>
              </a:ext>
            </a:extLst>
          </p:cNvPr>
          <p:cNvSpPr txBox="1"/>
          <p:nvPr/>
        </p:nvSpPr>
        <p:spPr>
          <a:xfrm>
            <a:off x="11434566" y="5898297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109A0E-1021-4201-9A29-F88695C0D9A8}"/>
              </a:ext>
            </a:extLst>
          </p:cNvPr>
          <p:cNvSpPr/>
          <p:nvPr/>
        </p:nvSpPr>
        <p:spPr>
          <a:xfrm rot="5400000">
            <a:off x="11370315" y="6056384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1D056A6D-857C-4EDC-9395-84415020ADB5}"/>
              </a:ext>
            </a:extLst>
          </p:cNvPr>
          <p:cNvSpPr txBox="1"/>
          <p:nvPr/>
        </p:nvSpPr>
        <p:spPr>
          <a:xfrm>
            <a:off x="11225287" y="5517296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cxnSp>
        <p:nvCxnSpPr>
          <p:cNvPr id="218" name="Connector: Elbow 217">
            <a:extLst>
              <a:ext uri="{FF2B5EF4-FFF2-40B4-BE49-F238E27FC236}">
                <a16:creationId xmlns:a16="http://schemas.microsoft.com/office/drawing/2014/main" id="{C7DD9B08-8BCC-4F2C-8B9D-5BB4D4A1951F}"/>
              </a:ext>
            </a:extLst>
          </p:cNvPr>
          <p:cNvCxnSpPr>
            <a:cxnSpLocks/>
            <a:stCxn id="210" idx="3"/>
          </p:cNvCxnSpPr>
          <p:nvPr/>
        </p:nvCxnSpPr>
        <p:spPr>
          <a:xfrm flipV="1">
            <a:off x="10861608" y="5678915"/>
            <a:ext cx="234764" cy="4112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Rectangle 218">
            <a:extLst>
              <a:ext uri="{FF2B5EF4-FFF2-40B4-BE49-F238E27FC236}">
                <a16:creationId xmlns:a16="http://schemas.microsoft.com/office/drawing/2014/main" id="{A960C1D5-AE74-4B2E-ABE9-F572A6F4F058}"/>
              </a:ext>
            </a:extLst>
          </p:cNvPr>
          <p:cNvSpPr/>
          <p:nvPr/>
        </p:nvSpPr>
        <p:spPr>
          <a:xfrm>
            <a:off x="6420249" y="4648506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A3E2FA15-D31B-4AE1-A740-6A961ADFCA97}"/>
              </a:ext>
            </a:extLst>
          </p:cNvPr>
          <p:cNvSpPr/>
          <p:nvPr/>
        </p:nvSpPr>
        <p:spPr>
          <a:xfrm>
            <a:off x="6420249" y="5111065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E5EF8E3D-03B5-4163-B6AD-2C1A3B5F6FED}"/>
              </a:ext>
            </a:extLst>
          </p:cNvPr>
          <p:cNvSpPr/>
          <p:nvPr/>
        </p:nvSpPr>
        <p:spPr>
          <a:xfrm>
            <a:off x="6420249" y="5316506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2F5AB97A-BFE5-4DE0-A417-4A4884908874}"/>
              </a:ext>
            </a:extLst>
          </p:cNvPr>
          <p:cNvCxnSpPr>
            <a:cxnSpLocks/>
            <a:stCxn id="220" idx="3"/>
            <a:endCxn id="203" idx="1"/>
          </p:cNvCxnSpPr>
          <p:nvPr/>
        </p:nvCxnSpPr>
        <p:spPr>
          <a:xfrm flipV="1">
            <a:off x="8252314" y="4151398"/>
            <a:ext cx="701360" cy="10648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0DBF4668-8AB5-4A26-B96A-13EC194CAAE9}"/>
              </a:ext>
            </a:extLst>
          </p:cNvPr>
          <p:cNvCxnSpPr>
            <a:cxnSpLocks/>
            <a:stCxn id="221" idx="3"/>
            <a:endCxn id="209" idx="1"/>
          </p:cNvCxnSpPr>
          <p:nvPr/>
        </p:nvCxnSpPr>
        <p:spPr>
          <a:xfrm>
            <a:off x="8252314" y="5421733"/>
            <a:ext cx="688275" cy="449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37FA104B-27AA-45AA-85CE-4FED7747FAD3}"/>
              </a:ext>
            </a:extLst>
          </p:cNvPr>
          <p:cNvSpPr txBox="1"/>
          <p:nvPr/>
        </p:nvSpPr>
        <p:spPr>
          <a:xfrm>
            <a:off x="9319679" y="3806802"/>
            <a:ext cx="103460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percpu</a:t>
            </a:r>
            <a:r>
              <a:rPr lang="en-US" sz="14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79E19D7-202E-4BA4-BC9E-7FCC4A414992}"/>
              </a:ext>
            </a:extLst>
          </p:cNvPr>
          <p:cNvSpPr txBox="1"/>
          <p:nvPr/>
        </p:nvSpPr>
        <p:spPr>
          <a:xfrm>
            <a:off x="9148261" y="5454285"/>
            <a:ext cx="142947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8FDA6A1A-CE0D-47A7-83A6-DDF7E0052ED4}"/>
              </a:ext>
            </a:extLst>
          </p:cNvPr>
          <p:cNvSpPr/>
          <p:nvPr/>
        </p:nvSpPr>
        <p:spPr>
          <a:xfrm>
            <a:off x="6303514" y="3685427"/>
            <a:ext cx="5794219" cy="3036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51F1B2FF-B23E-4862-A6EB-20943A24A259}"/>
              </a:ext>
            </a:extLst>
          </p:cNvPr>
          <p:cNvSpPr txBox="1"/>
          <p:nvPr/>
        </p:nvSpPr>
        <p:spPr>
          <a:xfrm>
            <a:off x="6278658" y="3469983"/>
            <a:ext cx="408237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Cache]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6400EDD-7FA1-4F26-9C83-AE5A38A34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50" y="607361"/>
            <a:ext cx="5518824" cy="159870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228" name="Rectangle 227">
            <a:extLst>
              <a:ext uri="{FF2B5EF4-FFF2-40B4-BE49-F238E27FC236}">
                <a16:creationId xmlns:a16="http://schemas.microsoft.com/office/drawing/2014/main" id="{041BE2C7-B4D2-415F-8390-E859B67C768D}"/>
              </a:ext>
            </a:extLst>
          </p:cNvPr>
          <p:cNvSpPr/>
          <p:nvPr/>
        </p:nvSpPr>
        <p:spPr>
          <a:xfrm>
            <a:off x="2621932" y="5150269"/>
            <a:ext cx="3107471" cy="124787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A78E6794-6C57-4CC7-9ABD-F14F48804316}"/>
              </a:ext>
            </a:extLst>
          </p:cNvPr>
          <p:cNvSpPr/>
          <p:nvPr/>
        </p:nvSpPr>
        <p:spPr>
          <a:xfrm>
            <a:off x="2621931" y="3540168"/>
            <a:ext cx="3107471" cy="150397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D4102867-5A78-41A7-A504-B79725F5999A}"/>
              </a:ext>
            </a:extLst>
          </p:cNvPr>
          <p:cNvSpPr/>
          <p:nvPr/>
        </p:nvSpPr>
        <p:spPr>
          <a:xfrm>
            <a:off x="2775466" y="3827358"/>
            <a:ext cx="1825498" cy="203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kmem_cache_cpu</a:t>
            </a:r>
            <a:r>
              <a:rPr lang="en-US" sz="1200" dirty="0">
                <a:solidFill>
                  <a:schemeClr val="tx1"/>
                </a:solidFill>
              </a:rPr>
              <a:t> (CPU #0)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B0C7D90F-5DBE-4BFF-A034-796914B9A459}"/>
              </a:ext>
            </a:extLst>
          </p:cNvPr>
          <p:cNvSpPr/>
          <p:nvPr/>
        </p:nvSpPr>
        <p:spPr>
          <a:xfrm>
            <a:off x="2779011" y="4030634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7971FD8A-E5E6-4C82-A66C-7B202026CE00}"/>
              </a:ext>
            </a:extLst>
          </p:cNvPr>
          <p:cNvSpPr/>
          <p:nvPr/>
        </p:nvSpPr>
        <p:spPr>
          <a:xfrm>
            <a:off x="2779006" y="4241252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3F559FFF-51FD-41FD-BDDA-9D277C2E0C21}"/>
              </a:ext>
            </a:extLst>
          </p:cNvPr>
          <p:cNvSpPr/>
          <p:nvPr/>
        </p:nvSpPr>
        <p:spPr>
          <a:xfrm>
            <a:off x="2779009" y="4451447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A5DAD6F9-BAE3-442D-8A04-FC6A4362162B}"/>
              </a:ext>
            </a:extLst>
          </p:cNvPr>
          <p:cNvSpPr/>
          <p:nvPr/>
        </p:nvSpPr>
        <p:spPr>
          <a:xfrm>
            <a:off x="2762381" y="5539453"/>
            <a:ext cx="1921019" cy="219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 (Node #0)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D124C266-1B62-402F-96D6-59E51971C025}"/>
              </a:ext>
            </a:extLst>
          </p:cNvPr>
          <p:cNvSpPr/>
          <p:nvPr/>
        </p:nvSpPr>
        <p:spPr>
          <a:xfrm>
            <a:off x="2762381" y="5753664"/>
            <a:ext cx="192101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5CA2CD1C-8E13-4D84-9725-CB64CCA1F5D9}"/>
              </a:ext>
            </a:extLst>
          </p:cNvPr>
          <p:cNvSpPr/>
          <p:nvPr/>
        </p:nvSpPr>
        <p:spPr>
          <a:xfrm>
            <a:off x="242041" y="4426323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2B39EBC5-9F95-4655-80E9-093E309F4040}"/>
              </a:ext>
            </a:extLst>
          </p:cNvPr>
          <p:cNvSpPr/>
          <p:nvPr/>
        </p:nvSpPr>
        <p:spPr>
          <a:xfrm>
            <a:off x="242041" y="4888882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8B25100E-9B42-462A-B748-2C38D864CBEA}"/>
              </a:ext>
            </a:extLst>
          </p:cNvPr>
          <p:cNvSpPr/>
          <p:nvPr/>
        </p:nvSpPr>
        <p:spPr>
          <a:xfrm>
            <a:off x="242041" y="509432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256" name="Connector: Elbow 255">
            <a:extLst>
              <a:ext uri="{FF2B5EF4-FFF2-40B4-BE49-F238E27FC236}">
                <a16:creationId xmlns:a16="http://schemas.microsoft.com/office/drawing/2014/main" id="{84570304-5B27-4D79-9F82-51D4FF321DDA}"/>
              </a:ext>
            </a:extLst>
          </p:cNvPr>
          <p:cNvCxnSpPr>
            <a:cxnSpLocks/>
            <a:stCxn id="254" idx="3"/>
            <a:endCxn id="237" idx="1"/>
          </p:cNvCxnSpPr>
          <p:nvPr/>
        </p:nvCxnSpPr>
        <p:spPr>
          <a:xfrm flipV="1">
            <a:off x="2074106" y="3929215"/>
            <a:ext cx="701360" cy="10648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: Elbow 256">
            <a:extLst>
              <a:ext uri="{FF2B5EF4-FFF2-40B4-BE49-F238E27FC236}">
                <a16:creationId xmlns:a16="http://schemas.microsoft.com/office/drawing/2014/main" id="{BF63DA4B-6BE6-4741-9103-C0CFCC3E671A}"/>
              </a:ext>
            </a:extLst>
          </p:cNvPr>
          <p:cNvCxnSpPr>
            <a:cxnSpLocks/>
            <a:stCxn id="255" idx="3"/>
            <a:endCxn id="243" idx="1"/>
          </p:cNvCxnSpPr>
          <p:nvPr/>
        </p:nvCxnSpPr>
        <p:spPr>
          <a:xfrm>
            <a:off x="2074106" y="5199550"/>
            <a:ext cx="688275" cy="449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5D1FE6F6-1FAE-4FAA-8CAB-09EDAD089AC0}"/>
              </a:ext>
            </a:extLst>
          </p:cNvPr>
          <p:cNvSpPr txBox="1"/>
          <p:nvPr/>
        </p:nvSpPr>
        <p:spPr>
          <a:xfrm>
            <a:off x="3141471" y="3584619"/>
            <a:ext cx="103460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percpu</a:t>
            </a:r>
            <a:r>
              <a:rPr lang="en-US" sz="14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1FCB9566-2B30-47A4-9648-F316C2C3A2A2}"/>
              </a:ext>
            </a:extLst>
          </p:cNvPr>
          <p:cNvSpPr txBox="1"/>
          <p:nvPr/>
        </p:nvSpPr>
        <p:spPr>
          <a:xfrm>
            <a:off x="2970053" y="5232102"/>
            <a:ext cx="142947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B54719FB-3406-4496-BA3D-0DA197B6125A}"/>
              </a:ext>
            </a:extLst>
          </p:cNvPr>
          <p:cNvSpPr/>
          <p:nvPr/>
        </p:nvSpPr>
        <p:spPr>
          <a:xfrm>
            <a:off x="125307" y="3463244"/>
            <a:ext cx="5794218" cy="3036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A800381-552E-44AE-BB65-8A83385AA8BB}"/>
              </a:ext>
            </a:extLst>
          </p:cNvPr>
          <p:cNvSpPr txBox="1"/>
          <p:nvPr/>
        </p:nvSpPr>
        <p:spPr>
          <a:xfrm>
            <a:off x="109503" y="3247800"/>
            <a:ext cx="376538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Cache]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sighand_cachep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3356B38-0EE5-4756-A313-4C20A4365A86}"/>
              </a:ext>
            </a:extLst>
          </p:cNvPr>
          <p:cNvSpPr/>
          <p:nvPr/>
        </p:nvSpPr>
        <p:spPr>
          <a:xfrm>
            <a:off x="4282289" y="5374610"/>
            <a:ext cx="2009869" cy="220423"/>
          </a:xfrm>
          <a:custGeom>
            <a:avLst/>
            <a:gdLst>
              <a:gd name="connsiteX0" fmla="*/ 0 w 2009869"/>
              <a:gd name="connsiteY0" fmla="*/ 220423 h 220423"/>
              <a:gd name="connsiteX1" fmla="*/ 561315 w 2009869"/>
              <a:gd name="connsiteY1" fmla="*/ 3140 h 220423"/>
              <a:gd name="connsiteX2" fmla="*/ 2009869 w 2009869"/>
              <a:gd name="connsiteY2" fmla="*/ 111782 h 220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9869" h="220423">
                <a:moveTo>
                  <a:pt x="0" y="220423"/>
                </a:moveTo>
                <a:cubicBezTo>
                  <a:pt x="113168" y="120835"/>
                  <a:pt x="226337" y="21247"/>
                  <a:pt x="561315" y="3140"/>
                </a:cubicBezTo>
                <a:cubicBezTo>
                  <a:pt x="896293" y="-14967"/>
                  <a:pt x="1453081" y="48407"/>
                  <a:pt x="2009869" y="111782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D85654E-DFA0-4EB0-86A1-26B04472ECB1}"/>
              </a:ext>
            </a:extLst>
          </p:cNvPr>
          <p:cNvSpPr txBox="1"/>
          <p:nvPr/>
        </p:nvSpPr>
        <p:spPr>
          <a:xfrm>
            <a:off x="3418954" y="4612034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EE6D4BE-BF80-4669-9FE1-C77C0E2AEC6F}"/>
              </a:ext>
            </a:extLst>
          </p:cNvPr>
          <p:cNvSpPr txBox="1"/>
          <p:nvPr/>
        </p:nvSpPr>
        <p:spPr>
          <a:xfrm>
            <a:off x="3428382" y="5959025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39B36-7309-4F07-BC1A-2496714E9D0B}"/>
              </a:ext>
            </a:extLst>
          </p:cNvPr>
          <p:cNvSpPr txBox="1"/>
          <p:nvPr/>
        </p:nvSpPr>
        <p:spPr>
          <a:xfrm rot="20946082">
            <a:off x="4267161" y="2630681"/>
            <a:ext cx="2108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/>
              <a:t>Allocate from ‘</a:t>
            </a:r>
            <a:r>
              <a:rPr lang="en-US" altLang="zh-TW" sz="1400" b="1" dirty="0" err="1"/>
              <a:t>kmem_cache</a:t>
            </a:r>
            <a:r>
              <a:rPr lang="en-US" altLang="zh-TW" sz="1400" b="1" dirty="0"/>
              <a:t>’ slab cache</a:t>
            </a:r>
            <a:endParaRPr lang="zh-TW" altLang="en-US" sz="14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546A59-7383-48BA-8C4F-E33811BC3EB4}"/>
              </a:ext>
            </a:extLst>
          </p:cNvPr>
          <p:cNvCxnSpPr>
            <a:stCxn id="32" idx="2"/>
            <a:endCxn id="261" idx="0"/>
          </p:cNvCxnSpPr>
          <p:nvPr/>
        </p:nvCxnSpPr>
        <p:spPr>
          <a:xfrm flipH="1">
            <a:off x="1992193" y="2206067"/>
            <a:ext cx="945069" cy="10417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72447721-4186-4C35-8D81-A0779580AA70}"/>
              </a:ext>
            </a:extLst>
          </p:cNvPr>
          <p:cNvSpPr/>
          <p:nvPr/>
        </p:nvSpPr>
        <p:spPr>
          <a:xfrm>
            <a:off x="2313416" y="2571444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2FDFBF7-1856-4D9A-95D5-9100542851B0}"/>
              </a:ext>
            </a:extLst>
          </p:cNvPr>
          <p:cNvSpPr/>
          <p:nvPr/>
        </p:nvSpPr>
        <p:spPr>
          <a:xfrm>
            <a:off x="1737279" y="3023857"/>
            <a:ext cx="4536772" cy="1539090"/>
          </a:xfrm>
          <a:custGeom>
            <a:avLst/>
            <a:gdLst>
              <a:gd name="connsiteX0" fmla="*/ 109628 w 4536772"/>
              <a:gd name="connsiteY0" fmla="*/ 1539090 h 1539090"/>
              <a:gd name="connsiteX1" fmla="*/ 571355 w 4536772"/>
              <a:gd name="connsiteY1" fmla="*/ 733331 h 1539090"/>
              <a:gd name="connsiteX2" fmla="*/ 4536772 w 4536772"/>
              <a:gd name="connsiteY2" fmla="*/ 0 h 1539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36772" h="1539090">
                <a:moveTo>
                  <a:pt x="109628" y="1539090"/>
                </a:moveTo>
                <a:cubicBezTo>
                  <a:pt x="-28437" y="1264468"/>
                  <a:pt x="-166502" y="989846"/>
                  <a:pt x="571355" y="733331"/>
                </a:cubicBezTo>
                <a:cubicBezTo>
                  <a:pt x="1309212" y="476816"/>
                  <a:pt x="2922992" y="238408"/>
                  <a:pt x="4536772" y="0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A9BC659-FDC4-45CC-BB3B-29C52AAD9B53}"/>
              </a:ext>
            </a:extLst>
          </p:cNvPr>
          <p:cNvSpPr/>
          <p:nvPr/>
        </p:nvSpPr>
        <p:spPr>
          <a:xfrm>
            <a:off x="4170919" y="3144035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E203982-30BD-4E63-8CFE-5DEE9987D673}"/>
              </a:ext>
            </a:extLst>
          </p:cNvPr>
          <p:cNvSpPr/>
          <p:nvPr/>
        </p:nvSpPr>
        <p:spPr>
          <a:xfrm>
            <a:off x="4672145" y="5215979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4AF2258-2A30-4151-8C47-EA44AAC9F2E2}"/>
              </a:ext>
            </a:extLst>
          </p:cNvPr>
          <p:cNvSpPr txBox="1"/>
          <p:nvPr/>
        </p:nvSpPr>
        <p:spPr>
          <a:xfrm>
            <a:off x="4628833" y="5435853"/>
            <a:ext cx="2520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/>
              <a:t>Allocate from ‘</a:t>
            </a:r>
            <a:r>
              <a:rPr lang="en-US" altLang="zh-TW" sz="1400" b="1" dirty="0" err="1"/>
              <a:t>kmem_cache_node</a:t>
            </a:r>
            <a:r>
              <a:rPr lang="en-US" altLang="zh-TW" sz="1400" b="1" dirty="0"/>
              <a:t>’ slab cache</a:t>
            </a:r>
            <a:endParaRPr lang="zh-TW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696046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86">
            <a:extLst>
              <a:ext uri="{FF2B5EF4-FFF2-40B4-BE49-F238E27FC236}">
                <a16:creationId xmlns:a16="http://schemas.microsoft.com/office/drawing/2014/main" id="{75BD9CEA-186D-46F6-B0D0-0A436B5FCB7C}"/>
              </a:ext>
            </a:extLst>
          </p:cNvPr>
          <p:cNvSpPr/>
          <p:nvPr/>
        </p:nvSpPr>
        <p:spPr>
          <a:xfrm>
            <a:off x="8797837" y="1976738"/>
            <a:ext cx="3107471" cy="124787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71AD74B-8172-4526-9826-E7AB9424F43D}"/>
              </a:ext>
            </a:extLst>
          </p:cNvPr>
          <p:cNvSpPr/>
          <p:nvPr/>
        </p:nvSpPr>
        <p:spPr>
          <a:xfrm>
            <a:off x="8797836" y="366637"/>
            <a:ext cx="3107471" cy="150397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10AD8-7238-4CAF-A1A4-6B2B2E2E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5966"/>
            <a:ext cx="6862527" cy="663575"/>
          </a:xfrm>
        </p:spPr>
        <p:txBody>
          <a:bodyPr>
            <a:noAutofit/>
          </a:bodyPr>
          <a:lstStyle/>
          <a:p>
            <a:r>
              <a:rPr lang="en-US" altLang="zh-TW" sz="3600" dirty="0"/>
              <a:t>Slab Allocator Initialization: “Chicken or the egg” problem</a:t>
            </a:r>
            <a:endParaRPr lang="en-US" sz="36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32C243-9A53-4E0E-BAFE-BDF172499B5A}"/>
              </a:ext>
            </a:extLst>
          </p:cNvPr>
          <p:cNvSpPr txBox="1"/>
          <p:nvPr/>
        </p:nvSpPr>
        <p:spPr>
          <a:xfrm>
            <a:off x="9809280" y="1407613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A6145D-C379-480E-AD73-16E6E4B733C7}"/>
              </a:ext>
            </a:extLst>
          </p:cNvPr>
          <p:cNvSpPr/>
          <p:nvPr/>
        </p:nvSpPr>
        <p:spPr>
          <a:xfrm>
            <a:off x="8951371" y="653827"/>
            <a:ext cx="1825498" cy="203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kmem_cache_cpu</a:t>
            </a:r>
            <a:r>
              <a:rPr lang="en-US" sz="1200" dirty="0">
                <a:solidFill>
                  <a:schemeClr val="tx1"/>
                </a:solidFill>
              </a:rPr>
              <a:t> (CPU #0)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E76C757-CF4E-4245-A374-4AED73581B46}"/>
              </a:ext>
            </a:extLst>
          </p:cNvPr>
          <p:cNvSpPr/>
          <p:nvPr/>
        </p:nvSpPr>
        <p:spPr>
          <a:xfrm>
            <a:off x="8954916" y="857103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0DAC7CE-53A5-40C6-94DD-195F82A4AF72}"/>
              </a:ext>
            </a:extLst>
          </p:cNvPr>
          <p:cNvSpPr/>
          <p:nvPr/>
        </p:nvSpPr>
        <p:spPr>
          <a:xfrm>
            <a:off x="8954911" y="1067721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4D14553-733A-4D87-8625-E8E89057FC42}"/>
              </a:ext>
            </a:extLst>
          </p:cNvPr>
          <p:cNvSpPr/>
          <p:nvPr/>
        </p:nvSpPr>
        <p:spPr>
          <a:xfrm>
            <a:off x="8954914" y="1277916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9E2A6C5-1A19-45AE-B81C-EE45CDE6985A}"/>
              </a:ext>
            </a:extLst>
          </p:cNvPr>
          <p:cNvSpPr/>
          <p:nvPr/>
        </p:nvSpPr>
        <p:spPr>
          <a:xfrm>
            <a:off x="8938286" y="2365922"/>
            <a:ext cx="1921019" cy="219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 (Node #0)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C5BC1EB-DEDA-416E-B9C0-B907160B3DC0}"/>
              </a:ext>
            </a:extLst>
          </p:cNvPr>
          <p:cNvSpPr/>
          <p:nvPr/>
        </p:nvSpPr>
        <p:spPr>
          <a:xfrm>
            <a:off x="8938286" y="2589186"/>
            <a:ext cx="1921019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8D0643C-0148-47E6-8814-DDA27692C1CB}"/>
              </a:ext>
            </a:extLst>
          </p:cNvPr>
          <p:cNvSpPr txBox="1"/>
          <p:nvPr/>
        </p:nvSpPr>
        <p:spPr>
          <a:xfrm>
            <a:off x="9625086" y="2774959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F6618F4-D6FB-4025-8D46-48090AB24190}"/>
              </a:ext>
            </a:extLst>
          </p:cNvPr>
          <p:cNvSpPr/>
          <p:nvPr/>
        </p:nvSpPr>
        <p:spPr>
          <a:xfrm>
            <a:off x="6417946" y="1252792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= NULL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C3DE938-D47C-4E0E-9F91-04BF811A5012}"/>
              </a:ext>
            </a:extLst>
          </p:cNvPr>
          <p:cNvSpPr/>
          <p:nvPr/>
        </p:nvSpPr>
        <p:spPr>
          <a:xfrm>
            <a:off x="6417946" y="1715351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9BE78E3-F397-49C0-A77F-DCC25E345B83}"/>
              </a:ext>
            </a:extLst>
          </p:cNvPr>
          <p:cNvSpPr/>
          <p:nvPr/>
        </p:nvSpPr>
        <p:spPr>
          <a:xfrm>
            <a:off x="6417946" y="1920792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3F5C2243-44DC-4EEE-BD77-60718BA6F064}"/>
              </a:ext>
            </a:extLst>
          </p:cNvPr>
          <p:cNvCxnSpPr>
            <a:cxnSpLocks/>
            <a:stCxn id="163" idx="3"/>
            <a:endCxn id="77" idx="1"/>
          </p:cNvCxnSpPr>
          <p:nvPr/>
        </p:nvCxnSpPr>
        <p:spPr>
          <a:xfrm flipV="1">
            <a:off x="8250011" y="755684"/>
            <a:ext cx="701360" cy="10648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EA21911C-BE65-4F5B-88A7-0168EFB384CF}"/>
              </a:ext>
            </a:extLst>
          </p:cNvPr>
          <p:cNvCxnSpPr>
            <a:cxnSpLocks/>
            <a:stCxn id="173" idx="3"/>
            <a:endCxn id="142" idx="1"/>
          </p:cNvCxnSpPr>
          <p:nvPr/>
        </p:nvCxnSpPr>
        <p:spPr>
          <a:xfrm>
            <a:off x="8250011" y="2026019"/>
            <a:ext cx="688275" cy="449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DC37723-B7A8-471A-95E0-9E1EB75B4AE6}"/>
              </a:ext>
            </a:extLst>
          </p:cNvPr>
          <p:cNvSpPr txBox="1"/>
          <p:nvPr/>
        </p:nvSpPr>
        <p:spPr>
          <a:xfrm>
            <a:off x="9317376" y="411088"/>
            <a:ext cx="103460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percpu</a:t>
            </a:r>
            <a:r>
              <a:rPr lang="en-US" sz="14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899A084-3BE0-424A-BD1B-97F5F1FB9BE3}"/>
              </a:ext>
            </a:extLst>
          </p:cNvPr>
          <p:cNvSpPr txBox="1"/>
          <p:nvPr/>
        </p:nvSpPr>
        <p:spPr>
          <a:xfrm>
            <a:off x="9145958" y="2058571"/>
            <a:ext cx="142947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93035D-A4F8-4A1B-91B9-6A9EAB3FF003}"/>
              </a:ext>
            </a:extLst>
          </p:cNvPr>
          <p:cNvSpPr/>
          <p:nvPr/>
        </p:nvSpPr>
        <p:spPr>
          <a:xfrm>
            <a:off x="6301212" y="289713"/>
            <a:ext cx="5794218" cy="3036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7B910C-2DA9-4A8E-BF92-BD7A1E07CA2F}"/>
              </a:ext>
            </a:extLst>
          </p:cNvPr>
          <p:cNvSpPr txBox="1"/>
          <p:nvPr/>
        </p:nvSpPr>
        <p:spPr>
          <a:xfrm>
            <a:off x="6285408" y="74269"/>
            <a:ext cx="407562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Cache]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= NULL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80DB5CAF-48A6-4DAC-B983-7AC5D28CB462}"/>
              </a:ext>
            </a:extLst>
          </p:cNvPr>
          <p:cNvSpPr/>
          <p:nvPr/>
        </p:nvSpPr>
        <p:spPr>
          <a:xfrm>
            <a:off x="8800140" y="5372452"/>
            <a:ext cx="3107471" cy="124787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1BA646B4-E960-40D1-BA72-92711A264CE3}"/>
              </a:ext>
            </a:extLst>
          </p:cNvPr>
          <p:cNvSpPr/>
          <p:nvPr/>
        </p:nvSpPr>
        <p:spPr>
          <a:xfrm>
            <a:off x="8800139" y="3762351"/>
            <a:ext cx="3107471" cy="150397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C1828FF-7989-4C03-8FFD-1E0FDFDB6A0F}"/>
              </a:ext>
            </a:extLst>
          </p:cNvPr>
          <p:cNvSpPr txBox="1"/>
          <p:nvPr/>
        </p:nvSpPr>
        <p:spPr>
          <a:xfrm>
            <a:off x="9811583" y="4803327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A4EB899-3EF5-4078-8593-51E6B21F6CCD}"/>
              </a:ext>
            </a:extLst>
          </p:cNvPr>
          <p:cNvSpPr/>
          <p:nvPr/>
        </p:nvSpPr>
        <p:spPr>
          <a:xfrm>
            <a:off x="8953674" y="4049541"/>
            <a:ext cx="1825498" cy="203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kmem_cache_cpu</a:t>
            </a:r>
            <a:r>
              <a:rPr lang="en-US" sz="1200" dirty="0">
                <a:solidFill>
                  <a:schemeClr val="tx1"/>
                </a:solidFill>
              </a:rPr>
              <a:t> (CPU #0)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E441D74E-3D17-4C7D-869B-55BCF0E22282}"/>
              </a:ext>
            </a:extLst>
          </p:cNvPr>
          <p:cNvSpPr/>
          <p:nvPr/>
        </p:nvSpPr>
        <p:spPr>
          <a:xfrm>
            <a:off x="8957219" y="4252817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61D813E-2826-4B17-A90D-BFEC33C03B77}"/>
              </a:ext>
            </a:extLst>
          </p:cNvPr>
          <p:cNvSpPr/>
          <p:nvPr/>
        </p:nvSpPr>
        <p:spPr>
          <a:xfrm>
            <a:off x="8957214" y="4463435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A4FABE9-20E6-4BF2-8404-4F997E38F0F4}"/>
              </a:ext>
            </a:extLst>
          </p:cNvPr>
          <p:cNvSpPr/>
          <p:nvPr/>
        </p:nvSpPr>
        <p:spPr>
          <a:xfrm>
            <a:off x="8957217" y="4673630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931D62B5-C2F1-4BB1-B339-73C9869E230A}"/>
              </a:ext>
            </a:extLst>
          </p:cNvPr>
          <p:cNvSpPr/>
          <p:nvPr/>
        </p:nvSpPr>
        <p:spPr>
          <a:xfrm>
            <a:off x="8940589" y="5761636"/>
            <a:ext cx="1921019" cy="219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 (Node #0)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921499E-90A9-4D65-88E9-4E556A4CCEFD}"/>
              </a:ext>
            </a:extLst>
          </p:cNvPr>
          <p:cNvSpPr/>
          <p:nvPr/>
        </p:nvSpPr>
        <p:spPr>
          <a:xfrm>
            <a:off x="8940589" y="5984900"/>
            <a:ext cx="1921019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D8161B2-96E0-4120-AB41-DC22C543E814}"/>
              </a:ext>
            </a:extLst>
          </p:cNvPr>
          <p:cNvSpPr txBox="1"/>
          <p:nvPr/>
        </p:nvSpPr>
        <p:spPr>
          <a:xfrm>
            <a:off x="9627389" y="6170673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A960C1D5-AE74-4B2E-ABE9-F572A6F4F058}"/>
              </a:ext>
            </a:extLst>
          </p:cNvPr>
          <p:cNvSpPr/>
          <p:nvPr/>
        </p:nvSpPr>
        <p:spPr>
          <a:xfrm>
            <a:off x="6420249" y="4648506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= NULL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A3E2FA15-D31B-4AE1-A740-6A961ADFCA97}"/>
              </a:ext>
            </a:extLst>
          </p:cNvPr>
          <p:cNvSpPr/>
          <p:nvPr/>
        </p:nvSpPr>
        <p:spPr>
          <a:xfrm>
            <a:off x="6420249" y="5111065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E5EF8E3D-03B5-4163-B6AD-2C1A3B5F6FED}"/>
              </a:ext>
            </a:extLst>
          </p:cNvPr>
          <p:cNvSpPr/>
          <p:nvPr/>
        </p:nvSpPr>
        <p:spPr>
          <a:xfrm>
            <a:off x="6420249" y="5316506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2F5AB97A-BFE5-4DE0-A417-4A4884908874}"/>
              </a:ext>
            </a:extLst>
          </p:cNvPr>
          <p:cNvCxnSpPr>
            <a:cxnSpLocks/>
            <a:stCxn id="220" idx="3"/>
            <a:endCxn id="203" idx="1"/>
          </p:cNvCxnSpPr>
          <p:nvPr/>
        </p:nvCxnSpPr>
        <p:spPr>
          <a:xfrm flipV="1">
            <a:off x="8252314" y="4151398"/>
            <a:ext cx="701360" cy="10648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0DBF4668-8AB5-4A26-B96A-13EC194CAAE9}"/>
              </a:ext>
            </a:extLst>
          </p:cNvPr>
          <p:cNvCxnSpPr>
            <a:cxnSpLocks/>
            <a:stCxn id="221" idx="3"/>
            <a:endCxn id="209" idx="1"/>
          </p:cNvCxnSpPr>
          <p:nvPr/>
        </p:nvCxnSpPr>
        <p:spPr>
          <a:xfrm>
            <a:off x="8252314" y="5421733"/>
            <a:ext cx="688275" cy="449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37FA104B-27AA-45AA-85CE-4FED7747FAD3}"/>
              </a:ext>
            </a:extLst>
          </p:cNvPr>
          <p:cNvSpPr txBox="1"/>
          <p:nvPr/>
        </p:nvSpPr>
        <p:spPr>
          <a:xfrm>
            <a:off x="9319679" y="3806802"/>
            <a:ext cx="103460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percpu</a:t>
            </a:r>
            <a:r>
              <a:rPr lang="en-US" sz="14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79E19D7-202E-4BA4-BC9E-7FCC4A414992}"/>
              </a:ext>
            </a:extLst>
          </p:cNvPr>
          <p:cNvSpPr txBox="1"/>
          <p:nvPr/>
        </p:nvSpPr>
        <p:spPr>
          <a:xfrm>
            <a:off x="9148261" y="5454285"/>
            <a:ext cx="142947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8FDA6A1A-CE0D-47A7-83A6-DDF7E0052ED4}"/>
              </a:ext>
            </a:extLst>
          </p:cNvPr>
          <p:cNvSpPr/>
          <p:nvPr/>
        </p:nvSpPr>
        <p:spPr>
          <a:xfrm>
            <a:off x="6303514" y="3685427"/>
            <a:ext cx="5794219" cy="3036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51F1B2FF-B23E-4862-A6EB-20943A24A259}"/>
              </a:ext>
            </a:extLst>
          </p:cNvPr>
          <p:cNvSpPr txBox="1"/>
          <p:nvPr/>
        </p:nvSpPr>
        <p:spPr>
          <a:xfrm>
            <a:off x="6278658" y="3469983"/>
            <a:ext cx="458064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Cache]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kmem_cache_node</a:t>
            </a:r>
            <a:r>
              <a:rPr lang="en-US" sz="1400" b="1" dirty="0">
                <a:solidFill>
                  <a:schemeClr val="bg1"/>
                </a:solidFill>
              </a:rPr>
              <a:t> = NULL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041BE2C7-B4D2-415F-8390-E859B67C768D}"/>
              </a:ext>
            </a:extLst>
          </p:cNvPr>
          <p:cNvSpPr/>
          <p:nvPr/>
        </p:nvSpPr>
        <p:spPr>
          <a:xfrm>
            <a:off x="2621932" y="5150269"/>
            <a:ext cx="3107471" cy="124787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A78E6794-6C57-4CC7-9ABD-F14F48804316}"/>
              </a:ext>
            </a:extLst>
          </p:cNvPr>
          <p:cNvSpPr/>
          <p:nvPr/>
        </p:nvSpPr>
        <p:spPr>
          <a:xfrm>
            <a:off x="2621931" y="3540168"/>
            <a:ext cx="3107471" cy="150397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D4102867-5A78-41A7-A504-B79725F5999A}"/>
              </a:ext>
            </a:extLst>
          </p:cNvPr>
          <p:cNvSpPr/>
          <p:nvPr/>
        </p:nvSpPr>
        <p:spPr>
          <a:xfrm>
            <a:off x="2775466" y="3827358"/>
            <a:ext cx="1825498" cy="203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kmem_cache_cpu</a:t>
            </a:r>
            <a:r>
              <a:rPr lang="en-US" sz="1200" dirty="0">
                <a:solidFill>
                  <a:schemeClr val="tx1"/>
                </a:solidFill>
              </a:rPr>
              <a:t> (CPU #0)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B0C7D90F-5DBE-4BFF-A034-796914B9A459}"/>
              </a:ext>
            </a:extLst>
          </p:cNvPr>
          <p:cNvSpPr/>
          <p:nvPr/>
        </p:nvSpPr>
        <p:spPr>
          <a:xfrm>
            <a:off x="2779011" y="4030634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7971FD8A-E5E6-4C82-A66C-7B202026CE00}"/>
              </a:ext>
            </a:extLst>
          </p:cNvPr>
          <p:cNvSpPr/>
          <p:nvPr/>
        </p:nvSpPr>
        <p:spPr>
          <a:xfrm>
            <a:off x="2779006" y="4241252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3F559FFF-51FD-41FD-BDDA-9D277C2E0C21}"/>
              </a:ext>
            </a:extLst>
          </p:cNvPr>
          <p:cNvSpPr/>
          <p:nvPr/>
        </p:nvSpPr>
        <p:spPr>
          <a:xfrm>
            <a:off x="2779009" y="4451447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A5DAD6F9-BAE3-442D-8A04-FC6A4362162B}"/>
              </a:ext>
            </a:extLst>
          </p:cNvPr>
          <p:cNvSpPr/>
          <p:nvPr/>
        </p:nvSpPr>
        <p:spPr>
          <a:xfrm>
            <a:off x="2762381" y="5539453"/>
            <a:ext cx="1921019" cy="219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 (Node #0)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D124C266-1B62-402F-96D6-59E51971C025}"/>
              </a:ext>
            </a:extLst>
          </p:cNvPr>
          <p:cNvSpPr/>
          <p:nvPr/>
        </p:nvSpPr>
        <p:spPr>
          <a:xfrm>
            <a:off x="2762381" y="5753664"/>
            <a:ext cx="192101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5CA2CD1C-8E13-4D84-9725-CB64CCA1F5D9}"/>
              </a:ext>
            </a:extLst>
          </p:cNvPr>
          <p:cNvSpPr/>
          <p:nvPr/>
        </p:nvSpPr>
        <p:spPr>
          <a:xfrm>
            <a:off x="242041" y="4426323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2B39EBC5-9F95-4655-80E9-093E309F4040}"/>
              </a:ext>
            </a:extLst>
          </p:cNvPr>
          <p:cNvSpPr/>
          <p:nvPr/>
        </p:nvSpPr>
        <p:spPr>
          <a:xfrm>
            <a:off x="242041" y="4888882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8B25100E-9B42-462A-B748-2C38D864CBEA}"/>
              </a:ext>
            </a:extLst>
          </p:cNvPr>
          <p:cNvSpPr/>
          <p:nvPr/>
        </p:nvSpPr>
        <p:spPr>
          <a:xfrm>
            <a:off x="242041" y="509432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256" name="Connector: Elbow 255">
            <a:extLst>
              <a:ext uri="{FF2B5EF4-FFF2-40B4-BE49-F238E27FC236}">
                <a16:creationId xmlns:a16="http://schemas.microsoft.com/office/drawing/2014/main" id="{84570304-5B27-4D79-9F82-51D4FF321DDA}"/>
              </a:ext>
            </a:extLst>
          </p:cNvPr>
          <p:cNvCxnSpPr>
            <a:cxnSpLocks/>
            <a:stCxn id="254" idx="3"/>
            <a:endCxn id="237" idx="1"/>
          </p:cNvCxnSpPr>
          <p:nvPr/>
        </p:nvCxnSpPr>
        <p:spPr>
          <a:xfrm flipV="1">
            <a:off x="2074106" y="3929215"/>
            <a:ext cx="701360" cy="10648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: Elbow 256">
            <a:extLst>
              <a:ext uri="{FF2B5EF4-FFF2-40B4-BE49-F238E27FC236}">
                <a16:creationId xmlns:a16="http://schemas.microsoft.com/office/drawing/2014/main" id="{BF63DA4B-6BE6-4741-9103-C0CFCC3E671A}"/>
              </a:ext>
            </a:extLst>
          </p:cNvPr>
          <p:cNvCxnSpPr>
            <a:cxnSpLocks/>
            <a:stCxn id="255" idx="3"/>
            <a:endCxn id="243" idx="1"/>
          </p:cNvCxnSpPr>
          <p:nvPr/>
        </p:nvCxnSpPr>
        <p:spPr>
          <a:xfrm>
            <a:off x="2074106" y="5199550"/>
            <a:ext cx="688275" cy="449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5D1FE6F6-1FAE-4FAA-8CAB-09EDAD089AC0}"/>
              </a:ext>
            </a:extLst>
          </p:cNvPr>
          <p:cNvSpPr txBox="1"/>
          <p:nvPr/>
        </p:nvSpPr>
        <p:spPr>
          <a:xfrm>
            <a:off x="3141471" y="3584619"/>
            <a:ext cx="103460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percpu</a:t>
            </a:r>
            <a:r>
              <a:rPr lang="en-US" sz="14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1FCB9566-2B30-47A4-9648-F316C2C3A2A2}"/>
              </a:ext>
            </a:extLst>
          </p:cNvPr>
          <p:cNvSpPr txBox="1"/>
          <p:nvPr/>
        </p:nvSpPr>
        <p:spPr>
          <a:xfrm>
            <a:off x="2970053" y="5232102"/>
            <a:ext cx="142947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B54719FB-3406-4496-BA3D-0DA197B6125A}"/>
              </a:ext>
            </a:extLst>
          </p:cNvPr>
          <p:cNvSpPr/>
          <p:nvPr/>
        </p:nvSpPr>
        <p:spPr>
          <a:xfrm>
            <a:off x="125307" y="3463244"/>
            <a:ext cx="5794218" cy="3036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A800381-552E-44AE-BB65-8A83385AA8BB}"/>
              </a:ext>
            </a:extLst>
          </p:cNvPr>
          <p:cNvSpPr txBox="1"/>
          <p:nvPr/>
        </p:nvSpPr>
        <p:spPr>
          <a:xfrm>
            <a:off x="109503" y="3289844"/>
            <a:ext cx="3655552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Cache]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3356B38-0EE5-4756-A313-4C20A4365A86}"/>
              </a:ext>
            </a:extLst>
          </p:cNvPr>
          <p:cNvSpPr/>
          <p:nvPr/>
        </p:nvSpPr>
        <p:spPr>
          <a:xfrm>
            <a:off x="4282289" y="5374610"/>
            <a:ext cx="2009869" cy="220423"/>
          </a:xfrm>
          <a:custGeom>
            <a:avLst/>
            <a:gdLst>
              <a:gd name="connsiteX0" fmla="*/ 0 w 2009869"/>
              <a:gd name="connsiteY0" fmla="*/ 220423 h 220423"/>
              <a:gd name="connsiteX1" fmla="*/ 561315 w 2009869"/>
              <a:gd name="connsiteY1" fmla="*/ 3140 h 220423"/>
              <a:gd name="connsiteX2" fmla="*/ 2009869 w 2009869"/>
              <a:gd name="connsiteY2" fmla="*/ 111782 h 220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9869" h="220423">
                <a:moveTo>
                  <a:pt x="0" y="220423"/>
                </a:moveTo>
                <a:cubicBezTo>
                  <a:pt x="113168" y="120835"/>
                  <a:pt x="226337" y="21247"/>
                  <a:pt x="561315" y="3140"/>
                </a:cubicBezTo>
                <a:cubicBezTo>
                  <a:pt x="896293" y="-14967"/>
                  <a:pt x="1453081" y="48407"/>
                  <a:pt x="2009869" y="111782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D85654E-DFA0-4EB0-86A1-26B04472ECB1}"/>
              </a:ext>
            </a:extLst>
          </p:cNvPr>
          <p:cNvSpPr txBox="1"/>
          <p:nvPr/>
        </p:nvSpPr>
        <p:spPr>
          <a:xfrm>
            <a:off x="3418954" y="4612034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EE6D4BE-BF80-4669-9FE1-C77C0E2AEC6F}"/>
              </a:ext>
            </a:extLst>
          </p:cNvPr>
          <p:cNvSpPr txBox="1"/>
          <p:nvPr/>
        </p:nvSpPr>
        <p:spPr>
          <a:xfrm>
            <a:off x="3428382" y="5959025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39B36-7309-4F07-BC1A-2496714E9D0B}"/>
              </a:ext>
            </a:extLst>
          </p:cNvPr>
          <p:cNvSpPr txBox="1"/>
          <p:nvPr/>
        </p:nvSpPr>
        <p:spPr>
          <a:xfrm rot="20946082">
            <a:off x="4239301" y="2546540"/>
            <a:ext cx="3189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/>
              <a:t>[Cannot work] Allocate from ‘</a:t>
            </a:r>
            <a:r>
              <a:rPr lang="en-US" altLang="zh-TW" sz="1400" b="1" dirty="0" err="1"/>
              <a:t>kmem_cache</a:t>
            </a:r>
            <a:r>
              <a:rPr lang="en-US" altLang="zh-TW" sz="1400" b="1" dirty="0"/>
              <a:t>’ slab cache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546A59-7383-48BA-8C4F-E33811BC3EB4}"/>
              </a:ext>
            </a:extLst>
          </p:cNvPr>
          <p:cNvCxnSpPr>
            <a:cxnSpLocks/>
            <a:endCxn id="261" idx="0"/>
          </p:cNvCxnSpPr>
          <p:nvPr/>
        </p:nvCxnSpPr>
        <p:spPr>
          <a:xfrm flipH="1">
            <a:off x="1937279" y="2568199"/>
            <a:ext cx="927557" cy="7216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72447721-4186-4C35-8D81-A0779580AA70}"/>
              </a:ext>
            </a:extLst>
          </p:cNvPr>
          <p:cNvSpPr/>
          <p:nvPr/>
        </p:nvSpPr>
        <p:spPr>
          <a:xfrm>
            <a:off x="2341728" y="2751014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2FDFBF7-1856-4D9A-95D5-9100542851B0}"/>
              </a:ext>
            </a:extLst>
          </p:cNvPr>
          <p:cNvSpPr/>
          <p:nvPr/>
        </p:nvSpPr>
        <p:spPr>
          <a:xfrm>
            <a:off x="1737279" y="3023857"/>
            <a:ext cx="4536772" cy="1539090"/>
          </a:xfrm>
          <a:custGeom>
            <a:avLst/>
            <a:gdLst>
              <a:gd name="connsiteX0" fmla="*/ 109628 w 4536772"/>
              <a:gd name="connsiteY0" fmla="*/ 1539090 h 1539090"/>
              <a:gd name="connsiteX1" fmla="*/ 571355 w 4536772"/>
              <a:gd name="connsiteY1" fmla="*/ 733331 h 1539090"/>
              <a:gd name="connsiteX2" fmla="*/ 4536772 w 4536772"/>
              <a:gd name="connsiteY2" fmla="*/ 0 h 1539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36772" h="1539090">
                <a:moveTo>
                  <a:pt x="109628" y="1539090"/>
                </a:moveTo>
                <a:cubicBezTo>
                  <a:pt x="-28437" y="1264468"/>
                  <a:pt x="-166502" y="989846"/>
                  <a:pt x="571355" y="733331"/>
                </a:cubicBezTo>
                <a:cubicBezTo>
                  <a:pt x="1309212" y="476816"/>
                  <a:pt x="2922992" y="238408"/>
                  <a:pt x="4536772" y="0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A9BC659-FDC4-45CC-BB3B-29C52AAD9B53}"/>
              </a:ext>
            </a:extLst>
          </p:cNvPr>
          <p:cNvSpPr/>
          <p:nvPr/>
        </p:nvSpPr>
        <p:spPr>
          <a:xfrm>
            <a:off x="4170919" y="3144035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E203982-30BD-4E63-8CFE-5DEE9987D673}"/>
              </a:ext>
            </a:extLst>
          </p:cNvPr>
          <p:cNvSpPr/>
          <p:nvPr/>
        </p:nvSpPr>
        <p:spPr>
          <a:xfrm>
            <a:off x="4672145" y="5215979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4AF2258-2A30-4151-8C47-EA44AAC9F2E2}"/>
              </a:ext>
            </a:extLst>
          </p:cNvPr>
          <p:cNvSpPr txBox="1"/>
          <p:nvPr/>
        </p:nvSpPr>
        <p:spPr>
          <a:xfrm>
            <a:off x="4637886" y="5481118"/>
            <a:ext cx="2520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/>
              <a:t>[Cannot work] Allocate from ‘</a:t>
            </a:r>
            <a:r>
              <a:rPr lang="en-US" altLang="zh-TW" sz="1400" b="1" dirty="0" err="1"/>
              <a:t>kmem_cache_node</a:t>
            </a:r>
            <a:r>
              <a:rPr lang="en-US" altLang="zh-TW" sz="1400" b="1" dirty="0"/>
              <a:t>’ slab cache</a:t>
            </a:r>
            <a:endParaRPr lang="zh-TW" altLang="en-US" sz="1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1F797C-84E4-4B01-8969-36F08092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94" y="1894085"/>
            <a:ext cx="5349354" cy="66115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6A75BC76-E950-4021-A12C-FD157230C830}"/>
              </a:ext>
            </a:extLst>
          </p:cNvPr>
          <p:cNvSpPr txBox="1"/>
          <p:nvPr/>
        </p:nvSpPr>
        <p:spPr>
          <a:xfrm>
            <a:off x="440932" y="1672162"/>
            <a:ext cx="4592795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Allocator Init] Just an example: Not in Linux kernel code</a:t>
            </a:r>
          </a:p>
        </p:txBody>
      </p:sp>
    </p:spTree>
    <p:extLst>
      <p:ext uri="{BB962C8B-B14F-4D97-AF65-F5344CB8AC3E}">
        <p14:creationId xmlns:p14="http://schemas.microsoft.com/office/powerpoint/2010/main" val="4097559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86">
            <a:extLst>
              <a:ext uri="{FF2B5EF4-FFF2-40B4-BE49-F238E27FC236}">
                <a16:creationId xmlns:a16="http://schemas.microsoft.com/office/drawing/2014/main" id="{75BD9CEA-186D-46F6-B0D0-0A436B5FCB7C}"/>
              </a:ext>
            </a:extLst>
          </p:cNvPr>
          <p:cNvSpPr/>
          <p:nvPr/>
        </p:nvSpPr>
        <p:spPr>
          <a:xfrm>
            <a:off x="8797837" y="1976738"/>
            <a:ext cx="3107471" cy="124787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71AD74B-8172-4526-9826-E7AB9424F43D}"/>
              </a:ext>
            </a:extLst>
          </p:cNvPr>
          <p:cNvSpPr/>
          <p:nvPr/>
        </p:nvSpPr>
        <p:spPr>
          <a:xfrm>
            <a:off x="8797836" y="366637"/>
            <a:ext cx="3107471" cy="150397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10AD8-7238-4CAF-A1A4-6B2B2E2E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5966"/>
            <a:ext cx="6862527" cy="663575"/>
          </a:xfrm>
        </p:spPr>
        <p:txBody>
          <a:bodyPr>
            <a:noAutofit/>
          </a:bodyPr>
          <a:lstStyle/>
          <a:p>
            <a:r>
              <a:rPr lang="en-US" altLang="zh-TW" sz="3600" dirty="0"/>
              <a:t>Slab Allocator Initialization: “Chicken or the egg” problem</a:t>
            </a:r>
            <a:endParaRPr lang="en-US" sz="36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32C243-9A53-4E0E-BAFE-BDF172499B5A}"/>
              </a:ext>
            </a:extLst>
          </p:cNvPr>
          <p:cNvSpPr txBox="1"/>
          <p:nvPr/>
        </p:nvSpPr>
        <p:spPr>
          <a:xfrm>
            <a:off x="9809280" y="1407613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A6145D-C379-480E-AD73-16E6E4B733C7}"/>
              </a:ext>
            </a:extLst>
          </p:cNvPr>
          <p:cNvSpPr/>
          <p:nvPr/>
        </p:nvSpPr>
        <p:spPr>
          <a:xfrm>
            <a:off x="8951371" y="653827"/>
            <a:ext cx="1825498" cy="203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kmem_cache_cpu</a:t>
            </a:r>
            <a:r>
              <a:rPr lang="en-US" sz="1200" dirty="0">
                <a:solidFill>
                  <a:schemeClr val="tx1"/>
                </a:solidFill>
              </a:rPr>
              <a:t> (CPU #0)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E76C757-CF4E-4245-A374-4AED73581B46}"/>
              </a:ext>
            </a:extLst>
          </p:cNvPr>
          <p:cNvSpPr/>
          <p:nvPr/>
        </p:nvSpPr>
        <p:spPr>
          <a:xfrm>
            <a:off x="8954916" y="857103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0DAC7CE-53A5-40C6-94DD-195F82A4AF72}"/>
              </a:ext>
            </a:extLst>
          </p:cNvPr>
          <p:cNvSpPr/>
          <p:nvPr/>
        </p:nvSpPr>
        <p:spPr>
          <a:xfrm>
            <a:off x="8954911" y="1067721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4D14553-733A-4D87-8625-E8E89057FC42}"/>
              </a:ext>
            </a:extLst>
          </p:cNvPr>
          <p:cNvSpPr/>
          <p:nvPr/>
        </p:nvSpPr>
        <p:spPr>
          <a:xfrm>
            <a:off x="8954914" y="1277916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9E2A6C5-1A19-45AE-B81C-EE45CDE6985A}"/>
              </a:ext>
            </a:extLst>
          </p:cNvPr>
          <p:cNvSpPr/>
          <p:nvPr/>
        </p:nvSpPr>
        <p:spPr>
          <a:xfrm>
            <a:off x="8938286" y="2365922"/>
            <a:ext cx="1921019" cy="219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 (Node #0)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C5BC1EB-DEDA-416E-B9C0-B907160B3DC0}"/>
              </a:ext>
            </a:extLst>
          </p:cNvPr>
          <p:cNvSpPr/>
          <p:nvPr/>
        </p:nvSpPr>
        <p:spPr>
          <a:xfrm>
            <a:off x="8938286" y="2589186"/>
            <a:ext cx="1921019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8D0643C-0148-47E6-8814-DDA27692C1CB}"/>
              </a:ext>
            </a:extLst>
          </p:cNvPr>
          <p:cNvSpPr txBox="1"/>
          <p:nvPr/>
        </p:nvSpPr>
        <p:spPr>
          <a:xfrm>
            <a:off x="9625086" y="2774959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F6618F4-D6FB-4025-8D46-48090AB24190}"/>
              </a:ext>
            </a:extLst>
          </p:cNvPr>
          <p:cNvSpPr/>
          <p:nvPr/>
        </p:nvSpPr>
        <p:spPr>
          <a:xfrm>
            <a:off x="6417946" y="1252792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= NULL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C3DE938-D47C-4E0E-9F91-04BF811A5012}"/>
              </a:ext>
            </a:extLst>
          </p:cNvPr>
          <p:cNvSpPr/>
          <p:nvPr/>
        </p:nvSpPr>
        <p:spPr>
          <a:xfrm>
            <a:off x="6417946" y="1715351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9BE78E3-F397-49C0-A77F-DCC25E345B83}"/>
              </a:ext>
            </a:extLst>
          </p:cNvPr>
          <p:cNvSpPr/>
          <p:nvPr/>
        </p:nvSpPr>
        <p:spPr>
          <a:xfrm>
            <a:off x="6417946" y="1920792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3F5C2243-44DC-4EEE-BD77-60718BA6F064}"/>
              </a:ext>
            </a:extLst>
          </p:cNvPr>
          <p:cNvCxnSpPr>
            <a:cxnSpLocks/>
            <a:stCxn id="163" idx="3"/>
            <a:endCxn id="77" idx="1"/>
          </p:cNvCxnSpPr>
          <p:nvPr/>
        </p:nvCxnSpPr>
        <p:spPr>
          <a:xfrm flipV="1">
            <a:off x="8250011" y="755684"/>
            <a:ext cx="701360" cy="10648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EA21911C-BE65-4F5B-88A7-0168EFB384CF}"/>
              </a:ext>
            </a:extLst>
          </p:cNvPr>
          <p:cNvCxnSpPr>
            <a:cxnSpLocks/>
            <a:stCxn id="173" idx="3"/>
            <a:endCxn id="142" idx="1"/>
          </p:cNvCxnSpPr>
          <p:nvPr/>
        </p:nvCxnSpPr>
        <p:spPr>
          <a:xfrm>
            <a:off x="8250011" y="2026019"/>
            <a:ext cx="688275" cy="449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DC37723-B7A8-471A-95E0-9E1EB75B4AE6}"/>
              </a:ext>
            </a:extLst>
          </p:cNvPr>
          <p:cNvSpPr txBox="1"/>
          <p:nvPr/>
        </p:nvSpPr>
        <p:spPr>
          <a:xfrm>
            <a:off x="9317376" y="411088"/>
            <a:ext cx="103460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percpu</a:t>
            </a:r>
            <a:r>
              <a:rPr lang="en-US" sz="14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899A084-3BE0-424A-BD1B-97F5F1FB9BE3}"/>
              </a:ext>
            </a:extLst>
          </p:cNvPr>
          <p:cNvSpPr txBox="1"/>
          <p:nvPr/>
        </p:nvSpPr>
        <p:spPr>
          <a:xfrm>
            <a:off x="9145958" y="2058571"/>
            <a:ext cx="142947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93035D-A4F8-4A1B-91B9-6A9EAB3FF003}"/>
              </a:ext>
            </a:extLst>
          </p:cNvPr>
          <p:cNvSpPr/>
          <p:nvPr/>
        </p:nvSpPr>
        <p:spPr>
          <a:xfrm>
            <a:off x="6301212" y="289713"/>
            <a:ext cx="5794218" cy="3036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7B910C-2DA9-4A8E-BF92-BD7A1E07CA2F}"/>
              </a:ext>
            </a:extLst>
          </p:cNvPr>
          <p:cNvSpPr txBox="1"/>
          <p:nvPr/>
        </p:nvSpPr>
        <p:spPr>
          <a:xfrm>
            <a:off x="6285408" y="74269"/>
            <a:ext cx="407562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Cache]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= NULL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80DB5CAF-48A6-4DAC-B983-7AC5D28CB462}"/>
              </a:ext>
            </a:extLst>
          </p:cNvPr>
          <p:cNvSpPr/>
          <p:nvPr/>
        </p:nvSpPr>
        <p:spPr>
          <a:xfrm>
            <a:off x="8800140" y="5372452"/>
            <a:ext cx="3107471" cy="124787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1BA646B4-E960-40D1-BA72-92711A264CE3}"/>
              </a:ext>
            </a:extLst>
          </p:cNvPr>
          <p:cNvSpPr/>
          <p:nvPr/>
        </p:nvSpPr>
        <p:spPr>
          <a:xfrm>
            <a:off x="8800139" y="3762351"/>
            <a:ext cx="3107471" cy="150397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C1828FF-7989-4C03-8FFD-1E0FDFDB6A0F}"/>
              </a:ext>
            </a:extLst>
          </p:cNvPr>
          <p:cNvSpPr txBox="1"/>
          <p:nvPr/>
        </p:nvSpPr>
        <p:spPr>
          <a:xfrm>
            <a:off x="9811583" y="4803327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A4EB899-3EF5-4078-8593-51E6B21F6CCD}"/>
              </a:ext>
            </a:extLst>
          </p:cNvPr>
          <p:cNvSpPr/>
          <p:nvPr/>
        </p:nvSpPr>
        <p:spPr>
          <a:xfrm>
            <a:off x="8953674" y="4049541"/>
            <a:ext cx="1825498" cy="203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kmem_cache_cpu</a:t>
            </a:r>
            <a:r>
              <a:rPr lang="en-US" sz="1200" dirty="0">
                <a:solidFill>
                  <a:schemeClr val="tx1"/>
                </a:solidFill>
              </a:rPr>
              <a:t> (CPU #0)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E441D74E-3D17-4C7D-869B-55BCF0E22282}"/>
              </a:ext>
            </a:extLst>
          </p:cNvPr>
          <p:cNvSpPr/>
          <p:nvPr/>
        </p:nvSpPr>
        <p:spPr>
          <a:xfrm>
            <a:off x="8957219" y="4252817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61D813E-2826-4B17-A90D-BFEC33C03B77}"/>
              </a:ext>
            </a:extLst>
          </p:cNvPr>
          <p:cNvSpPr/>
          <p:nvPr/>
        </p:nvSpPr>
        <p:spPr>
          <a:xfrm>
            <a:off x="8957214" y="4463435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A4FABE9-20E6-4BF2-8404-4F997E38F0F4}"/>
              </a:ext>
            </a:extLst>
          </p:cNvPr>
          <p:cNvSpPr/>
          <p:nvPr/>
        </p:nvSpPr>
        <p:spPr>
          <a:xfrm>
            <a:off x="8957217" y="4673630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931D62B5-C2F1-4BB1-B339-73C9869E230A}"/>
              </a:ext>
            </a:extLst>
          </p:cNvPr>
          <p:cNvSpPr/>
          <p:nvPr/>
        </p:nvSpPr>
        <p:spPr>
          <a:xfrm>
            <a:off x="8940589" y="5761636"/>
            <a:ext cx="1921019" cy="219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 (Node #0)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921499E-90A9-4D65-88E9-4E556A4CCEFD}"/>
              </a:ext>
            </a:extLst>
          </p:cNvPr>
          <p:cNvSpPr/>
          <p:nvPr/>
        </p:nvSpPr>
        <p:spPr>
          <a:xfrm>
            <a:off x="8940589" y="5984900"/>
            <a:ext cx="1921019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D8161B2-96E0-4120-AB41-DC22C543E814}"/>
              </a:ext>
            </a:extLst>
          </p:cNvPr>
          <p:cNvSpPr txBox="1"/>
          <p:nvPr/>
        </p:nvSpPr>
        <p:spPr>
          <a:xfrm>
            <a:off x="9627389" y="6170673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A960C1D5-AE74-4B2E-ABE9-F572A6F4F058}"/>
              </a:ext>
            </a:extLst>
          </p:cNvPr>
          <p:cNvSpPr/>
          <p:nvPr/>
        </p:nvSpPr>
        <p:spPr>
          <a:xfrm>
            <a:off x="6420249" y="4648506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= NULL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A3E2FA15-D31B-4AE1-A740-6A961ADFCA97}"/>
              </a:ext>
            </a:extLst>
          </p:cNvPr>
          <p:cNvSpPr/>
          <p:nvPr/>
        </p:nvSpPr>
        <p:spPr>
          <a:xfrm>
            <a:off x="6420249" y="5111065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E5EF8E3D-03B5-4163-B6AD-2C1A3B5F6FED}"/>
              </a:ext>
            </a:extLst>
          </p:cNvPr>
          <p:cNvSpPr/>
          <p:nvPr/>
        </p:nvSpPr>
        <p:spPr>
          <a:xfrm>
            <a:off x="6420249" y="5316506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2F5AB97A-BFE5-4DE0-A417-4A4884908874}"/>
              </a:ext>
            </a:extLst>
          </p:cNvPr>
          <p:cNvCxnSpPr>
            <a:cxnSpLocks/>
            <a:stCxn id="220" idx="3"/>
            <a:endCxn id="203" idx="1"/>
          </p:cNvCxnSpPr>
          <p:nvPr/>
        </p:nvCxnSpPr>
        <p:spPr>
          <a:xfrm flipV="1">
            <a:off x="8252314" y="4151398"/>
            <a:ext cx="701360" cy="10648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0DBF4668-8AB5-4A26-B96A-13EC194CAAE9}"/>
              </a:ext>
            </a:extLst>
          </p:cNvPr>
          <p:cNvCxnSpPr>
            <a:cxnSpLocks/>
            <a:stCxn id="221" idx="3"/>
            <a:endCxn id="209" idx="1"/>
          </p:cNvCxnSpPr>
          <p:nvPr/>
        </p:nvCxnSpPr>
        <p:spPr>
          <a:xfrm>
            <a:off x="8252314" y="5421733"/>
            <a:ext cx="688275" cy="449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37FA104B-27AA-45AA-85CE-4FED7747FAD3}"/>
              </a:ext>
            </a:extLst>
          </p:cNvPr>
          <p:cNvSpPr txBox="1"/>
          <p:nvPr/>
        </p:nvSpPr>
        <p:spPr>
          <a:xfrm>
            <a:off x="9319679" y="3806802"/>
            <a:ext cx="103460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percpu</a:t>
            </a:r>
            <a:r>
              <a:rPr lang="en-US" sz="14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79E19D7-202E-4BA4-BC9E-7FCC4A414992}"/>
              </a:ext>
            </a:extLst>
          </p:cNvPr>
          <p:cNvSpPr txBox="1"/>
          <p:nvPr/>
        </p:nvSpPr>
        <p:spPr>
          <a:xfrm>
            <a:off x="9148261" y="5454285"/>
            <a:ext cx="142947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8FDA6A1A-CE0D-47A7-83A6-DDF7E0052ED4}"/>
              </a:ext>
            </a:extLst>
          </p:cNvPr>
          <p:cNvSpPr/>
          <p:nvPr/>
        </p:nvSpPr>
        <p:spPr>
          <a:xfrm>
            <a:off x="6303514" y="3685427"/>
            <a:ext cx="5794219" cy="3036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51F1B2FF-B23E-4862-A6EB-20943A24A259}"/>
              </a:ext>
            </a:extLst>
          </p:cNvPr>
          <p:cNvSpPr txBox="1"/>
          <p:nvPr/>
        </p:nvSpPr>
        <p:spPr>
          <a:xfrm>
            <a:off x="6278658" y="3469983"/>
            <a:ext cx="458064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Cache]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kmem_cache_node</a:t>
            </a:r>
            <a:r>
              <a:rPr lang="en-US" sz="1400" b="1" dirty="0">
                <a:solidFill>
                  <a:schemeClr val="bg1"/>
                </a:solidFill>
              </a:rPr>
              <a:t> = NULL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041BE2C7-B4D2-415F-8390-E859B67C768D}"/>
              </a:ext>
            </a:extLst>
          </p:cNvPr>
          <p:cNvSpPr/>
          <p:nvPr/>
        </p:nvSpPr>
        <p:spPr>
          <a:xfrm>
            <a:off x="2621932" y="5150269"/>
            <a:ext cx="3107471" cy="124787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A78E6794-6C57-4CC7-9ABD-F14F48804316}"/>
              </a:ext>
            </a:extLst>
          </p:cNvPr>
          <p:cNvSpPr/>
          <p:nvPr/>
        </p:nvSpPr>
        <p:spPr>
          <a:xfrm>
            <a:off x="2621931" y="3540168"/>
            <a:ext cx="3107471" cy="150397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D4102867-5A78-41A7-A504-B79725F5999A}"/>
              </a:ext>
            </a:extLst>
          </p:cNvPr>
          <p:cNvSpPr/>
          <p:nvPr/>
        </p:nvSpPr>
        <p:spPr>
          <a:xfrm>
            <a:off x="2775466" y="3827358"/>
            <a:ext cx="1825498" cy="203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kmem_cache_cpu</a:t>
            </a:r>
            <a:r>
              <a:rPr lang="en-US" sz="1200" dirty="0">
                <a:solidFill>
                  <a:schemeClr val="tx1"/>
                </a:solidFill>
              </a:rPr>
              <a:t> (CPU #0)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B0C7D90F-5DBE-4BFF-A034-796914B9A459}"/>
              </a:ext>
            </a:extLst>
          </p:cNvPr>
          <p:cNvSpPr/>
          <p:nvPr/>
        </p:nvSpPr>
        <p:spPr>
          <a:xfrm>
            <a:off x="2779011" y="4030634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7971FD8A-E5E6-4C82-A66C-7B202026CE00}"/>
              </a:ext>
            </a:extLst>
          </p:cNvPr>
          <p:cNvSpPr/>
          <p:nvPr/>
        </p:nvSpPr>
        <p:spPr>
          <a:xfrm>
            <a:off x="2779006" y="4241252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3F559FFF-51FD-41FD-BDDA-9D277C2E0C21}"/>
              </a:ext>
            </a:extLst>
          </p:cNvPr>
          <p:cNvSpPr/>
          <p:nvPr/>
        </p:nvSpPr>
        <p:spPr>
          <a:xfrm>
            <a:off x="2779009" y="4451447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A5DAD6F9-BAE3-442D-8A04-FC6A4362162B}"/>
              </a:ext>
            </a:extLst>
          </p:cNvPr>
          <p:cNvSpPr/>
          <p:nvPr/>
        </p:nvSpPr>
        <p:spPr>
          <a:xfrm>
            <a:off x="2762381" y="5539453"/>
            <a:ext cx="1921019" cy="219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 (Node #0)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D124C266-1B62-402F-96D6-59E51971C025}"/>
              </a:ext>
            </a:extLst>
          </p:cNvPr>
          <p:cNvSpPr/>
          <p:nvPr/>
        </p:nvSpPr>
        <p:spPr>
          <a:xfrm>
            <a:off x="2762381" y="5753664"/>
            <a:ext cx="192101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5CA2CD1C-8E13-4D84-9725-CB64CCA1F5D9}"/>
              </a:ext>
            </a:extLst>
          </p:cNvPr>
          <p:cNvSpPr/>
          <p:nvPr/>
        </p:nvSpPr>
        <p:spPr>
          <a:xfrm>
            <a:off x="242041" y="4426323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2B39EBC5-9F95-4655-80E9-093E309F4040}"/>
              </a:ext>
            </a:extLst>
          </p:cNvPr>
          <p:cNvSpPr/>
          <p:nvPr/>
        </p:nvSpPr>
        <p:spPr>
          <a:xfrm>
            <a:off x="242041" y="4888882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8B25100E-9B42-462A-B748-2C38D864CBEA}"/>
              </a:ext>
            </a:extLst>
          </p:cNvPr>
          <p:cNvSpPr/>
          <p:nvPr/>
        </p:nvSpPr>
        <p:spPr>
          <a:xfrm>
            <a:off x="242041" y="509432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256" name="Connector: Elbow 255">
            <a:extLst>
              <a:ext uri="{FF2B5EF4-FFF2-40B4-BE49-F238E27FC236}">
                <a16:creationId xmlns:a16="http://schemas.microsoft.com/office/drawing/2014/main" id="{84570304-5B27-4D79-9F82-51D4FF321DDA}"/>
              </a:ext>
            </a:extLst>
          </p:cNvPr>
          <p:cNvCxnSpPr>
            <a:cxnSpLocks/>
            <a:stCxn id="254" idx="3"/>
            <a:endCxn id="237" idx="1"/>
          </p:cNvCxnSpPr>
          <p:nvPr/>
        </p:nvCxnSpPr>
        <p:spPr>
          <a:xfrm flipV="1">
            <a:off x="2074106" y="3929215"/>
            <a:ext cx="701360" cy="10648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: Elbow 256">
            <a:extLst>
              <a:ext uri="{FF2B5EF4-FFF2-40B4-BE49-F238E27FC236}">
                <a16:creationId xmlns:a16="http://schemas.microsoft.com/office/drawing/2014/main" id="{BF63DA4B-6BE6-4741-9103-C0CFCC3E671A}"/>
              </a:ext>
            </a:extLst>
          </p:cNvPr>
          <p:cNvCxnSpPr>
            <a:cxnSpLocks/>
            <a:stCxn id="255" idx="3"/>
            <a:endCxn id="243" idx="1"/>
          </p:cNvCxnSpPr>
          <p:nvPr/>
        </p:nvCxnSpPr>
        <p:spPr>
          <a:xfrm>
            <a:off x="2074106" y="5199550"/>
            <a:ext cx="688275" cy="449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5D1FE6F6-1FAE-4FAA-8CAB-09EDAD089AC0}"/>
              </a:ext>
            </a:extLst>
          </p:cNvPr>
          <p:cNvSpPr txBox="1"/>
          <p:nvPr/>
        </p:nvSpPr>
        <p:spPr>
          <a:xfrm>
            <a:off x="3141471" y="3584619"/>
            <a:ext cx="103460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percpu</a:t>
            </a:r>
            <a:r>
              <a:rPr lang="en-US" sz="14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1FCB9566-2B30-47A4-9648-F316C2C3A2A2}"/>
              </a:ext>
            </a:extLst>
          </p:cNvPr>
          <p:cNvSpPr txBox="1"/>
          <p:nvPr/>
        </p:nvSpPr>
        <p:spPr>
          <a:xfrm>
            <a:off x="2970053" y="5232102"/>
            <a:ext cx="142947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B54719FB-3406-4496-BA3D-0DA197B6125A}"/>
              </a:ext>
            </a:extLst>
          </p:cNvPr>
          <p:cNvSpPr/>
          <p:nvPr/>
        </p:nvSpPr>
        <p:spPr>
          <a:xfrm>
            <a:off x="125307" y="3463244"/>
            <a:ext cx="5794218" cy="3036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A800381-552E-44AE-BB65-8A83385AA8BB}"/>
              </a:ext>
            </a:extLst>
          </p:cNvPr>
          <p:cNvSpPr txBox="1"/>
          <p:nvPr/>
        </p:nvSpPr>
        <p:spPr>
          <a:xfrm>
            <a:off x="109503" y="3289844"/>
            <a:ext cx="3655552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Cache]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3356B38-0EE5-4756-A313-4C20A4365A86}"/>
              </a:ext>
            </a:extLst>
          </p:cNvPr>
          <p:cNvSpPr/>
          <p:nvPr/>
        </p:nvSpPr>
        <p:spPr>
          <a:xfrm>
            <a:off x="4282289" y="5374610"/>
            <a:ext cx="2009869" cy="220423"/>
          </a:xfrm>
          <a:custGeom>
            <a:avLst/>
            <a:gdLst>
              <a:gd name="connsiteX0" fmla="*/ 0 w 2009869"/>
              <a:gd name="connsiteY0" fmla="*/ 220423 h 220423"/>
              <a:gd name="connsiteX1" fmla="*/ 561315 w 2009869"/>
              <a:gd name="connsiteY1" fmla="*/ 3140 h 220423"/>
              <a:gd name="connsiteX2" fmla="*/ 2009869 w 2009869"/>
              <a:gd name="connsiteY2" fmla="*/ 111782 h 220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9869" h="220423">
                <a:moveTo>
                  <a:pt x="0" y="220423"/>
                </a:moveTo>
                <a:cubicBezTo>
                  <a:pt x="113168" y="120835"/>
                  <a:pt x="226337" y="21247"/>
                  <a:pt x="561315" y="3140"/>
                </a:cubicBezTo>
                <a:cubicBezTo>
                  <a:pt x="896293" y="-14967"/>
                  <a:pt x="1453081" y="48407"/>
                  <a:pt x="2009869" y="111782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D85654E-DFA0-4EB0-86A1-26B04472ECB1}"/>
              </a:ext>
            </a:extLst>
          </p:cNvPr>
          <p:cNvSpPr txBox="1"/>
          <p:nvPr/>
        </p:nvSpPr>
        <p:spPr>
          <a:xfrm>
            <a:off x="3418954" y="4612034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EE6D4BE-BF80-4669-9FE1-C77C0E2AEC6F}"/>
              </a:ext>
            </a:extLst>
          </p:cNvPr>
          <p:cNvSpPr txBox="1"/>
          <p:nvPr/>
        </p:nvSpPr>
        <p:spPr>
          <a:xfrm>
            <a:off x="3428382" y="5959025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39B36-7309-4F07-BC1A-2496714E9D0B}"/>
              </a:ext>
            </a:extLst>
          </p:cNvPr>
          <p:cNvSpPr txBox="1"/>
          <p:nvPr/>
        </p:nvSpPr>
        <p:spPr>
          <a:xfrm rot="20946082">
            <a:off x="4246370" y="2620645"/>
            <a:ext cx="2405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/>
              <a:t>[Cannot work] Allocate from ‘</a:t>
            </a:r>
            <a:r>
              <a:rPr lang="en-US" altLang="zh-TW" sz="1400" b="1" dirty="0" err="1"/>
              <a:t>kmem_cache</a:t>
            </a:r>
            <a:r>
              <a:rPr lang="en-US" altLang="zh-TW" sz="1400" b="1" dirty="0"/>
              <a:t>’ slab cache</a:t>
            </a:r>
            <a:endParaRPr lang="zh-TW" altLang="en-US" sz="14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546A59-7383-48BA-8C4F-E33811BC3EB4}"/>
              </a:ext>
            </a:extLst>
          </p:cNvPr>
          <p:cNvCxnSpPr>
            <a:cxnSpLocks/>
            <a:endCxn id="261" idx="0"/>
          </p:cNvCxnSpPr>
          <p:nvPr/>
        </p:nvCxnSpPr>
        <p:spPr>
          <a:xfrm flipH="1">
            <a:off x="1937279" y="2568199"/>
            <a:ext cx="927557" cy="7216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72447721-4186-4C35-8D81-A0779580AA70}"/>
              </a:ext>
            </a:extLst>
          </p:cNvPr>
          <p:cNvSpPr/>
          <p:nvPr/>
        </p:nvSpPr>
        <p:spPr>
          <a:xfrm>
            <a:off x="2341728" y="2751014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2FDFBF7-1856-4D9A-95D5-9100542851B0}"/>
              </a:ext>
            </a:extLst>
          </p:cNvPr>
          <p:cNvSpPr/>
          <p:nvPr/>
        </p:nvSpPr>
        <p:spPr>
          <a:xfrm>
            <a:off x="1737279" y="3023857"/>
            <a:ext cx="4536772" cy="1539090"/>
          </a:xfrm>
          <a:custGeom>
            <a:avLst/>
            <a:gdLst>
              <a:gd name="connsiteX0" fmla="*/ 109628 w 4536772"/>
              <a:gd name="connsiteY0" fmla="*/ 1539090 h 1539090"/>
              <a:gd name="connsiteX1" fmla="*/ 571355 w 4536772"/>
              <a:gd name="connsiteY1" fmla="*/ 733331 h 1539090"/>
              <a:gd name="connsiteX2" fmla="*/ 4536772 w 4536772"/>
              <a:gd name="connsiteY2" fmla="*/ 0 h 1539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36772" h="1539090">
                <a:moveTo>
                  <a:pt x="109628" y="1539090"/>
                </a:moveTo>
                <a:cubicBezTo>
                  <a:pt x="-28437" y="1264468"/>
                  <a:pt x="-166502" y="989846"/>
                  <a:pt x="571355" y="733331"/>
                </a:cubicBezTo>
                <a:cubicBezTo>
                  <a:pt x="1309212" y="476816"/>
                  <a:pt x="2922992" y="238408"/>
                  <a:pt x="4536772" y="0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A9BC659-FDC4-45CC-BB3B-29C52AAD9B53}"/>
              </a:ext>
            </a:extLst>
          </p:cNvPr>
          <p:cNvSpPr/>
          <p:nvPr/>
        </p:nvSpPr>
        <p:spPr>
          <a:xfrm>
            <a:off x="4170919" y="3144035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E203982-30BD-4E63-8CFE-5DEE9987D673}"/>
              </a:ext>
            </a:extLst>
          </p:cNvPr>
          <p:cNvSpPr/>
          <p:nvPr/>
        </p:nvSpPr>
        <p:spPr>
          <a:xfrm>
            <a:off x="4672145" y="5215979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4AF2258-2A30-4151-8C47-EA44AAC9F2E2}"/>
              </a:ext>
            </a:extLst>
          </p:cNvPr>
          <p:cNvSpPr txBox="1"/>
          <p:nvPr/>
        </p:nvSpPr>
        <p:spPr>
          <a:xfrm>
            <a:off x="4637886" y="5481118"/>
            <a:ext cx="2520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/>
              <a:t>[Cannot work] Allocate from ‘</a:t>
            </a:r>
            <a:r>
              <a:rPr lang="en-US" altLang="zh-TW" sz="1400" b="1" dirty="0" err="1"/>
              <a:t>kmem_cache_node</a:t>
            </a:r>
            <a:r>
              <a:rPr lang="en-US" altLang="zh-TW" sz="1400" b="1" dirty="0"/>
              <a:t>’ slab cache</a:t>
            </a:r>
            <a:endParaRPr lang="zh-TW" altLang="en-US" sz="1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1F797C-84E4-4B01-8969-36F08092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94" y="1894085"/>
            <a:ext cx="5349354" cy="66115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6A75BC76-E950-4021-A12C-FD157230C830}"/>
              </a:ext>
            </a:extLst>
          </p:cNvPr>
          <p:cNvSpPr txBox="1"/>
          <p:nvPr/>
        </p:nvSpPr>
        <p:spPr>
          <a:xfrm>
            <a:off x="459038" y="1672162"/>
            <a:ext cx="3415845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[Example] Slab allocator </a:t>
            </a:r>
            <a:r>
              <a:rPr lang="en-US" sz="1400" b="1" dirty="0" err="1">
                <a:solidFill>
                  <a:schemeClr val="bg1"/>
                </a:solidFill>
              </a:rPr>
              <a:t>init</a:t>
            </a:r>
            <a:r>
              <a:rPr lang="en-US" sz="1400" b="1" dirty="0">
                <a:solidFill>
                  <a:schemeClr val="bg1"/>
                </a:solidFill>
              </a:rPr>
              <a:t> for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1" name="矩形 40">
            <a:extLst>
              <a:ext uri="{FF2B5EF4-FFF2-40B4-BE49-F238E27FC236}">
                <a16:creationId xmlns:a16="http://schemas.microsoft.com/office/drawing/2014/main" id="{634C0F4B-AA28-49E1-A107-AE8E7344574C}"/>
              </a:ext>
            </a:extLst>
          </p:cNvPr>
          <p:cNvSpPr/>
          <p:nvPr/>
        </p:nvSpPr>
        <p:spPr>
          <a:xfrm>
            <a:off x="834550" y="6303976"/>
            <a:ext cx="11015278" cy="4608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</a:rPr>
              <a:t>Who initializes global variables ‘</a:t>
            </a:r>
            <a:r>
              <a:rPr lang="en-US" sz="2800" b="1" dirty="0" err="1">
                <a:solidFill>
                  <a:schemeClr val="tx1"/>
                </a:solidFill>
              </a:rPr>
              <a:t>kmem_cache</a:t>
            </a:r>
            <a:r>
              <a:rPr lang="en-US" sz="2800" b="1" dirty="0">
                <a:solidFill>
                  <a:schemeClr val="tx1"/>
                </a:solidFill>
              </a:rPr>
              <a:t>’ and ‘</a:t>
            </a:r>
            <a:r>
              <a:rPr lang="en-US" sz="2800" b="1" dirty="0" err="1">
                <a:solidFill>
                  <a:schemeClr val="tx1"/>
                </a:solidFill>
              </a:rPr>
              <a:t>kmem_cache_node</a:t>
            </a:r>
            <a:r>
              <a:rPr lang="en-US" sz="2800" b="1" dirty="0">
                <a:solidFill>
                  <a:schemeClr val="tx1"/>
                </a:solidFill>
              </a:rPr>
              <a:t>’?</a:t>
            </a:r>
          </a:p>
        </p:txBody>
      </p:sp>
    </p:spTree>
    <p:extLst>
      <p:ext uri="{BB962C8B-B14F-4D97-AF65-F5344CB8AC3E}">
        <p14:creationId xmlns:p14="http://schemas.microsoft.com/office/powerpoint/2010/main" val="31861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86">
            <a:extLst>
              <a:ext uri="{FF2B5EF4-FFF2-40B4-BE49-F238E27FC236}">
                <a16:creationId xmlns:a16="http://schemas.microsoft.com/office/drawing/2014/main" id="{75BD9CEA-186D-46F6-B0D0-0A436B5FCB7C}"/>
              </a:ext>
            </a:extLst>
          </p:cNvPr>
          <p:cNvSpPr/>
          <p:nvPr/>
        </p:nvSpPr>
        <p:spPr>
          <a:xfrm>
            <a:off x="8797837" y="1976738"/>
            <a:ext cx="3107471" cy="124787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71AD74B-8172-4526-9826-E7AB9424F43D}"/>
              </a:ext>
            </a:extLst>
          </p:cNvPr>
          <p:cNvSpPr/>
          <p:nvPr/>
        </p:nvSpPr>
        <p:spPr>
          <a:xfrm>
            <a:off x="8797836" y="366637"/>
            <a:ext cx="3107471" cy="150397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10AD8-7238-4CAF-A1A4-6B2B2E2E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5966"/>
            <a:ext cx="6862527" cy="663575"/>
          </a:xfrm>
        </p:spPr>
        <p:txBody>
          <a:bodyPr>
            <a:noAutofit/>
          </a:bodyPr>
          <a:lstStyle/>
          <a:p>
            <a:r>
              <a:rPr lang="en-US" altLang="zh-TW" sz="3600" dirty="0"/>
              <a:t>Slab Allocator Initialization: “Chicken or the egg” problem</a:t>
            </a:r>
            <a:endParaRPr lang="en-US" sz="36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32C243-9A53-4E0E-BAFE-BDF172499B5A}"/>
              </a:ext>
            </a:extLst>
          </p:cNvPr>
          <p:cNvSpPr txBox="1"/>
          <p:nvPr/>
        </p:nvSpPr>
        <p:spPr>
          <a:xfrm>
            <a:off x="9809280" y="1407613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A6145D-C379-480E-AD73-16E6E4B733C7}"/>
              </a:ext>
            </a:extLst>
          </p:cNvPr>
          <p:cNvSpPr/>
          <p:nvPr/>
        </p:nvSpPr>
        <p:spPr>
          <a:xfrm>
            <a:off x="8951371" y="653827"/>
            <a:ext cx="1825498" cy="203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kmem_cache_cpu</a:t>
            </a:r>
            <a:r>
              <a:rPr lang="en-US" sz="1200" dirty="0">
                <a:solidFill>
                  <a:schemeClr val="tx1"/>
                </a:solidFill>
              </a:rPr>
              <a:t> (CPU #0)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E76C757-CF4E-4245-A374-4AED73581B46}"/>
              </a:ext>
            </a:extLst>
          </p:cNvPr>
          <p:cNvSpPr/>
          <p:nvPr/>
        </p:nvSpPr>
        <p:spPr>
          <a:xfrm>
            <a:off x="8954916" y="857103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0DAC7CE-53A5-40C6-94DD-195F82A4AF72}"/>
              </a:ext>
            </a:extLst>
          </p:cNvPr>
          <p:cNvSpPr/>
          <p:nvPr/>
        </p:nvSpPr>
        <p:spPr>
          <a:xfrm>
            <a:off x="8954911" y="1067721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4D14553-733A-4D87-8625-E8E89057FC42}"/>
              </a:ext>
            </a:extLst>
          </p:cNvPr>
          <p:cNvSpPr/>
          <p:nvPr/>
        </p:nvSpPr>
        <p:spPr>
          <a:xfrm>
            <a:off x="8954914" y="1277916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9E2A6C5-1A19-45AE-B81C-EE45CDE6985A}"/>
              </a:ext>
            </a:extLst>
          </p:cNvPr>
          <p:cNvSpPr/>
          <p:nvPr/>
        </p:nvSpPr>
        <p:spPr>
          <a:xfrm>
            <a:off x="8938286" y="2365922"/>
            <a:ext cx="1921019" cy="219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 (Node #0)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C5BC1EB-DEDA-416E-B9C0-B907160B3DC0}"/>
              </a:ext>
            </a:extLst>
          </p:cNvPr>
          <p:cNvSpPr/>
          <p:nvPr/>
        </p:nvSpPr>
        <p:spPr>
          <a:xfrm>
            <a:off x="8938286" y="2589186"/>
            <a:ext cx="1921019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8D0643C-0148-47E6-8814-DDA27692C1CB}"/>
              </a:ext>
            </a:extLst>
          </p:cNvPr>
          <p:cNvSpPr txBox="1"/>
          <p:nvPr/>
        </p:nvSpPr>
        <p:spPr>
          <a:xfrm>
            <a:off x="9625086" y="2774959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F6618F4-D6FB-4025-8D46-48090AB24190}"/>
              </a:ext>
            </a:extLst>
          </p:cNvPr>
          <p:cNvSpPr/>
          <p:nvPr/>
        </p:nvSpPr>
        <p:spPr>
          <a:xfrm>
            <a:off x="6417946" y="1252792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= NULL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C3DE938-D47C-4E0E-9F91-04BF811A5012}"/>
              </a:ext>
            </a:extLst>
          </p:cNvPr>
          <p:cNvSpPr/>
          <p:nvPr/>
        </p:nvSpPr>
        <p:spPr>
          <a:xfrm>
            <a:off x="6417946" y="1715351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9BE78E3-F397-49C0-A77F-DCC25E345B83}"/>
              </a:ext>
            </a:extLst>
          </p:cNvPr>
          <p:cNvSpPr/>
          <p:nvPr/>
        </p:nvSpPr>
        <p:spPr>
          <a:xfrm>
            <a:off x="6417946" y="1920792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3F5C2243-44DC-4EEE-BD77-60718BA6F064}"/>
              </a:ext>
            </a:extLst>
          </p:cNvPr>
          <p:cNvCxnSpPr>
            <a:cxnSpLocks/>
            <a:stCxn id="163" idx="3"/>
            <a:endCxn id="77" idx="1"/>
          </p:cNvCxnSpPr>
          <p:nvPr/>
        </p:nvCxnSpPr>
        <p:spPr>
          <a:xfrm flipV="1">
            <a:off x="8250011" y="755684"/>
            <a:ext cx="701360" cy="10648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EA21911C-BE65-4F5B-88A7-0168EFB384CF}"/>
              </a:ext>
            </a:extLst>
          </p:cNvPr>
          <p:cNvCxnSpPr>
            <a:cxnSpLocks/>
            <a:stCxn id="173" idx="3"/>
            <a:endCxn id="142" idx="1"/>
          </p:cNvCxnSpPr>
          <p:nvPr/>
        </p:nvCxnSpPr>
        <p:spPr>
          <a:xfrm>
            <a:off x="8250011" y="2026019"/>
            <a:ext cx="688275" cy="449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DC37723-B7A8-471A-95E0-9E1EB75B4AE6}"/>
              </a:ext>
            </a:extLst>
          </p:cNvPr>
          <p:cNvSpPr txBox="1"/>
          <p:nvPr/>
        </p:nvSpPr>
        <p:spPr>
          <a:xfrm>
            <a:off x="9317376" y="411088"/>
            <a:ext cx="103460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percpu</a:t>
            </a:r>
            <a:r>
              <a:rPr lang="en-US" sz="14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899A084-3BE0-424A-BD1B-97F5F1FB9BE3}"/>
              </a:ext>
            </a:extLst>
          </p:cNvPr>
          <p:cNvSpPr txBox="1"/>
          <p:nvPr/>
        </p:nvSpPr>
        <p:spPr>
          <a:xfrm>
            <a:off x="9145958" y="2058571"/>
            <a:ext cx="142947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93035D-A4F8-4A1B-91B9-6A9EAB3FF003}"/>
              </a:ext>
            </a:extLst>
          </p:cNvPr>
          <p:cNvSpPr/>
          <p:nvPr/>
        </p:nvSpPr>
        <p:spPr>
          <a:xfrm>
            <a:off x="6301212" y="289713"/>
            <a:ext cx="5794218" cy="3036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7B910C-2DA9-4A8E-BF92-BD7A1E07CA2F}"/>
              </a:ext>
            </a:extLst>
          </p:cNvPr>
          <p:cNvSpPr txBox="1"/>
          <p:nvPr/>
        </p:nvSpPr>
        <p:spPr>
          <a:xfrm>
            <a:off x="6285408" y="74269"/>
            <a:ext cx="407562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Cache]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= NULL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80DB5CAF-48A6-4DAC-B983-7AC5D28CB462}"/>
              </a:ext>
            </a:extLst>
          </p:cNvPr>
          <p:cNvSpPr/>
          <p:nvPr/>
        </p:nvSpPr>
        <p:spPr>
          <a:xfrm>
            <a:off x="8800140" y="5372452"/>
            <a:ext cx="3107471" cy="124787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1BA646B4-E960-40D1-BA72-92711A264CE3}"/>
              </a:ext>
            </a:extLst>
          </p:cNvPr>
          <p:cNvSpPr/>
          <p:nvPr/>
        </p:nvSpPr>
        <p:spPr>
          <a:xfrm>
            <a:off x="8800139" y="3762351"/>
            <a:ext cx="3107471" cy="150397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C1828FF-7989-4C03-8FFD-1E0FDFDB6A0F}"/>
              </a:ext>
            </a:extLst>
          </p:cNvPr>
          <p:cNvSpPr txBox="1"/>
          <p:nvPr/>
        </p:nvSpPr>
        <p:spPr>
          <a:xfrm>
            <a:off x="9811583" y="4803327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A4EB899-3EF5-4078-8593-51E6B21F6CCD}"/>
              </a:ext>
            </a:extLst>
          </p:cNvPr>
          <p:cNvSpPr/>
          <p:nvPr/>
        </p:nvSpPr>
        <p:spPr>
          <a:xfrm>
            <a:off x="8953674" y="4049541"/>
            <a:ext cx="1825498" cy="203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kmem_cache_cpu</a:t>
            </a:r>
            <a:r>
              <a:rPr lang="en-US" sz="1200" dirty="0">
                <a:solidFill>
                  <a:schemeClr val="tx1"/>
                </a:solidFill>
              </a:rPr>
              <a:t> (CPU #0)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E441D74E-3D17-4C7D-869B-55BCF0E22282}"/>
              </a:ext>
            </a:extLst>
          </p:cNvPr>
          <p:cNvSpPr/>
          <p:nvPr/>
        </p:nvSpPr>
        <p:spPr>
          <a:xfrm>
            <a:off x="8957219" y="4252817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61D813E-2826-4B17-A90D-BFEC33C03B77}"/>
              </a:ext>
            </a:extLst>
          </p:cNvPr>
          <p:cNvSpPr/>
          <p:nvPr/>
        </p:nvSpPr>
        <p:spPr>
          <a:xfrm>
            <a:off x="8957214" y="4463435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A4FABE9-20E6-4BF2-8404-4F997E38F0F4}"/>
              </a:ext>
            </a:extLst>
          </p:cNvPr>
          <p:cNvSpPr/>
          <p:nvPr/>
        </p:nvSpPr>
        <p:spPr>
          <a:xfrm>
            <a:off x="8957217" y="4673630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931D62B5-C2F1-4BB1-B339-73C9869E230A}"/>
              </a:ext>
            </a:extLst>
          </p:cNvPr>
          <p:cNvSpPr/>
          <p:nvPr/>
        </p:nvSpPr>
        <p:spPr>
          <a:xfrm>
            <a:off x="8940589" y="5761636"/>
            <a:ext cx="1921019" cy="219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 (Node #0)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921499E-90A9-4D65-88E9-4E556A4CCEFD}"/>
              </a:ext>
            </a:extLst>
          </p:cNvPr>
          <p:cNvSpPr/>
          <p:nvPr/>
        </p:nvSpPr>
        <p:spPr>
          <a:xfrm>
            <a:off x="8940589" y="5984900"/>
            <a:ext cx="1921019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D8161B2-96E0-4120-AB41-DC22C543E814}"/>
              </a:ext>
            </a:extLst>
          </p:cNvPr>
          <p:cNvSpPr txBox="1"/>
          <p:nvPr/>
        </p:nvSpPr>
        <p:spPr>
          <a:xfrm>
            <a:off x="9627389" y="6170673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A960C1D5-AE74-4B2E-ABE9-F572A6F4F058}"/>
              </a:ext>
            </a:extLst>
          </p:cNvPr>
          <p:cNvSpPr/>
          <p:nvPr/>
        </p:nvSpPr>
        <p:spPr>
          <a:xfrm>
            <a:off x="6420249" y="4648506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= NULL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A3E2FA15-D31B-4AE1-A740-6A961ADFCA97}"/>
              </a:ext>
            </a:extLst>
          </p:cNvPr>
          <p:cNvSpPr/>
          <p:nvPr/>
        </p:nvSpPr>
        <p:spPr>
          <a:xfrm>
            <a:off x="6420249" y="5111065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E5EF8E3D-03B5-4163-B6AD-2C1A3B5F6FED}"/>
              </a:ext>
            </a:extLst>
          </p:cNvPr>
          <p:cNvSpPr/>
          <p:nvPr/>
        </p:nvSpPr>
        <p:spPr>
          <a:xfrm>
            <a:off x="6420249" y="5316506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2F5AB97A-BFE5-4DE0-A417-4A4884908874}"/>
              </a:ext>
            </a:extLst>
          </p:cNvPr>
          <p:cNvCxnSpPr>
            <a:cxnSpLocks/>
            <a:stCxn id="220" idx="3"/>
            <a:endCxn id="203" idx="1"/>
          </p:cNvCxnSpPr>
          <p:nvPr/>
        </p:nvCxnSpPr>
        <p:spPr>
          <a:xfrm flipV="1">
            <a:off x="8252314" y="4151398"/>
            <a:ext cx="701360" cy="10648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0DBF4668-8AB5-4A26-B96A-13EC194CAAE9}"/>
              </a:ext>
            </a:extLst>
          </p:cNvPr>
          <p:cNvCxnSpPr>
            <a:cxnSpLocks/>
            <a:stCxn id="221" idx="3"/>
            <a:endCxn id="209" idx="1"/>
          </p:cNvCxnSpPr>
          <p:nvPr/>
        </p:nvCxnSpPr>
        <p:spPr>
          <a:xfrm>
            <a:off x="8252314" y="5421733"/>
            <a:ext cx="688275" cy="449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37FA104B-27AA-45AA-85CE-4FED7747FAD3}"/>
              </a:ext>
            </a:extLst>
          </p:cNvPr>
          <p:cNvSpPr txBox="1"/>
          <p:nvPr/>
        </p:nvSpPr>
        <p:spPr>
          <a:xfrm>
            <a:off x="9319679" y="3806802"/>
            <a:ext cx="103460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percpu</a:t>
            </a:r>
            <a:r>
              <a:rPr lang="en-US" sz="14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79E19D7-202E-4BA4-BC9E-7FCC4A414992}"/>
              </a:ext>
            </a:extLst>
          </p:cNvPr>
          <p:cNvSpPr txBox="1"/>
          <p:nvPr/>
        </p:nvSpPr>
        <p:spPr>
          <a:xfrm>
            <a:off x="9148261" y="5454285"/>
            <a:ext cx="142947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8FDA6A1A-CE0D-47A7-83A6-DDF7E0052ED4}"/>
              </a:ext>
            </a:extLst>
          </p:cNvPr>
          <p:cNvSpPr/>
          <p:nvPr/>
        </p:nvSpPr>
        <p:spPr>
          <a:xfrm>
            <a:off x="6303514" y="3685427"/>
            <a:ext cx="5794219" cy="3036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51F1B2FF-B23E-4862-A6EB-20943A24A259}"/>
              </a:ext>
            </a:extLst>
          </p:cNvPr>
          <p:cNvSpPr txBox="1"/>
          <p:nvPr/>
        </p:nvSpPr>
        <p:spPr>
          <a:xfrm>
            <a:off x="6278658" y="3469983"/>
            <a:ext cx="458064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Cache]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kmem_cache_node</a:t>
            </a:r>
            <a:r>
              <a:rPr lang="en-US" sz="1400" b="1" dirty="0">
                <a:solidFill>
                  <a:schemeClr val="bg1"/>
                </a:solidFill>
              </a:rPr>
              <a:t> = NULL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6400EDD-7FA1-4F26-9C83-AE5A38A34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24" y="969493"/>
            <a:ext cx="5518824" cy="159870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228" name="Rectangle 227">
            <a:extLst>
              <a:ext uri="{FF2B5EF4-FFF2-40B4-BE49-F238E27FC236}">
                <a16:creationId xmlns:a16="http://schemas.microsoft.com/office/drawing/2014/main" id="{041BE2C7-B4D2-415F-8390-E859B67C768D}"/>
              </a:ext>
            </a:extLst>
          </p:cNvPr>
          <p:cNvSpPr/>
          <p:nvPr/>
        </p:nvSpPr>
        <p:spPr>
          <a:xfrm>
            <a:off x="2621932" y="5150269"/>
            <a:ext cx="3107471" cy="124787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A78E6794-6C57-4CC7-9ABD-F14F48804316}"/>
              </a:ext>
            </a:extLst>
          </p:cNvPr>
          <p:cNvSpPr/>
          <p:nvPr/>
        </p:nvSpPr>
        <p:spPr>
          <a:xfrm>
            <a:off x="2621931" y="3540168"/>
            <a:ext cx="3107471" cy="150397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D4102867-5A78-41A7-A504-B79725F5999A}"/>
              </a:ext>
            </a:extLst>
          </p:cNvPr>
          <p:cNvSpPr/>
          <p:nvPr/>
        </p:nvSpPr>
        <p:spPr>
          <a:xfrm>
            <a:off x="2775466" y="3827358"/>
            <a:ext cx="1825498" cy="203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kmem_cache_cpu</a:t>
            </a:r>
            <a:r>
              <a:rPr lang="en-US" sz="1200" dirty="0">
                <a:solidFill>
                  <a:schemeClr val="tx1"/>
                </a:solidFill>
              </a:rPr>
              <a:t> (CPU #0)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B0C7D90F-5DBE-4BFF-A034-796914B9A459}"/>
              </a:ext>
            </a:extLst>
          </p:cNvPr>
          <p:cNvSpPr/>
          <p:nvPr/>
        </p:nvSpPr>
        <p:spPr>
          <a:xfrm>
            <a:off x="2779011" y="4030634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7971FD8A-E5E6-4C82-A66C-7B202026CE00}"/>
              </a:ext>
            </a:extLst>
          </p:cNvPr>
          <p:cNvSpPr/>
          <p:nvPr/>
        </p:nvSpPr>
        <p:spPr>
          <a:xfrm>
            <a:off x="2779006" y="4241252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3F559FFF-51FD-41FD-BDDA-9D277C2E0C21}"/>
              </a:ext>
            </a:extLst>
          </p:cNvPr>
          <p:cNvSpPr/>
          <p:nvPr/>
        </p:nvSpPr>
        <p:spPr>
          <a:xfrm>
            <a:off x="2779009" y="4451447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A5DAD6F9-BAE3-442D-8A04-FC6A4362162B}"/>
              </a:ext>
            </a:extLst>
          </p:cNvPr>
          <p:cNvSpPr/>
          <p:nvPr/>
        </p:nvSpPr>
        <p:spPr>
          <a:xfrm>
            <a:off x="2762381" y="5539453"/>
            <a:ext cx="1921019" cy="219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 (Node #0)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D124C266-1B62-402F-96D6-59E51971C025}"/>
              </a:ext>
            </a:extLst>
          </p:cNvPr>
          <p:cNvSpPr/>
          <p:nvPr/>
        </p:nvSpPr>
        <p:spPr>
          <a:xfrm>
            <a:off x="2762381" y="5753664"/>
            <a:ext cx="192101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5CA2CD1C-8E13-4D84-9725-CB64CCA1F5D9}"/>
              </a:ext>
            </a:extLst>
          </p:cNvPr>
          <p:cNvSpPr/>
          <p:nvPr/>
        </p:nvSpPr>
        <p:spPr>
          <a:xfrm>
            <a:off x="242041" y="4426323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2B39EBC5-9F95-4655-80E9-093E309F4040}"/>
              </a:ext>
            </a:extLst>
          </p:cNvPr>
          <p:cNvSpPr/>
          <p:nvPr/>
        </p:nvSpPr>
        <p:spPr>
          <a:xfrm>
            <a:off x="242041" y="4888882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8B25100E-9B42-462A-B748-2C38D864CBEA}"/>
              </a:ext>
            </a:extLst>
          </p:cNvPr>
          <p:cNvSpPr/>
          <p:nvPr/>
        </p:nvSpPr>
        <p:spPr>
          <a:xfrm>
            <a:off x="242041" y="509432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256" name="Connector: Elbow 255">
            <a:extLst>
              <a:ext uri="{FF2B5EF4-FFF2-40B4-BE49-F238E27FC236}">
                <a16:creationId xmlns:a16="http://schemas.microsoft.com/office/drawing/2014/main" id="{84570304-5B27-4D79-9F82-51D4FF321DDA}"/>
              </a:ext>
            </a:extLst>
          </p:cNvPr>
          <p:cNvCxnSpPr>
            <a:cxnSpLocks/>
            <a:stCxn id="254" idx="3"/>
            <a:endCxn id="237" idx="1"/>
          </p:cNvCxnSpPr>
          <p:nvPr/>
        </p:nvCxnSpPr>
        <p:spPr>
          <a:xfrm flipV="1">
            <a:off x="2074106" y="3929215"/>
            <a:ext cx="701360" cy="10648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: Elbow 256">
            <a:extLst>
              <a:ext uri="{FF2B5EF4-FFF2-40B4-BE49-F238E27FC236}">
                <a16:creationId xmlns:a16="http://schemas.microsoft.com/office/drawing/2014/main" id="{BF63DA4B-6BE6-4741-9103-C0CFCC3E671A}"/>
              </a:ext>
            </a:extLst>
          </p:cNvPr>
          <p:cNvCxnSpPr>
            <a:cxnSpLocks/>
            <a:stCxn id="255" idx="3"/>
            <a:endCxn id="243" idx="1"/>
          </p:cNvCxnSpPr>
          <p:nvPr/>
        </p:nvCxnSpPr>
        <p:spPr>
          <a:xfrm>
            <a:off x="2074106" y="5199550"/>
            <a:ext cx="688275" cy="449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5D1FE6F6-1FAE-4FAA-8CAB-09EDAD089AC0}"/>
              </a:ext>
            </a:extLst>
          </p:cNvPr>
          <p:cNvSpPr txBox="1"/>
          <p:nvPr/>
        </p:nvSpPr>
        <p:spPr>
          <a:xfrm>
            <a:off x="3141471" y="3584619"/>
            <a:ext cx="103460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percpu</a:t>
            </a:r>
            <a:r>
              <a:rPr lang="en-US" sz="14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1FCB9566-2B30-47A4-9648-F316C2C3A2A2}"/>
              </a:ext>
            </a:extLst>
          </p:cNvPr>
          <p:cNvSpPr txBox="1"/>
          <p:nvPr/>
        </p:nvSpPr>
        <p:spPr>
          <a:xfrm>
            <a:off x="2970053" y="5232102"/>
            <a:ext cx="142947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B54719FB-3406-4496-BA3D-0DA197B6125A}"/>
              </a:ext>
            </a:extLst>
          </p:cNvPr>
          <p:cNvSpPr/>
          <p:nvPr/>
        </p:nvSpPr>
        <p:spPr>
          <a:xfrm>
            <a:off x="125307" y="3463244"/>
            <a:ext cx="5794218" cy="3036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A800381-552E-44AE-BB65-8A83385AA8BB}"/>
              </a:ext>
            </a:extLst>
          </p:cNvPr>
          <p:cNvSpPr txBox="1"/>
          <p:nvPr/>
        </p:nvSpPr>
        <p:spPr>
          <a:xfrm>
            <a:off x="109503" y="3247800"/>
            <a:ext cx="376538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Cache]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sighand_cachep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3356B38-0EE5-4756-A313-4C20A4365A86}"/>
              </a:ext>
            </a:extLst>
          </p:cNvPr>
          <p:cNvSpPr/>
          <p:nvPr/>
        </p:nvSpPr>
        <p:spPr>
          <a:xfrm>
            <a:off x="4282289" y="5374610"/>
            <a:ext cx="2009869" cy="220423"/>
          </a:xfrm>
          <a:custGeom>
            <a:avLst/>
            <a:gdLst>
              <a:gd name="connsiteX0" fmla="*/ 0 w 2009869"/>
              <a:gd name="connsiteY0" fmla="*/ 220423 h 220423"/>
              <a:gd name="connsiteX1" fmla="*/ 561315 w 2009869"/>
              <a:gd name="connsiteY1" fmla="*/ 3140 h 220423"/>
              <a:gd name="connsiteX2" fmla="*/ 2009869 w 2009869"/>
              <a:gd name="connsiteY2" fmla="*/ 111782 h 220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9869" h="220423">
                <a:moveTo>
                  <a:pt x="0" y="220423"/>
                </a:moveTo>
                <a:cubicBezTo>
                  <a:pt x="113168" y="120835"/>
                  <a:pt x="226337" y="21247"/>
                  <a:pt x="561315" y="3140"/>
                </a:cubicBezTo>
                <a:cubicBezTo>
                  <a:pt x="896293" y="-14967"/>
                  <a:pt x="1453081" y="48407"/>
                  <a:pt x="2009869" y="111782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D85654E-DFA0-4EB0-86A1-26B04472ECB1}"/>
              </a:ext>
            </a:extLst>
          </p:cNvPr>
          <p:cNvSpPr txBox="1"/>
          <p:nvPr/>
        </p:nvSpPr>
        <p:spPr>
          <a:xfrm>
            <a:off x="3418954" y="4612034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EE6D4BE-BF80-4669-9FE1-C77C0E2AEC6F}"/>
              </a:ext>
            </a:extLst>
          </p:cNvPr>
          <p:cNvSpPr txBox="1"/>
          <p:nvPr/>
        </p:nvSpPr>
        <p:spPr>
          <a:xfrm>
            <a:off x="3428382" y="5959025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39B36-7309-4F07-BC1A-2496714E9D0B}"/>
              </a:ext>
            </a:extLst>
          </p:cNvPr>
          <p:cNvSpPr txBox="1"/>
          <p:nvPr/>
        </p:nvSpPr>
        <p:spPr>
          <a:xfrm rot="20946082">
            <a:off x="4246370" y="2620645"/>
            <a:ext cx="2405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/>
              <a:t>[Cannot work] Allocate from ‘</a:t>
            </a:r>
            <a:r>
              <a:rPr lang="en-US" altLang="zh-TW" sz="1400" b="1" dirty="0" err="1"/>
              <a:t>kmem_cache</a:t>
            </a:r>
            <a:r>
              <a:rPr lang="en-US" altLang="zh-TW" sz="1400" b="1" dirty="0"/>
              <a:t>’ slab cache</a:t>
            </a:r>
            <a:endParaRPr lang="zh-TW" altLang="en-US" sz="14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546A59-7383-48BA-8C4F-E33811BC3EB4}"/>
              </a:ext>
            </a:extLst>
          </p:cNvPr>
          <p:cNvCxnSpPr>
            <a:stCxn id="32" idx="2"/>
            <a:endCxn id="261" idx="0"/>
          </p:cNvCxnSpPr>
          <p:nvPr/>
        </p:nvCxnSpPr>
        <p:spPr>
          <a:xfrm flipH="1">
            <a:off x="1992193" y="2568199"/>
            <a:ext cx="872643" cy="6796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72447721-4186-4C35-8D81-A0779580AA70}"/>
              </a:ext>
            </a:extLst>
          </p:cNvPr>
          <p:cNvSpPr/>
          <p:nvPr/>
        </p:nvSpPr>
        <p:spPr>
          <a:xfrm>
            <a:off x="2341728" y="2751014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2FDFBF7-1856-4D9A-95D5-9100542851B0}"/>
              </a:ext>
            </a:extLst>
          </p:cNvPr>
          <p:cNvSpPr/>
          <p:nvPr/>
        </p:nvSpPr>
        <p:spPr>
          <a:xfrm>
            <a:off x="1737279" y="3023857"/>
            <a:ext cx="4536772" cy="1539090"/>
          </a:xfrm>
          <a:custGeom>
            <a:avLst/>
            <a:gdLst>
              <a:gd name="connsiteX0" fmla="*/ 109628 w 4536772"/>
              <a:gd name="connsiteY0" fmla="*/ 1539090 h 1539090"/>
              <a:gd name="connsiteX1" fmla="*/ 571355 w 4536772"/>
              <a:gd name="connsiteY1" fmla="*/ 733331 h 1539090"/>
              <a:gd name="connsiteX2" fmla="*/ 4536772 w 4536772"/>
              <a:gd name="connsiteY2" fmla="*/ 0 h 1539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36772" h="1539090">
                <a:moveTo>
                  <a:pt x="109628" y="1539090"/>
                </a:moveTo>
                <a:cubicBezTo>
                  <a:pt x="-28437" y="1264468"/>
                  <a:pt x="-166502" y="989846"/>
                  <a:pt x="571355" y="733331"/>
                </a:cubicBezTo>
                <a:cubicBezTo>
                  <a:pt x="1309212" y="476816"/>
                  <a:pt x="2922992" y="238408"/>
                  <a:pt x="4536772" y="0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A9BC659-FDC4-45CC-BB3B-29C52AAD9B53}"/>
              </a:ext>
            </a:extLst>
          </p:cNvPr>
          <p:cNvSpPr/>
          <p:nvPr/>
        </p:nvSpPr>
        <p:spPr>
          <a:xfrm>
            <a:off x="4170919" y="3144035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E203982-30BD-4E63-8CFE-5DEE9987D673}"/>
              </a:ext>
            </a:extLst>
          </p:cNvPr>
          <p:cNvSpPr/>
          <p:nvPr/>
        </p:nvSpPr>
        <p:spPr>
          <a:xfrm>
            <a:off x="4672145" y="5215979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4AF2258-2A30-4151-8C47-EA44AAC9F2E2}"/>
              </a:ext>
            </a:extLst>
          </p:cNvPr>
          <p:cNvSpPr txBox="1"/>
          <p:nvPr/>
        </p:nvSpPr>
        <p:spPr>
          <a:xfrm>
            <a:off x="4637886" y="5481118"/>
            <a:ext cx="2520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/>
              <a:t>[Cannot work] Allocate from ‘</a:t>
            </a:r>
            <a:r>
              <a:rPr lang="en-US" altLang="zh-TW" sz="1400" b="1" dirty="0" err="1"/>
              <a:t>kmem_cache_node</a:t>
            </a:r>
            <a:r>
              <a:rPr lang="en-US" altLang="zh-TW" sz="1400" b="1" dirty="0"/>
              <a:t>’ slab cache</a:t>
            </a:r>
            <a:endParaRPr lang="zh-TW" altLang="en-US" sz="1400" b="1" dirty="0"/>
          </a:p>
        </p:txBody>
      </p:sp>
      <p:sp>
        <p:nvSpPr>
          <p:cNvPr id="71" name="矩形 40">
            <a:extLst>
              <a:ext uri="{FF2B5EF4-FFF2-40B4-BE49-F238E27FC236}">
                <a16:creationId xmlns:a16="http://schemas.microsoft.com/office/drawing/2014/main" id="{3F8E076E-D064-45DD-BB21-72E9D2D2B66E}"/>
              </a:ext>
            </a:extLst>
          </p:cNvPr>
          <p:cNvSpPr/>
          <p:nvPr/>
        </p:nvSpPr>
        <p:spPr>
          <a:xfrm>
            <a:off x="149698" y="5646688"/>
            <a:ext cx="11698664" cy="116443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Slab allocator: statically initialized ‘</a:t>
            </a:r>
            <a:r>
              <a:rPr lang="en-US" b="1" dirty="0" err="1">
                <a:solidFill>
                  <a:schemeClr val="tx1"/>
                </a:solidFill>
              </a:rPr>
              <a:t>kmem_cache_boot</a:t>
            </a:r>
            <a:r>
              <a:rPr lang="en-US" b="1" dirty="0">
                <a:solidFill>
                  <a:schemeClr val="tx1"/>
                </a:solidFill>
              </a:rPr>
              <a:t>’</a:t>
            </a:r>
          </a:p>
          <a:p>
            <a:r>
              <a:rPr lang="en-US" b="1" dirty="0">
                <a:solidFill>
                  <a:schemeClr val="tx1"/>
                </a:solidFill>
              </a:rPr>
              <a:t>Slob allocator: statically initialized ‘</a:t>
            </a:r>
            <a:r>
              <a:rPr lang="en-US" b="1" dirty="0" err="1">
                <a:solidFill>
                  <a:schemeClr val="tx1"/>
                </a:solidFill>
              </a:rPr>
              <a:t>kmem_cache_boot</a:t>
            </a:r>
            <a:r>
              <a:rPr lang="en-US" b="1" dirty="0">
                <a:solidFill>
                  <a:schemeClr val="tx1"/>
                </a:solidFill>
              </a:rPr>
              <a:t>’</a:t>
            </a:r>
          </a:p>
          <a:p>
            <a:r>
              <a:rPr lang="en-US" b="1" dirty="0" err="1">
                <a:solidFill>
                  <a:schemeClr val="tx1"/>
                </a:solidFill>
              </a:rPr>
              <a:t>Slub</a:t>
            </a:r>
            <a:r>
              <a:rPr lang="en-US" b="1" dirty="0">
                <a:solidFill>
                  <a:schemeClr val="tx1"/>
                </a:solidFill>
              </a:rPr>
              <a:t> allocator: static local variables ‘</a:t>
            </a:r>
            <a:r>
              <a:rPr lang="en-US" b="1" dirty="0" err="1">
                <a:solidFill>
                  <a:schemeClr val="tx1"/>
                </a:solidFill>
              </a:rPr>
              <a:t>boot_kmem_cache</a:t>
            </a:r>
            <a:r>
              <a:rPr lang="en-US" b="1" dirty="0">
                <a:solidFill>
                  <a:schemeClr val="tx1"/>
                </a:solidFill>
              </a:rPr>
              <a:t>’ and ‘</a:t>
            </a:r>
            <a:r>
              <a:rPr lang="en-US" b="1" dirty="0" err="1">
                <a:solidFill>
                  <a:schemeClr val="tx1"/>
                </a:solidFill>
              </a:rPr>
              <a:t>boot_kmem_cache_node</a:t>
            </a:r>
            <a:r>
              <a:rPr lang="en-US" b="1" dirty="0">
                <a:solidFill>
                  <a:schemeClr val="tx1"/>
                </a:solidFill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1515897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7BAF19-8A0C-4A55-AB89-C2A25F87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25" y="1624075"/>
            <a:ext cx="11360150" cy="1416939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chemeClr val="tx1"/>
                </a:solidFill>
              </a:rPr>
              <a:t>[Init &amp; Creation] </a:t>
            </a:r>
            <a:r>
              <a:rPr lang="en-US" sz="6000" dirty="0" err="1">
                <a:solidFill>
                  <a:schemeClr val="tx1"/>
                </a:solidFill>
              </a:rPr>
              <a:t>kmem_cache_init</a:t>
            </a:r>
            <a:r>
              <a:rPr lang="en-US" dirty="0">
                <a:solidFill>
                  <a:schemeClr val="tx1"/>
                </a:solidFill>
              </a:rPr>
              <a:t>(): Let’s check the initialization detail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E3936-3B4D-4D0F-AF56-E3F143EF7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1578" y="3429000"/>
            <a:ext cx="10515600" cy="322897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How to initialize ‘</a:t>
            </a:r>
            <a:r>
              <a:rPr lang="en-US" dirty="0" err="1">
                <a:solidFill>
                  <a:schemeClr val="tx1"/>
                </a:solidFill>
              </a:rPr>
              <a:t>boot_kmem_cache</a:t>
            </a:r>
            <a:r>
              <a:rPr lang="en-US" dirty="0">
                <a:solidFill>
                  <a:schemeClr val="tx1"/>
                </a:solidFill>
              </a:rPr>
              <a:t>’ and ‘</a:t>
            </a:r>
            <a:r>
              <a:rPr lang="en-US" dirty="0" err="1">
                <a:solidFill>
                  <a:schemeClr val="tx1"/>
                </a:solidFill>
              </a:rPr>
              <a:t>boot_kmem_cache_node</a:t>
            </a:r>
            <a:r>
              <a:rPr lang="en-US" dirty="0">
                <a:solidFill>
                  <a:schemeClr val="tx1"/>
                </a:solidFill>
              </a:rPr>
              <a:t>’?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What are </a:t>
            </a:r>
            <a:r>
              <a:rPr lang="en-US" dirty="0" err="1">
                <a:solidFill>
                  <a:schemeClr val="tx1"/>
                </a:solidFill>
              </a:rPr>
              <a:t>freepointers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Data structures: </a:t>
            </a:r>
            <a:r>
              <a:rPr lang="en-US" dirty="0" err="1">
                <a:solidFill>
                  <a:schemeClr val="tx1"/>
                </a:solidFill>
              </a:rPr>
              <a:t>kmem_cache</a:t>
            </a:r>
            <a:r>
              <a:rPr lang="en-US" dirty="0">
                <a:solidFill>
                  <a:schemeClr val="tx1"/>
                </a:solidFill>
              </a:rPr>
              <a:t> &amp; </a:t>
            </a:r>
            <a:r>
              <a:rPr lang="en-US" dirty="0" err="1">
                <a:solidFill>
                  <a:schemeClr val="tx1"/>
                </a:solidFill>
              </a:rPr>
              <a:t>kmem_cache_node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[Comparison] Generic </a:t>
            </a:r>
            <a:r>
              <a:rPr lang="en-US" dirty="0" err="1">
                <a:solidFill>
                  <a:schemeClr val="tx1"/>
                </a:solidFill>
              </a:rPr>
              <a:t>kmem_cache_create</a:t>
            </a:r>
            <a:r>
              <a:rPr lang="en-US" dirty="0">
                <a:solidFill>
                  <a:schemeClr val="tx1"/>
                </a:solidFill>
              </a:rPr>
              <a:t>() &amp; low-level implementation __</a:t>
            </a:r>
            <a:r>
              <a:rPr lang="en-US" dirty="0" err="1">
                <a:solidFill>
                  <a:schemeClr val="tx1"/>
                </a:solidFill>
              </a:rPr>
              <a:t>kmem_cache_create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187BF1-79C1-4AF4-974A-7D8064702647}"/>
              </a:ext>
            </a:extLst>
          </p:cNvPr>
          <p:cNvSpPr txBox="1"/>
          <p:nvPr/>
        </p:nvSpPr>
        <p:spPr>
          <a:xfrm>
            <a:off x="5553075" y="6386096"/>
            <a:ext cx="6638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* Call paths are based on SLUB (the unqueued slab allocator)</a:t>
            </a:r>
          </a:p>
        </p:txBody>
      </p:sp>
    </p:spTree>
    <p:extLst>
      <p:ext uri="{BB962C8B-B14F-4D97-AF65-F5344CB8AC3E}">
        <p14:creationId xmlns:p14="http://schemas.microsoft.com/office/powerpoint/2010/main" val="1990868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9129-3B0A-415B-9636-B4561F98D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66187"/>
            <a:ext cx="10515600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kmem_cache_init</a:t>
            </a:r>
            <a:r>
              <a:rPr lang="en-US" dirty="0"/>
              <a:t>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7C83B3-2FC6-4FAD-8A10-72007FDC961D}"/>
              </a:ext>
            </a:extLst>
          </p:cNvPr>
          <p:cNvSpPr/>
          <p:nvPr/>
        </p:nvSpPr>
        <p:spPr>
          <a:xfrm>
            <a:off x="206620" y="2035271"/>
            <a:ext cx="102577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start_kernel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EB3BDE-9302-4328-8246-476260A58DC8}"/>
              </a:ext>
            </a:extLst>
          </p:cNvPr>
          <p:cNvSpPr/>
          <p:nvPr/>
        </p:nvSpPr>
        <p:spPr>
          <a:xfrm>
            <a:off x="4702411" y="1159371"/>
            <a:ext cx="6235220" cy="9542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marL="342900" indent="-3429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Declare two static variables ‘</a:t>
            </a:r>
            <a:r>
              <a:rPr lang="en-US" sz="1400" dirty="0" err="1">
                <a:solidFill>
                  <a:schemeClr val="tx1"/>
                </a:solidFill>
              </a:rPr>
              <a:t>boot_kmem_cache</a:t>
            </a:r>
            <a:r>
              <a:rPr lang="en-US" sz="1400" dirty="0">
                <a:solidFill>
                  <a:schemeClr val="tx1"/>
                </a:solidFill>
              </a:rPr>
              <a:t>’ and ‘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r>
              <a:rPr lang="en-US" sz="1400" dirty="0">
                <a:solidFill>
                  <a:schemeClr val="tx1"/>
                </a:solidFill>
              </a:rPr>
              <a:t>’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Assign the addresses of two static variables to generic/global variables</a:t>
            </a:r>
          </a:p>
          <a:p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= &amp;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pt-BR" sz="1400" dirty="0">
                <a:solidFill>
                  <a:schemeClr val="tx1"/>
                </a:solidFill>
              </a:rPr>
              <a:t>kmem_cache = &amp;boot_kmem_cache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9AB601-ADC1-4334-A685-E465EC1AE6E0}"/>
              </a:ext>
            </a:extLst>
          </p:cNvPr>
          <p:cNvSpPr/>
          <p:nvPr/>
        </p:nvSpPr>
        <p:spPr>
          <a:xfrm>
            <a:off x="3978525" y="3133737"/>
            <a:ext cx="186250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kmem_cache_create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D7502-B8EF-440A-873F-04C80E3D15F2}"/>
              </a:ext>
            </a:extLst>
          </p:cNvPr>
          <p:cNvSpPr/>
          <p:nvPr/>
        </p:nvSpPr>
        <p:spPr>
          <a:xfrm>
            <a:off x="8055956" y="3196024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init_kmem_cache_nodes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53E19B-ABFB-4C32-BA9B-5CCE60EABD0F}"/>
              </a:ext>
            </a:extLst>
          </p:cNvPr>
          <p:cNvSpPr/>
          <p:nvPr/>
        </p:nvSpPr>
        <p:spPr>
          <a:xfrm>
            <a:off x="8055955" y="2512421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calculate_sizes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676F99-B946-4563-A177-718F682A75DC}"/>
              </a:ext>
            </a:extLst>
          </p:cNvPr>
          <p:cNvSpPr/>
          <p:nvPr/>
        </p:nvSpPr>
        <p:spPr>
          <a:xfrm>
            <a:off x="6096000" y="3131966"/>
            <a:ext cx="158408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kmem_cache_open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9A59B0-4062-4867-9EF7-605F36958571}"/>
              </a:ext>
            </a:extLst>
          </p:cNvPr>
          <p:cNvSpPr/>
          <p:nvPr/>
        </p:nvSpPr>
        <p:spPr>
          <a:xfrm>
            <a:off x="8055956" y="3774852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305E8CF-DB96-421F-BB3A-6CDBAA3E7B4F}"/>
              </a:ext>
            </a:extLst>
          </p:cNvPr>
          <p:cNvCxnSpPr>
            <a:cxnSpLocks/>
            <a:stCxn id="43" idx="3"/>
            <a:endCxn id="11" idx="1"/>
          </p:cNvCxnSpPr>
          <p:nvPr/>
        </p:nvCxnSpPr>
        <p:spPr>
          <a:xfrm flipV="1">
            <a:off x="4242293" y="1636520"/>
            <a:ext cx="460118" cy="51964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162B24E-AECB-409F-BE19-3DF80DE7E01C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 flipV="1">
            <a:off x="5841031" y="3252861"/>
            <a:ext cx="254969" cy="177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EEDF4AF-F39D-43A8-8B3D-C4221FE12C88}"/>
              </a:ext>
            </a:extLst>
          </p:cNvPr>
          <p:cNvCxnSpPr>
            <a:stCxn id="21" idx="3"/>
            <a:endCxn id="20" idx="1"/>
          </p:cNvCxnSpPr>
          <p:nvPr/>
        </p:nvCxnSpPr>
        <p:spPr>
          <a:xfrm flipV="1">
            <a:off x="7680083" y="2633316"/>
            <a:ext cx="375872" cy="61954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2717956-0F12-453A-9C93-AA0DB070CC0C}"/>
              </a:ext>
            </a:extLst>
          </p:cNvPr>
          <p:cNvCxnSpPr>
            <a:stCxn id="21" idx="3"/>
            <a:endCxn id="19" idx="1"/>
          </p:cNvCxnSpPr>
          <p:nvPr/>
        </p:nvCxnSpPr>
        <p:spPr>
          <a:xfrm>
            <a:off x="7680083" y="3252861"/>
            <a:ext cx="375873" cy="6405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A1924981-405C-4976-957A-FB010FABD96C}"/>
              </a:ext>
            </a:extLst>
          </p:cNvPr>
          <p:cNvCxnSpPr>
            <a:stCxn id="21" idx="3"/>
            <a:endCxn id="24" idx="1"/>
          </p:cNvCxnSpPr>
          <p:nvPr/>
        </p:nvCxnSpPr>
        <p:spPr>
          <a:xfrm>
            <a:off x="7680083" y="3252861"/>
            <a:ext cx="375873" cy="64288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D242F63-6D2B-4B85-A570-653856869740}"/>
              </a:ext>
            </a:extLst>
          </p:cNvPr>
          <p:cNvSpPr/>
          <p:nvPr/>
        </p:nvSpPr>
        <p:spPr>
          <a:xfrm>
            <a:off x="1511546" y="2035271"/>
            <a:ext cx="1069731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mm_init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77ECD6-09F8-4182-9253-6CF84131CBBA}"/>
              </a:ext>
            </a:extLst>
          </p:cNvPr>
          <p:cNvSpPr/>
          <p:nvPr/>
        </p:nvSpPr>
        <p:spPr>
          <a:xfrm>
            <a:off x="2838453" y="2035272"/>
            <a:ext cx="140384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kmem_cache_init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EDC6C3-B6B8-4768-BCCE-5AA3B7E14FB5}"/>
              </a:ext>
            </a:extLst>
          </p:cNvPr>
          <p:cNvCxnSpPr>
            <a:cxnSpLocks/>
            <a:stCxn id="4" idx="3"/>
            <a:endCxn id="40" idx="1"/>
          </p:cNvCxnSpPr>
          <p:nvPr/>
        </p:nvCxnSpPr>
        <p:spPr>
          <a:xfrm>
            <a:off x="1232390" y="2156166"/>
            <a:ext cx="27915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F3B7BA-BEB1-4052-BB69-5A5F5BD41D9D}"/>
              </a:ext>
            </a:extLst>
          </p:cNvPr>
          <p:cNvCxnSpPr>
            <a:stCxn id="40" idx="3"/>
            <a:endCxn id="43" idx="1"/>
          </p:cNvCxnSpPr>
          <p:nvPr/>
        </p:nvCxnSpPr>
        <p:spPr>
          <a:xfrm>
            <a:off x="2581277" y="2156166"/>
            <a:ext cx="257176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0496BEC-40B7-437C-9A61-43992FF98990}"/>
              </a:ext>
            </a:extLst>
          </p:cNvPr>
          <p:cNvSpPr/>
          <p:nvPr/>
        </p:nvSpPr>
        <p:spPr>
          <a:xfrm>
            <a:off x="375138" y="2975824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create_boot_cache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2A1F532-67AA-4C1B-B369-CAF5CD59989E}"/>
              </a:ext>
            </a:extLst>
          </p:cNvPr>
          <p:cNvSpPr/>
          <p:nvPr/>
        </p:nvSpPr>
        <p:spPr>
          <a:xfrm>
            <a:off x="375580" y="3373755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create_boot_cache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F75F58AD-F6B5-41AF-A15F-AB736A342F06}"/>
              </a:ext>
            </a:extLst>
          </p:cNvPr>
          <p:cNvCxnSpPr>
            <a:stCxn id="48" idx="3"/>
            <a:endCxn id="18" idx="1"/>
          </p:cNvCxnSpPr>
          <p:nvPr/>
        </p:nvCxnSpPr>
        <p:spPr>
          <a:xfrm>
            <a:off x="3661265" y="3096719"/>
            <a:ext cx="317260" cy="15791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1E8A2B5-F7E4-4113-9C4E-D4854EE7DF64}"/>
              </a:ext>
            </a:extLst>
          </p:cNvPr>
          <p:cNvCxnSpPr>
            <a:stCxn id="50" idx="3"/>
            <a:endCxn id="18" idx="1"/>
          </p:cNvCxnSpPr>
          <p:nvPr/>
        </p:nvCxnSpPr>
        <p:spPr>
          <a:xfrm flipV="1">
            <a:off x="3661707" y="3254632"/>
            <a:ext cx="316818" cy="240018"/>
          </a:xfrm>
          <a:prstGeom prst="bentConnector3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A002389-9290-41A6-A094-CB80FEA2753E}"/>
              </a:ext>
            </a:extLst>
          </p:cNvPr>
          <p:cNvCxnSpPr>
            <a:stCxn id="43" idx="3"/>
            <a:endCxn id="48" idx="1"/>
          </p:cNvCxnSpPr>
          <p:nvPr/>
        </p:nvCxnSpPr>
        <p:spPr>
          <a:xfrm flipH="1">
            <a:off x="375138" y="2156167"/>
            <a:ext cx="3867155" cy="940552"/>
          </a:xfrm>
          <a:prstGeom prst="bentConnector5">
            <a:avLst>
              <a:gd name="adj1" fmla="val -5911"/>
              <a:gd name="adj2" fmla="val 50000"/>
              <a:gd name="adj3" fmla="val 10591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827C8098-E444-40EB-9320-B18870AF0C28}"/>
              </a:ext>
            </a:extLst>
          </p:cNvPr>
          <p:cNvSpPr/>
          <p:nvPr/>
        </p:nvSpPr>
        <p:spPr>
          <a:xfrm>
            <a:off x="392361" y="3771686"/>
            <a:ext cx="3256648" cy="495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= bootstrap(&amp;</a:t>
            </a:r>
            <a:r>
              <a:rPr lang="en-US" sz="1400" dirty="0" err="1">
                <a:solidFill>
                  <a:schemeClr val="tx1"/>
                </a:solidFill>
              </a:rPr>
              <a:t>boot_kmem_cache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AD82F0-5CD0-441A-8135-91102AC2E567}"/>
              </a:ext>
            </a:extLst>
          </p:cNvPr>
          <p:cNvSpPr/>
          <p:nvPr/>
        </p:nvSpPr>
        <p:spPr>
          <a:xfrm>
            <a:off x="375138" y="4409559"/>
            <a:ext cx="3270943" cy="495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= bootstrap(&amp;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C771486-15FA-448C-B2EC-26C8283B72F0}"/>
              </a:ext>
            </a:extLst>
          </p:cNvPr>
          <p:cNvCxnSpPr>
            <a:stCxn id="48" idx="1"/>
            <a:endCxn id="50" idx="1"/>
          </p:cNvCxnSpPr>
          <p:nvPr/>
        </p:nvCxnSpPr>
        <p:spPr>
          <a:xfrm rot="10800000" flipH="1" flipV="1">
            <a:off x="375138" y="3096718"/>
            <a:ext cx="442" cy="397931"/>
          </a:xfrm>
          <a:prstGeom prst="bentConnector3">
            <a:avLst>
              <a:gd name="adj1" fmla="val -517194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B230C99-8A9E-4426-B458-A87B7852DDF3}"/>
              </a:ext>
            </a:extLst>
          </p:cNvPr>
          <p:cNvSpPr/>
          <p:nvPr/>
        </p:nvSpPr>
        <p:spPr>
          <a:xfrm>
            <a:off x="392360" y="5060661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setup_kmalloc_cache_index_table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EE7DD0-912A-4407-8A2A-4E846AF8B90B}"/>
              </a:ext>
            </a:extLst>
          </p:cNvPr>
          <p:cNvSpPr/>
          <p:nvPr/>
        </p:nvSpPr>
        <p:spPr>
          <a:xfrm>
            <a:off x="392360" y="5430550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create_kmalloc_caches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6A98437-2F0B-48B8-BF65-32C00BD508CD}"/>
              </a:ext>
            </a:extLst>
          </p:cNvPr>
          <p:cNvCxnSpPr>
            <a:cxnSpLocks/>
            <a:stCxn id="50" idx="1"/>
            <a:endCxn id="36" idx="1"/>
          </p:cNvCxnSpPr>
          <p:nvPr/>
        </p:nvCxnSpPr>
        <p:spPr>
          <a:xfrm rot="10800000" flipH="1" flipV="1">
            <a:off x="375579" y="3494650"/>
            <a:ext cx="16781" cy="524944"/>
          </a:xfrm>
          <a:prstGeom prst="bentConnector3">
            <a:avLst>
              <a:gd name="adj1" fmla="val -136225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59C1CA3-F70B-40A4-8EE4-5C873A16FF92}"/>
              </a:ext>
            </a:extLst>
          </p:cNvPr>
          <p:cNvCxnSpPr>
            <a:cxnSpLocks/>
            <a:stCxn id="36" idx="1"/>
            <a:endCxn id="37" idx="1"/>
          </p:cNvCxnSpPr>
          <p:nvPr/>
        </p:nvCxnSpPr>
        <p:spPr>
          <a:xfrm rot="10800000" flipV="1">
            <a:off x="375139" y="4019593"/>
            <a:ext cx="17223" cy="637873"/>
          </a:xfrm>
          <a:prstGeom prst="bentConnector3">
            <a:avLst>
              <a:gd name="adj1" fmla="val 142729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48D5F4E5-7144-4196-A708-CA09EED31D47}"/>
              </a:ext>
            </a:extLst>
          </p:cNvPr>
          <p:cNvCxnSpPr>
            <a:stCxn id="37" idx="1"/>
            <a:endCxn id="39" idx="1"/>
          </p:cNvCxnSpPr>
          <p:nvPr/>
        </p:nvCxnSpPr>
        <p:spPr>
          <a:xfrm rot="10800000" flipH="1" flipV="1">
            <a:off x="375138" y="4657466"/>
            <a:ext cx="17222" cy="524089"/>
          </a:xfrm>
          <a:prstGeom prst="bentConnector3">
            <a:avLst>
              <a:gd name="adj1" fmla="val -13273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699C733B-3643-4DDF-92F4-21CAE7063176}"/>
              </a:ext>
            </a:extLst>
          </p:cNvPr>
          <p:cNvCxnSpPr>
            <a:cxnSpLocks/>
            <a:stCxn id="39" idx="1"/>
            <a:endCxn id="41" idx="1"/>
          </p:cNvCxnSpPr>
          <p:nvPr/>
        </p:nvCxnSpPr>
        <p:spPr>
          <a:xfrm rot="10800000" flipV="1">
            <a:off x="392360" y="5181555"/>
            <a:ext cx="12700" cy="369889"/>
          </a:xfrm>
          <a:prstGeom prst="bentConnector3">
            <a:avLst>
              <a:gd name="adj1" fmla="val 20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4594A41-0910-4188-970C-BDF65E6412BD}"/>
              </a:ext>
            </a:extLst>
          </p:cNvPr>
          <p:cNvSpPr/>
          <p:nvPr/>
        </p:nvSpPr>
        <p:spPr>
          <a:xfrm>
            <a:off x="9344025" y="4118485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alloc_percpu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2B6317C-7C53-4FE3-A2EC-140C31AB7E1C}"/>
              </a:ext>
            </a:extLst>
          </p:cNvPr>
          <p:cNvSpPr/>
          <p:nvPr/>
        </p:nvSpPr>
        <p:spPr>
          <a:xfrm>
            <a:off x="9344025" y="4479137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165BCC-C6F8-4E27-8C24-CEE73349A088}"/>
              </a:ext>
            </a:extLst>
          </p:cNvPr>
          <p:cNvSpPr txBox="1"/>
          <p:nvPr/>
        </p:nvSpPr>
        <p:spPr>
          <a:xfrm>
            <a:off x="9344025" y="4720926"/>
            <a:ext cx="2153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Assign </a:t>
            </a:r>
            <a:r>
              <a:rPr lang="en-US" sz="1400" dirty="0" err="1"/>
              <a:t>cpu</a:t>
            </a:r>
            <a:r>
              <a:rPr lang="en-US" sz="1400" dirty="0"/>
              <a:t> id to </a:t>
            </a:r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r>
              <a:rPr lang="en-US" sz="1400" dirty="0">
                <a:solidFill>
                  <a:schemeClr val="tx1"/>
                </a:solidFill>
              </a:rPr>
              <a:t>-&gt;</a:t>
            </a:r>
            <a:r>
              <a:rPr lang="en-US" sz="1400" dirty="0" err="1">
                <a:solidFill>
                  <a:schemeClr val="tx1"/>
                </a:solidFill>
              </a:rPr>
              <a:t>tid</a:t>
            </a:r>
            <a:endParaRPr lang="en-US" sz="1400" dirty="0"/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B3C297E7-C560-4DBE-ADBB-023C0EE300EA}"/>
              </a:ext>
            </a:extLst>
          </p:cNvPr>
          <p:cNvCxnSpPr>
            <a:stCxn id="24" idx="2"/>
            <a:endCxn id="56" idx="1"/>
          </p:cNvCxnSpPr>
          <p:nvPr/>
        </p:nvCxnSpPr>
        <p:spPr>
          <a:xfrm rot="16200000" flipH="1">
            <a:off x="9081175" y="3976529"/>
            <a:ext cx="222739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2984BC18-B187-41E8-BB20-B00C71FC9786}"/>
              </a:ext>
            </a:extLst>
          </p:cNvPr>
          <p:cNvCxnSpPr>
            <a:stCxn id="24" idx="2"/>
            <a:endCxn id="57" idx="1"/>
          </p:cNvCxnSpPr>
          <p:nvPr/>
        </p:nvCxnSpPr>
        <p:spPr>
          <a:xfrm rot="16200000" flipH="1">
            <a:off x="8900849" y="4156855"/>
            <a:ext cx="583391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05CE5BC-27AD-4C51-A645-946D0032801E}"/>
              </a:ext>
            </a:extLst>
          </p:cNvPr>
          <p:cNvSpPr txBox="1"/>
          <p:nvPr/>
        </p:nvSpPr>
        <p:spPr>
          <a:xfrm>
            <a:off x="7952460" y="2802174"/>
            <a:ext cx="242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‘</a:t>
            </a:r>
            <a:r>
              <a:rPr lang="en-US" sz="1200" b="1" dirty="0" err="1"/>
              <a:t>kmem_cache_node</a:t>
            </a:r>
            <a:r>
              <a:rPr lang="en-US" sz="1200" dirty="0"/>
              <a:t>’ structs for all CPU nodes (sockets)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F49BFE-D8D0-437E-89F7-C2F44701122D}"/>
              </a:ext>
            </a:extLst>
          </p:cNvPr>
          <p:cNvSpPr txBox="1"/>
          <p:nvPr/>
        </p:nvSpPr>
        <p:spPr>
          <a:xfrm>
            <a:off x="7820021" y="3516903"/>
            <a:ext cx="2747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a ‘</a:t>
            </a:r>
            <a:r>
              <a:rPr lang="en-US" sz="1200" b="1" dirty="0" err="1"/>
              <a:t>kmem_cache_cpu</a:t>
            </a:r>
            <a:r>
              <a:rPr lang="en-US" sz="1200" dirty="0"/>
              <a:t>’ struct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3B6F6F-456C-4749-80B9-3D13BFFC2637}"/>
              </a:ext>
            </a:extLst>
          </p:cNvPr>
          <p:cNvSpPr txBox="1"/>
          <p:nvPr/>
        </p:nvSpPr>
        <p:spPr>
          <a:xfrm>
            <a:off x="7886336" y="2241136"/>
            <a:ext cx="2960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Calculate page order and objects per slab</a:t>
            </a:r>
          </a:p>
        </p:txBody>
      </p:sp>
    </p:spTree>
    <p:extLst>
      <p:ext uri="{BB962C8B-B14F-4D97-AF65-F5344CB8AC3E}">
        <p14:creationId xmlns:p14="http://schemas.microsoft.com/office/powerpoint/2010/main" val="353407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ED9DC34-2A84-4987-B79B-8857976FDF07}"/>
              </a:ext>
            </a:extLst>
          </p:cNvPr>
          <p:cNvCxnSpPr>
            <a:cxnSpLocks/>
            <a:stCxn id="8" idx="0"/>
            <a:endCxn id="24" idx="0"/>
          </p:cNvCxnSpPr>
          <p:nvPr/>
        </p:nvCxnSpPr>
        <p:spPr>
          <a:xfrm flipV="1">
            <a:off x="6785600" y="4235752"/>
            <a:ext cx="1718693" cy="828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3DF4DDF-A028-408D-BA84-243DE08D6C3B}"/>
              </a:ext>
            </a:extLst>
          </p:cNvPr>
          <p:cNvCxnSpPr>
            <a:cxnSpLocks/>
            <a:stCxn id="6" idx="0"/>
            <a:endCxn id="8" idx="0"/>
          </p:cNvCxnSpPr>
          <p:nvPr/>
        </p:nvCxnSpPr>
        <p:spPr>
          <a:xfrm flipV="1">
            <a:off x="4731129" y="4244039"/>
            <a:ext cx="2054471" cy="32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C2CA3A0-AB55-41F1-B24F-8B62330C60D6}"/>
              </a:ext>
            </a:extLst>
          </p:cNvPr>
          <p:cNvCxnSpPr>
            <a:cxnSpLocks/>
          </p:cNvCxnSpPr>
          <p:nvPr/>
        </p:nvCxnSpPr>
        <p:spPr>
          <a:xfrm flipV="1">
            <a:off x="5428646" y="5502246"/>
            <a:ext cx="1395048" cy="58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010AD8-7238-4CAF-A1A4-6B2B2E2E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62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kmem_cache_node</a:t>
            </a:r>
            <a:r>
              <a:rPr lang="en-US" sz="4400" dirty="0">
                <a:solidFill>
                  <a:schemeClr val="tx1"/>
                </a:solidFill>
              </a:rPr>
              <a:t>/</a:t>
            </a:r>
            <a:r>
              <a:rPr lang="en-US" sz="4400" dirty="0" err="1">
                <a:solidFill>
                  <a:schemeClr val="tx1"/>
                </a:solidFill>
              </a:rPr>
              <a:t>boot_kmem_cache_node</a:t>
            </a:r>
            <a:r>
              <a:rPr lang="en-US" dirty="0"/>
              <a:t> </a:t>
            </a:r>
            <a:r>
              <a:rPr lang="en-US" dirty="0" err="1"/>
              <a:t>init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2E057C-F55D-43B4-B33B-808B12349313}"/>
              </a:ext>
            </a:extLst>
          </p:cNvPr>
          <p:cNvSpPr/>
          <p:nvPr/>
        </p:nvSpPr>
        <p:spPr>
          <a:xfrm>
            <a:off x="2208655" y="4493070"/>
            <a:ext cx="1318847" cy="3780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kmem_cache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B52A14-4FE8-46E6-B31A-755FC37FB737}"/>
              </a:ext>
            </a:extLst>
          </p:cNvPr>
          <p:cNvSpPr/>
          <p:nvPr/>
        </p:nvSpPr>
        <p:spPr>
          <a:xfrm>
            <a:off x="4071705" y="4244366"/>
            <a:ext cx="1318847" cy="12578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slab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97662B-106A-4A2A-9397-F0E69AC3D3EB}"/>
              </a:ext>
            </a:extLst>
          </p:cNvPr>
          <p:cNvSpPr/>
          <p:nvPr/>
        </p:nvSpPr>
        <p:spPr>
          <a:xfrm>
            <a:off x="6126176" y="4244039"/>
            <a:ext cx="1318847" cy="1262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Page #0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E43CAF-552D-4284-8D59-D77ABBB41A3E}"/>
              </a:ext>
            </a:extLst>
          </p:cNvPr>
          <p:cNvSpPr/>
          <p:nvPr/>
        </p:nvSpPr>
        <p:spPr>
          <a:xfrm>
            <a:off x="7947933" y="5343403"/>
            <a:ext cx="1112723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 #0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E9DA13-2E54-4A93-B3D7-16FEC4B12CB3}"/>
              </a:ext>
            </a:extLst>
          </p:cNvPr>
          <p:cNvSpPr/>
          <p:nvPr/>
        </p:nvSpPr>
        <p:spPr>
          <a:xfrm>
            <a:off x="7947932" y="5180379"/>
            <a:ext cx="1112723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49AFA1-235B-41E3-BA9F-5B280CB0547F}"/>
              </a:ext>
            </a:extLst>
          </p:cNvPr>
          <p:cNvSpPr/>
          <p:nvPr/>
        </p:nvSpPr>
        <p:spPr>
          <a:xfrm>
            <a:off x="7947932" y="5032009"/>
            <a:ext cx="1112723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00DA3C-41A6-4378-B31B-3A65DBCAFC61}"/>
              </a:ext>
            </a:extLst>
          </p:cNvPr>
          <p:cNvSpPr/>
          <p:nvPr/>
        </p:nvSpPr>
        <p:spPr>
          <a:xfrm>
            <a:off x="7947931" y="4868985"/>
            <a:ext cx="1112723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9184A6-F888-4E2B-9C2D-2DFF7331057F}"/>
              </a:ext>
            </a:extLst>
          </p:cNvPr>
          <p:cNvSpPr/>
          <p:nvPr/>
        </p:nvSpPr>
        <p:spPr>
          <a:xfrm>
            <a:off x="7947933" y="4718784"/>
            <a:ext cx="1112723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6EC590-4860-4EFD-A366-546B0E29BD08}"/>
              </a:ext>
            </a:extLst>
          </p:cNvPr>
          <p:cNvSpPr/>
          <p:nvPr/>
        </p:nvSpPr>
        <p:spPr>
          <a:xfrm>
            <a:off x="7947932" y="4555760"/>
            <a:ext cx="1112723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111FB3-8DFD-425C-ADD7-3A76AD2F3364}"/>
              </a:ext>
            </a:extLst>
          </p:cNvPr>
          <p:cNvSpPr/>
          <p:nvPr/>
        </p:nvSpPr>
        <p:spPr>
          <a:xfrm>
            <a:off x="7947932" y="4407390"/>
            <a:ext cx="1112723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E0A633-BE91-4BA3-BFD9-AF0BA8A1C373}"/>
              </a:ext>
            </a:extLst>
          </p:cNvPr>
          <p:cNvSpPr/>
          <p:nvPr/>
        </p:nvSpPr>
        <p:spPr>
          <a:xfrm>
            <a:off x="7947931" y="4235752"/>
            <a:ext cx="1112723" cy="171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 #63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60F52EA-EB90-4A5A-AF85-FB5A0BC7F768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7445022" y="5506426"/>
            <a:ext cx="1059273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ight Brace 37">
            <a:extLst>
              <a:ext uri="{FF2B5EF4-FFF2-40B4-BE49-F238E27FC236}">
                <a16:creationId xmlns:a16="http://schemas.microsoft.com/office/drawing/2014/main" id="{7CDFD785-1A0A-4E76-84DF-13861DF93DD0}"/>
              </a:ext>
            </a:extLst>
          </p:cNvPr>
          <p:cNvSpPr/>
          <p:nvPr/>
        </p:nvSpPr>
        <p:spPr>
          <a:xfrm>
            <a:off x="9109700" y="4246469"/>
            <a:ext cx="214221" cy="1255777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1E2D83-BD7E-4942-B183-CCFC218E55E0}"/>
              </a:ext>
            </a:extLst>
          </p:cNvPr>
          <p:cNvSpPr txBox="1"/>
          <p:nvPr/>
        </p:nvSpPr>
        <p:spPr>
          <a:xfrm>
            <a:off x="9336932" y="4690862"/>
            <a:ext cx="971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64 objects per page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502EFE0A-047D-4B9E-9D82-E76D9709FBD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527502" y="4682105"/>
            <a:ext cx="544203" cy="191201"/>
          </a:xfrm>
          <a:prstGeom prst="bentConnector3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40">
            <a:extLst>
              <a:ext uri="{FF2B5EF4-FFF2-40B4-BE49-F238E27FC236}">
                <a16:creationId xmlns:a16="http://schemas.microsoft.com/office/drawing/2014/main" id="{EC23BBA4-4F56-427F-A2F0-41DB61395C40}"/>
              </a:ext>
            </a:extLst>
          </p:cNvPr>
          <p:cNvSpPr/>
          <p:nvPr/>
        </p:nvSpPr>
        <p:spPr>
          <a:xfrm>
            <a:off x="2269392" y="6225747"/>
            <a:ext cx="7881599" cy="4608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tx1"/>
                </a:solidFill>
              </a:rPr>
              <a:t>Slub</a:t>
            </a:r>
            <a:r>
              <a:rPr lang="en-US" sz="2800" b="1" dirty="0">
                <a:solidFill>
                  <a:schemeClr val="tx1"/>
                </a:solidFill>
              </a:rPr>
              <a:t> allocator: A generic data structure-cache layer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E01CA5B-E944-41CA-83A2-BE909546D952}"/>
              </a:ext>
            </a:extLst>
          </p:cNvPr>
          <p:cNvSpPr txBox="1"/>
          <p:nvPr/>
        </p:nvSpPr>
        <p:spPr>
          <a:xfrm>
            <a:off x="5220559" y="5707318"/>
            <a:ext cx="22244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 object = data 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0B4140-DC07-4C78-A757-2E08CE83FBD9}"/>
              </a:ext>
            </a:extLst>
          </p:cNvPr>
          <p:cNvSpPr txBox="1"/>
          <p:nvPr/>
        </p:nvSpPr>
        <p:spPr>
          <a:xfrm>
            <a:off x="6515488" y="831238"/>
            <a:ext cx="4843811" cy="73866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object size = </a:t>
            </a:r>
            <a:r>
              <a:rPr lang="en-US" sz="1400" dirty="0" err="1"/>
              <a:t>sizeof</a:t>
            </a:r>
            <a:r>
              <a:rPr lang="en-US" sz="1400" dirty="0"/>
              <a:t>(struct </a:t>
            </a:r>
            <a:r>
              <a:rPr lang="en-US" sz="1400" dirty="0" err="1"/>
              <a:t>kmem_cache_node</a:t>
            </a:r>
            <a:r>
              <a:rPr lang="en-US" sz="1400" dirty="0"/>
              <a:t>) = 64</a:t>
            </a:r>
          </a:p>
          <a:p>
            <a:endParaRPr lang="en-US" sz="1400" dirty="0"/>
          </a:p>
          <a:p>
            <a:r>
              <a:rPr lang="en-US" sz="1400" dirty="0"/>
              <a:t>object size with alignment (SLAB_HWCACHE_ALIGN: 64) =  64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CDC24D-8826-47C3-A273-06C2B8DEEBEE}"/>
              </a:ext>
            </a:extLst>
          </p:cNvPr>
          <p:cNvSpPr txBox="1"/>
          <p:nvPr/>
        </p:nvSpPr>
        <p:spPr>
          <a:xfrm>
            <a:off x="5850186" y="3948493"/>
            <a:ext cx="2227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tx1"/>
                </a:solidFill>
              </a:rPr>
              <a:t>calculate_sizes</a:t>
            </a:r>
            <a:r>
              <a:rPr lang="en-US" sz="1400" b="1" dirty="0">
                <a:solidFill>
                  <a:schemeClr val="tx1"/>
                </a:solidFill>
              </a:rPr>
              <a:t> (): </a:t>
            </a:r>
            <a:r>
              <a:rPr lang="en-US" sz="1400" b="1" dirty="0"/>
              <a:t>order = 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99E04B-7B50-4D55-BED4-95C7887A5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36" y="806672"/>
            <a:ext cx="6287278" cy="240665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78776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D22C69-8BB2-42F4-A1A9-684396F42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965" y="1334975"/>
            <a:ext cx="7246070" cy="537582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2AC9200-2250-483E-AD1F-09C25A01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62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kmem_cache_node</a:t>
            </a:r>
            <a:r>
              <a:rPr lang="en-US" sz="4400" dirty="0">
                <a:solidFill>
                  <a:schemeClr val="tx1"/>
                </a:solidFill>
              </a:rPr>
              <a:t>/</a:t>
            </a:r>
            <a:r>
              <a:rPr lang="en-US" sz="4400" dirty="0" err="1">
                <a:solidFill>
                  <a:schemeClr val="tx1"/>
                </a:solidFill>
              </a:rPr>
              <a:t>boot_kmem_cache_node</a:t>
            </a:r>
            <a:r>
              <a:rPr lang="en-US" dirty="0"/>
              <a:t> </a:t>
            </a:r>
            <a:r>
              <a:rPr lang="en-US" dirty="0" err="1"/>
              <a:t>init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13E375-7290-495A-8223-D5B1A377EF94}"/>
              </a:ext>
            </a:extLst>
          </p:cNvPr>
          <p:cNvSpPr txBox="1"/>
          <p:nvPr/>
        </p:nvSpPr>
        <p:spPr>
          <a:xfrm>
            <a:off x="6572049" y="681037"/>
            <a:ext cx="5448300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object size = </a:t>
            </a:r>
            <a:r>
              <a:rPr lang="en-US" sz="1400" dirty="0" err="1"/>
              <a:t>sizeof</a:t>
            </a:r>
            <a:r>
              <a:rPr lang="en-US" sz="1400" dirty="0"/>
              <a:t>(struct </a:t>
            </a:r>
            <a:r>
              <a:rPr lang="en-US" sz="1400" dirty="0" err="1"/>
              <a:t>kmem_cache_node</a:t>
            </a:r>
            <a:r>
              <a:rPr lang="en-US" sz="1400" dirty="0"/>
              <a:t>) = 64</a:t>
            </a:r>
          </a:p>
          <a:p>
            <a:r>
              <a:rPr lang="en-US" sz="1400" dirty="0"/>
              <a:t>object size with alignment (SLAB_HWCACHE_ALIGN: 64) =  64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7E85D1-87BF-4FC8-9E93-901A5FEDC47F}"/>
              </a:ext>
            </a:extLst>
          </p:cNvPr>
          <p:cNvSpPr/>
          <p:nvPr/>
        </p:nvSpPr>
        <p:spPr>
          <a:xfrm>
            <a:off x="2708271" y="3130628"/>
            <a:ext cx="6746813" cy="17818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713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ED9DC34-2A84-4987-B79B-8857976FDF07}"/>
              </a:ext>
            </a:extLst>
          </p:cNvPr>
          <p:cNvCxnSpPr>
            <a:cxnSpLocks/>
            <a:endCxn id="24" idx="0"/>
          </p:cNvCxnSpPr>
          <p:nvPr/>
        </p:nvCxnSpPr>
        <p:spPr>
          <a:xfrm flipV="1">
            <a:off x="7445013" y="4242351"/>
            <a:ext cx="995931" cy="2928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3DF4DDF-A028-408D-BA84-243DE08D6C3B}"/>
              </a:ext>
            </a:extLst>
          </p:cNvPr>
          <p:cNvCxnSpPr>
            <a:cxnSpLocks/>
          </p:cNvCxnSpPr>
          <p:nvPr/>
        </p:nvCxnSpPr>
        <p:spPr>
          <a:xfrm>
            <a:off x="5390552" y="4242351"/>
            <a:ext cx="139504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C2CA3A0-AB55-41F1-B24F-8B62330C60D6}"/>
              </a:ext>
            </a:extLst>
          </p:cNvPr>
          <p:cNvCxnSpPr>
            <a:cxnSpLocks/>
          </p:cNvCxnSpPr>
          <p:nvPr/>
        </p:nvCxnSpPr>
        <p:spPr>
          <a:xfrm flipV="1">
            <a:off x="5428646" y="5502246"/>
            <a:ext cx="1395048" cy="58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D2E057C-F55D-43B4-B33B-808B12349313}"/>
              </a:ext>
            </a:extLst>
          </p:cNvPr>
          <p:cNvSpPr/>
          <p:nvPr/>
        </p:nvSpPr>
        <p:spPr>
          <a:xfrm>
            <a:off x="2219460" y="5042388"/>
            <a:ext cx="1318847" cy="3780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kmem_cache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B52A14-4FE8-46E6-B31A-755FC37FB737}"/>
              </a:ext>
            </a:extLst>
          </p:cNvPr>
          <p:cNvSpPr/>
          <p:nvPr/>
        </p:nvSpPr>
        <p:spPr>
          <a:xfrm>
            <a:off x="4071705" y="4244366"/>
            <a:ext cx="1318847" cy="12578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slab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97662B-106A-4A2A-9397-F0E69AC3D3EB}"/>
              </a:ext>
            </a:extLst>
          </p:cNvPr>
          <p:cNvSpPr/>
          <p:nvPr/>
        </p:nvSpPr>
        <p:spPr>
          <a:xfrm>
            <a:off x="6126176" y="4881807"/>
            <a:ext cx="1318847" cy="6246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Page #0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E43CAF-552D-4284-8D59-D77ABBB41A3E}"/>
              </a:ext>
            </a:extLst>
          </p:cNvPr>
          <p:cNvSpPr/>
          <p:nvPr/>
        </p:nvSpPr>
        <p:spPr>
          <a:xfrm>
            <a:off x="7947933" y="5343403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E9DA13-2E54-4A93-B3D7-16FEC4B12CB3}"/>
              </a:ext>
            </a:extLst>
          </p:cNvPr>
          <p:cNvSpPr/>
          <p:nvPr/>
        </p:nvSpPr>
        <p:spPr>
          <a:xfrm>
            <a:off x="7947932" y="5180379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49AFA1-235B-41E3-BA9F-5B280CB0547F}"/>
              </a:ext>
            </a:extLst>
          </p:cNvPr>
          <p:cNvSpPr/>
          <p:nvPr/>
        </p:nvSpPr>
        <p:spPr>
          <a:xfrm>
            <a:off x="7947932" y="5032009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00DA3C-41A6-4378-B31B-3A65DBCAFC61}"/>
              </a:ext>
            </a:extLst>
          </p:cNvPr>
          <p:cNvSpPr/>
          <p:nvPr/>
        </p:nvSpPr>
        <p:spPr>
          <a:xfrm>
            <a:off x="7947931" y="4868985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793990-260E-4739-87A5-8DC4A4F8F210}"/>
              </a:ext>
            </a:extLst>
          </p:cNvPr>
          <p:cNvSpPr/>
          <p:nvPr/>
        </p:nvSpPr>
        <p:spPr>
          <a:xfrm>
            <a:off x="6126175" y="4243388"/>
            <a:ext cx="1318847" cy="6384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Page #1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9184A6-F888-4E2B-9C2D-2DFF7331057F}"/>
              </a:ext>
            </a:extLst>
          </p:cNvPr>
          <p:cNvSpPr/>
          <p:nvPr/>
        </p:nvSpPr>
        <p:spPr>
          <a:xfrm>
            <a:off x="7947933" y="4718784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6EC590-4860-4EFD-A366-546B0E29BD08}"/>
              </a:ext>
            </a:extLst>
          </p:cNvPr>
          <p:cNvSpPr/>
          <p:nvPr/>
        </p:nvSpPr>
        <p:spPr>
          <a:xfrm>
            <a:off x="7947932" y="4555760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111FB3-8DFD-425C-ADD7-3A76AD2F3364}"/>
              </a:ext>
            </a:extLst>
          </p:cNvPr>
          <p:cNvSpPr/>
          <p:nvPr/>
        </p:nvSpPr>
        <p:spPr>
          <a:xfrm>
            <a:off x="7947932" y="4407390"/>
            <a:ext cx="986025" cy="163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E0A633-BE91-4BA3-BFD9-AF0BA8A1C373}"/>
              </a:ext>
            </a:extLst>
          </p:cNvPr>
          <p:cNvSpPr/>
          <p:nvPr/>
        </p:nvSpPr>
        <p:spPr>
          <a:xfrm>
            <a:off x="7947931" y="4242351"/>
            <a:ext cx="986025" cy="1650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60F52EA-EB90-4A5A-AF85-FB5A0BC7F768}"/>
              </a:ext>
            </a:extLst>
          </p:cNvPr>
          <p:cNvCxnSpPr>
            <a:endCxn id="11" idx="2"/>
          </p:cNvCxnSpPr>
          <p:nvPr/>
        </p:nvCxnSpPr>
        <p:spPr>
          <a:xfrm>
            <a:off x="7445022" y="5506426"/>
            <a:ext cx="995924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90C9E90-4769-4E71-AB7F-FFA380502821}"/>
              </a:ext>
            </a:extLst>
          </p:cNvPr>
          <p:cNvCxnSpPr>
            <a:cxnSpLocks/>
          </p:cNvCxnSpPr>
          <p:nvPr/>
        </p:nvCxnSpPr>
        <p:spPr>
          <a:xfrm>
            <a:off x="7445018" y="4881807"/>
            <a:ext cx="502911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ight Brace 37">
            <a:extLst>
              <a:ext uri="{FF2B5EF4-FFF2-40B4-BE49-F238E27FC236}">
                <a16:creationId xmlns:a16="http://schemas.microsoft.com/office/drawing/2014/main" id="{7CDFD785-1A0A-4E76-84DF-13861DF93DD0}"/>
              </a:ext>
            </a:extLst>
          </p:cNvPr>
          <p:cNvSpPr/>
          <p:nvPr/>
        </p:nvSpPr>
        <p:spPr>
          <a:xfrm>
            <a:off x="8976350" y="4893253"/>
            <a:ext cx="214221" cy="601727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1E2D83-BD7E-4942-B183-CCFC218E55E0}"/>
              </a:ext>
            </a:extLst>
          </p:cNvPr>
          <p:cNvSpPr txBox="1"/>
          <p:nvPr/>
        </p:nvSpPr>
        <p:spPr>
          <a:xfrm>
            <a:off x="9239638" y="4950496"/>
            <a:ext cx="971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16 objects per page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502EFE0A-047D-4B9E-9D82-E76D9709FBD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538307" y="4873306"/>
            <a:ext cx="533398" cy="358117"/>
          </a:xfrm>
          <a:prstGeom prst="bentConnector3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40">
            <a:extLst>
              <a:ext uri="{FF2B5EF4-FFF2-40B4-BE49-F238E27FC236}">
                <a16:creationId xmlns:a16="http://schemas.microsoft.com/office/drawing/2014/main" id="{EC23BBA4-4F56-427F-A2F0-41DB61395C40}"/>
              </a:ext>
            </a:extLst>
          </p:cNvPr>
          <p:cNvSpPr/>
          <p:nvPr/>
        </p:nvSpPr>
        <p:spPr>
          <a:xfrm>
            <a:off x="2269392" y="6225747"/>
            <a:ext cx="7881599" cy="4608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</a:rPr>
              <a:t>Slab allocator: A generic data structure-cache layer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E01CA5B-E944-41CA-83A2-BE909546D952}"/>
              </a:ext>
            </a:extLst>
          </p:cNvPr>
          <p:cNvSpPr txBox="1"/>
          <p:nvPr/>
        </p:nvSpPr>
        <p:spPr>
          <a:xfrm>
            <a:off x="5220559" y="5707318"/>
            <a:ext cx="22244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 object = data structure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1BCB28-6946-47C1-BB23-E0DCBD1FB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32" y="824230"/>
            <a:ext cx="6066254" cy="289160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0B4140-DC07-4C78-A757-2E08CE83FBD9}"/>
              </a:ext>
            </a:extLst>
          </p:cNvPr>
          <p:cNvSpPr txBox="1"/>
          <p:nvPr/>
        </p:nvSpPr>
        <p:spPr>
          <a:xfrm>
            <a:off x="6515488" y="831238"/>
            <a:ext cx="5448300" cy="160043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object size = </a:t>
            </a:r>
            <a:r>
              <a:rPr lang="en-US" sz="1400" dirty="0" err="1"/>
              <a:t>offsetof</a:t>
            </a:r>
            <a:r>
              <a:rPr lang="en-US" sz="1400" dirty="0"/>
              <a:t>(struct </a:t>
            </a:r>
            <a:r>
              <a:rPr lang="en-US" sz="1400" dirty="0" err="1"/>
              <a:t>kmem_cache</a:t>
            </a:r>
            <a:r>
              <a:rPr lang="en-US" sz="1400" dirty="0"/>
              <a:t>, node) +</a:t>
            </a:r>
          </a:p>
          <a:p>
            <a:r>
              <a:rPr lang="en-US" sz="1400" dirty="0"/>
              <a:t>                                </a:t>
            </a:r>
            <a:r>
              <a:rPr lang="en-US" sz="1400" dirty="0" err="1"/>
              <a:t>nr_node_ids</a:t>
            </a:r>
            <a:r>
              <a:rPr lang="en-US" sz="1400" dirty="0"/>
              <a:t> * </a:t>
            </a:r>
            <a:r>
              <a:rPr lang="en-US" sz="1400" dirty="0" err="1"/>
              <a:t>sizeof</a:t>
            </a:r>
            <a:r>
              <a:rPr lang="en-US" sz="1400" dirty="0"/>
              <a:t>(struct </a:t>
            </a:r>
            <a:r>
              <a:rPr lang="en-US" sz="1400" dirty="0" err="1"/>
              <a:t>kmem_cache_node</a:t>
            </a:r>
            <a:r>
              <a:rPr lang="en-US" sz="1400" dirty="0"/>
              <a:t> *)</a:t>
            </a:r>
          </a:p>
          <a:p>
            <a:r>
              <a:rPr lang="en-US" sz="1400" dirty="0" err="1"/>
              <a:t>nr_node_ids</a:t>
            </a:r>
            <a:r>
              <a:rPr lang="en-US" sz="1400" dirty="0"/>
              <a:t> = 2 (2-socket guest OS)</a:t>
            </a:r>
          </a:p>
          <a:p>
            <a:endParaRPr lang="en-US" sz="1400" dirty="0"/>
          </a:p>
          <a:p>
            <a:r>
              <a:rPr lang="en-US" sz="1400" dirty="0"/>
              <a:t>object size = 200 + 2 * 8 = 216</a:t>
            </a:r>
          </a:p>
          <a:p>
            <a:endParaRPr lang="en-US" sz="1400" dirty="0"/>
          </a:p>
          <a:p>
            <a:r>
              <a:rPr lang="en-US" sz="1400" dirty="0"/>
              <a:t>object size with alignment (SLAB_HWCACHE_ALIGN: 64) = 256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CDC24D-8826-47C3-A273-06C2B8DEEBEE}"/>
              </a:ext>
            </a:extLst>
          </p:cNvPr>
          <p:cNvSpPr txBox="1"/>
          <p:nvPr/>
        </p:nvSpPr>
        <p:spPr>
          <a:xfrm>
            <a:off x="5720688" y="3943426"/>
            <a:ext cx="2227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tx1"/>
                </a:solidFill>
              </a:rPr>
              <a:t>calculate_sizes</a:t>
            </a:r>
            <a:r>
              <a:rPr lang="en-US" sz="1400" b="1" dirty="0">
                <a:solidFill>
                  <a:schemeClr val="tx1"/>
                </a:solidFill>
              </a:rPr>
              <a:t> (): </a:t>
            </a:r>
            <a:r>
              <a:rPr lang="en-US" sz="1400" b="1" dirty="0"/>
              <a:t>order = 1 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31F276AD-55D3-4188-9648-082426BDC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62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kmem_cache</a:t>
            </a:r>
            <a:r>
              <a:rPr lang="en-US" sz="4400" dirty="0">
                <a:solidFill>
                  <a:schemeClr val="tx1"/>
                </a:solidFill>
              </a:rPr>
              <a:t>/</a:t>
            </a:r>
            <a:r>
              <a:rPr lang="en-US" sz="4400" dirty="0" err="1">
                <a:solidFill>
                  <a:schemeClr val="tx1"/>
                </a:solidFill>
              </a:rPr>
              <a:t>boot_kmem_cache</a:t>
            </a:r>
            <a:r>
              <a:rPr lang="en-US" dirty="0"/>
              <a:t> </a:t>
            </a:r>
            <a:r>
              <a:rPr lang="en-US" dirty="0" err="1"/>
              <a:t>init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104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D3806B-8B16-4FF0-9583-ACD006FE7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5" y="831238"/>
            <a:ext cx="7114094" cy="589453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531210-9CB8-4B0F-8F91-80449ACF1BDD}"/>
              </a:ext>
            </a:extLst>
          </p:cNvPr>
          <p:cNvSpPr txBox="1"/>
          <p:nvPr/>
        </p:nvSpPr>
        <p:spPr>
          <a:xfrm>
            <a:off x="9411486" y="842344"/>
            <a:ext cx="2390873" cy="30777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object size = 200 + 2 * 8 = 216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57AB7F-9D52-4EC2-BBA5-693CA79D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62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kmem_cache</a:t>
            </a:r>
            <a:r>
              <a:rPr lang="en-US" sz="4400" dirty="0">
                <a:solidFill>
                  <a:schemeClr val="tx1"/>
                </a:solidFill>
              </a:rPr>
              <a:t>/</a:t>
            </a:r>
            <a:r>
              <a:rPr lang="en-US" sz="4400" dirty="0" err="1">
                <a:solidFill>
                  <a:schemeClr val="tx1"/>
                </a:solidFill>
              </a:rPr>
              <a:t>boot_kmem_cache</a:t>
            </a:r>
            <a:r>
              <a:rPr lang="en-US" dirty="0"/>
              <a:t> </a:t>
            </a:r>
            <a:r>
              <a:rPr lang="en-US" dirty="0" err="1"/>
              <a:t>init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33982E-BAF4-4641-9240-625801BA907B}"/>
              </a:ext>
            </a:extLst>
          </p:cNvPr>
          <p:cNvSpPr/>
          <p:nvPr/>
        </p:nvSpPr>
        <p:spPr>
          <a:xfrm>
            <a:off x="2250080" y="3203685"/>
            <a:ext cx="5272511" cy="16168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64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16750A-4109-472B-986E-3194BA98A17F}"/>
              </a:ext>
            </a:extLst>
          </p:cNvPr>
          <p:cNvSpPr/>
          <p:nvPr/>
        </p:nvSpPr>
        <p:spPr>
          <a:xfrm>
            <a:off x="4165269" y="3960961"/>
            <a:ext cx="5607283" cy="22076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629129-3B0A-415B-9636-B4561F98D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66187"/>
            <a:ext cx="10515600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init_kmem_cache_nodes</a:t>
            </a:r>
            <a:r>
              <a:rPr lang="en-US" dirty="0"/>
              <a:t>()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676F99-B946-4563-A177-718F682A75DC}"/>
              </a:ext>
            </a:extLst>
          </p:cNvPr>
          <p:cNvSpPr/>
          <p:nvPr/>
        </p:nvSpPr>
        <p:spPr>
          <a:xfrm>
            <a:off x="7259431" y="4976932"/>
            <a:ext cx="231163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 = </a:t>
            </a:r>
            <a:r>
              <a:rPr lang="en-US" sz="1400" dirty="0" err="1">
                <a:solidFill>
                  <a:schemeClr val="tx1"/>
                </a:solidFill>
              </a:rPr>
              <a:t>kmem_cache_alloc_node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8EDD71-298B-493D-AC87-7134665A0497}"/>
              </a:ext>
            </a:extLst>
          </p:cNvPr>
          <p:cNvSpPr/>
          <p:nvPr/>
        </p:nvSpPr>
        <p:spPr>
          <a:xfrm>
            <a:off x="4518942" y="4979644"/>
            <a:ext cx="249737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early_kmem_cache_node_alloc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77ECD6-09F8-4182-9253-6CF84131CBBA}"/>
              </a:ext>
            </a:extLst>
          </p:cNvPr>
          <p:cNvSpPr/>
          <p:nvPr/>
        </p:nvSpPr>
        <p:spPr>
          <a:xfrm>
            <a:off x="1947125" y="3596140"/>
            <a:ext cx="1970215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init_kmem_cache_nodes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084F55-00F5-4730-B8EB-39B3237CEEC4}"/>
              </a:ext>
            </a:extLst>
          </p:cNvPr>
          <p:cNvSpPr txBox="1"/>
          <p:nvPr/>
        </p:nvSpPr>
        <p:spPr>
          <a:xfrm>
            <a:off x="4192749" y="3987671"/>
            <a:ext cx="2068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for_each_node_state</a:t>
            </a:r>
            <a:r>
              <a:rPr lang="en-US" sz="1400" dirty="0"/>
              <a:t>()</a:t>
            </a:r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D1365B8C-E5BE-4705-935D-40C558F3EBCD}"/>
              </a:ext>
            </a:extLst>
          </p:cNvPr>
          <p:cNvSpPr/>
          <p:nvPr/>
        </p:nvSpPr>
        <p:spPr>
          <a:xfrm>
            <a:off x="4336865" y="4403310"/>
            <a:ext cx="2861534" cy="342903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slab_state</a:t>
            </a:r>
            <a:r>
              <a:rPr lang="en-US" sz="1200" dirty="0">
                <a:solidFill>
                  <a:schemeClr val="tx1"/>
                </a:solidFill>
              </a:rPr>
              <a:t> == DOWN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F35644-13D9-4B7F-A8EF-E2540B7C97BE}"/>
              </a:ext>
            </a:extLst>
          </p:cNvPr>
          <p:cNvSpPr/>
          <p:nvPr/>
        </p:nvSpPr>
        <p:spPr>
          <a:xfrm>
            <a:off x="7259429" y="5401141"/>
            <a:ext cx="2311631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9F16D3-4D40-4E77-B39A-91E5BFB46B9E}"/>
              </a:ext>
            </a:extLst>
          </p:cNvPr>
          <p:cNvSpPr/>
          <p:nvPr/>
        </p:nvSpPr>
        <p:spPr>
          <a:xfrm>
            <a:off x="7259428" y="5800969"/>
            <a:ext cx="2311631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-&gt;node[node] = n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C668F583-F320-440C-8B55-29B93B1F9192}"/>
              </a:ext>
            </a:extLst>
          </p:cNvPr>
          <p:cNvCxnSpPr>
            <a:cxnSpLocks/>
            <a:stCxn id="43" idx="2"/>
            <a:endCxn id="12" idx="1"/>
          </p:cNvCxnSpPr>
          <p:nvPr/>
        </p:nvCxnSpPr>
        <p:spPr>
          <a:xfrm rot="16200000" flipH="1">
            <a:off x="2935334" y="3834828"/>
            <a:ext cx="1226835" cy="123303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634ADA2-4A75-4882-982F-8703002D9D58}"/>
              </a:ext>
            </a:extLst>
          </p:cNvPr>
          <p:cNvCxnSpPr>
            <a:stCxn id="14" idx="2"/>
            <a:endCxn id="22" idx="0"/>
          </p:cNvCxnSpPr>
          <p:nvPr/>
        </p:nvCxnSpPr>
        <p:spPr>
          <a:xfrm>
            <a:off x="5767632" y="4746213"/>
            <a:ext cx="0" cy="2334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B117381-9E32-4FBD-9E5A-CDC0CF7B8F2F}"/>
              </a:ext>
            </a:extLst>
          </p:cNvPr>
          <p:cNvCxnSpPr>
            <a:stCxn id="14" idx="3"/>
            <a:endCxn id="21" idx="0"/>
          </p:cNvCxnSpPr>
          <p:nvPr/>
        </p:nvCxnSpPr>
        <p:spPr>
          <a:xfrm>
            <a:off x="7198399" y="4574762"/>
            <a:ext cx="1216847" cy="40217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222734-C0F7-4C8D-A9DC-788EAC206D1A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 flipH="1">
            <a:off x="8415245" y="5218721"/>
            <a:ext cx="1" cy="1824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106A1D6-0F9D-4855-AC4E-678F6B278857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8415244" y="5642930"/>
            <a:ext cx="1" cy="1580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4FB7978-DDC8-4299-A582-E1993586A235}"/>
              </a:ext>
            </a:extLst>
          </p:cNvPr>
          <p:cNvSpPr txBox="1"/>
          <p:nvPr/>
        </p:nvSpPr>
        <p:spPr>
          <a:xfrm>
            <a:off x="5743195" y="4712766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1CA6F5-1E98-46D7-8D0D-26F7F3DF5050}"/>
              </a:ext>
            </a:extLst>
          </p:cNvPr>
          <p:cNvSpPr txBox="1"/>
          <p:nvPr/>
        </p:nvSpPr>
        <p:spPr>
          <a:xfrm>
            <a:off x="7209839" y="4300342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FA47FA-4A92-4B4C-B88A-EB0E89C1E17F}"/>
              </a:ext>
            </a:extLst>
          </p:cNvPr>
          <p:cNvSpPr/>
          <p:nvPr/>
        </p:nvSpPr>
        <p:spPr>
          <a:xfrm>
            <a:off x="3781044" y="1513780"/>
            <a:ext cx="186250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kmem_cache_create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C977C7-67F2-4D9A-8C5E-DE55B84FD1D9}"/>
              </a:ext>
            </a:extLst>
          </p:cNvPr>
          <p:cNvSpPr/>
          <p:nvPr/>
        </p:nvSpPr>
        <p:spPr>
          <a:xfrm>
            <a:off x="7858475" y="1576067"/>
            <a:ext cx="1970215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init_kmem_cache_nodes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A498DF-C02C-49B9-A270-9F82F9F57A86}"/>
              </a:ext>
            </a:extLst>
          </p:cNvPr>
          <p:cNvSpPr/>
          <p:nvPr/>
        </p:nvSpPr>
        <p:spPr>
          <a:xfrm>
            <a:off x="7858474" y="892464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calculate_sizes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0EAD59-A96A-4EF9-8F2F-B8053182720D}"/>
              </a:ext>
            </a:extLst>
          </p:cNvPr>
          <p:cNvSpPr/>
          <p:nvPr/>
        </p:nvSpPr>
        <p:spPr>
          <a:xfrm>
            <a:off x="5898519" y="1512009"/>
            <a:ext cx="158408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kmem_cache_open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51D090-7116-4C2C-9DCE-A6C7F2C6724C}"/>
              </a:ext>
            </a:extLst>
          </p:cNvPr>
          <p:cNvSpPr/>
          <p:nvPr/>
        </p:nvSpPr>
        <p:spPr>
          <a:xfrm>
            <a:off x="7858475" y="2154895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A8E993F-09BC-4418-9D92-D68B6384E4F5}"/>
              </a:ext>
            </a:extLst>
          </p:cNvPr>
          <p:cNvCxnSpPr>
            <a:stCxn id="18" idx="3"/>
            <a:endCxn id="23" idx="1"/>
          </p:cNvCxnSpPr>
          <p:nvPr/>
        </p:nvCxnSpPr>
        <p:spPr>
          <a:xfrm flipV="1">
            <a:off x="5643550" y="1632904"/>
            <a:ext cx="254969" cy="177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70EE97E-8B87-43F0-8447-F3E3571254A9}"/>
              </a:ext>
            </a:extLst>
          </p:cNvPr>
          <p:cNvCxnSpPr>
            <a:stCxn id="23" idx="3"/>
            <a:endCxn id="20" idx="1"/>
          </p:cNvCxnSpPr>
          <p:nvPr/>
        </p:nvCxnSpPr>
        <p:spPr>
          <a:xfrm flipV="1">
            <a:off x="7482602" y="1013359"/>
            <a:ext cx="375872" cy="61954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377F4AEF-8DE7-4943-B8A6-C681B1B1D308}"/>
              </a:ext>
            </a:extLst>
          </p:cNvPr>
          <p:cNvCxnSpPr>
            <a:stCxn id="23" idx="3"/>
            <a:endCxn id="19" idx="1"/>
          </p:cNvCxnSpPr>
          <p:nvPr/>
        </p:nvCxnSpPr>
        <p:spPr>
          <a:xfrm>
            <a:off x="7482602" y="1632904"/>
            <a:ext cx="375873" cy="6405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41538A99-D005-4C30-BA59-9D86ADCA8E8A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7482602" y="1632904"/>
            <a:ext cx="375873" cy="64288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A22EDFFE-D018-4420-A4F1-CFCD95CF4A1E}"/>
              </a:ext>
            </a:extLst>
          </p:cNvPr>
          <p:cNvSpPr/>
          <p:nvPr/>
        </p:nvSpPr>
        <p:spPr>
          <a:xfrm>
            <a:off x="9146544" y="2498528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alloc_percpu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61B263-0D2F-4DBA-8FCF-A098DA1E489B}"/>
              </a:ext>
            </a:extLst>
          </p:cNvPr>
          <p:cNvSpPr/>
          <p:nvPr/>
        </p:nvSpPr>
        <p:spPr>
          <a:xfrm>
            <a:off x="9146544" y="2859180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3FBAF7-B37E-4E8D-9B73-EE6449CB6CEA}"/>
              </a:ext>
            </a:extLst>
          </p:cNvPr>
          <p:cNvSpPr txBox="1"/>
          <p:nvPr/>
        </p:nvSpPr>
        <p:spPr>
          <a:xfrm>
            <a:off x="9146544" y="3100969"/>
            <a:ext cx="2153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Assign </a:t>
            </a:r>
            <a:r>
              <a:rPr lang="en-US" sz="1400" dirty="0" err="1"/>
              <a:t>cpu</a:t>
            </a:r>
            <a:r>
              <a:rPr lang="en-US" sz="1400" dirty="0"/>
              <a:t> id to </a:t>
            </a:r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r>
              <a:rPr lang="en-US" sz="1400" dirty="0">
                <a:solidFill>
                  <a:schemeClr val="tx1"/>
                </a:solidFill>
              </a:rPr>
              <a:t>-&gt;</a:t>
            </a:r>
            <a:r>
              <a:rPr lang="en-US" sz="1400" dirty="0" err="1">
                <a:solidFill>
                  <a:schemeClr val="tx1"/>
                </a:solidFill>
              </a:rPr>
              <a:t>tid</a:t>
            </a:r>
            <a:endParaRPr lang="en-US" sz="1400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3CF5BA0C-17B6-4FCB-8F5C-B5125AE196FE}"/>
              </a:ext>
            </a:extLst>
          </p:cNvPr>
          <p:cNvCxnSpPr>
            <a:stCxn id="24" idx="2"/>
            <a:endCxn id="31" idx="1"/>
          </p:cNvCxnSpPr>
          <p:nvPr/>
        </p:nvCxnSpPr>
        <p:spPr>
          <a:xfrm rot="16200000" flipH="1">
            <a:off x="8883694" y="2356572"/>
            <a:ext cx="222739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03932A86-BD5F-4F0A-AEE2-DCC52D83680B}"/>
              </a:ext>
            </a:extLst>
          </p:cNvPr>
          <p:cNvCxnSpPr>
            <a:stCxn id="24" idx="2"/>
            <a:endCxn id="32" idx="1"/>
          </p:cNvCxnSpPr>
          <p:nvPr/>
        </p:nvCxnSpPr>
        <p:spPr>
          <a:xfrm rot="16200000" flipH="1">
            <a:off x="8703368" y="2536898"/>
            <a:ext cx="583391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9CAB871-B5C1-477E-8D5D-A454599DB0DE}"/>
              </a:ext>
            </a:extLst>
          </p:cNvPr>
          <p:cNvSpPr txBox="1"/>
          <p:nvPr/>
        </p:nvSpPr>
        <p:spPr>
          <a:xfrm>
            <a:off x="7754979" y="1182217"/>
            <a:ext cx="242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‘</a:t>
            </a:r>
            <a:r>
              <a:rPr lang="en-US" sz="1200" b="1" dirty="0" err="1"/>
              <a:t>kmem_cache_node</a:t>
            </a:r>
            <a:r>
              <a:rPr lang="en-US" sz="1200" dirty="0"/>
              <a:t>’ structs for all CPU nodes (sockets)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813DB3-F0CB-4B3C-8D64-0F8091867215}"/>
              </a:ext>
            </a:extLst>
          </p:cNvPr>
          <p:cNvSpPr txBox="1"/>
          <p:nvPr/>
        </p:nvSpPr>
        <p:spPr>
          <a:xfrm>
            <a:off x="7622540" y="1896946"/>
            <a:ext cx="2747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a ‘</a:t>
            </a:r>
            <a:r>
              <a:rPr lang="en-US" sz="1200" b="1" dirty="0" err="1"/>
              <a:t>kmem_cache_cpu</a:t>
            </a:r>
            <a:r>
              <a:rPr lang="en-US" sz="1200" dirty="0"/>
              <a:t>’ struct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D303A5-C6E4-4BBA-960F-CBA28EA4EDA0}"/>
              </a:ext>
            </a:extLst>
          </p:cNvPr>
          <p:cNvSpPr txBox="1"/>
          <p:nvPr/>
        </p:nvSpPr>
        <p:spPr>
          <a:xfrm>
            <a:off x="7688855" y="621179"/>
            <a:ext cx="2960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Calculate page order and objects per slab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A74E19-F796-43C0-8CCF-0A1C91F6341A}"/>
              </a:ext>
            </a:extLst>
          </p:cNvPr>
          <p:cNvSpPr/>
          <p:nvPr/>
        </p:nvSpPr>
        <p:spPr>
          <a:xfrm>
            <a:off x="182276" y="1522987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create_boot_cache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8EC2DE-4567-4FC0-A893-448FC5C012F9}"/>
              </a:ext>
            </a:extLst>
          </p:cNvPr>
          <p:cNvCxnSpPr>
            <a:stCxn id="40" idx="3"/>
            <a:endCxn id="18" idx="1"/>
          </p:cNvCxnSpPr>
          <p:nvPr/>
        </p:nvCxnSpPr>
        <p:spPr>
          <a:xfrm flipV="1">
            <a:off x="3468403" y="1634675"/>
            <a:ext cx="312641" cy="92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AC80DBA-56EF-44AC-B00F-727B5850808D}"/>
              </a:ext>
            </a:extLst>
          </p:cNvPr>
          <p:cNvSpPr txBox="1"/>
          <p:nvPr/>
        </p:nvSpPr>
        <p:spPr>
          <a:xfrm>
            <a:off x="4495459" y="5192730"/>
            <a:ext cx="2632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Special (one-shot) path:</a:t>
            </a:r>
          </a:p>
          <a:p>
            <a:r>
              <a:rPr lang="en-US" sz="1400" b="1" dirty="0"/>
              <a:t>Fix ‘chicken or the egg’ problem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4D4E77-6F75-4203-8E85-162140ABA9A0}"/>
              </a:ext>
            </a:extLst>
          </p:cNvPr>
          <p:cNvSpPr txBox="1"/>
          <p:nvPr/>
        </p:nvSpPr>
        <p:spPr>
          <a:xfrm>
            <a:off x="8415896" y="4569451"/>
            <a:ext cx="1292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Generic path</a:t>
            </a:r>
          </a:p>
        </p:txBody>
      </p:sp>
    </p:spTree>
    <p:extLst>
      <p:ext uri="{BB962C8B-B14F-4D97-AF65-F5344CB8AC3E}">
        <p14:creationId xmlns:p14="http://schemas.microsoft.com/office/powerpoint/2010/main" val="2174687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9129-3B0A-415B-9636-B4561F98D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7" y="9138"/>
            <a:ext cx="12154633" cy="672147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early_kmem_cache_node_alloc</a:t>
            </a:r>
            <a:r>
              <a:rPr lang="en-US" sz="4400" dirty="0">
                <a:solidFill>
                  <a:schemeClr val="tx1"/>
                </a:solidFill>
              </a:rPr>
              <a:t> for ‘</a:t>
            </a:r>
            <a:r>
              <a:rPr lang="en-US" sz="4400" dirty="0" err="1">
                <a:solidFill>
                  <a:schemeClr val="tx1"/>
                </a:solidFill>
              </a:rPr>
              <a:t>kmem_cache_node</a:t>
            </a:r>
            <a:r>
              <a:rPr lang="en-US" sz="4400" dirty="0">
                <a:solidFill>
                  <a:schemeClr val="tx1"/>
                </a:solidFill>
              </a:rPr>
              <a:t>’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676F99-B946-4563-A177-718F682A75DC}"/>
              </a:ext>
            </a:extLst>
          </p:cNvPr>
          <p:cNvSpPr/>
          <p:nvPr/>
        </p:nvSpPr>
        <p:spPr>
          <a:xfrm>
            <a:off x="3516205" y="1919700"/>
            <a:ext cx="1076322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allocate_slab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8EDD71-298B-493D-AC87-7134665A0497}"/>
              </a:ext>
            </a:extLst>
          </p:cNvPr>
          <p:cNvSpPr/>
          <p:nvPr/>
        </p:nvSpPr>
        <p:spPr>
          <a:xfrm>
            <a:off x="1728215" y="1503264"/>
            <a:ext cx="303428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= </a:t>
            </a:r>
            <a:r>
              <a:rPr lang="en-US" sz="1400" dirty="0" err="1">
                <a:solidFill>
                  <a:schemeClr val="tx1"/>
                </a:solidFill>
              </a:rPr>
              <a:t>new_slab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77ECD6-09F8-4182-9253-6CF84131CBBA}"/>
              </a:ext>
            </a:extLst>
          </p:cNvPr>
          <p:cNvSpPr/>
          <p:nvPr/>
        </p:nvSpPr>
        <p:spPr>
          <a:xfrm>
            <a:off x="348791" y="1082807"/>
            <a:ext cx="2422983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early_kmem_cache_node_alloc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F35644-13D9-4B7F-A8EF-E2540B7C97BE}"/>
              </a:ext>
            </a:extLst>
          </p:cNvPr>
          <p:cNvSpPr/>
          <p:nvPr/>
        </p:nvSpPr>
        <p:spPr>
          <a:xfrm>
            <a:off x="4373452" y="2295782"/>
            <a:ext cx="187651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= </a:t>
            </a:r>
            <a:r>
              <a:rPr lang="en-US" sz="1400" dirty="0" err="1">
                <a:solidFill>
                  <a:schemeClr val="tx1"/>
                </a:solidFill>
              </a:rPr>
              <a:t>alloc_slab_page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9F16D3-4D40-4E77-B39A-91E5BFB46B9E}"/>
              </a:ext>
            </a:extLst>
          </p:cNvPr>
          <p:cNvSpPr/>
          <p:nvPr/>
        </p:nvSpPr>
        <p:spPr>
          <a:xfrm>
            <a:off x="4373452" y="2658466"/>
            <a:ext cx="187651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page-&gt;</a:t>
            </a:r>
            <a:r>
              <a:rPr lang="en-US" sz="1400" dirty="0" err="1">
                <a:solidFill>
                  <a:schemeClr val="tx1"/>
                </a:solidFill>
              </a:rPr>
              <a:t>slab_cache</a:t>
            </a:r>
            <a:r>
              <a:rPr lang="en-US" sz="1400" dirty="0">
                <a:solidFill>
                  <a:schemeClr val="tx1"/>
                </a:solidFill>
              </a:rPr>
              <a:t> = 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2334F7-71DB-4C42-AB4A-62B70355D5F1}"/>
              </a:ext>
            </a:extLst>
          </p:cNvPr>
          <p:cNvSpPr/>
          <p:nvPr/>
        </p:nvSpPr>
        <p:spPr>
          <a:xfrm>
            <a:off x="4373452" y="3021363"/>
            <a:ext cx="1876519" cy="4467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Update </a:t>
            </a:r>
            <a:r>
              <a:rPr lang="en-US" sz="1400" dirty="0" err="1">
                <a:solidFill>
                  <a:schemeClr val="tx1"/>
                </a:solidFill>
              </a:rPr>
              <a:t>freepointers</a:t>
            </a:r>
            <a:r>
              <a:rPr lang="en-US" sz="1400" dirty="0">
                <a:solidFill>
                  <a:schemeClr val="tx1"/>
                </a:solidFill>
              </a:rPr>
              <a:t> for the allocated pages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69BB39-68E2-4915-AFA7-D4334ABC50E5}"/>
              </a:ext>
            </a:extLst>
          </p:cNvPr>
          <p:cNvSpPr/>
          <p:nvPr/>
        </p:nvSpPr>
        <p:spPr>
          <a:xfrm>
            <a:off x="1710642" y="3605883"/>
            <a:ext cx="3034285" cy="2752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 = page-&gt;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494709-80A6-4D84-B2EA-D199A9BE22B8}"/>
              </a:ext>
            </a:extLst>
          </p:cNvPr>
          <p:cNvSpPr/>
          <p:nvPr/>
        </p:nvSpPr>
        <p:spPr>
          <a:xfrm>
            <a:off x="1710642" y="4544247"/>
            <a:ext cx="3034285" cy="2740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kmem_cache_node-&gt;node[node] = </a:t>
            </a:r>
            <a:r>
              <a:rPr lang="en-US" sz="1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B0835B-81D8-4AF8-8564-58EA38D3F282}"/>
              </a:ext>
            </a:extLst>
          </p:cNvPr>
          <p:cNvSpPr/>
          <p:nvPr/>
        </p:nvSpPr>
        <p:spPr>
          <a:xfrm>
            <a:off x="1710642" y="3976411"/>
            <a:ext cx="3034285" cy="4467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r>
              <a:rPr lang="en-US" sz="1400" dirty="0">
                <a:solidFill>
                  <a:schemeClr val="tx1"/>
                </a:solidFill>
              </a:rPr>
              <a:t> = </a:t>
            </a:r>
            <a:r>
              <a:rPr lang="en-US" sz="1400" dirty="0" err="1">
                <a:solidFill>
                  <a:schemeClr val="tx1"/>
                </a:solidFill>
              </a:rPr>
              <a:t>get_freepointer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, 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209537-E88A-4561-A2D6-3BC6AC1FEA04}"/>
              </a:ext>
            </a:extLst>
          </p:cNvPr>
          <p:cNvSpPr/>
          <p:nvPr/>
        </p:nvSpPr>
        <p:spPr>
          <a:xfrm>
            <a:off x="1710642" y="4989374"/>
            <a:ext cx="3034285" cy="2740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init_kmem_cache_node(n)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8A9164AE-0C1E-44FD-B6F0-AE5A1E3E96EC}"/>
              </a:ext>
            </a:extLst>
          </p:cNvPr>
          <p:cNvCxnSpPr>
            <a:cxnSpLocks/>
            <a:stCxn id="43" idx="2"/>
            <a:endCxn id="22" idx="1"/>
          </p:cNvCxnSpPr>
          <p:nvPr/>
        </p:nvCxnSpPr>
        <p:spPr>
          <a:xfrm rot="16200000" flipH="1">
            <a:off x="1494468" y="1390411"/>
            <a:ext cx="299563" cy="16793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6268B56-2B51-499C-8FEA-B35703E52CF8}"/>
              </a:ext>
            </a:extLst>
          </p:cNvPr>
          <p:cNvCxnSpPr>
            <a:stCxn id="22" idx="2"/>
            <a:endCxn id="21" idx="1"/>
          </p:cNvCxnSpPr>
          <p:nvPr/>
        </p:nvCxnSpPr>
        <p:spPr>
          <a:xfrm rot="16200000" flipH="1">
            <a:off x="3233010" y="1757400"/>
            <a:ext cx="295542" cy="27084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1E5AD957-D2FB-47B1-BE4A-A37EC29D75A8}"/>
              </a:ext>
            </a:extLst>
          </p:cNvPr>
          <p:cNvCxnSpPr>
            <a:cxnSpLocks/>
            <a:stCxn id="21" idx="2"/>
            <a:endCxn id="15" idx="1"/>
          </p:cNvCxnSpPr>
          <p:nvPr/>
        </p:nvCxnSpPr>
        <p:spPr>
          <a:xfrm rot="16200000" flipH="1">
            <a:off x="4086315" y="2129540"/>
            <a:ext cx="255188" cy="31908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9FE6427-8F0C-4FF5-A320-C6CD288847B4}"/>
              </a:ext>
            </a:extLst>
          </p:cNvPr>
          <p:cNvCxnSpPr>
            <a:cxnSpLocks/>
            <a:stCxn id="21" idx="2"/>
            <a:endCxn id="16" idx="1"/>
          </p:cNvCxnSpPr>
          <p:nvPr/>
        </p:nvCxnSpPr>
        <p:spPr>
          <a:xfrm rot="16200000" flipH="1">
            <a:off x="3904973" y="2310882"/>
            <a:ext cx="617872" cy="31908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68C6B6D6-B881-45E6-B1CB-8E9C74ED281E}"/>
              </a:ext>
            </a:extLst>
          </p:cNvPr>
          <p:cNvCxnSpPr>
            <a:cxnSpLocks/>
            <a:stCxn id="21" idx="2"/>
            <a:endCxn id="8" idx="1"/>
          </p:cNvCxnSpPr>
          <p:nvPr/>
        </p:nvCxnSpPr>
        <p:spPr>
          <a:xfrm rot="16200000" flipH="1">
            <a:off x="3672290" y="2543565"/>
            <a:ext cx="1083238" cy="31908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5A81418B-5904-434C-9C5A-C65581AFE292}"/>
              </a:ext>
            </a:extLst>
          </p:cNvPr>
          <p:cNvCxnSpPr>
            <a:cxnSpLocks/>
            <a:stCxn id="43" idx="2"/>
            <a:endCxn id="9" idx="1"/>
          </p:cNvCxnSpPr>
          <p:nvPr/>
        </p:nvCxnSpPr>
        <p:spPr>
          <a:xfrm rot="16200000" flipH="1">
            <a:off x="425999" y="2458879"/>
            <a:ext cx="2418926" cy="15035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1E5F5A9-0FEB-4613-9AED-6BA112B0B35A}"/>
              </a:ext>
            </a:extLst>
          </p:cNvPr>
          <p:cNvCxnSpPr>
            <a:cxnSpLocks/>
            <a:stCxn id="43" idx="2"/>
            <a:endCxn id="11" idx="1"/>
          </p:cNvCxnSpPr>
          <p:nvPr/>
        </p:nvCxnSpPr>
        <p:spPr>
          <a:xfrm rot="16200000" flipH="1">
            <a:off x="197873" y="2687005"/>
            <a:ext cx="2875179" cy="15035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25ACCDD-613A-4608-A06F-2E59897A7A64}"/>
              </a:ext>
            </a:extLst>
          </p:cNvPr>
          <p:cNvCxnSpPr>
            <a:cxnSpLocks/>
            <a:stCxn id="43" idx="2"/>
            <a:endCxn id="10" idx="1"/>
          </p:cNvCxnSpPr>
          <p:nvPr/>
        </p:nvCxnSpPr>
        <p:spPr>
          <a:xfrm rot="16200000" flipH="1">
            <a:off x="-42870" y="2927748"/>
            <a:ext cx="3356665" cy="15035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0F14E4B-70F8-4FB3-B65D-26692159B099}"/>
              </a:ext>
            </a:extLst>
          </p:cNvPr>
          <p:cNvCxnSpPr>
            <a:cxnSpLocks/>
            <a:stCxn id="43" idx="2"/>
            <a:endCxn id="12" idx="1"/>
          </p:cNvCxnSpPr>
          <p:nvPr/>
        </p:nvCxnSpPr>
        <p:spPr>
          <a:xfrm rot="16200000" flipH="1">
            <a:off x="-265434" y="3150312"/>
            <a:ext cx="3801792" cy="15035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F3AAEC0-E805-46FC-B572-19817E33460F}"/>
              </a:ext>
            </a:extLst>
          </p:cNvPr>
          <p:cNvSpPr/>
          <p:nvPr/>
        </p:nvSpPr>
        <p:spPr>
          <a:xfrm>
            <a:off x="1710641" y="5710514"/>
            <a:ext cx="3034285" cy="2460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add_partial</a:t>
            </a:r>
            <a:r>
              <a:rPr lang="en-US" sz="1200" dirty="0">
                <a:solidFill>
                  <a:schemeClr val="tx1"/>
                </a:solidFill>
              </a:rPr>
              <a:t>(n, page, DEACTIVATE_TO_HEAD)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B7A89ED-D6B2-414C-BB79-4F050F643510}"/>
              </a:ext>
            </a:extLst>
          </p:cNvPr>
          <p:cNvCxnSpPr>
            <a:cxnSpLocks/>
            <a:stCxn id="43" idx="2"/>
            <a:endCxn id="33" idx="1"/>
          </p:cNvCxnSpPr>
          <p:nvPr/>
        </p:nvCxnSpPr>
        <p:spPr>
          <a:xfrm rot="16200000" flipH="1">
            <a:off x="-619015" y="3503894"/>
            <a:ext cx="4508955" cy="15035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6E49E3F-A557-4121-97E8-BEED99648BBD}"/>
              </a:ext>
            </a:extLst>
          </p:cNvPr>
          <p:cNvSpPr/>
          <p:nvPr/>
        </p:nvSpPr>
        <p:spPr>
          <a:xfrm>
            <a:off x="1710640" y="5356390"/>
            <a:ext cx="3034285" cy="2740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inc_slabs_node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A7478C3-345B-4CAF-8C98-2B4CEA5C58D0}"/>
              </a:ext>
            </a:extLst>
          </p:cNvPr>
          <p:cNvCxnSpPr>
            <a:cxnSpLocks/>
            <a:stCxn id="43" idx="2"/>
            <a:endCxn id="24" idx="1"/>
          </p:cNvCxnSpPr>
          <p:nvPr/>
        </p:nvCxnSpPr>
        <p:spPr>
          <a:xfrm rot="16200000" flipH="1">
            <a:off x="-448943" y="3333821"/>
            <a:ext cx="4168808" cy="15035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763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9A2184-9802-432A-BF50-5F7DE934934E}"/>
              </a:ext>
            </a:extLst>
          </p:cNvPr>
          <p:cNvSpPr/>
          <p:nvPr/>
        </p:nvSpPr>
        <p:spPr>
          <a:xfrm>
            <a:off x="8757621" y="2388668"/>
            <a:ext cx="2361068" cy="2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78321-F576-4013-A455-F1352B369403}"/>
              </a:ext>
            </a:extLst>
          </p:cNvPr>
          <p:cNvSpPr/>
          <p:nvPr/>
        </p:nvSpPr>
        <p:spPr>
          <a:xfrm>
            <a:off x="9009834" y="2626304"/>
            <a:ext cx="210885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4BF9B-B459-43B0-9839-872DD96B9C20}"/>
              </a:ext>
            </a:extLst>
          </p:cNvPr>
          <p:cNvSpPr/>
          <p:nvPr/>
        </p:nvSpPr>
        <p:spPr>
          <a:xfrm>
            <a:off x="9633280" y="2835449"/>
            <a:ext cx="1485409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AFDD60-8EA5-40CA-A63F-DDB8DB51D7F6}"/>
              </a:ext>
            </a:extLst>
          </p:cNvPr>
          <p:cNvSpPr/>
          <p:nvPr/>
        </p:nvSpPr>
        <p:spPr>
          <a:xfrm>
            <a:off x="8757622" y="3718439"/>
            <a:ext cx="2361070" cy="22943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7E80F-6A06-49AC-936F-CA911C8C908F}"/>
              </a:ext>
            </a:extLst>
          </p:cNvPr>
          <p:cNvSpPr/>
          <p:nvPr/>
        </p:nvSpPr>
        <p:spPr>
          <a:xfrm>
            <a:off x="8757637" y="3947614"/>
            <a:ext cx="236105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327AD9-3241-4BF2-92A8-DD3BB5E6C13A}"/>
              </a:ext>
            </a:extLst>
          </p:cNvPr>
          <p:cNvSpPr/>
          <p:nvPr/>
        </p:nvSpPr>
        <p:spPr>
          <a:xfrm>
            <a:off x="8974149" y="4157587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547FB-0CD7-41CC-8A6E-6BA059E00C75}"/>
              </a:ext>
            </a:extLst>
          </p:cNvPr>
          <p:cNvSpPr/>
          <p:nvPr/>
        </p:nvSpPr>
        <p:spPr>
          <a:xfrm>
            <a:off x="9633280" y="3130731"/>
            <a:ext cx="1485898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DE617-EE28-41C6-A5D6-9607FF849D64}"/>
              </a:ext>
            </a:extLst>
          </p:cNvPr>
          <p:cNvSpPr/>
          <p:nvPr/>
        </p:nvSpPr>
        <p:spPr>
          <a:xfrm>
            <a:off x="9633280" y="3423157"/>
            <a:ext cx="1485898" cy="31317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E7F994-ACC1-4176-A479-81B6AB89DD5F}"/>
              </a:ext>
            </a:extLst>
          </p:cNvPr>
          <p:cNvSpPr/>
          <p:nvPr/>
        </p:nvSpPr>
        <p:spPr>
          <a:xfrm>
            <a:off x="8974137" y="4363124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E037EF-E770-481C-B11B-40B5B915E434}"/>
              </a:ext>
            </a:extLst>
          </p:cNvPr>
          <p:cNvSpPr/>
          <p:nvPr/>
        </p:nvSpPr>
        <p:spPr>
          <a:xfrm>
            <a:off x="10033317" y="4570405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64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F1678E-2119-485E-A906-9A7D859BE495}"/>
              </a:ext>
            </a:extLst>
          </p:cNvPr>
          <p:cNvSpPr/>
          <p:nvPr/>
        </p:nvSpPr>
        <p:spPr>
          <a:xfrm>
            <a:off x="10033317" y="4780378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120BB2-6E6E-457B-A1FE-51F5081D0222}"/>
              </a:ext>
            </a:extLst>
          </p:cNvPr>
          <p:cNvSpPr/>
          <p:nvPr/>
        </p:nvSpPr>
        <p:spPr>
          <a:xfrm>
            <a:off x="10033305" y="4985915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A714B9-E2CB-435B-BE2A-7CE0F599184E}"/>
              </a:ext>
            </a:extLst>
          </p:cNvPr>
          <p:cNvSpPr/>
          <p:nvPr/>
        </p:nvSpPr>
        <p:spPr>
          <a:xfrm rot="5400000">
            <a:off x="8364686" y="4550538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6A1A54-D6FB-4713-9FEC-F84B40B0F7DE}"/>
              </a:ext>
            </a:extLst>
          </p:cNvPr>
          <p:cNvSpPr/>
          <p:nvPr/>
        </p:nvSpPr>
        <p:spPr>
          <a:xfrm>
            <a:off x="9010502" y="4570405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77C30A-4C38-4759-9B96-562E18D60716}"/>
              </a:ext>
            </a:extLst>
          </p:cNvPr>
          <p:cNvSpPr/>
          <p:nvPr/>
        </p:nvSpPr>
        <p:spPr>
          <a:xfrm rot="5400000">
            <a:off x="8329047" y="3054882"/>
            <a:ext cx="1110029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3FA437-7E71-453F-AEB2-8E855A62617C}"/>
              </a:ext>
            </a:extLst>
          </p:cNvPr>
          <p:cNvSpPr/>
          <p:nvPr/>
        </p:nvSpPr>
        <p:spPr>
          <a:xfrm>
            <a:off x="9009346" y="2835450"/>
            <a:ext cx="631066" cy="9008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6626738" y="2682774"/>
            <a:ext cx="1832065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6626738" y="3193961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6626737" y="3404156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6626733" y="3614129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6626736" y="3824324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6626738" y="423853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6626737" y="4854170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6626737" y="506414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6626736" y="5274338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6626736" y="5484052"/>
            <a:ext cx="1832065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6626735" y="5800614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6626735" y="6014132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6626733" y="4658644"/>
            <a:ext cx="1832065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6626732" y="4441798"/>
            <a:ext cx="1832065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881BA68-DB0B-419E-B4F4-FD6A7292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833" y="-86213"/>
            <a:ext cx="10515600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allocate_slab</a:t>
            </a:r>
            <a:r>
              <a:rPr lang="en-US" dirty="0"/>
              <a:t>() – </a:t>
            </a:r>
            <a:r>
              <a:rPr lang="en-US" dirty="0" err="1"/>
              <a:t>freelist</a:t>
            </a:r>
            <a:r>
              <a:rPr lang="en-US" dirty="0"/>
              <a:t>/</a:t>
            </a:r>
            <a:r>
              <a:rPr lang="en-US" dirty="0" err="1"/>
              <a:t>freepointer</a:t>
            </a:r>
            <a:r>
              <a:rPr lang="en-US" dirty="0"/>
              <a:t> configuration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658C559-841A-4584-BD9B-03766B5F7A68}"/>
              </a:ext>
            </a:extLst>
          </p:cNvPr>
          <p:cNvCxnSpPr>
            <a:cxnSpLocks/>
            <a:stCxn id="7" idx="1"/>
            <a:endCxn id="23" idx="3"/>
          </p:cNvCxnSpPr>
          <p:nvPr/>
        </p:nvCxnSpPr>
        <p:spPr>
          <a:xfrm rot="10800000">
            <a:off x="8458804" y="2941762"/>
            <a:ext cx="298819" cy="89139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6626732" y="4032755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34611953-23CD-4F6C-9AB2-3E41BB715897}"/>
              </a:ext>
            </a:extLst>
          </p:cNvPr>
          <p:cNvCxnSpPr>
            <a:cxnSpLocks/>
            <a:stCxn id="8" idx="3"/>
            <a:endCxn id="70" idx="3"/>
          </p:cNvCxnSpPr>
          <p:nvPr/>
        </p:nvCxnSpPr>
        <p:spPr>
          <a:xfrm flipV="1">
            <a:off x="11118689" y="3443619"/>
            <a:ext cx="263738" cy="60922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0290E1D-A90D-427C-8275-D9B4365C3EEE}"/>
              </a:ext>
            </a:extLst>
          </p:cNvPr>
          <p:cNvGrpSpPr/>
          <p:nvPr/>
        </p:nvGrpSpPr>
        <p:grpSpPr>
          <a:xfrm>
            <a:off x="11290073" y="2410800"/>
            <a:ext cx="735393" cy="1033756"/>
            <a:chOff x="6225618" y="900759"/>
            <a:chExt cx="735393" cy="1033756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23551F5-2BB2-4B33-8E39-0602547478DE}"/>
                </a:ext>
              </a:extLst>
            </p:cNvPr>
            <p:cNvSpPr/>
            <p:nvPr/>
          </p:nvSpPr>
          <p:spPr>
            <a:xfrm>
              <a:off x="6225618" y="973739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3DE60EE-B23C-4118-A13E-B7176241172D}"/>
                </a:ext>
              </a:extLst>
            </p:cNvPr>
            <p:cNvSpPr/>
            <p:nvPr/>
          </p:nvSpPr>
          <p:spPr>
            <a:xfrm rot="5400000">
              <a:off x="5933372" y="145662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F63CB9B-E287-4AC1-B25C-087B4C89836B}"/>
                </a:ext>
              </a:extLst>
            </p:cNvPr>
            <p:cNvSpPr/>
            <p:nvPr/>
          </p:nvSpPr>
          <p:spPr>
            <a:xfrm rot="5400000">
              <a:off x="6121625" y="1456625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69886C8-078B-47AD-8AF9-ADC0A2F23588}"/>
                </a:ext>
              </a:extLst>
            </p:cNvPr>
            <p:cNvSpPr txBox="1"/>
            <p:nvPr/>
          </p:nvSpPr>
          <p:spPr>
            <a:xfrm>
              <a:off x="6548308" y="1299474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AA5F944-2646-4759-8C02-A7536AE79012}"/>
                </a:ext>
              </a:extLst>
            </p:cNvPr>
            <p:cNvSpPr/>
            <p:nvPr/>
          </p:nvSpPr>
          <p:spPr>
            <a:xfrm rot="5400000">
              <a:off x="6484057" y="1457561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9041D39-9362-4C52-B362-DF5619E999B9}"/>
                </a:ext>
              </a:extLst>
            </p:cNvPr>
            <p:cNvSpPr txBox="1"/>
            <p:nvPr/>
          </p:nvSpPr>
          <p:spPr>
            <a:xfrm>
              <a:off x="6327497" y="900759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E79DF917-BA88-4840-87AC-3AB3E76B2A04}"/>
              </a:ext>
            </a:extLst>
          </p:cNvPr>
          <p:cNvSpPr txBox="1"/>
          <p:nvPr/>
        </p:nvSpPr>
        <p:spPr>
          <a:xfrm>
            <a:off x="6558020" y="2352868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FB17488-7686-4CF8-9926-588F03B4EE13}"/>
              </a:ext>
            </a:extLst>
          </p:cNvPr>
          <p:cNvSpPr txBox="1"/>
          <p:nvPr/>
        </p:nvSpPr>
        <p:spPr>
          <a:xfrm>
            <a:off x="6738995" y="2092470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B08F6B0-EC2C-4454-BD09-6FA4657CCB0E}"/>
              </a:ext>
            </a:extLst>
          </p:cNvPr>
          <p:cNvCxnSpPr>
            <a:cxnSpLocks/>
            <a:stCxn id="23" idx="1"/>
            <a:endCxn id="82" idx="1"/>
          </p:cNvCxnSpPr>
          <p:nvPr/>
        </p:nvCxnSpPr>
        <p:spPr>
          <a:xfrm rot="10800000">
            <a:off x="6558020" y="2460590"/>
            <a:ext cx="68718" cy="481172"/>
          </a:xfrm>
          <a:prstGeom prst="bentConnector3">
            <a:avLst>
              <a:gd name="adj1" fmla="val 43266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40">
            <a:extLst>
              <a:ext uri="{FF2B5EF4-FFF2-40B4-BE49-F238E27FC236}">
                <a16:creationId xmlns:a16="http://schemas.microsoft.com/office/drawing/2014/main" id="{C614BDDB-D7E0-4EA1-9BE9-64E85F60AE85}"/>
              </a:ext>
            </a:extLst>
          </p:cNvPr>
          <p:cNvSpPr/>
          <p:nvPr/>
        </p:nvSpPr>
        <p:spPr>
          <a:xfrm>
            <a:off x="2269392" y="6408921"/>
            <a:ext cx="8084283" cy="41097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</a:rPr>
              <a:t>Reference functions: </a:t>
            </a:r>
            <a:r>
              <a:rPr lang="en-US" sz="2800" b="1" dirty="0" err="1">
                <a:solidFill>
                  <a:schemeClr val="tx1"/>
                </a:solidFill>
              </a:rPr>
              <a:t>get_freepointer</a:t>
            </a:r>
            <a:r>
              <a:rPr lang="en-US" sz="2800" b="1" dirty="0">
                <a:solidFill>
                  <a:schemeClr val="tx1"/>
                </a:solidFill>
              </a:rPr>
              <a:t>/</a:t>
            </a:r>
            <a:r>
              <a:rPr lang="en-US" sz="2800" b="1" dirty="0" err="1">
                <a:solidFill>
                  <a:schemeClr val="tx1"/>
                </a:solidFill>
              </a:rPr>
              <a:t>set_freepointer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CC9430-6680-4BB9-AC84-717E40907BE3}"/>
              </a:ext>
            </a:extLst>
          </p:cNvPr>
          <p:cNvSpPr/>
          <p:nvPr/>
        </p:nvSpPr>
        <p:spPr>
          <a:xfrm>
            <a:off x="6257018" y="1948035"/>
            <a:ext cx="5856425" cy="434799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758E155-4697-4B2B-B4A8-7778D4E363A2}"/>
              </a:ext>
            </a:extLst>
          </p:cNvPr>
          <p:cNvSpPr/>
          <p:nvPr/>
        </p:nvSpPr>
        <p:spPr>
          <a:xfrm>
            <a:off x="3186267" y="1420081"/>
            <a:ext cx="1076322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allocate_slab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959A6EB-78D0-447C-8800-38CE0AE21F48}"/>
              </a:ext>
            </a:extLst>
          </p:cNvPr>
          <p:cNvSpPr/>
          <p:nvPr/>
        </p:nvSpPr>
        <p:spPr>
          <a:xfrm>
            <a:off x="1398277" y="1003645"/>
            <a:ext cx="303428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= </a:t>
            </a:r>
            <a:r>
              <a:rPr lang="en-US" sz="1400" dirty="0" err="1">
                <a:solidFill>
                  <a:schemeClr val="tx1"/>
                </a:solidFill>
              </a:rPr>
              <a:t>new_slab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1D365EB-29FD-4A91-8A35-33A4A03E81EA}"/>
              </a:ext>
            </a:extLst>
          </p:cNvPr>
          <p:cNvSpPr/>
          <p:nvPr/>
        </p:nvSpPr>
        <p:spPr>
          <a:xfrm>
            <a:off x="18853" y="583188"/>
            <a:ext cx="2422983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early_kmem_cache_node_alloc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14B9793-3349-46DB-B77D-C9FBB2160338}"/>
              </a:ext>
            </a:extLst>
          </p:cNvPr>
          <p:cNvSpPr/>
          <p:nvPr/>
        </p:nvSpPr>
        <p:spPr>
          <a:xfrm>
            <a:off x="4043514" y="1796163"/>
            <a:ext cx="187651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= </a:t>
            </a:r>
            <a:r>
              <a:rPr lang="en-US" sz="1400" dirty="0" err="1">
                <a:solidFill>
                  <a:schemeClr val="tx1"/>
                </a:solidFill>
              </a:rPr>
              <a:t>alloc_slab_page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2F729E5-B0D2-44EC-91E4-3047D39D716C}"/>
              </a:ext>
            </a:extLst>
          </p:cNvPr>
          <p:cNvSpPr/>
          <p:nvPr/>
        </p:nvSpPr>
        <p:spPr>
          <a:xfrm>
            <a:off x="4043514" y="2158847"/>
            <a:ext cx="187651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page-&gt;</a:t>
            </a:r>
            <a:r>
              <a:rPr lang="en-US" sz="1400" dirty="0" err="1">
                <a:solidFill>
                  <a:schemeClr val="tx1"/>
                </a:solidFill>
              </a:rPr>
              <a:t>slab_cache</a:t>
            </a:r>
            <a:r>
              <a:rPr lang="en-US" sz="1400" dirty="0">
                <a:solidFill>
                  <a:schemeClr val="tx1"/>
                </a:solidFill>
              </a:rPr>
              <a:t> = 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80F128F-F43E-4CDF-8E32-5B31343E651A}"/>
              </a:ext>
            </a:extLst>
          </p:cNvPr>
          <p:cNvSpPr/>
          <p:nvPr/>
        </p:nvSpPr>
        <p:spPr>
          <a:xfrm>
            <a:off x="4043514" y="2521744"/>
            <a:ext cx="1876519" cy="4467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Update </a:t>
            </a:r>
            <a:r>
              <a:rPr lang="en-US" sz="1400" dirty="0" err="1">
                <a:solidFill>
                  <a:schemeClr val="tx1"/>
                </a:solidFill>
              </a:rPr>
              <a:t>freepointers</a:t>
            </a:r>
            <a:r>
              <a:rPr lang="en-US" sz="1400" dirty="0">
                <a:solidFill>
                  <a:schemeClr val="tx1"/>
                </a:solidFill>
              </a:rPr>
              <a:t> for the allocated pages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A38547D-04F5-4EFF-901E-E237E8E628A3}"/>
              </a:ext>
            </a:extLst>
          </p:cNvPr>
          <p:cNvSpPr/>
          <p:nvPr/>
        </p:nvSpPr>
        <p:spPr>
          <a:xfrm>
            <a:off x="1380704" y="3106264"/>
            <a:ext cx="3034285" cy="2752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 = page-&gt;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891656E-0800-48DF-85EF-49F4B304409B}"/>
              </a:ext>
            </a:extLst>
          </p:cNvPr>
          <p:cNvSpPr/>
          <p:nvPr/>
        </p:nvSpPr>
        <p:spPr>
          <a:xfrm>
            <a:off x="1380704" y="4044628"/>
            <a:ext cx="3034285" cy="2740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kmem_cache_node-&gt;node[node] = </a:t>
            </a:r>
            <a:r>
              <a:rPr lang="en-US" sz="1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03DB9DE-95E8-40DA-AFF2-2224F32AB273}"/>
              </a:ext>
            </a:extLst>
          </p:cNvPr>
          <p:cNvSpPr/>
          <p:nvPr/>
        </p:nvSpPr>
        <p:spPr>
          <a:xfrm>
            <a:off x="1380704" y="3476792"/>
            <a:ext cx="3034285" cy="4467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r>
              <a:rPr lang="en-US" sz="1400" dirty="0">
                <a:solidFill>
                  <a:schemeClr val="tx1"/>
                </a:solidFill>
              </a:rPr>
              <a:t> = </a:t>
            </a:r>
            <a:r>
              <a:rPr lang="en-US" sz="1400" dirty="0" err="1">
                <a:solidFill>
                  <a:schemeClr val="tx1"/>
                </a:solidFill>
              </a:rPr>
              <a:t>get_freepointer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, n)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78D5B75-479A-4BCE-AA2D-D7D985D43F47}"/>
              </a:ext>
            </a:extLst>
          </p:cNvPr>
          <p:cNvSpPr/>
          <p:nvPr/>
        </p:nvSpPr>
        <p:spPr>
          <a:xfrm>
            <a:off x="1380704" y="4489755"/>
            <a:ext cx="3034285" cy="2740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init_kmem_cache_node(n)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C37CDDB5-92CC-4CB7-8D51-1DFF5746DBBB}"/>
              </a:ext>
            </a:extLst>
          </p:cNvPr>
          <p:cNvCxnSpPr>
            <a:cxnSpLocks/>
            <a:stCxn id="87" idx="2"/>
            <a:endCxn id="86" idx="1"/>
          </p:cNvCxnSpPr>
          <p:nvPr/>
        </p:nvCxnSpPr>
        <p:spPr>
          <a:xfrm rot="16200000" flipH="1">
            <a:off x="1164530" y="890792"/>
            <a:ext cx="299563" cy="16793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5E4CD29C-615E-4817-9A03-C955B8280630}"/>
              </a:ext>
            </a:extLst>
          </p:cNvPr>
          <p:cNvCxnSpPr>
            <a:stCxn id="86" idx="2"/>
            <a:endCxn id="85" idx="1"/>
          </p:cNvCxnSpPr>
          <p:nvPr/>
        </p:nvCxnSpPr>
        <p:spPr>
          <a:xfrm rot="16200000" flipH="1">
            <a:off x="2903072" y="1257781"/>
            <a:ext cx="295542" cy="27084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387B7448-B18B-4129-9EA3-99755F4405CD}"/>
              </a:ext>
            </a:extLst>
          </p:cNvPr>
          <p:cNvCxnSpPr>
            <a:cxnSpLocks/>
            <a:stCxn id="85" idx="2"/>
            <a:endCxn id="88" idx="1"/>
          </p:cNvCxnSpPr>
          <p:nvPr/>
        </p:nvCxnSpPr>
        <p:spPr>
          <a:xfrm rot="16200000" flipH="1">
            <a:off x="3756377" y="1629921"/>
            <a:ext cx="255188" cy="31908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43C36E96-AB3A-42E7-A6FF-B765A5FF6863}"/>
              </a:ext>
            </a:extLst>
          </p:cNvPr>
          <p:cNvCxnSpPr>
            <a:cxnSpLocks/>
            <a:stCxn id="85" idx="2"/>
            <a:endCxn id="89" idx="1"/>
          </p:cNvCxnSpPr>
          <p:nvPr/>
        </p:nvCxnSpPr>
        <p:spPr>
          <a:xfrm rot="16200000" flipH="1">
            <a:off x="3575035" y="1811263"/>
            <a:ext cx="617872" cy="31908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D28D4060-B135-44AD-B642-5D76C7DDE2A0}"/>
              </a:ext>
            </a:extLst>
          </p:cNvPr>
          <p:cNvCxnSpPr>
            <a:cxnSpLocks/>
            <a:stCxn id="85" idx="2"/>
            <a:endCxn id="90" idx="1"/>
          </p:cNvCxnSpPr>
          <p:nvPr/>
        </p:nvCxnSpPr>
        <p:spPr>
          <a:xfrm rot="16200000" flipH="1">
            <a:off x="3342352" y="2043946"/>
            <a:ext cx="1083238" cy="31908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07B6D1D5-91E5-4909-9B4F-C2A3B2F0C453}"/>
              </a:ext>
            </a:extLst>
          </p:cNvPr>
          <p:cNvCxnSpPr>
            <a:cxnSpLocks/>
            <a:stCxn id="87" idx="2"/>
            <a:endCxn id="91" idx="1"/>
          </p:cNvCxnSpPr>
          <p:nvPr/>
        </p:nvCxnSpPr>
        <p:spPr>
          <a:xfrm rot="16200000" flipH="1">
            <a:off x="96061" y="1959260"/>
            <a:ext cx="2418926" cy="15035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F6077F2B-D9A7-4958-A4EF-CC6DE795D699}"/>
              </a:ext>
            </a:extLst>
          </p:cNvPr>
          <p:cNvCxnSpPr>
            <a:cxnSpLocks/>
            <a:stCxn id="87" idx="2"/>
            <a:endCxn id="93" idx="1"/>
          </p:cNvCxnSpPr>
          <p:nvPr/>
        </p:nvCxnSpPr>
        <p:spPr>
          <a:xfrm rot="16200000" flipH="1">
            <a:off x="-132065" y="2187386"/>
            <a:ext cx="2875179" cy="15035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34AC1BF6-D369-48D7-B7F5-23B3654A9D4C}"/>
              </a:ext>
            </a:extLst>
          </p:cNvPr>
          <p:cNvCxnSpPr>
            <a:cxnSpLocks/>
            <a:stCxn id="87" idx="2"/>
            <a:endCxn id="92" idx="1"/>
          </p:cNvCxnSpPr>
          <p:nvPr/>
        </p:nvCxnSpPr>
        <p:spPr>
          <a:xfrm rot="16200000" flipH="1">
            <a:off x="-372808" y="2428129"/>
            <a:ext cx="3356665" cy="15035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1A627A26-9D64-4DCC-A8DF-9015E99E9ED8}"/>
              </a:ext>
            </a:extLst>
          </p:cNvPr>
          <p:cNvCxnSpPr>
            <a:cxnSpLocks/>
            <a:stCxn id="87" idx="2"/>
            <a:endCxn id="94" idx="1"/>
          </p:cNvCxnSpPr>
          <p:nvPr/>
        </p:nvCxnSpPr>
        <p:spPr>
          <a:xfrm rot="16200000" flipH="1">
            <a:off x="-595372" y="2650693"/>
            <a:ext cx="3801792" cy="15035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46BBC30-FC84-4678-AC05-DE3F9AA572BC}"/>
              </a:ext>
            </a:extLst>
          </p:cNvPr>
          <p:cNvSpPr/>
          <p:nvPr/>
        </p:nvSpPr>
        <p:spPr>
          <a:xfrm>
            <a:off x="1380703" y="5210895"/>
            <a:ext cx="3034285" cy="2460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add_partial</a:t>
            </a:r>
            <a:r>
              <a:rPr lang="en-US" sz="1200" dirty="0">
                <a:solidFill>
                  <a:schemeClr val="tx1"/>
                </a:solidFill>
              </a:rPr>
              <a:t>(n, page, DEACTIVATE_TO_HEAD)</a:t>
            </a:r>
          </a:p>
        </p:txBody>
      </p: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C352FBDD-1CFF-4B33-B838-5B01BD3BAE73}"/>
              </a:ext>
            </a:extLst>
          </p:cNvPr>
          <p:cNvCxnSpPr>
            <a:cxnSpLocks/>
            <a:stCxn id="87" idx="2"/>
            <a:endCxn id="104" idx="1"/>
          </p:cNvCxnSpPr>
          <p:nvPr/>
        </p:nvCxnSpPr>
        <p:spPr>
          <a:xfrm rot="16200000" flipH="1">
            <a:off x="-948953" y="3004275"/>
            <a:ext cx="4508955" cy="15035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7F775F9-E838-47EF-B2B7-7A7EDDCAD254}"/>
              </a:ext>
            </a:extLst>
          </p:cNvPr>
          <p:cNvSpPr/>
          <p:nvPr/>
        </p:nvSpPr>
        <p:spPr>
          <a:xfrm>
            <a:off x="1380702" y="4856771"/>
            <a:ext cx="3034285" cy="2740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inc_slabs_node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A23C6741-868F-456F-98A9-A8FBCAB6F7D4}"/>
              </a:ext>
            </a:extLst>
          </p:cNvPr>
          <p:cNvCxnSpPr>
            <a:cxnSpLocks/>
            <a:stCxn id="87" idx="2"/>
            <a:endCxn id="106" idx="1"/>
          </p:cNvCxnSpPr>
          <p:nvPr/>
        </p:nvCxnSpPr>
        <p:spPr>
          <a:xfrm rot="16200000" flipH="1">
            <a:off x="-778881" y="2834202"/>
            <a:ext cx="4168808" cy="15035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6087311-D4CA-49DD-A690-60042BE2C609}"/>
              </a:ext>
            </a:extLst>
          </p:cNvPr>
          <p:cNvSpPr/>
          <p:nvPr/>
        </p:nvSpPr>
        <p:spPr>
          <a:xfrm>
            <a:off x="3851737" y="1674026"/>
            <a:ext cx="2160299" cy="135214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6F249D2-B013-497F-95FB-F5073BAEE02D}"/>
              </a:ext>
            </a:extLst>
          </p:cNvPr>
          <p:cNvSpPr/>
          <p:nvPr/>
        </p:nvSpPr>
        <p:spPr>
          <a:xfrm>
            <a:off x="11434713" y="3431357"/>
            <a:ext cx="94268" cy="132096"/>
          </a:xfrm>
          <a:custGeom>
            <a:avLst/>
            <a:gdLst>
              <a:gd name="connsiteX0" fmla="*/ 0 w 94268"/>
              <a:gd name="connsiteY0" fmla="*/ 18853 h 132096"/>
              <a:gd name="connsiteX1" fmla="*/ 75415 w 94268"/>
              <a:gd name="connsiteY1" fmla="*/ 131975 h 132096"/>
              <a:gd name="connsiteX2" fmla="*/ 94268 w 94268"/>
              <a:gd name="connsiteY2" fmla="*/ 0 h 132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268" h="132096">
                <a:moveTo>
                  <a:pt x="0" y="18853"/>
                </a:moveTo>
                <a:cubicBezTo>
                  <a:pt x="29852" y="76985"/>
                  <a:pt x="59704" y="135117"/>
                  <a:pt x="75415" y="131975"/>
                </a:cubicBezTo>
                <a:cubicBezTo>
                  <a:pt x="91126" y="128833"/>
                  <a:pt x="92697" y="64416"/>
                  <a:pt x="94268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B331D124-0C90-4F95-A300-2829D5452374}"/>
              </a:ext>
            </a:extLst>
          </p:cNvPr>
          <p:cNvSpPr/>
          <p:nvPr/>
        </p:nvSpPr>
        <p:spPr>
          <a:xfrm>
            <a:off x="11606204" y="3432683"/>
            <a:ext cx="94268" cy="132096"/>
          </a:xfrm>
          <a:custGeom>
            <a:avLst/>
            <a:gdLst>
              <a:gd name="connsiteX0" fmla="*/ 0 w 94268"/>
              <a:gd name="connsiteY0" fmla="*/ 18853 h 132096"/>
              <a:gd name="connsiteX1" fmla="*/ 75415 w 94268"/>
              <a:gd name="connsiteY1" fmla="*/ 131975 h 132096"/>
              <a:gd name="connsiteX2" fmla="*/ 94268 w 94268"/>
              <a:gd name="connsiteY2" fmla="*/ 0 h 132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268" h="132096">
                <a:moveTo>
                  <a:pt x="0" y="18853"/>
                </a:moveTo>
                <a:cubicBezTo>
                  <a:pt x="29852" y="76985"/>
                  <a:pt x="59704" y="135117"/>
                  <a:pt x="75415" y="131975"/>
                </a:cubicBezTo>
                <a:cubicBezTo>
                  <a:pt x="91126" y="128833"/>
                  <a:pt x="92697" y="64416"/>
                  <a:pt x="94268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39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9A2184-9802-432A-BF50-5F7DE934934E}"/>
              </a:ext>
            </a:extLst>
          </p:cNvPr>
          <p:cNvSpPr/>
          <p:nvPr/>
        </p:nvSpPr>
        <p:spPr>
          <a:xfrm>
            <a:off x="3121666" y="1040552"/>
            <a:ext cx="2361068" cy="2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78321-F576-4013-A455-F1352B369403}"/>
              </a:ext>
            </a:extLst>
          </p:cNvPr>
          <p:cNvSpPr/>
          <p:nvPr/>
        </p:nvSpPr>
        <p:spPr>
          <a:xfrm>
            <a:off x="3373879" y="1278188"/>
            <a:ext cx="210885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4BF9B-B459-43B0-9839-872DD96B9C20}"/>
              </a:ext>
            </a:extLst>
          </p:cNvPr>
          <p:cNvSpPr/>
          <p:nvPr/>
        </p:nvSpPr>
        <p:spPr>
          <a:xfrm>
            <a:off x="3997325" y="1487333"/>
            <a:ext cx="1485409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AFDD60-8EA5-40CA-A63F-DDB8DB51D7F6}"/>
              </a:ext>
            </a:extLst>
          </p:cNvPr>
          <p:cNvSpPr/>
          <p:nvPr/>
        </p:nvSpPr>
        <p:spPr>
          <a:xfrm>
            <a:off x="3121667" y="2389303"/>
            <a:ext cx="236107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7E80F-6A06-49AC-936F-CA911C8C908F}"/>
              </a:ext>
            </a:extLst>
          </p:cNvPr>
          <p:cNvSpPr/>
          <p:nvPr/>
        </p:nvSpPr>
        <p:spPr>
          <a:xfrm>
            <a:off x="3121682" y="2599498"/>
            <a:ext cx="236105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327AD9-3241-4BF2-92A8-DD3BB5E6C13A}"/>
              </a:ext>
            </a:extLst>
          </p:cNvPr>
          <p:cNvSpPr/>
          <p:nvPr/>
        </p:nvSpPr>
        <p:spPr>
          <a:xfrm>
            <a:off x="3338194" y="2809471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547FB-0CD7-41CC-8A6E-6BA059E00C75}"/>
              </a:ext>
            </a:extLst>
          </p:cNvPr>
          <p:cNvSpPr/>
          <p:nvPr/>
        </p:nvSpPr>
        <p:spPr>
          <a:xfrm>
            <a:off x="3997325" y="1782615"/>
            <a:ext cx="1485898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DE617-EE28-41C6-A5D6-9607FF849D64}"/>
              </a:ext>
            </a:extLst>
          </p:cNvPr>
          <p:cNvSpPr/>
          <p:nvPr/>
        </p:nvSpPr>
        <p:spPr>
          <a:xfrm>
            <a:off x="3997325" y="2075041"/>
            <a:ext cx="1485898" cy="31321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E7F994-ACC1-4176-A479-81B6AB89DD5F}"/>
              </a:ext>
            </a:extLst>
          </p:cNvPr>
          <p:cNvSpPr/>
          <p:nvPr/>
        </p:nvSpPr>
        <p:spPr>
          <a:xfrm>
            <a:off x="3338182" y="3015008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E037EF-E770-481C-B11B-40B5B915E434}"/>
              </a:ext>
            </a:extLst>
          </p:cNvPr>
          <p:cNvSpPr/>
          <p:nvPr/>
        </p:nvSpPr>
        <p:spPr>
          <a:xfrm>
            <a:off x="4397362" y="3222289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64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F1678E-2119-485E-A906-9A7D859BE495}"/>
              </a:ext>
            </a:extLst>
          </p:cNvPr>
          <p:cNvSpPr/>
          <p:nvPr/>
        </p:nvSpPr>
        <p:spPr>
          <a:xfrm>
            <a:off x="4397362" y="3432262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120BB2-6E6E-457B-A1FE-51F5081D0222}"/>
              </a:ext>
            </a:extLst>
          </p:cNvPr>
          <p:cNvSpPr/>
          <p:nvPr/>
        </p:nvSpPr>
        <p:spPr>
          <a:xfrm>
            <a:off x="4397350" y="3637799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A714B9-E2CB-435B-BE2A-7CE0F599184E}"/>
              </a:ext>
            </a:extLst>
          </p:cNvPr>
          <p:cNvSpPr/>
          <p:nvPr/>
        </p:nvSpPr>
        <p:spPr>
          <a:xfrm rot="5400000">
            <a:off x="2728731" y="3202422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6A1A54-D6FB-4713-9FEC-F84B40B0F7DE}"/>
              </a:ext>
            </a:extLst>
          </p:cNvPr>
          <p:cNvSpPr/>
          <p:nvPr/>
        </p:nvSpPr>
        <p:spPr>
          <a:xfrm>
            <a:off x="3374547" y="3222289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77C30A-4C38-4759-9B96-562E18D60716}"/>
              </a:ext>
            </a:extLst>
          </p:cNvPr>
          <p:cNvSpPr/>
          <p:nvPr/>
        </p:nvSpPr>
        <p:spPr>
          <a:xfrm rot="5400000">
            <a:off x="2692549" y="1707308"/>
            <a:ext cx="1111115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3FA437-7E71-453F-AEB2-8E855A62617C}"/>
              </a:ext>
            </a:extLst>
          </p:cNvPr>
          <p:cNvSpPr/>
          <p:nvPr/>
        </p:nvSpPr>
        <p:spPr>
          <a:xfrm>
            <a:off x="3373391" y="1487333"/>
            <a:ext cx="631066" cy="9009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</a:t>
            </a:r>
            <a:r>
              <a:rPr lang="en-US" sz="1200" b="1" dirty="0" err="1">
                <a:solidFill>
                  <a:schemeClr val="tx1"/>
                </a:solidFill>
              </a:rPr>
              <a:t>Percpu</a:t>
            </a:r>
            <a:r>
              <a:rPr lang="en-US" sz="1200" b="1" dirty="0">
                <a:solidFill>
                  <a:schemeClr val="tx1"/>
                </a:solidFill>
              </a:rPr>
              <a:t> 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600258" y="1334658"/>
            <a:ext cx="1832065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600258" y="1845845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600257" y="2056040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600253" y="226601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600256" y="2476208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600258" y="2890417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600257" y="3506054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600257" y="3716027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600256" y="3926222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600256" y="4135936"/>
            <a:ext cx="1832065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600255" y="4452498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600255" y="4666016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600253" y="3310528"/>
            <a:ext cx="1832065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600252" y="3093682"/>
            <a:ext cx="1832065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881BA68-DB0B-419E-B4F4-FD6A7292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66187"/>
            <a:ext cx="10515600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allocate_slab</a:t>
            </a:r>
            <a:r>
              <a:rPr lang="en-US" dirty="0"/>
              <a:t>() – </a:t>
            </a:r>
            <a:r>
              <a:rPr lang="en-US" dirty="0" err="1"/>
              <a:t>freelist</a:t>
            </a:r>
            <a:r>
              <a:rPr lang="en-US" dirty="0"/>
              <a:t>/</a:t>
            </a:r>
            <a:r>
              <a:rPr lang="en-US" dirty="0" err="1"/>
              <a:t>freepointer</a:t>
            </a:r>
            <a:r>
              <a:rPr lang="en-US" dirty="0"/>
              <a:t> configuration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658C559-841A-4584-BD9B-03766B5F7A68}"/>
              </a:ext>
            </a:extLst>
          </p:cNvPr>
          <p:cNvCxnSpPr>
            <a:stCxn id="7" idx="1"/>
            <a:endCxn id="23" idx="3"/>
          </p:cNvCxnSpPr>
          <p:nvPr/>
        </p:nvCxnSpPr>
        <p:spPr>
          <a:xfrm rot="10800000">
            <a:off x="2432323" y="1593646"/>
            <a:ext cx="689344" cy="90088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600252" y="2684639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23551F5-2BB2-4B33-8E39-0602547478DE}"/>
              </a:ext>
            </a:extLst>
          </p:cNvPr>
          <p:cNvSpPr/>
          <p:nvPr/>
        </p:nvSpPr>
        <p:spPr>
          <a:xfrm>
            <a:off x="5821758" y="1135664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34611953-23CD-4F6C-9AB2-3E41BB715897}"/>
              </a:ext>
            </a:extLst>
          </p:cNvPr>
          <p:cNvCxnSpPr>
            <a:cxnSpLocks/>
            <a:stCxn id="8" idx="3"/>
            <a:endCxn id="70" idx="3"/>
          </p:cNvCxnSpPr>
          <p:nvPr/>
        </p:nvCxnSpPr>
        <p:spPr>
          <a:xfrm flipV="1">
            <a:off x="5482734" y="2095503"/>
            <a:ext cx="431378" cy="60922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C3DE60EE-B23C-4118-A13E-B7176241172D}"/>
              </a:ext>
            </a:extLst>
          </p:cNvPr>
          <p:cNvSpPr/>
          <p:nvPr/>
        </p:nvSpPr>
        <p:spPr>
          <a:xfrm rot="5400000">
            <a:off x="5529512" y="161854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F63CB9B-E287-4AC1-B25C-087B4C89836B}"/>
              </a:ext>
            </a:extLst>
          </p:cNvPr>
          <p:cNvSpPr/>
          <p:nvPr/>
        </p:nvSpPr>
        <p:spPr>
          <a:xfrm rot="5400000">
            <a:off x="5717765" y="1618550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69886C8-078B-47AD-8AF9-ADC0A2F23588}"/>
              </a:ext>
            </a:extLst>
          </p:cNvPr>
          <p:cNvSpPr txBox="1"/>
          <p:nvPr/>
        </p:nvSpPr>
        <p:spPr>
          <a:xfrm>
            <a:off x="6144448" y="1461399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AA5F944-2646-4759-8C02-A7536AE79012}"/>
              </a:ext>
            </a:extLst>
          </p:cNvPr>
          <p:cNvSpPr/>
          <p:nvPr/>
        </p:nvSpPr>
        <p:spPr>
          <a:xfrm rot="5400000">
            <a:off x="6080197" y="161948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9041D39-9362-4C52-B362-DF5619E999B9}"/>
              </a:ext>
            </a:extLst>
          </p:cNvPr>
          <p:cNvSpPr txBox="1"/>
          <p:nvPr/>
        </p:nvSpPr>
        <p:spPr>
          <a:xfrm>
            <a:off x="5923637" y="1062684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965E6D7-518B-4B70-8851-41D455945A78}"/>
              </a:ext>
            </a:extLst>
          </p:cNvPr>
          <p:cNvGrpSpPr/>
          <p:nvPr/>
        </p:nvGrpSpPr>
        <p:grpSpPr>
          <a:xfrm>
            <a:off x="6253438" y="2252675"/>
            <a:ext cx="5258321" cy="2801015"/>
            <a:chOff x="6926065" y="1808709"/>
            <a:chExt cx="5258321" cy="2801015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1C23638-3C67-47EF-AC37-C9C8634FB068}"/>
                </a:ext>
              </a:extLst>
            </p:cNvPr>
            <p:cNvSpPr/>
            <p:nvPr/>
          </p:nvSpPr>
          <p:spPr>
            <a:xfrm>
              <a:off x="8582581" y="1898433"/>
              <a:ext cx="2094214" cy="200442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B486FB8-1036-41B7-BBFF-B6513D3CDD4C}"/>
                </a:ext>
              </a:extLst>
            </p:cNvPr>
            <p:cNvSpPr txBox="1"/>
            <p:nvPr/>
          </p:nvSpPr>
          <p:spPr>
            <a:xfrm>
              <a:off x="8963757" y="3861956"/>
              <a:ext cx="20942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 address = X</a:t>
              </a:r>
              <a:endParaRPr lang="en-US" sz="1200" b="1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79E039F-F0EC-4643-8008-374D49685C4D}"/>
                </a:ext>
              </a:extLst>
            </p:cNvPr>
            <p:cNvSpPr/>
            <p:nvPr/>
          </p:nvSpPr>
          <p:spPr>
            <a:xfrm>
              <a:off x="8582580" y="3464375"/>
              <a:ext cx="2094214" cy="438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3E92B8-FA31-4E53-A70D-343CC8422CD0}"/>
                </a:ext>
              </a:extLst>
            </p:cNvPr>
            <p:cNvSpPr txBox="1"/>
            <p:nvPr/>
          </p:nvSpPr>
          <p:spPr>
            <a:xfrm>
              <a:off x="8353699" y="3793606"/>
              <a:ext cx="3298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X</a:t>
              </a:r>
              <a:endParaRPr lang="en-US" sz="11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815C373-540C-4C29-ABE4-2C1778A16489}"/>
                </a:ext>
              </a:extLst>
            </p:cNvPr>
            <p:cNvSpPr txBox="1"/>
            <p:nvPr/>
          </p:nvSpPr>
          <p:spPr>
            <a:xfrm>
              <a:off x="7045017" y="3264630"/>
              <a:ext cx="16568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X + </a:t>
              </a:r>
              <a:r>
                <a:rPr lang="en-US" sz="1200" b="1" dirty="0" err="1"/>
                <a:t>kmem_cache</a:t>
              </a:r>
              <a:r>
                <a:rPr lang="en-US" sz="1200" b="1" dirty="0"/>
                <a:t>-&gt;size</a:t>
              </a:r>
              <a:endParaRPr lang="en-US" sz="1100" b="1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01AE400-7D60-4062-9ADB-4FF5C91AEFFD}"/>
                </a:ext>
              </a:extLst>
            </p:cNvPr>
            <p:cNvSpPr/>
            <p:nvPr/>
          </p:nvSpPr>
          <p:spPr>
            <a:xfrm>
              <a:off x="8582578" y="3592926"/>
              <a:ext cx="1428287" cy="1982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</a:rPr>
                <a:t>X + </a:t>
              </a:r>
              <a:r>
                <a:rPr lang="en-US" sz="1100" b="1" dirty="0" err="1">
                  <a:solidFill>
                    <a:schemeClr val="tx1"/>
                  </a:solidFill>
                </a:rPr>
                <a:t>kmem_cache</a:t>
              </a:r>
              <a:r>
                <a:rPr lang="en-US" sz="1100" b="1" dirty="0">
                  <a:solidFill>
                    <a:schemeClr val="tx1"/>
                  </a:solidFill>
                </a:rPr>
                <a:t>-&gt;size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B11981D-E67D-4B65-BD40-985C01EF53ED}"/>
                </a:ext>
              </a:extLst>
            </p:cNvPr>
            <p:cNvSpPr txBox="1"/>
            <p:nvPr/>
          </p:nvSpPr>
          <p:spPr>
            <a:xfrm>
              <a:off x="9763037" y="3396501"/>
              <a:ext cx="9717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slab object #0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EA36C27-39C9-4267-B654-072558CBBF64}"/>
                </a:ext>
              </a:extLst>
            </p:cNvPr>
            <p:cNvSpPr/>
            <p:nvPr/>
          </p:nvSpPr>
          <p:spPr>
            <a:xfrm>
              <a:off x="8582578" y="3030649"/>
              <a:ext cx="2094214" cy="438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760EF68-5148-4236-B6A8-2BE93DA6A2C6}"/>
                </a:ext>
              </a:extLst>
            </p:cNvPr>
            <p:cNvSpPr/>
            <p:nvPr/>
          </p:nvSpPr>
          <p:spPr>
            <a:xfrm>
              <a:off x="8582576" y="3149675"/>
              <a:ext cx="1631490" cy="1982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</a:rPr>
                <a:t>X + </a:t>
              </a:r>
              <a:r>
                <a:rPr lang="en-US" sz="1100" b="1" dirty="0" err="1">
                  <a:solidFill>
                    <a:schemeClr val="tx1"/>
                  </a:solidFill>
                </a:rPr>
                <a:t>kmem_cache</a:t>
              </a:r>
              <a:r>
                <a:rPr lang="en-US" sz="1100" b="1" dirty="0">
                  <a:solidFill>
                    <a:schemeClr val="tx1"/>
                  </a:solidFill>
                </a:rPr>
                <a:t>-&gt;size * 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02C5C4C-97A8-41CF-8C95-2ACB24B32732}"/>
                </a:ext>
              </a:extLst>
            </p:cNvPr>
            <p:cNvSpPr txBox="1"/>
            <p:nvPr/>
          </p:nvSpPr>
          <p:spPr>
            <a:xfrm>
              <a:off x="9763035" y="2953250"/>
              <a:ext cx="9717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slab object #1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6A4D623-5B24-473A-B94C-58E6F74BD8CF}"/>
                </a:ext>
              </a:extLst>
            </p:cNvPr>
            <p:cNvSpPr/>
            <p:nvPr/>
          </p:nvSpPr>
          <p:spPr>
            <a:xfrm>
              <a:off x="7362734" y="4301824"/>
              <a:ext cx="247831" cy="1982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endParaRPr 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C129002-7043-4388-9CBA-D063B70AF5C6}"/>
                </a:ext>
              </a:extLst>
            </p:cNvPr>
            <p:cNvSpPr txBox="1"/>
            <p:nvPr/>
          </p:nvSpPr>
          <p:spPr>
            <a:xfrm>
              <a:off x="7629616" y="4178837"/>
              <a:ext cx="396212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/>
                <a:t>freepointer</a:t>
              </a:r>
              <a:r>
                <a:rPr lang="en-US" sz="1100" dirty="0"/>
                <a:t> in slab object: Point to the next slab object</a:t>
              </a:r>
              <a:br>
                <a:rPr lang="en-US" sz="1100" dirty="0"/>
              </a:br>
              <a:r>
                <a:rPr lang="en-US" sz="1100" dirty="0"/>
                <a:t>(address: middle of object </a:t>
              </a:r>
              <a:r>
                <a:rPr lang="en-US" sz="1100" dirty="0">
                  <a:sym typeface="Wingdings" panose="05000000000000000000" pitchFamily="2" charset="2"/>
                </a:rPr>
                <a:t> avoid buffer overflow or underflow</a:t>
              </a:r>
              <a:r>
                <a:rPr lang="en-US" sz="1100" dirty="0"/>
                <a:t>)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E644F88-E7AF-4F9A-AB13-4C77FFB584E9}"/>
                </a:ext>
              </a:extLst>
            </p:cNvPr>
            <p:cNvSpPr/>
            <p:nvPr/>
          </p:nvSpPr>
          <p:spPr>
            <a:xfrm>
              <a:off x="8582578" y="1889283"/>
              <a:ext cx="2094214" cy="438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7494231-AAA7-423A-B75A-0A531C4A795B}"/>
                </a:ext>
              </a:extLst>
            </p:cNvPr>
            <p:cNvSpPr/>
            <p:nvPr/>
          </p:nvSpPr>
          <p:spPr>
            <a:xfrm>
              <a:off x="8582576" y="2017834"/>
              <a:ext cx="1631490" cy="1982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</a:rPr>
                <a:t>NULL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D1AE9DD-F045-44E9-AE4D-B61131A17B5E}"/>
                </a:ext>
              </a:extLst>
            </p:cNvPr>
            <p:cNvSpPr txBox="1"/>
            <p:nvPr/>
          </p:nvSpPr>
          <p:spPr>
            <a:xfrm>
              <a:off x="9637135" y="1808709"/>
              <a:ext cx="11293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slab object #n -1</a:t>
              </a: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72A96C3-5746-4F77-9535-C0DDB80CA871}"/>
                </a:ext>
              </a:extLst>
            </p:cNvPr>
            <p:cNvSpPr/>
            <p:nvPr/>
          </p:nvSpPr>
          <p:spPr>
            <a:xfrm>
              <a:off x="10010866" y="3245630"/>
              <a:ext cx="915182" cy="494233"/>
            </a:xfrm>
            <a:custGeom>
              <a:avLst/>
              <a:gdLst>
                <a:gd name="connsiteX0" fmla="*/ 0 w 915182"/>
                <a:gd name="connsiteY0" fmla="*/ 450850 h 494233"/>
                <a:gd name="connsiteX1" fmla="*/ 876300 w 915182"/>
                <a:gd name="connsiteY1" fmla="*/ 450850 h 494233"/>
                <a:gd name="connsiteX2" fmla="*/ 679450 w 915182"/>
                <a:gd name="connsiteY2" fmla="*/ 0 h 494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15182" h="494233">
                  <a:moveTo>
                    <a:pt x="0" y="450850"/>
                  </a:moveTo>
                  <a:cubicBezTo>
                    <a:pt x="381529" y="488421"/>
                    <a:pt x="763058" y="525992"/>
                    <a:pt x="876300" y="450850"/>
                  </a:cubicBezTo>
                  <a:cubicBezTo>
                    <a:pt x="989542" y="375708"/>
                    <a:pt x="834496" y="187854"/>
                    <a:pt x="679450" y="0"/>
                  </a:cubicBezTo>
                </a:path>
              </a:pathLst>
            </a:custGeom>
            <a:noFill/>
            <a:ln w="25400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7837686-A5CA-448A-B479-D3E7841C36F3}"/>
                </a:ext>
              </a:extLst>
            </p:cNvPr>
            <p:cNvSpPr txBox="1"/>
            <p:nvPr/>
          </p:nvSpPr>
          <p:spPr>
            <a:xfrm>
              <a:off x="10918271" y="3380526"/>
              <a:ext cx="12661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C00000"/>
                  </a:solidFill>
                </a:rPr>
                <a:t>point to the next free slab object</a:t>
              </a:r>
              <a:endParaRPr lang="en-US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26D8D14-3C17-4279-905A-24C2CF96AFA0}"/>
                </a:ext>
              </a:extLst>
            </p:cNvPr>
            <p:cNvSpPr txBox="1"/>
            <p:nvPr/>
          </p:nvSpPr>
          <p:spPr>
            <a:xfrm>
              <a:off x="9437110" y="2350683"/>
              <a:ext cx="400049" cy="680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sz="2800" b="1" dirty="0"/>
                <a:t>.</a:t>
              </a:r>
            </a:p>
            <a:p>
              <a:pPr>
                <a:lnSpc>
                  <a:spcPts val="1400"/>
                </a:lnSpc>
              </a:pPr>
              <a:r>
                <a:rPr lang="en-US" sz="2800" b="1" dirty="0"/>
                <a:t>.</a:t>
              </a:r>
            </a:p>
            <a:p>
              <a:pPr>
                <a:lnSpc>
                  <a:spcPts val="1400"/>
                </a:lnSpc>
              </a:pPr>
              <a:r>
                <a:rPr lang="en-US" sz="2800" b="1" dirty="0"/>
                <a:t>.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6AEB2F8-3561-48CC-86FC-9F564F060097}"/>
                </a:ext>
              </a:extLst>
            </p:cNvPr>
            <p:cNvSpPr txBox="1"/>
            <p:nvPr/>
          </p:nvSpPr>
          <p:spPr>
            <a:xfrm>
              <a:off x="6926065" y="3607276"/>
              <a:ext cx="18645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X + </a:t>
              </a:r>
              <a:r>
                <a:rPr lang="en-US" sz="1200" b="1" dirty="0" err="1"/>
                <a:t>kmem_cache</a:t>
              </a:r>
              <a:r>
                <a:rPr lang="en-US" sz="1200" b="1" dirty="0"/>
                <a:t>-&gt;offset</a:t>
              </a:r>
              <a:endParaRPr lang="en-US" sz="1100" b="1" dirty="0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E79DF917-BA88-4840-87AC-3AB3E76B2A04}"/>
              </a:ext>
            </a:extLst>
          </p:cNvPr>
          <p:cNvSpPr txBox="1"/>
          <p:nvPr/>
        </p:nvSpPr>
        <p:spPr>
          <a:xfrm>
            <a:off x="531540" y="100475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FB17488-7686-4CF8-9926-588F03B4EE13}"/>
              </a:ext>
            </a:extLst>
          </p:cNvPr>
          <p:cNvSpPr txBox="1"/>
          <p:nvPr/>
        </p:nvSpPr>
        <p:spPr>
          <a:xfrm>
            <a:off x="712515" y="744354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B08F6B0-EC2C-4454-BD09-6FA4657CCB0E}"/>
              </a:ext>
            </a:extLst>
          </p:cNvPr>
          <p:cNvCxnSpPr>
            <a:cxnSpLocks/>
            <a:stCxn id="23" idx="1"/>
            <a:endCxn id="82" idx="1"/>
          </p:cNvCxnSpPr>
          <p:nvPr/>
        </p:nvCxnSpPr>
        <p:spPr>
          <a:xfrm rot="10800000">
            <a:off x="531540" y="1112474"/>
            <a:ext cx="68718" cy="481172"/>
          </a:xfrm>
          <a:prstGeom prst="bentConnector3">
            <a:avLst>
              <a:gd name="adj1" fmla="val 43266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40">
            <a:extLst>
              <a:ext uri="{FF2B5EF4-FFF2-40B4-BE49-F238E27FC236}">
                <a16:creationId xmlns:a16="http://schemas.microsoft.com/office/drawing/2014/main" id="{C614BDDB-D7E0-4EA1-9BE9-64E85F60AE85}"/>
              </a:ext>
            </a:extLst>
          </p:cNvPr>
          <p:cNvSpPr/>
          <p:nvPr/>
        </p:nvSpPr>
        <p:spPr>
          <a:xfrm>
            <a:off x="2269392" y="6408921"/>
            <a:ext cx="8084283" cy="41097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</a:rPr>
              <a:t>Reference functions: </a:t>
            </a:r>
            <a:r>
              <a:rPr lang="en-US" sz="2800" b="1" dirty="0" err="1">
                <a:solidFill>
                  <a:schemeClr val="tx1"/>
                </a:solidFill>
              </a:rPr>
              <a:t>get_freepointer</a:t>
            </a:r>
            <a:r>
              <a:rPr lang="en-US" sz="2800" b="1" dirty="0">
                <a:solidFill>
                  <a:schemeClr val="tx1"/>
                </a:solidFill>
              </a:rPr>
              <a:t>/</a:t>
            </a:r>
            <a:r>
              <a:rPr lang="en-US" sz="2800" b="1" dirty="0" err="1">
                <a:solidFill>
                  <a:schemeClr val="tx1"/>
                </a:solidFill>
              </a:rPr>
              <a:t>set_freepointer</a:t>
            </a:r>
            <a:endParaRPr lang="en-US" sz="2800" b="1" dirty="0">
              <a:solidFill>
                <a:schemeClr val="tx1"/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0608EFB-FBD6-427D-88EF-6BCC56E83D7E}"/>
              </a:ext>
            </a:extLst>
          </p:cNvPr>
          <p:cNvCxnSpPr>
            <a:cxnSpLocks/>
          </p:cNvCxnSpPr>
          <p:nvPr/>
        </p:nvCxnSpPr>
        <p:spPr>
          <a:xfrm>
            <a:off x="6557151" y="2078654"/>
            <a:ext cx="1352798" cy="245165"/>
          </a:xfrm>
          <a:prstGeom prst="line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E6ACCF6-5D39-49DE-AF48-96CA86DB58B8}"/>
              </a:ext>
            </a:extLst>
          </p:cNvPr>
          <p:cNvCxnSpPr/>
          <p:nvPr/>
        </p:nvCxnSpPr>
        <p:spPr>
          <a:xfrm>
            <a:off x="6544497" y="1135664"/>
            <a:ext cx="3459668" cy="1188155"/>
          </a:xfrm>
          <a:prstGeom prst="line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F28E194A-9908-4E8F-BD04-7EB054477073}"/>
              </a:ext>
            </a:extLst>
          </p:cNvPr>
          <p:cNvSpPr/>
          <p:nvPr/>
        </p:nvSpPr>
        <p:spPr>
          <a:xfrm>
            <a:off x="5986413" y="2088332"/>
            <a:ext cx="94268" cy="132096"/>
          </a:xfrm>
          <a:custGeom>
            <a:avLst/>
            <a:gdLst>
              <a:gd name="connsiteX0" fmla="*/ 0 w 94268"/>
              <a:gd name="connsiteY0" fmla="*/ 18853 h 132096"/>
              <a:gd name="connsiteX1" fmla="*/ 75415 w 94268"/>
              <a:gd name="connsiteY1" fmla="*/ 131975 h 132096"/>
              <a:gd name="connsiteX2" fmla="*/ 94268 w 94268"/>
              <a:gd name="connsiteY2" fmla="*/ 0 h 132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268" h="132096">
                <a:moveTo>
                  <a:pt x="0" y="18853"/>
                </a:moveTo>
                <a:cubicBezTo>
                  <a:pt x="29852" y="76985"/>
                  <a:pt x="59704" y="135117"/>
                  <a:pt x="75415" y="131975"/>
                </a:cubicBezTo>
                <a:cubicBezTo>
                  <a:pt x="91126" y="128833"/>
                  <a:pt x="92697" y="64416"/>
                  <a:pt x="94268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F74B4038-CADA-4F61-BA71-7C39323C96FA}"/>
              </a:ext>
            </a:extLst>
          </p:cNvPr>
          <p:cNvSpPr/>
          <p:nvPr/>
        </p:nvSpPr>
        <p:spPr>
          <a:xfrm>
            <a:off x="6157904" y="2089658"/>
            <a:ext cx="94268" cy="132096"/>
          </a:xfrm>
          <a:custGeom>
            <a:avLst/>
            <a:gdLst>
              <a:gd name="connsiteX0" fmla="*/ 0 w 94268"/>
              <a:gd name="connsiteY0" fmla="*/ 18853 h 132096"/>
              <a:gd name="connsiteX1" fmla="*/ 75415 w 94268"/>
              <a:gd name="connsiteY1" fmla="*/ 131975 h 132096"/>
              <a:gd name="connsiteX2" fmla="*/ 94268 w 94268"/>
              <a:gd name="connsiteY2" fmla="*/ 0 h 132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268" h="132096">
                <a:moveTo>
                  <a:pt x="0" y="18853"/>
                </a:moveTo>
                <a:cubicBezTo>
                  <a:pt x="29852" y="76985"/>
                  <a:pt x="59704" y="135117"/>
                  <a:pt x="75415" y="131975"/>
                </a:cubicBezTo>
                <a:cubicBezTo>
                  <a:pt x="91126" y="128833"/>
                  <a:pt x="92697" y="64416"/>
                  <a:pt x="94268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70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3">
            <a:extLst>
              <a:ext uri="{FF2B5EF4-FFF2-40B4-BE49-F238E27FC236}">
                <a16:creationId xmlns:a16="http://schemas.microsoft.com/office/drawing/2014/main" id="{62FDB7F1-126F-49DA-B7DC-8EE395A66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350" y="3150979"/>
            <a:ext cx="4809122" cy="362426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C9A2184-9802-432A-BF50-5F7DE934934E}"/>
              </a:ext>
            </a:extLst>
          </p:cNvPr>
          <p:cNvSpPr/>
          <p:nvPr/>
        </p:nvSpPr>
        <p:spPr>
          <a:xfrm>
            <a:off x="2569216" y="1480038"/>
            <a:ext cx="2361068" cy="2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78321-F576-4013-A455-F1352B369403}"/>
              </a:ext>
            </a:extLst>
          </p:cNvPr>
          <p:cNvSpPr/>
          <p:nvPr/>
        </p:nvSpPr>
        <p:spPr>
          <a:xfrm>
            <a:off x="2821429" y="1717674"/>
            <a:ext cx="210885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4BF9B-B459-43B0-9839-872DD96B9C20}"/>
              </a:ext>
            </a:extLst>
          </p:cNvPr>
          <p:cNvSpPr/>
          <p:nvPr/>
        </p:nvSpPr>
        <p:spPr>
          <a:xfrm>
            <a:off x="3444875" y="1926819"/>
            <a:ext cx="1485409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AFDD60-8EA5-40CA-A63F-DDB8DB51D7F6}"/>
              </a:ext>
            </a:extLst>
          </p:cNvPr>
          <p:cNvSpPr/>
          <p:nvPr/>
        </p:nvSpPr>
        <p:spPr>
          <a:xfrm>
            <a:off x="2569217" y="2828789"/>
            <a:ext cx="236107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7E80F-6A06-49AC-936F-CA911C8C908F}"/>
              </a:ext>
            </a:extLst>
          </p:cNvPr>
          <p:cNvSpPr/>
          <p:nvPr/>
        </p:nvSpPr>
        <p:spPr>
          <a:xfrm>
            <a:off x="2569232" y="3038984"/>
            <a:ext cx="236105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327AD9-3241-4BF2-92A8-DD3BB5E6C13A}"/>
              </a:ext>
            </a:extLst>
          </p:cNvPr>
          <p:cNvSpPr/>
          <p:nvPr/>
        </p:nvSpPr>
        <p:spPr>
          <a:xfrm>
            <a:off x="2785744" y="3248957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547FB-0CD7-41CC-8A6E-6BA059E00C75}"/>
              </a:ext>
            </a:extLst>
          </p:cNvPr>
          <p:cNvSpPr/>
          <p:nvPr/>
        </p:nvSpPr>
        <p:spPr>
          <a:xfrm>
            <a:off x="3444875" y="2222101"/>
            <a:ext cx="1485898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DE617-EE28-41C6-A5D6-9607FF849D64}"/>
              </a:ext>
            </a:extLst>
          </p:cNvPr>
          <p:cNvSpPr/>
          <p:nvPr/>
        </p:nvSpPr>
        <p:spPr>
          <a:xfrm>
            <a:off x="3444875" y="2514527"/>
            <a:ext cx="1485898" cy="31321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E7F994-ACC1-4176-A479-81B6AB89DD5F}"/>
              </a:ext>
            </a:extLst>
          </p:cNvPr>
          <p:cNvSpPr/>
          <p:nvPr/>
        </p:nvSpPr>
        <p:spPr>
          <a:xfrm>
            <a:off x="2785732" y="3454494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E037EF-E770-481C-B11B-40B5B915E434}"/>
              </a:ext>
            </a:extLst>
          </p:cNvPr>
          <p:cNvSpPr/>
          <p:nvPr/>
        </p:nvSpPr>
        <p:spPr>
          <a:xfrm>
            <a:off x="3844912" y="3661775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</a:t>
            </a:r>
            <a:r>
              <a:rPr lang="en-US" sz="1200" strike="sngStrike" dirty="0">
                <a:solidFill>
                  <a:srgbClr val="C00000"/>
                </a:solidFill>
              </a:rPr>
              <a:t>64</a:t>
            </a:r>
            <a:r>
              <a:rPr lang="en-US" sz="1200" dirty="0">
                <a:solidFill>
                  <a:srgbClr val="C00000"/>
                </a:solidFill>
              </a:rPr>
              <a:t>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F1678E-2119-485E-A906-9A7D859BE495}"/>
              </a:ext>
            </a:extLst>
          </p:cNvPr>
          <p:cNvSpPr/>
          <p:nvPr/>
        </p:nvSpPr>
        <p:spPr>
          <a:xfrm>
            <a:off x="3844912" y="3871748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120BB2-6E6E-457B-A1FE-51F5081D0222}"/>
              </a:ext>
            </a:extLst>
          </p:cNvPr>
          <p:cNvSpPr/>
          <p:nvPr/>
        </p:nvSpPr>
        <p:spPr>
          <a:xfrm>
            <a:off x="3844900" y="4077285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</a:t>
            </a:r>
            <a:r>
              <a:rPr lang="en-US" sz="1200" strike="sngStrike" dirty="0">
                <a:solidFill>
                  <a:srgbClr val="C00000"/>
                </a:solidFill>
              </a:rPr>
              <a:t>1</a:t>
            </a:r>
            <a:r>
              <a:rPr lang="en-US" sz="1200" dirty="0">
                <a:solidFill>
                  <a:srgbClr val="C00000"/>
                </a:solidFill>
              </a:rPr>
              <a:t> 0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A714B9-E2CB-435B-BE2A-7CE0F599184E}"/>
              </a:ext>
            </a:extLst>
          </p:cNvPr>
          <p:cNvSpPr/>
          <p:nvPr/>
        </p:nvSpPr>
        <p:spPr>
          <a:xfrm rot="5400000">
            <a:off x="2176281" y="3641908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6A1A54-D6FB-4713-9FEC-F84B40B0F7DE}"/>
              </a:ext>
            </a:extLst>
          </p:cNvPr>
          <p:cNvSpPr/>
          <p:nvPr/>
        </p:nvSpPr>
        <p:spPr>
          <a:xfrm>
            <a:off x="2822097" y="3661775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77C30A-4C38-4759-9B96-562E18D60716}"/>
              </a:ext>
            </a:extLst>
          </p:cNvPr>
          <p:cNvSpPr/>
          <p:nvPr/>
        </p:nvSpPr>
        <p:spPr>
          <a:xfrm rot="5400000">
            <a:off x="2140099" y="2146794"/>
            <a:ext cx="1111115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81183" y="1497919"/>
            <a:ext cx="1832065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81183" y="2009106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381182" y="2219301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381178" y="2429274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381181" y="2639469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381183" y="3053678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381182" y="3669315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381182" y="3879288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381181" y="408948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381181" y="4299197"/>
            <a:ext cx="1832065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381180" y="4615759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81180" y="4829277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381178" y="3473789"/>
            <a:ext cx="1832065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381177" y="3256943"/>
            <a:ext cx="1832065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881BA68-DB0B-419E-B4F4-FD6A7292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151912"/>
            <a:ext cx="11345008" cy="68995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early_kmem_cache_node_alloc</a:t>
            </a:r>
            <a:r>
              <a:rPr lang="en-US" dirty="0"/>
              <a:t>() – Get a slab object from </a:t>
            </a:r>
            <a:r>
              <a:rPr lang="en-US" dirty="0" err="1"/>
              <a:t>freelist</a:t>
            </a:r>
            <a:endParaRPr lang="en-US" dirty="0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658C559-841A-4584-BD9B-03766B5F7A68}"/>
              </a:ext>
            </a:extLst>
          </p:cNvPr>
          <p:cNvCxnSpPr>
            <a:cxnSpLocks/>
            <a:stCxn id="7" idx="1"/>
            <a:endCxn id="23" idx="3"/>
          </p:cNvCxnSpPr>
          <p:nvPr/>
        </p:nvCxnSpPr>
        <p:spPr>
          <a:xfrm rot="10800000">
            <a:off x="2213249" y="1756908"/>
            <a:ext cx="355969" cy="117710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BE553E7-634C-485C-A780-48C4F891B0F9}"/>
              </a:ext>
            </a:extLst>
          </p:cNvPr>
          <p:cNvSpPr/>
          <p:nvPr/>
        </p:nvSpPr>
        <p:spPr>
          <a:xfrm>
            <a:off x="5225493" y="1575150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FA98406-3AF4-4606-B991-D7FE66CC0CC6}"/>
              </a:ext>
            </a:extLst>
          </p:cNvPr>
          <p:cNvCxnSpPr>
            <a:cxnSpLocks/>
            <a:stCxn id="8" idx="3"/>
            <a:endCxn id="46" idx="3"/>
          </p:cNvCxnSpPr>
          <p:nvPr/>
        </p:nvCxnSpPr>
        <p:spPr>
          <a:xfrm flipV="1">
            <a:off x="4930284" y="2534990"/>
            <a:ext cx="575816" cy="60922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C6667E6-B98B-48CD-9DC2-8A8E9868633D}"/>
              </a:ext>
            </a:extLst>
          </p:cNvPr>
          <p:cNvSpPr/>
          <p:nvPr/>
        </p:nvSpPr>
        <p:spPr>
          <a:xfrm rot="5400000">
            <a:off x="4933247" y="2058035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B72A8A-93D8-493E-8120-FEB38AE0F785}"/>
              </a:ext>
            </a:extLst>
          </p:cNvPr>
          <p:cNvSpPr/>
          <p:nvPr/>
        </p:nvSpPr>
        <p:spPr>
          <a:xfrm rot="5400000">
            <a:off x="5121500" y="205803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95332A-4329-496C-A2E2-0A51972C74D7}"/>
              </a:ext>
            </a:extLst>
          </p:cNvPr>
          <p:cNvSpPr txBox="1"/>
          <p:nvPr/>
        </p:nvSpPr>
        <p:spPr>
          <a:xfrm>
            <a:off x="5548183" y="1900885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8CA39A1-EDBA-4F97-A8AD-BC0D8BA8D550}"/>
              </a:ext>
            </a:extLst>
          </p:cNvPr>
          <p:cNvSpPr/>
          <p:nvPr/>
        </p:nvSpPr>
        <p:spPr>
          <a:xfrm rot="5400000">
            <a:off x="5484399" y="2058505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902263-4AB5-4AFF-807C-AD7A1806A58A}"/>
              </a:ext>
            </a:extLst>
          </p:cNvPr>
          <p:cNvSpPr txBox="1"/>
          <p:nvPr/>
        </p:nvSpPr>
        <p:spPr>
          <a:xfrm>
            <a:off x="5327372" y="1502170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381177" y="2847900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6243821" y="1540912"/>
            <a:ext cx="1659072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6243821" y="2017474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6243820" y="2227669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6243816" y="2437642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6243819" y="264783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6243815" y="180920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6243814" y="2859908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C346095-CF8C-4912-9F44-AEDF4374731C}"/>
              </a:ext>
            </a:extLst>
          </p:cNvPr>
          <p:cNvCxnSpPr>
            <a:cxnSpLocks/>
            <a:stCxn id="44" idx="2"/>
            <a:endCxn id="89" idx="0"/>
          </p:cNvCxnSpPr>
          <p:nvPr/>
        </p:nvCxnSpPr>
        <p:spPr>
          <a:xfrm rot="10800000" flipH="1">
            <a:off x="5225493" y="1540913"/>
            <a:ext cx="1847863" cy="609477"/>
          </a:xfrm>
          <a:prstGeom prst="bentConnector4">
            <a:avLst>
              <a:gd name="adj1" fmla="val -9629"/>
              <a:gd name="adj2" fmla="val 13750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11757ACD-06C7-4DE1-8F34-9DD7BEEE83DF}"/>
              </a:ext>
            </a:extLst>
          </p:cNvPr>
          <p:cNvSpPr txBox="1"/>
          <p:nvPr/>
        </p:nvSpPr>
        <p:spPr>
          <a:xfrm>
            <a:off x="4988822" y="1038527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Get a slab object from page-&gt;</a:t>
            </a:r>
            <a:r>
              <a:rPr lang="en-US" sz="1400" dirty="0" err="1"/>
              <a:t>freelist</a:t>
            </a:r>
            <a:endParaRPr lang="en-US" sz="1400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D136EC2-A721-4D0A-9A5E-92F3EE13FD9B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2213245" y="1675430"/>
            <a:ext cx="4030576" cy="3259074"/>
          </a:xfrm>
          <a:prstGeom prst="bentConnector3">
            <a:avLst>
              <a:gd name="adj1" fmla="val 9584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D9E0052-093A-43C0-A1D1-D1555CB89DA6}"/>
              </a:ext>
            </a:extLst>
          </p:cNvPr>
          <p:cNvSpPr txBox="1"/>
          <p:nvPr/>
        </p:nvSpPr>
        <p:spPr>
          <a:xfrm>
            <a:off x="2483748" y="4908514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kmem_cache_node-&gt;node[node] = </a:t>
            </a:r>
            <a:r>
              <a:rPr lang="en-US" sz="1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45CA69-FD05-481B-A631-07E815E44E96}"/>
              </a:ext>
            </a:extLst>
          </p:cNvPr>
          <p:cNvSpPr txBox="1"/>
          <p:nvPr/>
        </p:nvSpPr>
        <p:spPr>
          <a:xfrm>
            <a:off x="550498" y="906593"/>
            <a:ext cx="1624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F99FFCFD-ED22-4A55-A7B3-5902A61EAD9E}"/>
              </a:ext>
            </a:extLst>
          </p:cNvPr>
          <p:cNvCxnSpPr>
            <a:cxnSpLocks/>
            <a:stCxn id="23" idx="1"/>
            <a:endCxn id="57" idx="1"/>
          </p:cNvCxnSpPr>
          <p:nvPr/>
        </p:nvCxnSpPr>
        <p:spPr>
          <a:xfrm rot="10800000">
            <a:off x="296155" y="1264955"/>
            <a:ext cx="85029" cy="491952"/>
          </a:xfrm>
          <a:prstGeom prst="bentConnector3">
            <a:avLst>
              <a:gd name="adj1" fmla="val 3688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AF0EC22-AE40-48F4-B405-DAE746667C8B}"/>
              </a:ext>
            </a:extLst>
          </p:cNvPr>
          <p:cNvSpPr txBox="1"/>
          <p:nvPr/>
        </p:nvSpPr>
        <p:spPr>
          <a:xfrm>
            <a:off x="296154" y="1157233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F3E8929-0893-4F54-81B1-D560458A8D11}"/>
              </a:ext>
            </a:extLst>
          </p:cNvPr>
          <p:cNvSpPr/>
          <p:nvPr/>
        </p:nvSpPr>
        <p:spPr>
          <a:xfrm>
            <a:off x="8101181" y="4952091"/>
            <a:ext cx="2357269" cy="101709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3090C6E-A027-47AF-8877-6A1A9DE9D3A9}"/>
              </a:ext>
            </a:extLst>
          </p:cNvPr>
          <p:cNvSpPr/>
          <p:nvPr/>
        </p:nvSpPr>
        <p:spPr>
          <a:xfrm>
            <a:off x="2820941" y="1926819"/>
            <a:ext cx="631066" cy="9009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</a:t>
            </a:r>
            <a:r>
              <a:rPr lang="en-US" sz="1200" b="1" dirty="0" err="1">
                <a:solidFill>
                  <a:schemeClr val="tx1"/>
                </a:solidFill>
              </a:rPr>
              <a:t>Percpu</a:t>
            </a:r>
            <a:r>
              <a:rPr lang="en-US" sz="1200" b="1" dirty="0">
                <a:solidFill>
                  <a:schemeClr val="tx1"/>
                </a:solidFill>
              </a:rPr>
              <a:t> 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</p:spTree>
    <p:extLst>
      <p:ext uri="{BB962C8B-B14F-4D97-AF65-F5344CB8AC3E}">
        <p14:creationId xmlns:p14="http://schemas.microsoft.com/office/powerpoint/2010/main" val="3249258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45DAE0B3-A4C2-47E1-9313-1BD5C4583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350" y="3150979"/>
            <a:ext cx="4809122" cy="362426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C9A2184-9802-432A-BF50-5F7DE934934E}"/>
              </a:ext>
            </a:extLst>
          </p:cNvPr>
          <p:cNvSpPr/>
          <p:nvPr/>
        </p:nvSpPr>
        <p:spPr>
          <a:xfrm>
            <a:off x="2569216" y="1480038"/>
            <a:ext cx="2361068" cy="2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78321-F576-4013-A455-F1352B369403}"/>
              </a:ext>
            </a:extLst>
          </p:cNvPr>
          <p:cNvSpPr/>
          <p:nvPr/>
        </p:nvSpPr>
        <p:spPr>
          <a:xfrm>
            <a:off x="2821429" y="1717674"/>
            <a:ext cx="210885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4BF9B-B459-43B0-9839-872DD96B9C20}"/>
              </a:ext>
            </a:extLst>
          </p:cNvPr>
          <p:cNvSpPr/>
          <p:nvPr/>
        </p:nvSpPr>
        <p:spPr>
          <a:xfrm>
            <a:off x="3444875" y="1926819"/>
            <a:ext cx="1485409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AFDD60-8EA5-40CA-A63F-DDB8DB51D7F6}"/>
              </a:ext>
            </a:extLst>
          </p:cNvPr>
          <p:cNvSpPr/>
          <p:nvPr/>
        </p:nvSpPr>
        <p:spPr>
          <a:xfrm>
            <a:off x="2569217" y="2828789"/>
            <a:ext cx="236107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7E80F-6A06-49AC-936F-CA911C8C908F}"/>
              </a:ext>
            </a:extLst>
          </p:cNvPr>
          <p:cNvSpPr/>
          <p:nvPr/>
        </p:nvSpPr>
        <p:spPr>
          <a:xfrm>
            <a:off x="2569232" y="3038984"/>
            <a:ext cx="236105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327AD9-3241-4BF2-92A8-DD3BB5E6C13A}"/>
              </a:ext>
            </a:extLst>
          </p:cNvPr>
          <p:cNvSpPr/>
          <p:nvPr/>
        </p:nvSpPr>
        <p:spPr>
          <a:xfrm>
            <a:off x="2785744" y="3248957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547FB-0CD7-41CC-8A6E-6BA059E00C75}"/>
              </a:ext>
            </a:extLst>
          </p:cNvPr>
          <p:cNvSpPr/>
          <p:nvPr/>
        </p:nvSpPr>
        <p:spPr>
          <a:xfrm>
            <a:off x="3444875" y="2222101"/>
            <a:ext cx="1485898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DE617-EE28-41C6-A5D6-9607FF849D64}"/>
              </a:ext>
            </a:extLst>
          </p:cNvPr>
          <p:cNvSpPr/>
          <p:nvPr/>
        </p:nvSpPr>
        <p:spPr>
          <a:xfrm>
            <a:off x="3444875" y="2514527"/>
            <a:ext cx="1485898" cy="31321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E7F994-ACC1-4176-A479-81B6AB89DD5F}"/>
              </a:ext>
            </a:extLst>
          </p:cNvPr>
          <p:cNvSpPr/>
          <p:nvPr/>
        </p:nvSpPr>
        <p:spPr>
          <a:xfrm>
            <a:off x="2785732" y="3454494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E037EF-E770-481C-B11B-40B5B915E434}"/>
              </a:ext>
            </a:extLst>
          </p:cNvPr>
          <p:cNvSpPr/>
          <p:nvPr/>
        </p:nvSpPr>
        <p:spPr>
          <a:xfrm>
            <a:off x="3844912" y="3661775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F1678E-2119-485E-A906-9A7D859BE495}"/>
              </a:ext>
            </a:extLst>
          </p:cNvPr>
          <p:cNvSpPr/>
          <p:nvPr/>
        </p:nvSpPr>
        <p:spPr>
          <a:xfrm>
            <a:off x="3844912" y="3871748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120BB2-6E6E-457B-A1FE-51F5081D0222}"/>
              </a:ext>
            </a:extLst>
          </p:cNvPr>
          <p:cNvSpPr/>
          <p:nvPr/>
        </p:nvSpPr>
        <p:spPr>
          <a:xfrm>
            <a:off x="3844900" y="4077285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0 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A714B9-E2CB-435B-BE2A-7CE0F599184E}"/>
              </a:ext>
            </a:extLst>
          </p:cNvPr>
          <p:cNvSpPr/>
          <p:nvPr/>
        </p:nvSpPr>
        <p:spPr>
          <a:xfrm rot="5400000">
            <a:off x="2176281" y="3641908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6A1A54-D6FB-4713-9FEC-F84B40B0F7DE}"/>
              </a:ext>
            </a:extLst>
          </p:cNvPr>
          <p:cNvSpPr/>
          <p:nvPr/>
        </p:nvSpPr>
        <p:spPr>
          <a:xfrm>
            <a:off x="2822097" y="3661775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77C30A-4C38-4759-9B96-562E18D60716}"/>
              </a:ext>
            </a:extLst>
          </p:cNvPr>
          <p:cNvSpPr/>
          <p:nvPr/>
        </p:nvSpPr>
        <p:spPr>
          <a:xfrm rot="5400000">
            <a:off x="2140099" y="2146794"/>
            <a:ext cx="1111115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81183" y="1497919"/>
            <a:ext cx="1832065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81183" y="2009106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381182" y="2219301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381178" y="2429274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381181" y="2639469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381183" y="3053678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381182" y="3669315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381182" y="3879288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381181" y="408948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381181" y="4299197"/>
            <a:ext cx="1832065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381180" y="4615759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81180" y="4829277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381178" y="3473789"/>
            <a:ext cx="1832065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381177" y="3256943"/>
            <a:ext cx="1832065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881BA68-DB0B-419E-B4F4-FD6A7292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151912"/>
            <a:ext cx="11345008" cy="68995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early_kmem_cache_node_alloc</a:t>
            </a:r>
            <a:r>
              <a:rPr lang="en-US" dirty="0"/>
              <a:t>() – Get a slab object from </a:t>
            </a:r>
            <a:r>
              <a:rPr lang="en-US" dirty="0" err="1"/>
              <a:t>freelist</a:t>
            </a:r>
            <a:endParaRPr lang="en-US" dirty="0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658C559-841A-4584-BD9B-03766B5F7A68}"/>
              </a:ext>
            </a:extLst>
          </p:cNvPr>
          <p:cNvCxnSpPr>
            <a:cxnSpLocks/>
            <a:stCxn id="7" idx="1"/>
            <a:endCxn id="23" idx="3"/>
          </p:cNvCxnSpPr>
          <p:nvPr/>
        </p:nvCxnSpPr>
        <p:spPr>
          <a:xfrm rot="10800000">
            <a:off x="2213249" y="1756908"/>
            <a:ext cx="355969" cy="117710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BE553E7-634C-485C-A780-48C4F891B0F9}"/>
              </a:ext>
            </a:extLst>
          </p:cNvPr>
          <p:cNvSpPr/>
          <p:nvPr/>
        </p:nvSpPr>
        <p:spPr>
          <a:xfrm>
            <a:off x="5225493" y="1575150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FA98406-3AF4-4606-B991-D7FE66CC0CC6}"/>
              </a:ext>
            </a:extLst>
          </p:cNvPr>
          <p:cNvCxnSpPr>
            <a:cxnSpLocks/>
            <a:stCxn id="8" idx="3"/>
            <a:endCxn id="46" idx="3"/>
          </p:cNvCxnSpPr>
          <p:nvPr/>
        </p:nvCxnSpPr>
        <p:spPr>
          <a:xfrm flipV="1">
            <a:off x="4930284" y="2534990"/>
            <a:ext cx="575816" cy="60922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C6667E6-B98B-48CD-9DC2-8A8E9868633D}"/>
              </a:ext>
            </a:extLst>
          </p:cNvPr>
          <p:cNvSpPr/>
          <p:nvPr/>
        </p:nvSpPr>
        <p:spPr>
          <a:xfrm rot="5400000">
            <a:off x="4933247" y="2058035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B72A8A-93D8-493E-8120-FEB38AE0F785}"/>
              </a:ext>
            </a:extLst>
          </p:cNvPr>
          <p:cNvSpPr/>
          <p:nvPr/>
        </p:nvSpPr>
        <p:spPr>
          <a:xfrm rot="5400000">
            <a:off x="5121500" y="205803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95332A-4329-496C-A2E2-0A51972C74D7}"/>
              </a:ext>
            </a:extLst>
          </p:cNvPr>
          <p:cNvSpPr txBox="1"/>
          <p:nvPr/>
        </p:nvSpPr>
        <p:spPr>
          <a:xfrm>
            <a:off x="5548183" y="1900885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8CA39A1-EDBA-4F97-A8AD-BC0D8BA8D550}"/>
              </a:ext>
            </a:extLst>
          </p:cNvPr>
          <p:cNvSpPr/>
          <p:nvPr/>
        </p:nvSpPr>
        <p:spPr>
          <a:xfrm rot="5400000">
            <a:off x="5484399" y="2058505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902263-4AB5-4AFF-807C-AD7A1806A58A}"/>
              </a:ext>
            </a:extLst>
          </p:cNvPr>
          <p:cNvSpPr txBox="1"/>
          <p:nvPr/>
        </p:nvSpPr>
        <p:spPr>
          <a:xfrm>
            <a:off x="5327372" y="1502170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381177" y="2847900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6243821" y="1540912"/>
            <a:ext cx="1659072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6243821" y="2017474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6243820" y="2227669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6243816" y="2437642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6243819" y="264783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6243815" y="180920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6243814" y="2859908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C346095-CF8C-4912-9F44-AEDF4374731C}"/>
              </a:ext>
            </a:extLst>
          </p:cNvPr>
          <p:cNvCxnSpPr>
            <a:cxnSpLocks/>
            <a:stCxn id="44" idx="2"/>
            <a:endCxn id="89" idx="0"/>
          </p:cNvCxnSpPr>
          <p:nvPr/>
        </p:nvCxnSpPr>
        <p:spPr>
          <a:xfrm rot="10800000" flipH="1">
            <a:off x="5225493" y="1540913"/>
            <a:ext cx="1847863" cy="609477"/>
          </a:xfrm>
          <a:prstGeom prst="bentConnector4">
            <a:avLst>
              <a:gd name="adj1" fmla="val -9629"/>
              <a:gd name="adj2" fmla="val 13750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11757ACD-06C7-4DE1-8F34-9DD7BEEE83DF}"/>
              </a:ext>
            </a:extLst>
          </p:cNvPr>
          <p:cNvSpPr txBox="1"/>
          <p:nvPr/>
        </p:nvSpPr>
        <p:spPr>
          <a:xfrm>
            <a:off x="4988822" y="1038527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Get a slab object from page-&gt;</a:t>
            </a:r>
            <a:r>
              <a:rPr lang="en-US" sz="1400" dirty="0" err="1"/>
              <a:t>freelist</a:t>
            </a:r>
            <a:endParaRPr lang="en-US" sz="1400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D136EC2-A721-4D0A-9A5E-92F3EE13FD9B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2213245" y="1675430"/>
            <a:ext cx="4030576" cy="3259074"/>
          </a:xfrm>
          <a:prstGeom prst="bentConnector3">
            <a:avLst>
              <a:gd name="adj1" fmla="val 9584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D9E0052-093A-43C0-A1D1-D1555CB89DA6}"/>
              </a:ext>
            </a:extLst>
          </p:cNvPr>
          <p:cNvSpPr txBox="1"/>
          <p:nvPr/>
        </p:nvSpPr>
        <p:spPr>
          <a:xfrm>
            <a:off x="2483748" y="4908514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kmem_cache_node-&gt;node[node] = </a:t>
            </a:r>
            <a:r>
              <a:rPr lang="en-US" sz="1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45CA69-FD05-481B-A631-07E815E44E96}"/>
              </a:ext>
            </a:extLst>
          </p:cNvPr>
          <p:cNvSpPr txBox="1"/>
          <p:nvPr/>
        </p:nvSpPr>
        <p:spPr>
          <a:xfrm>
            <a:off x="550498" y="906593"/>
            <a:ext cx="1624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F99FFCFD-ED22-4A55-A7B3-5902A61EAD9E}"/>
              </a:ext>
            </a:extLst>
          </p:cNvPr>
          <p:cNvCxnSpPr>
            <a:cxnSpLocks/>
            <a:stCxn id="23" idx="1"/>
            <a:endCxn id="57" idx="1"/>
          </p:cNvCxnSpPr>
          <p:nvPr/>
        </p:nvCxnSpPr>
        <p:spPr>
          <a:xfrm rot="10800000">
            <a:off x="296155" y="1264955"/>
            <a:ext cx="85029" cy="491952"/>
          </a:xfrm>
          <a:prstGeom prst="bentConnector3">
            <a:avLst>
              <a:gd name="adj1" fmla="val 3688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AF0EC22-AE40-48F4-B405-DAE746667C8B}"/>
              </a:ext>
            </a:extLst>
          </p:cNvPr>
          <p:cNvSpPr txBox="1"/>
          <p:nvPr/>
        </p:nvSpPr>
        <p:spPr>
          <a:xfrm>
            <a:off x="296154" y="1157233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FAFF482-B8E1-4D33-AC7B-D953FB0B5ADE}"/>
              </a:ext>
            </a:extLst>
          </p:cNvPr>
          <p:cNvSpPr/>
          <p:nvPr/>
        </p:nvSpPr>
        <p:spPr>
          <a:xfrm>
            <a:off x="8087410" y="5981699"/>
            <a:ext cx="2409140" cy="28384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D2715046-452F-4A26-8E86-F5A1997C731F}"/>
              </a:ext>
            </a:extLst>
          </p:cNvPr>
          <p:cNvSpPr/>
          <p:nvPr/>
        </p:nvSpPr>
        <p:spPr>
          <a:xfrm>
            <a:off x="7907684" y="2246845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7F13201D-D508-4A84-B6D3-D97361801E34}"/>
              </a:ext>
            </a:extLst>
          </p:cNvPr>
          <p:cNvSpPr/>
          <p:nvPr/>
        </p:nvSpPr>
        <p:spPr>
          <a:xfrm>
            <a:off x="7896224" y="2900953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68B64B4-E3D2-4F5E-80B6-C224DDAD2E42}"/>
              </a:ext>
            </a:extLst>
          </p:cNvPr>
          <p:cNvSpPr/>
          <p:nvPr/>
        </p:nvSpPr>
        <p:spPr>
          <a:xfrm>
            <a:off x="2820941" y="1926819"/>
            <a:ext cx="631066" cy="9009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</a:t>
            </a:r>
            <a:r>
              <a:rPr lang="en-US" sz="1200" b="1" dirty="0" err="1">
                <a:solidFill>
                  <a:schemeClr val="tx1"/>
                </a:solidFill>
              </a:rPr>
              <a:t>Percpu</a:t>
            </a:r>
            <a:r>
              <a:rPr lang="en-US" sz="1200" b="1" dirty="0">
                <a:solidFill>
                  <a:schemeClr val="tx1"/>
                </a:solidFill>
              </a:rPr>
              <a:t> 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</p:spTree>
    <p:extLst>
      <p:ext uri="{BB962C8B-B14F-4D97-AF65-F5344CB8AC3E}">
        <p14:creationId xmlns:p14="http://schemas.microsoft.com/office/powerpoint/2010/main" val="920261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45DAE0B3-A4C2-47E1-9313-1BD5C4583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350" y="3150979"/>
            <a:ext cx="4809122" cy="362426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C9A2184-9802-432A-BF50-5F7DE934934E}"/>
              </a:ext>
            </a:extLst>
          </p:cNvPr>
          <p:cNvSpPr/>
          <p:nvPr/>
        </p:nvSpPr>
        <p:spPr>
          <a:xfrm>
            <a:off x="2569216" y="1480038"/>
            <a:ext cx="2361068" cy="2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78321-F576-4013-A455-F1352B369403}"/>
              </a:ext>
            </a:extLst>
          </p:cNvPr>
          <p:cNvSpPr/>
          <p:nvPr/>
        </p:nvSpPr>
        <p:spPr>
          <a:xfrm>
            <a:off x="2821429" y="1717674"/>
            <a:ext cx="210885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4BF9B-B459-43B0-9839-872DD96B9C20}"/>
              </a:ext>
            </a:extLst>
          </p:cNvPr>
          <p:cNvSpPr/>
          <p:nvPr/>
        </p:nvSpPr>
        <p:spPr>
          <a:xfrm>
            <a:off x="3444875" y="1926819"/>
            <a:ext cx="1485409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AFDD60-8EA5-40CA-A63F-DDB8DB51D7F6}"/>
              </a:ext>
            </a:extLst>
          </p:cNvPr>
          <p:cNvSpPr/>
          <p:nvPr/>
        </p:nvSpPr>
        <p:spPr>
          <a:xfrm>
            <a:off x="2569217" y="2828789"/>
            <a:ext cx="236107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7E80F-6A06-49AC-936F-CA911C8C908F}"/>
              </a:ext>
            </a:extLst>
          </p:cNvPr>
          <p:cNvSpPr/>
          <p:nvPr/>
        </p:nvSpPr>
        <p:spPr>
          <a:xfrm>
            <a:off x="2569232" y="3038984"/>
            <a:ext cx="236105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327AD9-3241-4BF2-92A8-DD3BB5E6C13A}"/>
              </a:ext>
            </a:extLst>
          </p:cNvPr>
          <p:cNvSpPr/>
          <p:nvPr/>
        </p:nvSpPr>
        <p:spPr>
          <a:xfrm>
            <a:off x="2785744" y="3248957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547FB-0CD7-41CC-8A6E-6BA059E00C75}"/>
              </a:ext>
            </a:extLst>
          </p:cNvPr>
          <p:cNvSpPr/>
          <p:nvPr/>
        </p:nvSpPr>
        <p:spPr>
          <a:xfrm>
            <a:off x="3444875" y="2222101"/>
            <a:ext cx="1485898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DE617-EE28-41C6-A5D6-9607FF849D64}"/>
              </a:ext>
            </a:extLst>
          </p:cNvPr>
          <p:cNvSpPr/>
          <p:nvPr/>
        </p:nvSpPr>
        <p:spPr>
          <a:xfrm>
            <a:off x="3444875" y="2514527"/>
            <a:ext cx="1485898" cy="31321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E7F994-ACC1-4176-A479-81B6AB89DD5F}"/>
              </a:ext>
            </a:extLst>
          </p:cNvPr>
          <p:cNvSpPr/>
          <p:nvPr/>
        </p:nvSpPr>
        <p:spPr>
          <a:xfrm>
            <a:off x="2785732" y="3454494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E037EF-E770-481C-B11B-40B5B915E434}"/>
              </a:ext>
            </a:extLst>
          </p:cNvPr>
          <p:cNvSpPr/>
          <p:nvPr/>
        </p:nvSpPr>
        <p:spPr>
          <a:xfrm>
            <a:off x="3844912" y="3661775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F1678E-2119-485E-A906-9A7D859BE495}"/>
              </a:ext>
            </a:extLst>
          </p:cNvPr>
          <p:cNvSpPr/>
          <p:nvPr/>
        </p:nvSpPr>
        <p:spPr>
          <a:xfrm>
            <a:off x="3844912" y="3871748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120BB2-6E6E-457B-A1FE-51F5081D0222}"/>
              </a:ext>
            </a:extLst>
          </p:cNvPr>
          <p:cNvSpPr/>
          <p:nvPr/>
        </p:nvSpPr>
        <p:spPr>
          <a:xfrm>
            <a:off x="3844900" y="4077285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0 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A714B9-E2CB-435B-BE2A-7CE0F599184E}"/>
              </a:ext>
            </a:extLst>
          </p:cNvPr>
          <p:cNvSpPr/>
          <p:nvPr/>
        </p:nvSpPr>
        <p:spPr>
          <a:xfrm rot="5400000">
            <a:off x="2176281" y="3641908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6A1A54-D6FB-4713-9FEC-F84B40B0F7DE}"/>
              </a:ext>
            </a:extLst>
          </p:cNvPr>
          <p:cNvSpPr/>
          <p:nvPr/>
        </p:nvSpPr>
        <p:spPr>
          <a:xfrm>
            <a:off x="2822097" y="3661775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77C30A-4C38-4759-9B96-562E18D60716}"/>
              </a:ext>
            </a:extLst>
          </p:cNvPr>
          <p:cNvSpPr/>
          <p:nvPr/>
        </p:nvSpPr>
        <p:spPr>
          <a:xfrm rot="5400000">
            <a:off x="2140099" y="2146794"/>
            <a:ext cx="1111115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81183" y="1497919"/>
            <a:ext cx="1832065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81183" y="2009106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381182" y="2219301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381178" y="2429274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381181" y="2639469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381183" y="3053678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381182" y="3669315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381182" y="3879288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381181" y="408948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381181" y="4299197"/>
            <a:ext cx="1832065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381180" y="4615759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81180" y="4829277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381178" y="3473789"/>
            <a:ext cx="1832065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381177" y="3256943"/>
            <a:ext cx="1832065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881BA68-DB0B-419E-B4F4-FD6A7292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151912"/>
            <a:ext cx="11345008" cy="68995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early_kmem_cache_node_alloc</a:t>
            </a:r>
            <a:r>
              <a:rPr lang="en-US" dirty="0"/>
              <a:t>() – Get a slab object from </a:t>
            </a:r>
            <a:r>
              <a:rPr lang="en-US" dirty="0" err="1"/>
              <a:t>freelist</a:t>
            </a:r>
            <a:endParaRPr lang="en-US" dirty="0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658C559-841A-4584-BD9B-03766B5F7A68}"/>
              </a:ext>
            </a:extLst>
          </p:cNvPr>
          <p:cNvCxnSpPr>
            <a:cxnSpLocks/>
            <a:stCxn id="7" idx="1"/>
            <a:endCxn id="23" idx="3"/>
          </p:cNvCxnSpPr>
          <p:nvPr/>
        </p:nvCxnSpPr>
        <p:spPr>
          <a:xfrm rot="10800000">
            <a:off x="2213249" y="1756908"/>
            <a:ext cx="355969" cy="117710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BE553E7-634C-485C-A780-48C4F891B0F9}"/>
              </a:ext>
            </a:extLst>
          </p:cNvPr>
          <p:cNvSpPr/>
          <p:nvPr/>
        </p:nvSpPr>
        <p:spPr>
          <a:xfrm>
            <a:off x="5225493" y="1575150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FA98406-3AF4-4606-B991-D7FE66CC0CC6}"/>
              </a:ext>
            </a:extLst>
          </p:cNvPr>
          <p:cNvCxnSpPr>
            <a:cxnSpLocks/>
            <a:stCxn id="8" idx="3"/>
            <a:endCxn id="46" idx="3"/>
          </p:cNvCxnSpPr>
          <p:nvPr/>
        </p:nvCxnSpPr>
        <p:spPr>
          <a:xfrm flipV="1">
            <a:off x="4930284" y="2534990"/>
            <a:ext cx="575816" cy="60922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C6667E6-B98B-48CD-9DC2-8A8E9868633D}"/>
              </a:ext>
            </a:extLst>
          </p:cNvPr>
          <p:cNvSpPr/>
          <p:nvPr/>
        </p:nvSpPr>
        <p:spPr>
          <a:xfrm rot="5400000">
            <a:off x="4933247" y="2058035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B72A8A-93D8-493E-8120-FEB38AE0F785}"/>
              </a:ext>
            </a:extLst>
          </p:cNvPr>
          <p:cNvSpPr/>
          <p:nvPr/>
        </p:nvSpPr>
        <p:spPr>
          <a:xfrm rot="5400000">
            <a:off x="5121500" y="205803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95332A-4329-496C-A2E2-0A51972C74D7}"/>
              </a:ext>
            </a:extLst>
          </p:cNvPr>
          <p:cNvSpPr txBox="1"/>
          <p:nvPr/>
        </p:nvSpPr>
        <p:spPr>
          <a:xfrm>
            <a:off x="5548183" y="1900885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8CA39A1-EDBA-4F97-A8AD-BC0D8BA8D550}"/>
              </a:ext>
            </a:extLst>
          </p:cNvPr>
          <p:cNvSpPr/>
          <p:nvPr/>
        </p:nvSpPr>
        <p:spPr>
          <a:xfrm rot="5400000">
            <a:off x="5484399" y="2058505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902263-4AB5-4AFF-807C-AD7A1806A58A}"/>
              </a:ext>
            </a:extLst>
          </p:cNvPr>
          <p:cNvSpPr txBox="1"/>
          <p:nvPr/>
        </p:nvSpPr>
        <p:spPr>
          <a:xfrm>
            <a:off x="5327372" y="1502170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381177" y="2847900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6243821" y="1540912"/>
            <a:ext cx="1659072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6243821" y="2017474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6243820" y="2227669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6243816" y="2437642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</a:t>
            </a:r>
            <a:r>
              <a:rPr lang="en-US" sz="1200" strike="sngStrike" dirty="0">
                <a:solidFill>
                  <a:srgbClr val="C00000"/>
                </a:solidFill>
              </a:rPr>
              <a:t>0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6243819" y="264783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</a:t>
            </a:r>
            <a:r>
              <a:rPr lang="en-US" sz="1200" strike="sngStrike" dirty="0">
                <a:solidFill>
                  <a:srgbClr val="C00000"/>
                </a:solidFill>
              </a:rPr>
              <a:t>0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rgbClr val="C00000"/>
                </a:solidFill>
              </a:rPr>
              <a:t>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6243815" y="180920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6243814" y="2859908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C346095-CF8C-4912-9F44-AEDF4374731C}"/>
              </a:ext>
            </a:extLst>
          </p:cNvPr>
          <p:cNvCxnSpPr>
            <a:cxnSpLocks/>
            <a:stCxn id="44" idx="2"/>
            <a:endCxn id="89" idx="0"/>
          </p:cNvCxnSpPr>
          <p:nvPr/>
        </p:nvCxnSpPr>
        <p:spPr>
          <a:xfrm rot="10800000" flipH="1">
            <a:off x="5225493" y="1540913"/>
            <a:ext cx="1847863" cy="609477"/>
          </a:xfrm>
          <a:prstGeom prst="bentConnector4">
            <a:avLst>
              <a:gd name="adj1" fmla="val -9629"/>
              <a:gd name="adj2" fmla="val 13750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11757ACD-06C7-4DE1-8F34-9DD7BEEE83DF}"/>
              </a:ext>
            </a:extLst>
          </p:cNvPr>
          <p:cNvSpPr txBox="1"/>
          <p:nvPr/>
        </p:nvSpPr>
        <p:spPr>
          <a:xfrm>
            <a:off x="4988822" y="1038527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Get a slab object from page-&gt;</a:t>
            </a:r>
            <a:r>
              <a:rPr lang="en-US" sz="1400" dirty="0" err="1"/>
              <a:t>freelist</a:t>
            </a:r>
            <a:endParaRPr lang="en-US" sz="1400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D136EC2-A721-4D0A-9A5E-92F3EE13FD9B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2213245" y="1675430"/>
            <a:ext cx="4030576" cy="3259074"/>
          </a:xfrm>
          <a:prstGeom prst="bentConnector3">
            <a:avLst>
              <a:gd name="adj1" fmla="val 9584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D9E0052-093A-43C0-A1D1-D1555CB89DA6}"/>
              </a:ext>
            </a:extLst>
          </p:cNvPr>
          <p:cNvSpPr txBox="1"/>
          <p:nvPr/>
        </p:nvSpPr>
        <p:spPr>
          <a:xfrm>
            <a:off x="2483748" y="4908514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kmem_cache_node-&gt;node[node] = </a:t>
            </a:r>
            <a:r>
              <a:rPr lang="en-US" sz="1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45CA69-FD05-481B-A631-07E815E44E96}"/>
              </a:ext>
            </a:extLst>
          </p:cNvPr>
          <p:cNvSpPr txBox="1"/>
          <p:nvPr/>
        </p:nvSpPr>
        <p:spPr>
          <a:xfrm>
            <a:off x="550498" y="906593"/>
            <a:ext cx="1624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F99FFCFD-ED22-4A55-A7B3-5902A61EAD9E}"/>
              </a:ext>
            </a:extLst>
          </p:cNvPr>
          <p:cNvCxnSpPr>
            <a:cxnSpLocks/>
            <a:stCxn id="23" idx="1"/>
            <a:endCxn id="57" idx="1"/>
          </p:cNvCxnSpPr>
          <p:nvPr/>
        </p:nvCxnSpPr>
        <p:spPr>
          <a:xfrm rot="10800000">
            <a:off x="296155" y="1264955"/>
            <a:ext cx="85029" cy="491952"/>
          </a:xfrm>
          <a:prstGeom prst="bentConnector3">
            <a:avLst>
              <a:gd name="adj1" fmla="val 3688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AF0EC22-AE40-48F4-B405-DAE746667C8B}"/>
              </a:ext>
            </a:extLst>
          </p:cNvPr>
          <p:cNvSpPr txBox="1"/>
          <p:nvPr/>
        </p:nvSpPr>
        <p:spPr>
          <a:xfrm>
            <a:off x="296154" y="1157233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FAFF482-B8E1-4D33-AC7B-D953FB0B5ADE}"/>
              </a:ext>
            </a:extLst>
          </p:cNvPr>
          <p:cNvSpPr/>
          <p:nvPr/>
        </p:nvSpPr>
        <p:spPr>
          <a:xfrm>
            <a:off x="8087410" y="6267450"/>
            <a:ext cx="2409140" cy="25526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0CBB794D-7D63-4FF4-B0DC-430C1EF30632}"/>
              </a:ext>
            </a:extLst>
          </p:cNvPr>
          <p:cNvSpPr/>
          <p:nvPr/>
        </p:nvSpPr>
        <p:spPr>
          <a:xfrm>
            <a:off x="7907684" y="2246845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980789FD-2748-432E-AF54-557D7D26DFA3}"/>
              </a:ext>
            </a:extLst>
          </p:cNvPr>
          <p:cNvSpPr/>
          <p:nvPr/>
        </p:nvSpPr>
        <p:spPr>
          <a:xfrm>
            <a:off x="7896224" y="2900953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E2D716F-0DD5-4766-98DB-6F78B2E86D07}"/>
              </a:ext>
            </a:extLst>
          </p:cNvPr>
          <p:cNvSpPr/>
          <p:nvPr/>
        </p:nvSpPr>
        <p:spPr>
          <a:xfrm>
            <a:off x="2820941" y="1926819"/>
            <a:ext cx="631066" cy="9009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</a:t>
            </a:r>
            <a:r>
              <a:rPr lang="en-US" sz="1200" b="1" dirty="0" err="1">
                <a:solidFill>
                  <a:schemeClr val="tx1"/>
                </a:solidFill>
              </a:rPr>
              <a:t>Percpu</a:t>
            </a:r>
            <a:r>
              <a:rPr lang="en-US" sz="1200" b="1" dirty="0">
                <a:solidFill>
                  <a:schemeClr val="tx1"/>
                </a:solidFill>
              </a:rPr>
              <a:t> 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</p:spTree>
    <p:extLst>
      <p:ext uri="{BB962C8B-B14F-4D97-AF65-F5344CB8AC3E}">
        <p14:creationId xmlns:p14="http://schemas.microsoft.com/office/powerpoint/2010/main" val="2825261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9A2184-9802-432A-BF50-5F7DE934934E}"/>
              </a:ext>
            </a:extLst>
          </p:cNvPr>
          <p:cNvSpPr/>
          <p:nvPr/>
        </p:nvSpPr>
        <p:spPr>
          <a:xfrm>
            <a:off x="2569216" y="1480038"/>
            <a:ext cx="2361068" cy="2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78321-F576-4013-A455-F1352B369403}"/>
              </a:ext>
            </a:extLst>
          </p:cNvPr>
          <p:cNvSpPr/>
          <p:nvPr/>
        </p:nvSpPr>
        <p:spPr>
          <a:xfrm>
            <a:off x="2821429" y="1717674"/>
            <a:ext cx="210885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4BF9B-B459-43B0-9839-872DD96B9C20}"/>
              </a:ext>
            </a:extLst>
          </p:cNvPr>
          <p:cNvSpPr/>
          <p:nvPr/>
        </p:nvSpPr>
        <p:spPr>
          <a:xfrm>
            <a:off x="3444875" y="1926819"/>
            <a:ext cx="1485409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AFDD60-8EA5-40CA-A63F-DDB8DB51D7F6}"/>
              </a:ext>
            </a:extLst>
          </p:cNvPr>
          <p:cNvSpPr/>
          <p:nvPr/>
        </p:nvSpPr>
        <p:spPr>
          <a:xfrm>
            <a:off x="2569217" y="2828789"/>
            <a:ext cx="236107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7E80F-6A06-49AC-936F-CA911C8C908F}"/>
              </a:ext>
            </a:extLst>
          </p:cNvPr>
          <p:cNvSpPr/>
          <p:nvPr/>
        </p:nvSpPr>
        <p:spPr>
          <a:xfrm>
            <a:off x="2569232" y="3038984"/>
            <a:ext cx="236105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327AD9-3241-4BF2-92A8-DD3BB5E6C13A}"/>
              </a:ext>
            </a:extLst>
          </p:cNvPr>
          <p:cNvSpPr/>
          <p:nvPr/>
        </p:nvSpPr>
        <p:spPr>
          <a:xfrm>
            <a:off x="2785744" y="3248957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547FB-0CD7-41CC-8A6E-6BA059E00C75}"/>
              </a:ext>
            </a:extLst>
          </p:cNvPr>
          <p:cNvSpPr/>
          <p:nvPr/>
        </p:nvSpPr>
        <p:spPr>
          <a:xfrm>
            <a:off x="3444875" y="2222101"/>
            <a:ext cx="1485898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DE617-EE28-41C6-A5D6-9607FF849D64}"/>
              </a:ext>
            </a:extLst>
          </p:cNvPr>
          <p:cNvSpPr/>
          <p:nvPr/>
        </p:nvSpPr>
        <p:spPr>
          <a:xfrm>
            <a:off x="3444875" y="2514527"/>
            <a:ext cx="1485898" cy="31321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E7F994-ACC1-4176-A479-81B6AB89DD5F}"/>
              </a:ext>
            </a:extLst>
          </p:cNvPr>
          <p:cNvSpPr/>
          <p:nvPr/>
        </p:nvSpPr>
        <p:spPr>
          <a:xfrm>
            <a:off x="2785732" y="3454494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E037EF-E770-481C-B11B-40B5B915E434}"/>
              </a:ext>
            </a:extLst>
          </p:cNvPr>
          <p:cNvSpPr/>
          <p:nvPr/>
        </p:nvSpPr>
        <p:spPr>
          <a:xfrm>
            <a:off x="3844912" y="3661775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F1678E-2119-485E-A906-9A7D859BE495}"/>
              </a:ext>
            </a:extLst>
          </p:cNvPr>
          <p:cNvSpPr/>
          <p:nvPr/>
        </p:nvSpPr>
        <p:spPr>
          <a:xfrm>
            <a:off x="3844912" y="3871748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120BB2-6E6E-457B-A1FE-51F5081D0222}"/>
              </a:ext>
            </a:extLst>
          </p:cNvPr>
          <p:cNvSpPr/>
          <p:nvPr/>
        </p:nvSpPr>
        <p:spPr>
          <a:xfrm>
            <a:off x="3844900" y="4077285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0 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A714B9-E2CB-435B-BE2A-7CE0F599184E}"/>
              </a:ext>
            </a:extLst>
          </p:cNvPr>
          <p:cNvSpPr/>
          <p:nvPr/>
        </p:nvSpPr>
        <p:spPr>
          <a:xfrm rot="5400000">
            <a:off x="2176281" y="3641908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6A1A54-D6FB-4713-9FEC-F84B40B0F7DE}"/>
              </a:ext>
            </a:extLst>
          </p:cNvPr>
          <p:cNvSpPr/>
          <p:nvPr/>
        </p:nvSpPr>
        <p:spPr>
          <a:xfrm>
            <a:off x="2822097" y="3661775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77C30A-4C38-4759-9B96-562E18D60716}"/>
              </a:ext>
            </a:extLst>
          </p:cNvPr>
          <p:cNvSpPr/>
          <p:nvPr/>
        </p:nvSpPr>
        <p:spPr>
          <a:xfrm rot="5400000">
            <a:off x="2140099" y="2146794"/>
            <a:ext cx="1111115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3FA437-7E71-453F-AEB2-8E855A62617C}"/>
              </a:ext>
            </a:extLst>
          </p:cNvPr>
          <p:cNvSpPr/>
          <p:nvPr/>
        </p:nvSpPr>
        <p:spPr>
          <a:xfrm>
            <a:off x="2820941" y="1926819"/>
            <a:ext cx="631066" cy="9009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</a:t>
            </a:r>
            <a:r>
              <a:rPr lang="en-US" sz="1200" b="1" dirty="0" err="1">
                <a:solidFill>
                  <a:schemeClr val="tx1"/>
                </a:solidFill>
              </a:rPr>
              <a:t>Percpu</a:t>
            </a:r>
            <a:r>
              <a:rPr lang="en-US" sz="1200" b="1" dirty="0">
                <a:solidFill>
                  <a:schemeClr val="tx1"/>
                </a:solidFill>
              </a:rPr>
              <a:t> 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81183" y="1497919"/>
            <a:ext cx="1832065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81183" y="2009106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381182" y="2219301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381178" y="2429274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381181" y="2639469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381183" y="3053678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381182" y="3669315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381182" y="3879288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381181" y="408948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381181" y="4299197"/>
            <a:ext cx="1832065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381180" y="4615759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81180" y="4829277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381178" y="3473789"/>
            <a:ext cx="1832065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381177" y="3256943"/>
            <a:ext cx="1832065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881BA68-DB0B-419E-B4F4-FD6A7292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151912"/>
            <a:ext cx="11345008" cy="68995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early_kmem_cache_node_alloc</a:t>
            </a:r>
            <a:r>
              <a:rPr lang="en-US" dirty="0"/>
              <a:t>() – Get a slab object from </a:t>
            </a:r>
            <a:r>
              <a:rPr lang="en-US" dirty="0" err="1"/>
              <a:t>freelist</a:t>
            </a:r>
            <a:endParaRPr lang="en-US" dirty="0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658C559-841A-4584-BD9B-03766B5F7A68}"/>
              </a:ext>
            </a:extLst>
          </p:cNvPr>
          <p:cNvCxnSpPr>
            <a:cxnSpLocks/>
            <a:stCxn id="7" idx="1"/>
            <a:endCxn id="23" idx="3"/>
          </p:cNvCxnSpPr>
          <p:nvPr/>
        </p:nvCxnSpPr>
        <p:spPr>
          <a:xfrm rot="10800000">
            <a:off x="2213249" y="1756908"/>
            <a:ext cx="355969" cy="117710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BE553E7-634C-485C-A780-48C4F891B0F9}"/>
              </a:ext>
            </a:extLst>
          </p:cNvPr>
          <p:cNvSpPr/>
          <p:nvPr/>
        </p:nvSpPr>
        <p:spPr>
          <a:xfrm>
            <a:off x="5330268" y="1575150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FA98406-3AF4-4606-B991-D7FE66CC0CC6}"/>
              </a:ext>
            </a:extLst>
          </p:cNvPr>
          <p:cNvCxnSpPr>
            <a:cxnSpLocks/>
            <a:stCxn id="8" idx="3"/>
            <a:endCxn id="46" idx="3"/>
          </p:cNvCxnSpPr>
          <p:nvPr/>
        </p:nvCxnSpPr>
        <p:spPr>
          <a:xfrm flipV="1">
            <a:off x="4930284" y="2534990"/>
            <a:ext cx="680591" cy="60922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C6667E6-B98B-48CD-9DC2-8A8E9868633D}"/>
              </a:ext>
            </a:extLst>
          </p:cNvPr>
          <p:cNvSpPr/>
          <p:nvPr/>
        </p:nvSpPr>
        <p:spPr>
          <a:xfrm rot="5400000">
            <a:off x="5038022" y="2058035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B72A8A-93D8-493E-8120-FEB38AE0F785}"/>
              </a:ext>
            </a:extLst>
          </p:cNvPr>
          <p:cNvSpPr/>
          <p:nvPr/>
        </p:nvSpPr>
        <p:spPr>
          <a:xfrm rot="5400000">
            <a:off x="5226275" y="205803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95332A-4329-496C-A2E2-0A51972C74D7}"/>
              </a:ext>
            </a:extLst>
          </p:cNvPr>
          <p:cNvSpPr txBox="1"/>
          <p:nvPr/>
        </p:nvSpPr>
        <p:spPr>
          <a:xfrm>
            <a:off x="5652958" y="1900885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8CA39A1-EDBA-4F97-A8AD-BC0D8BA8D550}"/>
              </a:ext>
            </a:extLst>
          </p:cNvPr>
          <p:cNvSpPr/>
          <p:nvPr/>
        </p:nvSpPr>
        <p:spPr>
          <a:xfrm rot="5400000">
            <a:off x="5589174" y="2058505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902263-4AB5-4AFF-807C-AD7A1806A58A}"/>
              </a:ext>
            </a:extLst>
          </p:cNvPr>
          <p:cNvSpPr txBox="1"/>
          <p:nvPr/>
        </p:nvSpPr>
        <p:spPr>
          <a:xfrm>
            <a:off x="5432147" y="1502170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381177" y="2847900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6243821" y="1540912"/>
            <a:ext cx="1659072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6243821" y="2017474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</a:t>
            </a:r>
            <a:r>
              <a:rPr lang="en-US" sz="1200" strike="sngStrike" dirty="0">
                <a:solidFill>
                  <a:srgbClr val="C00000"/>
                </a:solidFill>
              </a:rPr>
              <a:t>0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6243820" y="2227669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6243816" y="2437642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6243819" y="264783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6243815" y="180920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6243814" y="2859908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C346095-CF8C-4912-9F44-AEDF4374731C}"/>
              </a:ext>
            </a:extLst>
          </p:cNvPr>
          <p:cNvCxnSpPr>
            <a:cxnSpLocks/>
            <a:stCxn id="44" idx="2"/>
            <a:endCxn id="89" idx="0"/>
          </p:cNvCxnSpPr>
          <p:nvPr/>
        </p:nvCxnSpPr>
        <p:spPr>
          <a:xfrm rot="10800000" flipH="1">
            <a:off x="5330269" y="1540913"/>
            <a:ext cx="1743088" cy="609477"/>
          </a:xfrm>
          <a:prstGeom prst="bentConnector4">
            <a:avLst>
              <a:gd name="adj1" fmla="val -7477"/>
              <a:gd name="adj2" fmla="val 13750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11757ACD-06C7-4DE1-8F34-9DD7BEEE83DF}"/>
              </a:ext>
            </a:extLst>
          </p:cNvPr>
          <p:cNvSpPr txBox="1"/>
          <p:nvPr/>
        </p:nvSpPr>
        <p:spPr>
          <a:xfrm>
            <a:off x="5150747" y="1057489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Get a slab object from page-&gt;</a:t>
            </a:r>
            <a:r>
              <a:rPr lang="en-US" sz="1400" dirty="0" err="1"/>
              <a:t>freelist</a:t>
            </a:r>
            <a:endParaRPr lang="en-US" sz="1400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D136EC2-A721-4D0A-9A5E-92F3EE13FD9B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2213245" y="1675430"/>
            <a:ext cx="4030576" cy="3259074"/>
          </a:xfrm>
          <a:prstGeom prst="bentConnector3">
            <a:avLst>
              <a:gd name="adj1" fmla="val 970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D9E0052-093A-43C0-A1D1-D1555CB89DA6}"/>
              </a:ext>
            </a:extLst>
          </p:cNvPr>
          <p:cNvSpPr txBox="1"/>
          <p:nvPr/>
        </p:nvSpPr>
        <p:spPr>
          <a:xfrm>
            <a:off x="2483748" y="4908514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kmem_cache_node-&gt;node[node] = </a:t>
            </a:r>
            <a:r>
              <a:rPr lang="en-US" sz="1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45CA69-FD05-481B-A631-07E815E44E96}"/>
              </a:ext>
            </a:extLst>
          </p:cNvPr>
          <p:cNvSpPr txBox="1"/>
          <p:nvPr/>
        </p:nvSpPr>
        <p:spPr>
          <a:xfrm>
            <a:off x="550498" y="906593"/>
            <a:ext cx="1624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F99FFCFD-ED22-4A55-A7B3-5902A61EAD9E}"/>
              </a:ext>
            </a:extLst>
          </p:cNvPr>
          <p:cNvCxnSpPr>
            <a:cxnSpLocks/>
            <a:stCxn id="23" idx="1"/>
            <a:endCxn id="57" idx="1"/>
          </p:cNvCxnSpPr>
          <p:nvPr/>
        </p:nvCxnSpPr>
        <p:spPr>
          <a:xfrm rot="10800000">
            <a:off x="296155" y="1264955"/>
            <a:ext cx="85029" cy="491952"/>
          </a:xfrm>
          <a:prstGeom prst="bentConnector3">
            <a:avLst>
              <a:gd name="adj1" fmla="val 3688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AF0EC22-AE40-48F4-B405-DAE746667C8B}"/>
              </a:ext>
            </a:extLst>
          </p:cNvPr>
          <p:cNvSpPr txBox="1"/>
          <p:nvPr/>
        </p:nvSpPr>
        <p:spPr>
          <a:xfrm>
            <a:off x="296154" y="1157233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8129BF4-978B-43C7-89C8-D8A9CC9B939F}"/>
              </a:ext>
            </a:extLst>
          </p:cNvPr>
          <p:cNvSpPr/>
          <p:nvPr/>
        </p:nvSpPr>
        <p:spPr>
          <a:xfrm>
            <a:off x="5800623" y="671914"/>
            <a:ext cx="886382" cy="3037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list_head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CBD1F4D-C7D2-48C0-8AD6-86AC61C3CB00}"/>
              </a:ext>
            </a:extLst>
          </p:cNvPr>
          <p:cNvCxnSpPr>
            <a:stCxn id="91" idx="3"/>
            <a:endCxn id="59" idx="3"/>
          </p:cNvCxnSpPr>
          <p:nvPr/>
        </p:nvCxnSpPr>
        <p:spPr>
          <a:xfrm flipH="1" flipV="1">
            <a:off x="6687005" y="823777"/>
            <a:ext cx="1215887" cy="1509119"/>
          </a:xfrm>
          <a:prstGeom prst="bentConnector3">
            <a:avLst>
              <a:gd name="adj1" fmla="val -15667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3BCFF9FF-AE6B-4CD7-8CF1-6E0C47243C34}"/>
              </a:ext>
            </a:extLst>
          </p:cNvPr>
          <p:cNvCxnSpPr>
            <a:stCxn id="59" idx="1"/>
            <a:endCxn id="5" idx="3"/>
          </p:cNvCxnSpPr>
          <p:nvPr/>
        </p:nvCxnSpPr>
        <p:spPr>
          <a:xfrm rot="10800000" flipV="1">
            <a:off x="4930285" y="823777"/>
            <a:ext cx="870339" cy="999124"/>
          </a:xfrm>
          <a:prstGeom prst="bentConnector3">
            <a:avLst>
              <a:gd name="adj1" fmla="val 80643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9FBFBCDA-6EE7-4154-A431-060F465FC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350" y="3150979"/>
            <a:ext cx="4809122" cy="362426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015B1B6A-CFCC-4544-BF84-54C4EA052A59}"/>
              </a:ext>
            </a:extLst>
          </p:cNvPr>
          <p:cNvSpPr/>
          <p:nvPr/>
        </p:nvSpPr>
        <p:spPr>
          <a:xfrm>
            <a:off x="8087410" y="6515100"/>
            <a:ext cx="2409140" cy="25526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D785FB4-D5B0-43B2-B6E2-8E7AD6FAF01F}"/>
              </a:ext>
            </a:extLst>
          </p:cNvPr>
          <p:cNvSpPr/>
          <p:nvPr/>
        </p:nvSpPr>
        <p:spPr>
          <a:xfrm>
            <a:off x="7896224" y="2900953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07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9A2184-9802-432A-BF50-5F7DE934934E}"/>
              </a:ext>
            </a:extLst>
          </p:cNvPr>
          <p:cNvSpPr/>
          <p:nvPr/>
        </p:nvSpPr>
        <p:spPr>
          <a:xfrm>
            <a:off x="2969266" y="2003913"/>
            <a:ext cx="2361068" cy="2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78321-F576-4013-A455-F1352B369403}"/>
              </a:ext>
            </a:extLst>
          </p:cNvPr>
          <p:cNvSpPr/>
          <p:nvPr/>
        </p:nvSpPr>
        <p:spPr>
          <a:xfrm>
            <a:off x="3221479" y="2241549"/>
            <a:ext cx="210885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4BF9B-B459-43B0-9839-872DD96B9C20}"/>
              </a:ext>
            </a:extLst>
          </p:cNvPr>
          <p:cNvSpPr/>
          <p:nvPr/>
        </p:nvSpPr>
        <p:spPr>
          <a:xfrm>
            <a:off x="3844925" y="2450694"/>
            <a:ext cx="1485409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AFDD60-8EA5-40CA-A63F-DDB8DB51D7F6}"/>
              </a:ext>
            </a:extLst>
          </p:cNvPr>
          <p:cNvSpPr/>
          <p:nvPr/>
        </p:nvSpPr>
        <p:spPr>
          <a:xfrm>
            <a:off x="2969267" y="3352664"/>
            <a:ext cx="236107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7E80F-6A06-49AC-936F-CA911C8C908F}"/>
              </a:ext>
            </a:extLst>
          </p:cNvPr>
          <p:cNvSpPr/>
          <p:nvPr/>
        </p:nvSpPr>
        <p:spPr>
          <a:xfrm>
            <a:off x="2969282" y="3562859"/>
            <a:ext cx="236105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327AD9-3241-4BF2-92A8-DD3BB5E6C13A}"/>
              </a:ext>
            </a:extLst>
          </p:cNvPr>
          <p:cNvSpPr/>
          <p:nvPr/>
        </p:nvSpPr>
        <p:spPr>
          <a:xfrm>
            <a:off x="3185794" y="3772832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547FB-0CD7-41CC-8A6E-6BA059E00C75}"/>
              </a:ext>
            </a:extLst>
          </p:cNvPr>
          <p:cNvSpPr/>
          <p:nvPr/>
        </p:nvSpPr>
        <p:spPr>
          <a:xfrm>
            <a:off x="3844925" y="2745976"/>
            <a:ext cx="1485898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DE617-EE28-41C6-A5D6-9607FF849D64}"/>
              </a:ext>
            </a:extLst>
          </p:cNvPr>
          <p:cNvSpPr/>
          <p:nvPr/>
        </p:nvSpPr>
        <p:spPr>
          <a:xfrm>
            <a:off x="3844925" y="3038402"/>
            <a:ext cx="1485898" cy="31321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E7F994-ACC1-4176-A479-81B6AB89DD5F}"/>
              </a:ext>
            </a:extLst>
          </p:cNvPr>
          <p:cNvSpPr/>
          <p:nvPr/>
        </p:nvSpPr>
        <p:spPr>
          <a:xfrm>
            <a:off x="3185782" y="3978369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E037EF-E770-481C-B11B-40B5B915E434}"/>
              </a:ext>
            </a:extLst>
          </p:cNvPr>
          <p:cNvSpPr/>
          <p:nvPr/>
        </p:nvSpPr>
        <p:spPr>
          <a:xfrm>
            <a:off x="4244962" y="4185650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F1678E-2119-485E-A906-9A7D859BE495}"/>
              </a:ext>
            </a:extLst>
          </p:cNvPr>
          <p:cNvSpPr/>
          <p:nvPr/>
        </p:nvSpPr>
        <p:spPr>
          <a:xfrm>
            <a:off x="4244962" y="4395623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120BB2-6E6E-457B-A1FE-51F5081D0222}"/>
              </a:ext>
            </a:extLst>
          </p:cNvPr>
          <p:cNvSpPr/>
          <p:nvPr/>
        </p:nvSpPr>
        <p:spPr>
          <a:xfrm>
            <a:off x="4244950" y="4601160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A714B9-E2CB-435B-BE2A-7CE0F599184E}"/>
              </a:ext>
            </a:extLst>
          </p:cNvPr>
          <p:cNvSpPr/>
          <p:nvPr/>
        </p:nvSpPr>
        <p:spPr>
          <a:xfrm rot="5400000">
            <a:off x="2576331" y="4165783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6A1A54-D6FB-4713-9FEC-F84B40B0F7DE}"/>
              </a:ext>
            </a:extLst>
          </p:cNvPr>
          <p:cNvSpPr/>
          <p:nvPr/>
        </p:nvSpPr>
        <p:spPr>
          <a:xfrm>
            <a:off x="3222147" y="4185650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77C30A-4C38-4759-9B96-562E18D60716}"/>
              </a:ext>
            </a:extLst>
          </p:cNvPr>
          <p:cNvSpPr/>
          <p:nvPr/>
        </p:nvSpPr>
        <p:spPr>
          <a:xfrm rot="5400000">
            <a:off x="2540149" y="2670669"/>
            <a:ext cx="1111115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3FA437-7E71-453F-AEB2-8E855A62617C}"/>
              </a:ext>
            </a:extLst>
          </p:cNvPr>
          <p:cNvSpPr/>
          <p:nvPr/>
        </p:nvSpPr>
        <p:spPr>
          <a:xfrm>
            <a:off x="3220991" y="2450694"/>
            <a:ext cx="631066" cy="9009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</a:t>
            </a:r>
            <a:r>
              <a:rPr lang="en-US" sz="1200" b="1" dirty="0" err="1">
                <a:solidFill>
                  <a:schemeClr val="tx1"/>
                </a:solidFill>
              </a:rPr>
              <a:t>Percpu</a:t>
            </a:r>
            <a:r>
              <a:rPr lang="en-US" sz="1200" b="1" dirty="0">
                <a:solidFill>
                  <a:schemeClr val="tx1"/>
                </a:solidFill>
              </a:rPr>
              <a:t> 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543108" y="2021794"/>
            <a:ext cx="1832065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543108" y="2532981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543107" y="2743176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543103" y="2953149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543106" y="3163344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543108" y="357755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543107" y="4193190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543107" y="440316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543106" y="4613358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543106" y="4823072"/>
            <a:ext cx="1832065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543105" y="5139634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543105" y="5353152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543103" y="3997664"/>
            <a:ext cx="1832065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543102" y="3780818"/>
            <a:ext cx="1832065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881BA68-DB0B-419E-B4F4-FD6A7292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17" y="-57638"/>
            <a:ext cx="12107008" cy="68995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early_kmem_cache_node_alloc</a:t>
            </a:r>
            <a:r>
              <a:rPr lang="en-US" dirty="0"/>
              <a:t>(): configure node #0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658C559-841A-4584-BD9B-03766B5F7A68}"/>
              </a:ext>
            </a:extLst>
          </p:cNvPr>
          <p:cNvCxnSpPr>
            <a:stCxn id="7" idx="1"/>
            <a:endCxn id="23" idx="3"/>
          </p:cNvCxnSpPr>
          <p:nvPr/>
        </p:nvCxnSpPr>
        <p:spPr>
          <a:xfrm rot="10800000">
            <a:off x="2375173" y="2280783"/>
            <a:ext cx="594094" cy="1177109"/>
          </a:xfrm>
          <a:prstGeom prst="bentConnector3">
            <a:avLst>
              <a:gd name="adj1" fmla="val 740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BE553E7-634C-485C-A780-48C4F891B0F9}"/>
              </a:ext>
            </a:extLst>
          </p:cNvPr>
          <p:cNvSpPr/>
          <p:nvPr/>
        </p:nvSpPr>
        <p:spPr>
          <a:xfrm>
            <a:off x="5825568" y="2099025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FA98406-3AF4-4606-B991-D7FE66CC0CC6}"/>
              </a:ext>
            </a:extLst>
          </p:cNvPr>
          <p:cNvCxnSpPr>
            <a:cxnSpLocks/>
            <a:stCxn id="8" idx="3"/>
            <a:endCxn id="46" idx="3"/>
          </p:cNvCxnSpPr>
          <p:nvPr/>
        </p:nvCxnSpPr>
        <p:spPr>
          <a:xfrm flipV="1">
            <a:off x="5330334" y="3058865"/>
            <a:ext cx="775841" cy="60922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C6667E6-B98B-48CD-9DC2-8A8E9868633D}"/>
              </a:ext>
            </a:extLst>
          </p:cNvPr>
          <p:cNvSpPr/>
          <p:nvPr/>
        </p:nvSpPr>
        <p:spPr>
          <a:xfrm rot="5400000">
            <a:off x="5533322" y="2581910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B72A8A-93D8-493E-8120-FEB38AE0F785}"/>
              </a:ext>
            </a:extLst>
          </p:cNvPr>
          <p:cNvSpPr/>
          <p:nvPr/>
        </p:nvSpPr>
        <p:spPr>
          <a:xfrm rot="5400000">
            <a:off x="5721575" y="2581911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95332A-4329-496C-A2E2-0A51972C74D7}"/>
              </a:ext>
            </a:extLst>
          </p:cNvPr>
          <p:cNvSpPr txBox="1"/>
          <p:nvPr/>
        </p:nvSpPr>
        <p:spPr>
          <a:xfrm>
            <a:off x="6148258" y="2424760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8CA39A1-EDBA-4F97-A8AD-BC0D8BA8D550}"/>
              </a:ext>
            </a:extLst>
          </p:cNvPr>
          <p:cNvSpPr/>
          <p:nvPr/>
        </p:nvSpPr>
        <p:spPr>
          <a:xfrm rot="5400000">
            <a:off x="6084474" y="2582380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902263-4AB5-4AFF-807C-AD7A1806A58A}"/>
              </a:ext>
            </a:extLst>
          </p:cNvPr>
          <p:cNvSpPr txBox="1"/>
          <p:nvPr/>
        </p:nvSpPr>
        <p:spPr>
          <a:xfrm>
            <a:off x="5927447" y="2026045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543102" y="3371775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7148696" y="2064787"/>
            <a:ext cx="1659072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7148696" y="2541349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7148695" y="2751544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7148691" y="296151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7148694" y="3171712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7148690" y="2333082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7148689" y="3379020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C346095-CF8C-4912-9F44-AEDF4374731C}"/>
              </a:ext>
            </a:extLst>
          </p:cNvPr>
          <p:cNvCxnSpPr>
            <a:stCxn id="44" idx="2"/>
            <a:endCxn id="89" idx="0"/>
          </p:cNvCxnSpPr>
          <p:nvPr/>
        </p:nvCxnSpPr>
        <p:spPr>
          <a:xfrm rot="10800000" flipH="1">
            <a:off x="5825568" y="2064788"/>
            <a:ext cx="2152663" cy="609477"/>
          </a:xfrm>
          <a:prstGeom prst="bentConnector4">
            <a:avLst>
              <a:gd name="adj1" fmla="val -5611"/>
              <a:gd name="adj2" fmla="val 13750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11757ACD-06C7-4DE1-8F34-9DD7BEEE83DF}"/>
              </a:ext>
            </a:extLst>
          </p:cNvPr>
          <p:cNvSpPr txBox="1"/>
          <p:nvPr/>
        </p:nvSpPr>
        <p:spPr>
          <a:xfrm>
            <a:off x="5455547" y="1562402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Get a slab object from page-&gt;</a:t>
            </a:r>
            <a:r>
              <a:rPr lang="en-US" sz="1400" dirty="0" err="1"/>
              <a:t>freelist</a:t>
            </a:r>
            <a:endParaRPr lang="en-US" sz="1400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D136EC2-A721-4D0A-9A5E-92F3EE13FD9B}"/>
              </a:ext>
            </a:extLst>
          </p:cNvPr>
          <p:cNvCxnSpPr>
            <a:stCxn id="37" idx="3"/>
            <a:endCxn id="89" idx="1"/>
          </p:cNvCxnSpPr>
          <p:nvPr/>
        </p:nvCxnSpPr>
        <p:spPr>
          <a:xfrm flipV="1">
            <a:off x="2375170" y="2199305"/>
            <a:ext cx="4773526" cy="3259074"/>
          </a:xfrm>
          <a:prstGeom prst="bentConnector3">
            <a:avLst>
              <a:gd name="adj1" fmla="val 9210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D9E0052-093A-43C0-A1D1-D1555CB89DA6}"/>
              </a:ext>
            </a:extLst>
          </p:cNvPr>
          <p:cNvSpPr txBox="1"/>
          <p:nvPr/>
        </p:nvSpPr>
        <p:spPr>
          <a:xfrm>
            <a:off x="2645673" y="5432389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kmem_cache_node-&gt;node[node] = </a:t>
            </a:r>
            <a:r>
              <a:rPr lang="en-US" sz="1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8CFA28-01D7-4E37-8718-B27A0E4085D6}"/>
              </a:ext>
            </a:extLst>
          </p:cNvPr>
          <p:cNvSpPr/>
          <p:nvPr/>
        </p:nvSpPr>
        <p:spPr>
          <a:xfrm>
            <a:off x="6335256" y="1221959"/>
            <a:ext cx="886382" cy="3037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list_head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E7E91900-9571-48FE-AAA5-D04E6CF1168D}"/>
              </a:ext>
            </a:extLst>
          </p:cNvPr>
          <p:cNvCxnSpPr>
            <a:stCxn id="5" idx="3"/>
            <a:endCxn id="53" idx="1"/>
          </p:cNvCxnSpPr>
          <p:nvPr/>
        </p:nvCxnSpPr>
        <p:spPr>
          <a:xfrm flipV="1">
            <a:off x="5330334" y="1373822"/>
            <a:ext cx="1004922" cy="972954"/>
          </a:xfrm>
          <a:prstGeom prst="bentConnector3">
            <a:avLst>
              <a:gd name="adj1" fmla="val 11138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E999507D-7735-481F-92B4-145BAF6D3FF0}"/>
              </a:ext>
            </a:extLst>
          </p:cNvPr>
          <p:cNvCxnSpPr>
            <a:stCxn id="53" idx="3"/>
            <a:endCxn id="91" idx="3"/>
          </p:cNvCxnSpPr>
          <p:nvPr/>
        </p:nvCxnSpPr>
        <p:spPr>
          <a:xfrm>
            <a:off x="7221638" y="1373822"/>
            <a:ext cx="1586129" cy="1482949"/>
          </a:xfrm>
          <a:prstGeom prst="bentConnector3">
            <a:avLst>
              <a:gd name="adj1" fmla="val 114412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ight Brace 59">
            <a:extLst>
              <a:ext uri="{FF2B5EF4-FFF2-40B4-BE49-F238E27FC236}">
                <a16:creationId xmlns:a16="http://schemas.microsoft.com/office/drawing/2014/main" id="{5EA58C1B-FFBB-4CB6-B840-C84E2B45B768}"/>
              </a:ext>
            </a:extLst>
          </p:cNvPr>
          <p:cNvSpPr/>
          <p:nvPr/>
        </p:nvSpPr>
        <p:spPr>
          <a:xfrm>
            <a:off x="8839200" y="2962674"/>
            <a:ext cx="238728" cy="629684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F9DCC2-C94C-42B6-B29A-38A7B70EA2B6}"/>
              </a:ext>
            </a:extLst>
          </p:cNvPr>
          <p:cNvSpPr txBox="1"/>
          <p:nvPr/>
        </p:nvSpPr>
        <p:spPr>
          <a:xfrm>
            <a:off x="9099836" y="3123050"/>
            <a:ext cx="2114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CONFIG_SLUB_DEBUG = 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F78ED6-D882-4065-A9A4-458F82159BC2}"/>
              </a:ext>
            </a:extLst>
          </p:cNvPr>
          <p:cNvSpPr txBox="1"/>
          <p:nvPr/>
        </p:nvSpPr>
        <p:spPr>
          <a:xfrm>
            <a:off x="677562" y="1411300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4E75264A-2718-4891-B0C9-DAB683B19009}"/>
              </a:ext>
            </a:extLst>
          </p:cNvPr>
          <p:cNvCxnSpPr>
            <a:cxnSpLocks/>
            <a:stCxn id="23" idx="1"/>
            <a:endCxn id="71" idx="1"/>
          </p:cNvCxnSpPr>
          <p:nvPr/>
        </p:nvCxnSpPr>
        <p:spPr>
          <a:xfrm rot="10800000">
            <a:off x="531540" y="1779224"/>
            <a:ext cx="11568" cy="501558"/>
          </a:xfrm>
          <a:prstGeom prst="bentConnector3">
            <a:avLst>
              <a:gd name="adj1" fmla="val 207614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A6B74DB-CAA8-4597-ADC3-DEAA2B641059}"/>
              </a:ext>
            </a:extLst>
          </p:cNvPr>
          <p:cNvSpPr txBox="1"/>
          <p:nvPr/>
        </p:nvSpPr>
        <p:spPr>
          <a:xfrm>
            <a:off x="531540" y="16715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0" name="矩形 40">
            <a:extLst>
              <a:ext uri="{FF2B5EF4-FFF2-40B4-BE49-F238E27FC236}">
                <a16:creationId xmlns:a16="http://schemas.microsoft.com/office/drawing/2014/main" id="{B7D2D04A-0D30-4EF2-9B37-EA4342893B94}"/>
              </a:ext>
            </a:extLst>
          </p:cNvPr>
          <p:cNvSpPr/>
          <p:nvPr/>
        </p:nvSpPr>
        <p:spPr>
          <a:xfrm>
            <a:off x="28079" y="6341867"/>
            <a:ext cx="12107008" cy="41097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Allocate slab page(s) for </a:t>
            </a:r>
            <a:r>
              <a:rPr lang="en-US" dirty="0" err="1">
                <a:solidFill>
                  <a:schemeClr val="tx1"/>
                </a:solidFill>
              </a:rPr>
              <a:t>kmem_cache_node</a:t>
            </a:r>
            <a:r>
              <a:rPr lang="en-US" dirty="0">
                <a:solidFill>
                  <a:schemeClr val="tx1"/>
                </a:solidFill>
              </a:rPr>
              <a:t> struct allocation: Fix </a:t>
            </a:r>
            <a:r>
              <a:rPr lang="en-US" altLang="zh-TW" dirty="0">
                <a:solidFill>
                  <a:schemeClr val="tx1"/>
                </a:solidFill>
              </a:rPr>
              <a:t>“the chicken or egg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problem”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14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9A2184-9802-432A-BF50-5F7DE934934E}"/>
              </a:ext>
            </a:extLst>
          </p:cNvPr>
          <p:cNvSpPr/>
          <p:nvPr/>
        </p:nvSpPr>
        <p:spPr>
          <a:xfrm>
            <a:off x="2969266" y="2003913"/>
            <a:ext cx="2361068" cy="2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78321-F576-4013-A455-F1352B369403}"/>
              </a:ext>
            </a:extLst>
          </p:cNvPr>
          <p:cNvSpPr/>
          <p:nvPr/>
        </p:nvSpPr>
        <p:spPr>
          <a:xfrm>
            <a:off x="3221479" y="2241549"/>
            <a:ext cx="210885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4BF9B-B459-43B0-9839-872DD96B9C20}"/>
              </a:ext>
            </a:extLst>
          </p:cNvPr>
          <p:cNvSpPr/>
          <p:nvPr/>
        </p:nvSpPr>
        <p:spPr>
          <a:xfrm>
            <a:off x="3844925" y="2450694"/>
            <a:ext cx="1485409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AFDD60-8EA5-40CA-A63F-DDB8DB51D7F6}"/>
              </a:ext>
            </a:extLst>
          </p:cNvPr>
          <p:cNvSpPr/>
          <p:nvPr/>
        </p:nvSpPr>
        <p:spPr>
          <a:xfrm>
            <a:off x="2969267" y="3352664"/>
            <a:ext cx="236107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7E80F-6A06-49AC-936F-CA911C8C908F}"/>
              </a:ext>
            </a:extLst>
          </p:cNvPr>
          <p:cNvSpPr/>
          <p:nvPr/>
        </p:nvSpPr>
        <p:spPr>
          <a:xfrm>
            <a:off x="2969282" y="3562859"/>
            <a:ext cx="236105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327AD9-3241-4BF2-92A8-DD3BB5E6C13A}"/>
              </a:ext>
            </a:extLst>
          </p:cNvPr>
          <p:cNvSpPr/>
          <p:nvPr/>
        </p:nvSpPr>
        <p:spPr>
          <a:xfrm>
            <a:off x="3185794" y="3772832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547FB-0CD7-41CC-8A6E-6BA059E00C75}"/>
              </a:ext>
            </a:extLst>
          </p:cNvPr>
          <p:cNvSpPr/>
          <p:nvPr/>
        </p:nvSpPr>
        <p:spPr>
          <a:xfrm>
            <a:off x="3844925" y="2745976"/>
            <a:ext cx="1485898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DE617-EE28-41C6-A5D6-9607FF849D64}"/>
              </a:ext>
            </a:extLst>
          </p:cNvPr>
          <p:cNvSpPr/>
          <p:nvPr/>
        </p:nvSpPr>
        <p:spPr>
          <a:xfrm>
            <a:off x="3844925" y="3038402"/>
            <a:ext cx="1485898" cy="31321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E7F994-ACC1-4176-A479-81B6AB89DD5F}"/>
              </a:ext>
            </a:extLst>
          </p:cNvPr>
          <p:cNvSpPr/>
          <p:nvPr/>
        </p:nvSpPr>
        <p:spPr>
          <a:xfrm>
            <a:off x="3185782" y="3978369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E037EF-E770-481C-B11B-40B5B915E434}"/>
              </a:ext>
            </a:extLst>
          </p:cNvPr>
          <p:cNvSpPr/>
          <p:nvPr/>
        </p:nvSpPr>
        <p:spPr>
          <a:xfrm>
            <a:off x="4244962" y="4185650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F1678E-2119-485E-A906-9A7D859BE495}"/>
              </a:ext>
            </a:extLst>
          </p:cNvPr>
          <p:cNvSpPr/>
          <p:nvPr/>
        </p:nvSpPr>
        <p:spPr>
          <a:xfrm>
            <a:off x="4244962" y="4395623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120BB2-6E6E-457B-A1FE-51F5081D0222}"/>
              </a:ext>
            </a:extLst>
          </p:cNvPr>
          <p:cNvSpPr/>
          <p:nvPr/>
        </p:nvSpPr>
        <p:spPr>
          <a:xfrm>
            <a:off x="4244950" y="4601160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A714B9-E2CB-435B-BE2A-7CE0F599184E}"/>
              </a:ext>
            </a:extLst>
          </p:cNvPr>
          <p:cNvSpPr/>
          <p:nvPr/>
        </p:nvSpPr>
        <p:spPr>
          <a:xfrm rot="5400000">
            <a:off x="2576331" y="4165783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6A1A54-D6FB-4713-9FEC-F84B40B0F7DE}"/>
              </a:ext>
            </a:extLst>
          </p:cNvPr>
          <p:cNvSpPr/>
          <p:nvPr/>
        </p:nvSpPr>
        <p:spPr>
          <a:xfrm>
            <a:off x="3222147" y="4185650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77C30A-4C38-4759-9B96-562E18D60716}"/>
              </a:ext>
            </a:extLst>
          </p:cNvPr>
          <p:cNvSpPr/>
          <p:nvPr/>
        </p:nvSpPr>
        <p:spPr>
          <a:xfrm rot="5400000">
            <a:off x="2540149" y="2670669"/>
            <a:ext cx="1111115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3FA437-7E71-453F-AEB2-8E855A62617C}"/>
              </a:ext>
            </a:extLst>
          </p:cNvPr>
          <p:cNvSpPr/>
          <p:nvPr/>
        </p:nvSpPr>
        <p:spPr>
          <a:xfrm>
            <a:off x="3220991" y="2450694"/>
            <a:ext cx="631066" cy="9009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543108" y="2021794"/>
            <a:ext cx="1832065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543108" y="2532981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543107" y="2743176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543103" y="2953149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543106" y="3163344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543108" y="357755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543107" y="4193190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543107" y="440316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543106" y="4613358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543106" y="4823072"/>
            <a:ext cx="1832065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543105" y="5139634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543105" y="5353152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543103" y="3997664"/>
            <a:ext cx="1832065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543102" y="3780818"/>
            <a:ext cx="1832065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658C559-841A-4584-BD9B-03766B5F7A68}"/>
              </a:ext>
            </a:extLst>
          </p:cNvPr>
          <p:cNvCxnSpPr>
            <a:stCxn id="7" idx="1"/>
            <a:endCxn id="23" idx="3"/>
          </p:cNvCxnSpPr>
          <p:nvPr/>
        </p:nvCxnSpPr>
        <p:spPr>
          <a:xfrm rot="10800000">
            <a:off x="2375173" y="2280783"/>
            <a:ext cx="594094" cy="1177109"/>
          </a:xfrm>
          <a:prstGeom prst="bentConnector3">
            <a:avLst>
              <a:gd name="adj1" fmla="val 740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BE553E7-634C-485C-A780-48C4F891B0F9}"/>
              </a:ext>
            </a:extLst>
          </p:cNvPr>
          <p:cNvSpPr/>
          <p:nvPr/>
        </p:nvSpPr>
        <p:spPr>
          <a:xfrm>
            <a:off x="5825568" y="2099025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FA98406-3AF4-4606-B991-D7FE66CC0CC6}"/>
              </a:ext>
            </a:extLst>
          </p:cNvPr>
          <p:cNvCxnSpPr>
            <a:cxnSpLocks/>
            <a:stCxn id="8" idx="3"/>
            <a:endCxn id="46" idx="3"/>
          </p:cNvCxnSpPr>
          <p:nvPr/>
        </p:nvCxnSpPr>
        <p:spPr>
          <a:xfrm flipV="1">
            <a:off x="5330334" y="3058865"/>
            <a:ext cx="775841" cy="60922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C6667E6-B98B-48CD-9DC2-8A8E9868633D}"/>
              </a:ext>
            </a:extLst>
          </p:cNvPr>
          <p:cNvSpPr/>
          <p:nvPr/>
        </p:nvSpPr>
        <p:spPr>
          <a:xfrm rot="5400000">
            <a:off x="5533322" y="2581910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B72A8A-93D8-493E-8120-FEB38AE0F785}"/>
              </a:ext>
            </a:extLst>
          </p:cNvPr>
          <p:cNvSpPr/>
          <p:nvPr/>
        </p:nvSpPr>
        <p:spPr>
          <a:xfrm rot="5400000">
            <a:off x="5721575" y="2581911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95332A-4329-496C-A2E2-0A51972C74D7}"/>
              </a:ext>
            </a:extLst>
          </p:cNvPr>
          <p:cNvSpPr txBox="1"/>
          <p:nvPr/>
        </p:nvSpPr>
        <p:spPr>
          <a:xfrm>
            <a:off x="6148258" y="2424760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8CA39A1-EDBA-4F97-A8AD-BC0D8BA8D550}"/>
              </a:ext>
            </a:extLst>
          </p:cNvPr>
          <p:cNvSpPr/>
          <p:nvPr/>
        </p:nvSpPr>
        <p:spPr>
          <a:xfrm rot="5400000">
            <a:off x="6084474" y="2582380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902263-4AB5-4AFF-807C-AD7A1806A58A}"/>
              </a:ext>
            </a:extLst>
          </p:cNvPr>
          <p:cNvSpPr txBox="1"/>
          <p:nvPr/>
        </p:nvSpPr>
        <p:spPr>
          <a:xfrm>
            <a:off x="5927447" y="2026045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543102" y="3371775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7148696" y="2064787"/>
            <a:ext cx="1659072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7148696" y="2541349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7148695" y="2751544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7148691" y="296151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7148694" y="3171712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7148690" y="2333082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7148689" y="3379020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C346095-CF8C-4912-9F44-AEDF4374731C}"/>
              </a:ext>
            </a:extLst>
          </p:cNvPr>
          <p:cNvCxnSpPr>
            <a:stCxn id="44" idx="2"/>
            <a:endCxn id="89" idx="0"/>
          </p:cNvCxnSpPr>
          <p:nvPr/>
        </p:nvCxnSpPr>
        <p:spPr>
          <a:xfrm rot="10800000" flipH="1">
            <a:off x="5825568" y="2064788"/>
            <a:ext cx="2152663" cy="609477"/>
          </a:xfrm>
          <a:prstGeom prst="bentConnector4">
            <a:avLst>
              <a:gd name="adj1" fmla="val -5611"/>
              <a:gd name="adj2" fmla="val 13750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11757ACD-06C7-4DE1-8F34-9DD7BEEE83DF}"/>
              </a:ext>
            </a:extLst>
          </p:cNvPr>
          <p:cNvSpPr txBox="1"/>
          <p:nvPr/>
        </p:nvSpPr>
        <p:spPr>
          <a:xfrm>
            <a:off x="5455547" y="1562402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Get a slab object from page-&gt;</a:t>
            </a:r>
            <a:r>
              <a:rPr lang="en-US" sz="1400" dirty="0" err="1"/>
              <a:t>freelist</a:t>
            </a:r>
            <a:endParaRPr lang="en-US" sz="1400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D136EC2-A721-4D0A-9A5E-92F3EE13FD9B}"/>
              </a:ext>
            </a:extLst>
          </p:cNvPr>
          <p:cNvCxnSpPr>
            <a:stCxn id="37" idx="3"/>
            <a:endCxn id="89" idx="1"/>
          </p:cNvCxnSpPr>
          <p:nvPr/>
        </p:nvCxnSpPr>
        <p:spPr>
          <a:xfrm flipV="1">
            <a:off x="2375170" y="2199305"/>
            <a:ext cx="4773526" cy="3259074"/>
          </a:xfrm>
          <a:prstGeom prst="bentConnector3">
            <a:avLst>
              <a:gd name="adj1" fmla="val 9210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D9E0052-093A-43C0-A1D1-D1555CB89DA6}"/>
              </a:ext>
            </a:extLst>
          </p:cNvPr>
          <p:cNvSpPr txBox="1"/>
          <p:nvPr/>
        </p:nvSpPr>
        <p:spPr>
          <a:xfrm>
            <a:off x="2645673" y="5432389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kmem_cache_node-&gt;node[node] = </a:t>
            </a:r>
            <a:r>
              <a:rPr lang="en-US" sz="1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8CFA28-01D7-4E37-8718-B27A0E4085D6}"/>
              </a:ext>
            </a:extLst>
          </p:cNvPr>
          <p:cNvSpPr/>
          <p:nvPr/>
        </p:nvSpPr>
        <p:spPr>
          <a:xfrm>
            <a:off x="6335256" y="1221959"/>
            <a:ext cx="886382" cy="3037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list_head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E7E91900-9571-48FE-AAA5-D04E6CF1168D}"/>
              </a:ext>
            </a:extLst>
          </p:cNvPr>
          <p:cNvCxnSpPr>
            <a:stCxn id="5" idx="3"/>
            <a:endCxn id="53" idx="1"/>
          </p:cNvCxnSpPr>
          <p:nvPr/>
        </p:nvCxnSpPr>
        <p:spPr>
          <a:xfrm flipV="1">
            <a:off x="5330334" y="1373822"/>
            <a:ext cx="1004922" cy="972954"/>
          </a:xfrm>
          <a:prstGeom prst="bentConnector3">
            <a:avLst>
              <a:gd name="adj1" fmla="val 11138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E999507D-7735-481F-92B4-145BAF6D3FF0}"/>
              </a:ext>
            </a:extLst>
          </p:cNvPr>
          <p:cNvCxnSpPr>
            <a:stCxn id="53" idx="3"/>
            <a:endCxn id="91" idx="3"/>
          </p:cNvCxnSpPr>
          <p:nvPr/>
        </p:nvCxnSpPr>
        <p:spPr>
          <a:xfrm>
            <a:off x="7221638" y="1373822"/>
            <a:ext cx="1586129" cy="1482949"/>
          </a:xfrm>
          <a:prstGeom prst="bentConnector3">
            <a:avLst>
              <a:gd name="adj1" fmla="val 114412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ight Brace 59">
            <a:extLst>
              <a:ext uri="{FF2B5EF4-FFF2-40B4-BE49-F238E27FC236}">
                <a16:creationId xmlns:a16="http://schemas.microsoft.com/office/drawing/2014/main" id="{5EA58C1B-FFBB-4CB6-B840-C84E2B45B768}"/>
              </a:ext>
            </a:extLst>
          </p:cNvPr>
          <p:cNvSpPr/>
          <p:nvPr/>
        </p:nvSpPr>
        <p:spPr>
          <a:xfrm>
            <a:off x="8839200" y="2962674"/>
            <a:ext cx="238728" cy="629684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F9DCC2-C94C-42B6-B29A-38A7B70EA2B6}"/>
              </a:ext>
            </a:extLst>
          </p:cNvPr>
          <p:cNvSpPr txBox="1"/>
          <p:nvPr/>
        </p:nvSpPr>
        <p:spPr>
          <a:xfrm>
            <a:off x="9099836" y="3123050"/>
            <a:ext cx="2114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CONFIG_SLUB_DEBUG = 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B8730B-1BDE-4AC6-A9C3-63D06479B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50" y="771463"/>
            <a:ext cx="5436740" cy="579324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71" name="Title 1">
            <a:extLst>
              <a:ext uri="{FF2B5EF4-FFF2-40B4-BE49-F238E27FC236}">
                <a16:creationId xmlns:a16="http://schemas.microsoft.com/office/drawing/2014/main" id="{10F43BA1-8BA3-42B9-9CD8-2CCF5269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17" y="-57638"/>
            <a:ext cx="12107008" cy="68995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early_kmem_cache_node_alloc</a:t>
            </a:r>
            <a:r>
              <a:rPr lang="en-US" dirty="0"/>
              <a:t>(): configure node #0</a:t>
            </a:r>
          </a:p>
        </p:txBody>
      </p:sp>
    </p:spTree>
    <p:extLst>
      <p:ext uri="{BB962C8B-B14F-4D97-AF65-F5344CB8AC3E}">
        <p14:creationId xmlns:p14="http://schemas.microsoft.com/office/powerpoint/2010/main" val="4070222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9A2184-9802-432A-BF50-5F7DE934934E}"/>
              </a:ext>
            </a:extLst>
          </p:cNvPr>
          <p:cNvSpPr/>
          <p:nvPr/>
        </p:nvSpPr>
        <p:spPr>
          <a:xfrm>
            <a:off x="2969266" y="1384788"/>
            <a:ext cx="2361068" cy="2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78321-F576-4013-A455-F1352B369403}"/>
              </a:ext>
            </a:extLst>
          </p:cNvPr>
          <p:cNvSpPr/>
          <p:nvPr/>
        </p:nvSpPr>
        <p:spPr>
          <a:xfrm>
            <a:off x="3221479" y="1622424"/>
            <a:ext cx="210885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4BF9B-B459-43B0-9839-872DD96B9C20}"/>
              </a:ext>
            </a:extLst>
          </p:cNvPr>
          <p:cNvSpPr/>
          <p:nvPr/>
        </p:nvSpPr>
        <p:spPr>
          <a:xfrm>
            <a:off x="3844925" y="1831569"/>
            <a:ext cx="1485409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AFDD60-8EA5-40CA-A63F-DDB8DB51D7F6}"/>
              </a:ext>
            </a:extLst>
          </p:cNvPr>
          <p:cNvSpPr/>
          <p:nvPr/>
        </p:nvSpPr>
        <p:spPr>
          <a:xfrm>
            <a:off x="2969267" y="2733539"/>
            <a:ext cx="236107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7E80F-6A06-49AC-936F-CA911C8C908F}"/>
              </a:ext>
            </a:extLst>
          </p:cNvPr>
          <p:cNvSpPr/>
          <p:nvPr/>
        </p:nvSpPr>
        <p:spPr>
          <a:xfrm>
            <a:off x="2969282" y="2943734"/>
            <a:ext cx="236105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327AD9-3241-4BF2-92A8-DD3BB5E6C13A}"/>
              </a:ext>
            </a:extLst>
          </p:cNvPr>
          <p:cNvSpPr/>
          <p:nvPr/>
        </p:nvSpPr>
        <p:spPr>
          <a:xfrm>
            <a:off x="3185794" y="3153707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547FB-0CD7-41CC-8A6E-6BA059E00C75}"/>
              </a:ext>
            </a:extLst>
          </p:cNvPr>
          <p:cNvSpPr/>
          <p:nvPr/>
        </p:nvSpPr>
        <p:spPr>
          <a:xfrm>
            <a:off x="3844925" y="2126851"/>
            <a:ext cx="1485898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DE617-EE28-41C6-A5D6-9607FF849D64}"/>
              </a:ext>
            </a:extLst>
          </p:cNvPr>
          <p:cNvSpPr/>
          <p:nvPr/>
        </p:nvSpPr>
        <p:spPr>
          <a:xfrm>
            <a:off x="3844925" y="2419277"/>
            <a:ext cx="1485898" cy="31321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E7F994-ACC1-4176-A479-81B6AB89DD5F}"/>
              </a:ext>
            </a:extLst>
          </p:cNvPr>
          <p:cNvSpPr/>
          <p:nvPr/>
        </p:nvSpPr>
        <p:spPr>
          <a:xfrm>
            <a:off x="3185782" y="3359244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E037EF-E770-481C-B11B-40B5B915E434}"/>
              </a:ext>
            </a:extLst>
          </p:cNvPr>
          <p:cNvSpPr/>
          <p:nvPr/>
        </p:nvSpPr>
        <p:spPr>
          <a:xfrm>
            <a:off x="4244962" y="3566525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F1678E-2119-485E-A906-9A7D859BE495}"/>
              </a:ext>
            </a:extLst>
          </p:cNvPr>
          <p:cNvSpPr/>
          <p:nvPr/>
        </p:nvSpPr>
        <p:spPr>
          <a:xfrm>
            <a:off x="4244962" y="3776498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120BB2-6E6E-457B-A1FE-51F5081D0222}"/>
              </a:ext>
            </a:extLst>
          </p:cNvPr>
          <p:cNvSpPr/>
          <p:nvPr/>
        </p:nvSpPr>
        <p:spPr>
          <a:xfrm>
            <a:off x="4244950" y="3982035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A714B9-E2CB-435B-BE2A-7CE0F599184E}"/>
              </a:ext>
            </a:extLst>
          </p:cNvPr>
          <p:cNvSpPr/>
          <p:nvPr/>
        </p:nvSpPr>
        <p:spPr>
          <a:xfrm rot="5400000">
            <a:off x="2576331" y="3546658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6A1A54-D6FB-4713-9FEC-F84B40B0F7DE}"/>
              </a:ext>
            </a:extLst>
          </p:cNvPr>
          <p:cNvSpPr/>
          <p:nvPr/>
        </p:nvSpPr>
        <p:spPr>
          <a:xfrm>
            <a:off x="3222147" y="3566525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77C30A-4C38-4759-9B96-562E18D60716}"/>
              </a:ext>
            </a:extLst>
          </p:cNvPr>
          <p:cNvSpPr/>
          <p:nvPr/>
        </p:nvSpPr>
        <p:spPr>
          <a:xfrm rot="5400000">
            <a:off x="2540149" y="2051544"/>
            <a:ext cx="1111115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3FA437-7E71-453F-AEB2-8E855A62617C}"/>
              </a:ext>
            </a:extLst>
          </p:cNvPr>
          <p:cNvSpPr/>
          <p:nvPr/>
        </p:nvSpPr>
        <p:spPr>
          <a:xfrm>
            <a:off x="3220991" y="1831569"/>
            <a:ext cx="631066" cy="9009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</a:t>
            </a:r>
            <a:r>
              <a:rPr lang="en-US" sz="1200" b="1" dirty="0" err="1">
                <a:solidFill>
                  <a:schemeClr val="tx1"/>
                </a:solidFill>
              </a:rPr>
              <a:t>Percpu</a:t>
            </a:r>
            <a:r>
              <a:rPr lang="en-US" sz="1200" b="1" dirty="0">
                <a:solidFill>
                  <a:schemeClr val="tx1"/>
                </a:solidFill>
              </a:rPr>
              <a:t> 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428626" y="14026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428626" y="19138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428625" y="21240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428621" y="23340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428624" y="25442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428626" y="29584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428625" y="35740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428625" y="37840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428624" y="39942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428624" y="42039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428623" y="45205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428623" y="473402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428621" y="33785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428620" y="31616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658C559-841A-4584-BD9B-03766B5F7A68}"/>
              </a:ext>
            </a:extLst>
          </p:cNvPr>
          <p:cNvCxnSpPr>
            <a:cxnSpLocks/>
            <a:stCxn id="7" idx="1"/>
            <a:endCxn id="23" idx="3"/>
          </p:cNvCxnSpPr>
          <p:nvPr/>
        </p:nvCxnSpPr>
        <p:spPr>
          <a:xfrm rot="10800000">
            <a:off x="2375175" y="1661658"/>
            <a:ext cx="594093" cy="117710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BE553E7-634C-485C-A780-48C4F891B0F9}"/>
              </a:ext>
            </a:extLst>
          </p:cNvPr>
          <p:cNvSpPr/>
          <p:nvPr/>
        </p:nvSpPr>
        <p:spPr>
          <a:xfrm>
            <a:off x="5825568" y="1479900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FA98406-3AF4-4606-B991-D7FE66CC0CC6}"/>
              </a:ext>
            </a:extLst>
          </p:cNvPr>
          <p:cNvCxnSpPr>
            <a:cxnSpLocks/>
            <a:stCxn id="8" idx="3"/>
            <a:endCxn id="46" idx="3"/>
          </p:cNvCxnSpPr>
          <p:nvPr/>
        </p:nvCxnSpPr>
        <p:spPr>
          <a:xfrm flipV="1">
            <a:off x="5330334" y="2439740"/>
            <a:ext cx="775841" cy="60922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C6667E6-B98B-48CD-9DC2-8A8E9868633D}"/>
              </a:ext>
            </a:extLst>
          </p:cNvPr>
          <p:cNvSpPr/>
          <p:nvPr/>
        </p:nvSpPr>
        <p:spPr>
          <a:xfrm rot="5400000">
            <a:off x="5533322" y="1962785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B72A8A-93D8-493E-8120-FEB38AE0F785}"/>
              </a:ext>
            </a:extLst>
          </p:cNvPr>
          <p:cNvSpPr/>
          <p:nvPr/>
        </p:nvSpPr>
        <p:spPr>
          <a:xfrm rot="5400000">
            <a:off x="5721575" y="196278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95332A-4329-496C-A2E2-0A51972C74D7}"/>
              </a:ext>
            </a:extLst>
          </p:cNvPr>
          <p:cNvSpPr txBox="1"/>
          <p:nvPr/>
        </p:nvSpPr>
        <p:spPr>
          <a:xfrm>
            <a:off x="6148258" y="1805635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8CA39A1-EDBA-4F97-A8AD-BC0D8BA8D550}"/>
              </a:ext>
            </a:extLst>
          </p:cNvPr>
          <p:cNvSpPr/>
          <p:nvPr/>
        </p:nvSpPr>
        <p:spPr>
          <a:xfrm rot="5400000">
            <a:off x="6084474" y="1963255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902263-4AB5-4AFF-807C-AD7A1806A58A}"/>
              </a:ext>
            </a:extLst>
          </p:cNvPr>
          <p:cNvSpPr txBox="1"/>
          <p:nvPr/>
        </p:nvSpPr>
        <p:spPr>
          <a:xfrm>
            <a:off x="5927447" y="1406920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428620" y="27526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7148696" y="1445662"/>
            <a:ext cx="1659072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7148696" y="1922224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7148695" y="2132419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7148691" y="2342392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7148694" y="255258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7148690" y="171395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7148689" y="2759895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C346095-CF8C-4912-9F44-AEDF4374731C}"/>
              </a:ext>
            </a:extLst>
          </p:cNvPr>
          <p:cNvCxnSpPr>
            <a:stCxn id="44" idx="2"/>
            <a:endCxn id="89" idx="0"/>
          </p:cNvCxnSpPr>
          <p:nvPr/>
        </p:nvCxnSpPr>
        <p:spPr>
          <a:xfrm rot="10800000" flipH="1">
            <a:off x="5825568" y="1445663"/>
            <a:ext cx="2152663" cy="609477"/>
          </a:xfrm>
          <a:prstGeom prst="bentConnector4">
            <a:avLst>
              <a:gd name="adj1" fmla="val -5611"/>
              <a:gd name="adj2" fmla="val 13750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11757ACD-06C7-4DE1-8F34-9DD7BEEE83DF}"/>
              </a:ext>
            </a:extLst>
          </p:cNvPr>
          <p:cNvSpPr txBox="1"/>
          <p:nvPr/>
        </p:nvSpPr>
        <p:spPr>
          <a:xfrm>
            <a:off x="5455547" y="943277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Get a slab object from page-&gt;</a:t>
            </a:r>
            <a:r>
              <a:rPr lang="en-US" sz="1400" dirty="0" err="1"/>
              <a:t>freelist</a:t>
            </a:r>
            <a:endParaRPr lang="en-US" sz="1400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D136EC2-A721-4D0A-9A5E-92F3EE13FD9B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2375171" y="1580180"/>
            <a:ext cx="4773525" cy="3259074"/>
          </a:xfrm>
          <a:prstGeom prst="bentConnector3">
            <a:avLst>
              <a:gd name="adj1" fmla="val 9230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D9E0052-093A-43C0-A1D1-D1555CB89DA6}"/>
              </a:ext>
            </a:extLst>
          </p:cNvPr>
          <p:cNvSpPr txBox="1"/>
          <p:nvPr/>
        </p:nvSpPr>
        <p:spPr>
          <a:xfrm>
            <a:off x="2645673" y="4813264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kmem_cache_node-&gt;node[node] = </a:t>
            </a:r>
            <a:r>
              <a:rPr lang="en-US" sz="1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8CFA28-01D7-4E37-8718-B27A0E4085D6}"/>
              </a:ext>
            </a:extLst>
          </p:cNvPr>
          <p:cNvSpPr/>
          <p:nvPr/>
        </p:nvSpPr>
        <p:spPr>
          <a:xfrm>
            <a:off x="6335256" y="602834"/>
            <a:ext cx="886382" cy="3037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list_head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E7E91900-9571-48FE-AAA5-D04E6CF1168D}"/>
              </a:ext>
            </a:extLst>
          </p:cNvPr>
          <p:cNvCxnSpPr>
            <a:stCxn id="5" idx="3"/>
            <a:endCxn id="53" idx="1"/>
          </p:cNvCxnSpPr>
          <p:nvPr/>
        </p:nvCxnSpPr>
        <p:spPr>
          <a:xfrm flipV="1">
            <a:off x="5330334" y="754697"/>
            <a:ext cx="1004922" cy="972954"/>
          </a:xfrm>
          <a:prstGeom prst="bentConnector3">
            <a:avLst>
              <a:gd name="adj1" fmla="val 11138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E999507D-7735-481F-92B4-145BAF6D3FF0}"/>
              </a:ext>
            </a:extLst>
          </p:cNvPr>
          <p:cNvCxnSpPr>
            <a:stCxn id="53" idx="3"/>
            <a:endCxn id="91" idx="3"/>
          </p:cNvCxnSpPr>
          <p:nvPr/>
        </p:nvCxnSpPr>
        <p:spPr>
          <a:xfrm>
            <a:off x="7221638" y="754697"/>
            <a:ext cx="1586129" cy="1482949"/>
          </a:xfrm>
          <a:prstGeom prst="bentConnector3">
            <a:avLst>
              <a:gd name="adj1" fmla="val 114412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ight Brace 59">
            <a:extLst>
              <a:ext uri="{FF2B5EF4-FFF2-40B4-BE49-F238E27FC236}">
                <a16:creationId xmlns:a16="http://schemas.microsoft.com/office/drawing/2014/main" id="{5EA58C1B-FFBB-4CB6-B840-C84E2B45B768}"/>
              </a:ext>
            </a:extLst>
          </p:cNvPr>
          <p:cNvSpPr/>
          <p:nvPr/>
        </p:nvSpPr>
        <p:spPr>
          <a:xfrm>
            <a:off x="8839200" y="2343549"/>
            <a:ext cx="238728" cy="629684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F9DCC2-C94C-42B6-B29A-38A7B70EA2B6}"/>
              </a:ext>
            </a:extLst>
          </p:cNvPr>
          <p:cNvSpPr txBox="1"/>
          <p:nvPr/>
        </p:nvSpPr>
        <p:spPr>
          <a:xfrm>
            <a:off x="9099836" y="2503925"/>
            <a:ext cx="2114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CONFIG_SLUB_DEBUG = 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2EFA4F3-E95F-4F47-8DDC-BFF9B605B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247" y="4952140"/>
            <a:ext cx="6223262" cy="177936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629938" y="8487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428625" y="12077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445815" y="11000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DB93E7BB-ED49-48FB-A2A0-24E9E937C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17" y="-57638"/>
            <a:ext cx="12107008" cy="68995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early_kmem_cache_node_alloc</a:t>
            </a:r>
            <a:r>
              <a:rPr lang="en-US" dirty="0"/>
              <a:t>(): configure node #0</a:t>
            </a:r>
          </a:p>
        </p:txBody>
      </p:sp>
    </p:spTree>
    <p:extLst>
      <p:ext uri="{BB962C8B-B14F-4D97-AF65-F5344CB8AC3E}">
        <p14:creationId xmlns:p14="http://schemas.microsoft.com/office/powerpoint/2010/main" val="4041333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9A2184-9802-432A-BF50-5F7DE934934E}"/>
              </a:ext>
            </a:extLst>
          </p:cNvPr>
          <p:cNvSpPr/>
          <p:nvPr/>
        </p:nvSpPr>
        <p:spPr>
          <a:xfrm>
            <a:off x="2969266" y="1384788"/>
            <a:ext cx="2361068" cy="2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78321-F576-4013-A455-F1352B369403}"/>
              </a:ext>
            </a:extLst>
          </p:cNvPr>
          <p:cNvSpPr/>
          <p:nvPr/>
        </p:nvSpPr>
        <p:spPr>
          <a:xfrm>
            <a:off x="3221479" y="1622424"/>
            <a:ext cx="210885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4BF9B-B459-43B0-9839-872DD96B9C20}"/>
              </a:ext>
            </a:extLst>
          </p:cNvPr>
          <p:cNvSpPr/>
          <p:nvPr/>
        </p:nvSpPr>
        <p:spPr>
          <a:xfrm>
            <a:off x="3844925" y="1831569"/>
            <a:ext cx="1485409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AFDD60-8EA5-40CA-A63F-DDB8DB51D7F6}"/>
              </a:ext>
            </a:extLst>
          </p:cNvPr>
          <p:cNvSpPr/>
          <p:nvPr/>
        </p:nvSpPr>
        <p:spPr>
          <a:xfrm>
            <a:off x="2969267" y="2733539"/>
            <a:ext cx="236107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7E80F-6A06-49AC-936F-CA911C8C908F}"/>
              </a:ext>
            </a:extLst>
          </p:cNvPr>
          <p:cNvSpPr/>
          <p:nvPr/>
        </p:nvSpPr>
        <p:spPr>
          <a:xfrm>
            <a:off x="2969282" y="2943734"/>
            <a:ext cx="236105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327AD9-3241-4BF2-92A8-DD3BB5E6C13A}"/>
              </a:ext>
            </a:extLst>
          </p:cNvPr>
          <p:cNvSpPr/>
          <p:nvPr/>
        </p:nvSpPr>
        <p:spPr>
          <a:xfrm>
            <a:off x="3185794" y="3153707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547FB-0CD7-41CC-8A6E-6BA059E00C75}"/>
              </a:ext>
            </a:extLst>
          </p:cNvPr>
          <p:cNvSpPr/>
          <p:nvPr/>
        </p:nvSpPr>
        <p:spPr>
          <a:xfrm>
            <a:off x="3844925" y="2126851"/>
            <a:ext cx="1485898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DE617-EE28-41C6-A5D6-9607FF849D64}"/>
              </a:ext>
            </a:extLst>
          </p:cNvPr>
          <p:cNvSpPr/>
          <p:nvPr/>
        </p:nvSpPr>
        <p:spPr>
          <a:xfrm>
            <a:off x="3844925" y="2419277"/>
            <a:ext cx="1485898" cy="31321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E7F994-ACC1-4176-A479-81B6AB89DD5F}"/>
              </a:ext>
            </a:extLst>
          </p:cNvPr>
          <p:cNvSpPr/>
          <p:nvPr/>
        </p:nvSpPr>
        <p:spPr>
          <a:xfrm>
            <a:off x="3185782" y="3359244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E037EF-E770-481C-B11B-40B5B915E434}"/>
              </a:ext>
            </a:extLst>
          </p:cNvPr>
          <p:cNvSpPr/>
          <p:nvPr/>
        </p:nvSpPr>
        <p:spPr>
          <a:xfrm>
            <a:off x="4244962" y="3566525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F1678E-2119-485E-A906-9A7D859BE495}"/>
              </a:ext>
            </a:extLst>
          </p:cNvPr>
          <p:cNvSpPr/>
          <p:nvPr/>
        </p:nvSpPr>
        <p:spPr>
          <a:xfrm>
            <a:off x="4244962" y="3776498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120BB2-6E6E-457B-A1FE-51F5081D0222}"/>
              </a:ext>
            </a:extLst>
          </p:cNvPr>
          <p:cNvSpPr/>
          <p:nvPr/>
        </p:nvSpPr>
        <p:spPr>
          <a:xfrm>
            <a:off x="4244950" y="3982035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A714B9-E2CB-435B-BE2A-7CE0F599184E}"/>
              </a:ext>
            </a:extLst>
          </p:cNvPr>
          <p:cNvSpPr/>
          <p:nvPr/>
        </p:nvSpPr>
        <p:spPr>
          <a:xfrm rot="5400000">
            <a:off x="2576331" y="3546658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6A1A54-D6FB-4713-9FEC-F84B40B0F7DE}"/>
              </a:ext>
            </a:extLst>
          </p:cNvPr>
          <p:cNvSpPr/>
          <p:nvPr/>
        </p:nvSpPr>
        <p:spPr>
          <a:xfrm>
            <a:off x="3222147" y="3566525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77C30A-4C38-4759-9B96-562E18D60716}"/>
              </a:ext>
            </a:extLst>
          </p:cNvPr>
          <p:cNvSpPr/>
          <p:nvPr/>
        </p:nvSpPr>
        <p:spPr>
          <a:xfrm rot="5400000">
            <a:off x="2540149" y="2051544"/>
            <a:ext cx="1111115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3FA437-7E71-453F-AEB2-8E855A62617C}"/>
              </a:ext>
            </a:extLst>
          </p:cNvPr>
          <p:cNvSpPr/>
          <p:nvPr/>
        </p:nvSpPr>
        <p:spPr>
          <a:xfrm>
            <a:off x="3220991" y="1831569"/>
            <a:ext cx="631066" cy="9009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</a:t>
            </a:r>
            <a:r>
              <a:rPr lang="en-US" sz="1200" b="1" dirty="0" err="1">
                <a:solidFill>
                  <a:schemeClr val="tx1"/>
                </a:solidFill>
              </a:rPr>
              <a:t>Percpu</a:t>
            </a:r>
            <a:r>
              <a:rPr lang="en-US" sz="1200" b="1" dirty="0">
                <a:solidFill>
                  <a:schemeClr val="tx1"/>
                </a:solidFill>
              </a:rPr>
              <a:t> 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428626" y="14026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428626" y="19138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428625" y="21240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428621" y="23340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428624" y="25442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428626" y="29584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428625" y="35740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428625" y="37840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428624" y="39942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428624" y="42039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428623" y="45205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428623" y="473402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428621" y="33785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428620" y="31616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658C559-841A-4584-BD9B-03766B5F7A68}"/>
              </a:ext>
            </a:extLst>
          </p:cNvPr>
          <p:cNvCxnSpPr>
            <a:cxnSpLocks/>
            <a:stCxn id="7" idx="1"/>
            <a:endCxn id="23" idx="3"/>
          </p:cNvCxnSpPr>
          <p:nvPr/>
        </p:nvCxnSpPr>
        <p:spPr>
          <a:xfrm rot="10800000">
            <a:off x="2375175" y="1661658"/>
            <a:ext cx="594093" cy="117710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BE553E7-634C-485C-A780-48C4F891B0F9}"/>
              </a:ext>
            </a:extLst>
          </p:cNvPr>
          <p:cNvSpPr/>
          <p:nvPr/>
        </p:nvSpPr>
        <p:spPr>
          <a:xfrm>
            <a:off x="5825568" y="1479900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FA98406-3AF4-4606-B991-D7FE66CC0CC6}"/>
              </a:ext>
            </a:extLst>
          </p:cNvPr>
          <p:cNvCxnSpPr>
            <a:cxnSpLocks/>
            <a:stCxn id="8" idx="3"/>
            <a:endCxn id="46" idx="3"/>
          </p:cNvCxnSpPr>
          <p:nvPr/>
        </p:nvCxnSpPr>
        <p:spPr>
          <a:xfrm flipV="1">
            <a:off x="5330334" y="2439740"/>
            <a:ext cx="775841" cy="60922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C6667E6-B98B-48CD-9DC2-8A8E9868633D}"/>
              </a:ext>
            </a:extLst>
          </p:cNvPr>
          <p:cNvSpPr/>
          <p:nvPr/>
        </p:nvSpPr>
        <p:spPr>
          <a:xfrm rot="5400000">
            <a:off x="5533322" y="1962785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B72A8A-93D8-493E-8120-FEB38AE0F785}"/>
              </a:ext>
            </a:extLst>
          </p:cNvPr>
          <p:cNvSpPr/>
          <p:nvPr/>
        </p:nvSpPr>
        <p:spPr>
          <a:xfrm rot="5400000">
            <a:off x="5721575" y="196278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95332A-4329-496C-A2E2-0A51972C74D7}"/>
              </a:ext>
            </a:extLst>
          </p:cNvPr>
          <p:cNvSpPr txBox="1"/>
          <p:nvPr/>
        </p:nvSpPr>
        <p:spPr>
          <a:xfrm>
            <a:off x="6148258" y="1805635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8CA39A1-EDBA-4F97-A8AD-BC0D8BA8D550}"/>
              </a:ext>
            </a:extLst>
          </p:cNvPr>
          <p:cNvSpPr/>
          <p:nvPr/>
        </p:nvSpPr>
        <p:spPr>
          <a:xfrm rot="5400000">
            <a:off x="6084474" y="1963255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902263-4AB5-4AFF-807C-AD7A1806A58A}"/>
              </a:ext>
            </a:extLst>
          </p:cNvPr>
          <p:cNvSpPr txBox="1"/>
          <p:nvPr/>
        </p:nvSpPr>
        <p:spPr>
          <a:xfrm>
            <a:off x="5927447" y="1406920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428620" y="27526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7148696" y="1445662"/>
            <a:ext cx="1659072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7148696" y="1922224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7148695" y="2132419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7148691" y="2342392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7148694" y="255258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7148690" y="171395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7148689" y="2759895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C346095-CF8C-4912-9F44-AEDF4374731C}"/>
              </a:ext>
            </a:extLst>
          </p:cNvPr>
          <p:cNvCxnSpPr>
            <a:stCxn id="44" idx="2"/>
            <a:endCxn id="89" idx="0"/>
          </p:cNvCxnSpPr>
          <p:nvPr/>
        </p:nvCxnSpPr>
        <p:spPr>
          <a:xfrm rot="10800000" flipH="1">
            <a:off x="5825568" y="1445663"/>
            <a:ext cx="2152663" cy="609477"/>
          </a:xfrm>
          <a:prstGeom prst="bentConnector4">
            <a:avLst>
              <a:gd name="adj1" fmla="val -5611"/>
              <a:gd name="adj2" fmla="val 13750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11757ACD-06C7-4DE1-8F34-9DD7BEEE83DF}"/>
              </a:ext>
            </a:extLst>
          </p:cNvPr>
          <p:cNvSpPr txBox="1"/>
          <p:nvPr/>
        </p:nvSpPr>
        <p:spPr>
          <a:xfrm>
            <a:off x="5455547" y="943277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Get a slab object from page-&gt;</a:t>
            </a:r>
            <a:r>
              <a:rPr lang="en-US" sz="1400" dirty="0" err="1"/>
              <a:t>freelist</a:t>
            </a:r>
            <a:endParaRPr lang="en-US" sz="1400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D136EC2-A721-4D0A-9A5E-92F3EE13FD9B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2375171" y="1580180"/>
            <a:ext cx="4773525" cy="3259074"/>
          </a:xfrm>
          <a:prstGeom prst="bentConnector3">
            <a:avLst>
              <a:gd name="adj1" fmla="val 9230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D9E0052-093A-43C0-A1D1-D1555CB89DA6}"/>
              </a:ext>
            </a:extLst>
          </p:cNvPr>
          <p:cNvSpPr txBox="1"/>
          <p:nvPr/>
        </p:nvSpPr>
        <p:spPr>
          <a:xfrm>
            <a:off x="2645673" y="4813264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kmem_cache_node-&gt;node[node] = </a:t>
            </a:r>
            <a:r>
              <a:rPr lang="en-US" sz="1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8CFA28-01D7-4E37-8718-B27A0E4085D6}"/>
              </a:ext>
            </a:extLst>
          </p:cNvPr>
          <p:cNvSpPr/>
          <p:nvPr/>
        </p:nvSpPr>
        <p:spPr>
          <a:xfrm>
            <a:off x="6335256" y="602834"/>
            <a:ext cx="886382" cy="3037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list_head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E7E91900-9571-48FE-AAA5-D04E6CF1168D}"/>
              </a:ext>
            </a:extLst>
          </p:cNvPr>
          <p:cNvCxnSpPr>
            <a:stCxn id="5" idx="3"/>
            <a:endCxn id="53" idx="1"/>
          </p:cNvCxnSpPr>
          <p:nvPr/>
        </p:nvCxnSpPr>
        <p:spPr>
          <a:xfrm flipV="1">
            <a:off x="5330334" y="754697"/>
            <a:ext cx="1004922" cy="972954"/>
          </a:xfrm>
          <a:prstGeom prst="bentConnector3">
            <a:avLst>
              <a:gd name="adj1" fmla="val 11138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E999507D-7735-481F-92B4-145BAF6D3FF0}"/>
              </a:ext>
            </a:extLst>
          </p:cNvPr>
          <p:cNvCxnSpPr>
            <a:stCxn id="53" idx="3"/>
            <a:endCxn id="91" idx="3"/>
          </p:cNvCxnSpPr>
          <p:nvPr/>
        </p:nvCxnSpPr>
        <p:spPr>
          <a:xfrm>
            <a:off x="7221638" y="754697"/>
            <a:ext cx="1586129" cy="1482949"/>
          </a:xfrm>
          <a:prstGeom prst="bentConnector3">
            <a:avLst>
              <a:gd name="adj1" fmla="val 114412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ight Brace 59">
            <a:extLst>
              <a:ext uri="{FF2B5EF4-FFF2-40B4-BE49-F238E27FC236}">
                <a16:creationId xmlns:a16="http://schemas.microsoft.com/office/drawing/2014/main" id="{5EA58C1B-FFBB-4CB6-B840-C84E2B45B768}"/>
              </a:ext>
            </a:extLst>
          </p:cNvPr>
          <p:cNvSpPr/>
          <p:nvPr/>
        </p:nvSpPr>
        <p:spPr>
          <a:xfrm>
            <a:off x="8839200" y="2343549"/>
            <a:ext cx="238728" cy="629684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F9DCC2-C94C-42B6-B29A-38A7B70EA2B6}"/>
              </a:ext>
            </a:extLst>
          </p:cNvPr>
          <p:cNvSpPr txBox="1"/>
          <p:nvPr/>
        </p:nvSpPr>
        <p:spPr>
          <a:xfrm>
            <a:off x="9099836" y="2503925"/>
            <a:ext cx="2215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CONFIG_SLUB_DEBUG = y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7148695" y="3296284"/>
            <a:ext cx="1659072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7148695" y="3772846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7148694" y="3983041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7148690" y="4193014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7148693" y="4403209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7148689" y="3564579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7148688" y="461051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6DCD3F-A0D4-43A2-9EE4-A68A36474E88}"/>
              </a:ext>
            </a:extLst>
          </p:cNvPr>
          <p:cNvSpPr txBox="1"/>
          <p:nvPr/>
        </p:nvSpPr>
        <p:spPr>
          <a:xfrm>
            <a:off x="7806261" y="2929781"/>
            <a:ext cx="855081" cy="694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endParaRPr lang="en-US" sz="3200" b="1" dirty="0"/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264261FE-A9D5-4E78-9E9E-F5195A0AF0F4}"/>
              </a:ext>
            </a:extLst>
          </p:cNvPr>
          <p:cNvCxnSpPr>
            <a:cxnSpLocks/>
            <a:stCxn id="37" idx="3"/>
            <a:endCxn id="80" idx="1"/>
          </p:cNvCxnSpPr>
          <p:nvPr/>
        </p:nvCxnSpPr>
        <p:spPr>
          <a:xfrm flipV="1">
            <a:off x="2375171" y="3430802"/>
            <a:ext cx="4773524" cy="1408452"/>
          </a:xfrm>
          <a:prstGeom prst="bentConnector3">
            <a:avLst>
              <a:gd name="adj1" fmla="val 9230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629938" y="8487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428625" y="12077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445815" y="11000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3" name="Title 1">
            <a:extLst>
              <a:ext uri="{FF2B5EF4-FFF2-40B4-BE49-F238E27FC236}">
                <a16:creationId xmlns:a16="http://schemas.microsoft.com/office/drawing/2014/main" id="{ABD430E8-CF8A-4202-9A1C-42F7ED554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-29063"/>
            <a:ext cx="11345008" cy="68995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early_kmem_cache_node_alloc</a:t>
            </a:r>
            <a:r>
              <a:rPr lang="en-US" dirty="0"/>
              <a:t>(): Fully-configured</a:t>
            </a:r>
          </a:p>
        </p:txBody>
      </p:sp>
    </p:spTree>
    <p:extLst>
      <p:ext uri="{BB962C8B-B14F-4D97-AF65-F5344CB8AC3E}">
        <p14:creationId xmlns:p14="http://schemas.microsoft.com/office/powerpoint/2010/main" val="299546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9A2184-9802-432A-BF50-5F7DE934934E}"/>
              </a:ext>
            </a:extLst>
          </p:cNvPr>
          <p:cNvSpPr/>
          <p:nvPr/>
        </p:nvSpPr>
        <p:spPr>
          <a:xfrm>
            <a:off x="5979166" y="1442842"/>
            <a:ext cx="2361068" cy="2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78321-F576-4013-A455-F1352B369403}"/>
              </a:ext>
            </a:extLst>
          </p:cNvPr>
          <p:cNvSpPr/>
          <p:nvPr/>
        </p:nvSpPr>
        <p:spPr>
          <a:xfrm>
            <a:off x="6231379" y="1680478"/>
            <a:ext cx="210885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4BF9B-B459-43B0-9839-872DD96B9C20}"/>
              </a:ext>
            </a:extLst>
          </p:cNvPr>
          <p:cNvSpPr/>
          <p:nvPr/>
        </p:nvSpPr>
        <p:spPr>
          <a:xfrm>
            <a:off x="6854825" y="1889623"/>
            <a:ext cx="1485409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AFDD60-8EA5-40CA-A63F-DDB8DB51D7F6}"/>
              </a:ext>
            </a:extLst>
          </p:cNvPr>
          <p:cNvSpPr/>
          <p:nvPr/>
        </p:nvSpPr>
        <p:spPr>
          <a:xfrm>
            <a:off x="5979167" y="2791593"/>
            <a:ext cx="236107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7E80F-6A06-49AC-936F-CA911C8C908F}"/>
              </a:ext>
            </a:extLst>
          </p:cNvPr>
          <p:cNvSpPr/>
          <p:nvPr/>
        </p:nvSpPr>
        <p:spPr>
          <a:xfrm>
            <a:off x="5979182" y="3001788"/>
            <a:ext cx="236105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327AD9-3241-4BF2-92A8-DD3BB5E6C13A}"/>
              </a:ext>
            </a:extLst>
          </p:cNvPr>
          <p:cNvSpPr/>
          <p:nvPr/>
        </p:nvSpPr>
        <p:spPr>
          <a:xfrm>
            <a:off x="6195694" y="3211761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547FB-0CD7-41CC-8A6E-6BA059E00C75}"/>
              </a:ext>
            </a:extLst>
          </p:cNvPr>
          <p:cNvSpPr/>
          <p:nvPr/>
        </p:nvSpPr>
        <p:spPr>
          <a:xfrm>
            <a:off x="6854825" y="2184905"/>
            <a:ext cx="1485898" cy="298269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DE617-EE28-41C6-A5D6-9607FF849D64}"/>
              </a:ext>
            </a:extLst>
          </p:cNvPr>
          <p:cNvSpPr/>
          <p:nvPr/>
        </p:nvSpPr>
        <p:spPr>
          <a:xfrm>
            <a:off x="6854825" y="2477331"/>
            <a:ext cx="1485898" cy="31321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E7F994-ACC1-4176-A479-81B6AB89DD5F}"/>
              </a:ext>
            </a:extLst>
          </p:cNvPr>
          <p:cNvSpPr/>
          <p:nvPr/>
        </p:nvSpPr>
        <p:spPr>
          <a:xfrm>
            <a:off x="6195682" y="3417298"/>
            <a:ext cx="214459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E037EF-E770-481C-B11B-40B5B915E434}"/>
              </a:ext>
            </a:extLst>
          </p:cNvPr>
          <p:cNvSpPr/>
          <p:nvPr/>
        </p:nvSpPr>
        <p:spPr>
          <a:xfrm>
            <a:off x="7254862" y="3624579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F1678E-2119-485E-A906-9A7D859BE495}"/>
              </a:ext>
            </a:extLst>
          </p:cNvPr>
          <p:cNvSpPr/>
          <p:nvPr/>
        </p:nvSpPr>
        <p:spPr>
          <a:xfrm>
            <a:off x="7254862" y="3834552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120BB2-6E6E-457B-A1FE-51F5081D0222}"/>
              </a:ext>
            </a:extLst>
          </p:cNvPr>
          <p:cNvSpPr/>
          <p:nvPr/>
        </p:nvSpPr>
        <p:spPr>
          <a:xfrm>
            <a:off x="7254850" y="4040089"/>
            <a:ext cx="108538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A714B9-E2CB-435B-BE2A-7CE0F599184E}"/>
              </a:ext>
            </a:extLst>
          </p:cNvPr>
          <p:cNvSpPr/>
          <p:nvPr/>
        </p:nvSpPr>
        <p:spPr>
          <a:xfrm rot="5400000">
            <a:off x="5586231" y="3604712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6A1A54-D6FB-4713-9FEC-F84B40B0F7DE}"/>
              </a:ext>
            </a:extLst>
          </p:cNvPr>
          <p:cNvSpPr/>
          <p:nvPr/>
        </p:nvSpPr>
        <p:spPr>
          <a:xfrm>
            <a:off x="6232047" y="3624579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77C30A-4C38-4759-9B96-562E18D60716}"/>
              </a:ext>
            </a:extLst>
          </p:cNvPr>
          <p:cNvSpPr/>
          <p:nvPr/>
        </p:nvSpPr>
        <p:spPr>
          <a:xfrm rot="5400000">
            <a:off x="5550049" y="2109598"/>
            <a:ext cx="1111115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3FA437-7E71-453F-AEB2-8E855A62617C}"/>
              </a:ext>
            </a:extLst>
          </p:cNvPr>
          <p:cNvSpPr/>
          <p:nvPr/>
        </p:nvSpPr>
        <p:spPr>
          <a:xfrm>
            <a:off x="6230891" y="1889623"/>
            <a:ext cx="631066" cy="9009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</a:t>
            </a:r>
            <a:r>
              <a:rPr lang="en-US" sz="1200" b="1" dirty="0" err="1">
                <a:solidFill>
                  <a:schemeClr val="tx1"/>
                </a:solidFill>
              </a:rPr>
              <a:t>Percpu</a:t>
            </a:r>
            <a:r>
              <a:rPr lang="en-US" sz="1200" b="1" dirty="0">
                <a:solidFill>
                  <a:schemeClr val="tx1"/>
                </a:solidFill>
              </a:rPr>
              <a:t> 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743326" y="1460723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743326" y="197191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3743325" y="21821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3743321" y="239207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3743324" y="260227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3743326" y="301648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3743325" y="36321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3743325" y="384209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3743324" y="40522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3743324" y="4262001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3743323" y="457856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743323" y="479208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3743321" y="3436593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3743320" y="3219747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658C559-841A-4584-BD9B-03766B5F7A68}"/>
              </a:ext>
            </a:extLst>
          </p:cNvPr>
          <p:cNvCxnSpPr>
            <a:cxnSpLocks/>
            <a:stCxn id="7" idx="1"/>
            <a:endCxn id="23" idx="3"/>
          </p:cNvCxnSpPr>
          <p:nvPr/>
        </p:nvCxnSpPr>
        <p:spPr>
          <a:xfrm rot="10800000">
            <a:off x="5689875" y="1719712"/>
            <a:ext cx="289293" cy="117710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BE553E7-634C-485C-A780-48C4F891B0F9}"/>
              </a:ext>
            </a:extLst>
          </p:cNvPr>
          <p:cNvSpPr/>
          <p:nvPr/>
        </p:nvSpPr>
        <p:spPr>
          <a:xfrm>
            <a:off x="8835468" y="1537954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FA98406-3AF4-4606-B991-D7FE66CC0CC6}"/>
              </a:ext>
            </a:extLst>
          </p:cNvPr>
          <p:cNvCxnSpPr>
            <a:cxnSpLocks/>
            <a:stCxn id="8" idx="3"/>
            <a:endCxn id="46" idx="3"/>
          </p:cNvCxnSpPr>
          <p:nvPr/>
        </p:nvCxnSpPr>
        <p:spPr>
          <a:xfrm flipV="1">
            <a:off x="8340234" y="2497794"/>
            <a:ext cx="775841" cy="60922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C6667E6-B98B-48CD-9DC2-8A8E9868633D}"/>
              </a:ext>
            </a:extLst>
          </p:cNvPr>
          <p:cNvSpPr/>
          <p:nvPr/>
        </p:nvSpPr>
        <p:spPr>
          <a:xfrm rot="5400000">
            <a:off x="8543222" y="2020839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B72A8A-93D8-493E-8120-FEB38AE0F785}"/>
              </a:ext>
            </a:extLst>
          </p:cNvPr>
          <p:cNvSpPr/>
          <p:nvPr/>
        </p:nvSpPr>
        <p:spPr>
          <a:xfrm rot="5400000">
            <a:off x="8731475" y="2020840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95332A-4329-496C-A2E2-0A51972C74D7}"/>
              </a:ext>
            </a:extLst>
          </p:cNvPr>
          <p:cNvSpPr txBox="1"/>
          <p:nvPr/>
        </p:nvSpPr>
        <p:spPr>
          <a:xfrm>
            <a:off x="9158158" y="1863689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8CA39A1-EDBA-4F97-A8AD-BC0D8BA8D550}"/>
              </a:ext>
            </a:extLst>
          </p:cNvPr>
          <p:cNvSpPr/>
          <p:nvPr/>
        </p:nvSpPr>
        <p:spPr>
          <a:xfrm rot="5400000">
            <a:off x="9094374" y="2021309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902263-4AB5-4AFF-807C-AD7A1806A58A}"/>
              </a:ext>
            </a:extLst>
          </p:cNvPr>
          <p:cNvSpPr txBox="1"/>
          <p:nvPr/>
        </p:nvSpPr>
        <p:spPr>
          <a:xfrm>
            <a:off x="8937347" y="1464974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3743320" y="281070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10158596" y="1503716"/>
            <a:ext cx="1659072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10158596" y="1980278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10158595" y="2190473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10158591" y="2400446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10158594" y="2610641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10158590" y="1772011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10158589" y="2817949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C346095-CF8C-4912-9F44-AEDF4374731C}"/>
              </a:ext>
            </a:extLst>
          </p:cNvPr>
          <p:cNvCxnSpPr>
            <a:stCxn id="44" idx="2"/>
            <a:endCxn id="89" idx="0"/>
          </p:cNvCxnSpPr>
          <p:nvPr/>
        </p:nvCxnSpPr>
        <p:spPr>
          <a:xfrm rot="10800000" flipH="1">
            <a:off x="8835468" y="1503717"/>
            <a:ext cx="2152663" cy="609477"/>
          </a:xfrm>
          <a:prstGeom prst="bentConnector4">
            <a:avLst>
              <a:gd name="adj1" fmla="val -5611"/>
              <a:gd name="adj2" fmla="val 13750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11757ACD-06C7-4DE1-8F34-9DD7BEEE83DF}"/>
              </a:ext>
            </a:extLst>
          </p:cNvPr>
          <p:cNvSpPr txBox="1"/>
          <p:nvPr/>
        </p:nvSpPr>
        <p:spPr>
          <a:xfrm>
            <a:off x="8465447" y="1001331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Get a slab object from page-&gt;</a:t>
            </a:r>
            <a:r>
              <a:rPr lang="en-US" sz="1400" dirty="0" err="1"/>
              <a:t>freelist</a:t>
            </a:r>
            <a:endParaRPr lang="en-US" sz="1400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D136EC2-A721-4D0A-9A5E-92F3EE13FD9B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5689871" y="1638234"/>
            <a:ext cx="4468725" cy="3259074"/>
          </a:xfrm>
          <a:prstGeom prst="bentConnector3">
            <a:avLst>
              <a:gd name="adj1" fmla="val 9049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D9E0052-093A-43C0-A1D1-D1555CB89DA6}"/>
              </a:ext>
            </a:extLst>
          </p:cNvPr>
          <p:cNvSpPr txBox="1"/>
          <p:nvPr/>
        </p:nvSpPr>
        <p:spPr>
          <a:xfrm>
            <a:off x="5655573" y="4871318"/>
            <a:ext cx="2993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kmem_cache_node-&gt;node[node] = </a:t>
            </a:r>
            <a:r>
              <a:rPr lang="en-US" sz="1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8CFA28-01D7-4E37-8718-B27A0E4085D6}"/>
              </a:ext>
            </a:extLst>
          </p:cNvPr>
          <p:cNvSpPr/>
          <p:nvPr/>
        </p:nvSpPr>
        <p:spPr>
          <a:xfrm>
            <a:off x="9345156" y="660888"/>
            <a:ext cx="886382" cy="3037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list_head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E7E91900-9571-48FE-AAA5-D04E6CF1168D}"/>
              </a:ext>
            </a:extLst>
          </p:cNvPr>
          <p:cNvCxnSpPr>
            <a:stCxn id="5" idx="3"/>
            <a:endCxn id="53" idx="1"/>
          </p:cNvCxnSpPr>
          <p:nvPr/>
        </p:nvCxnSpPr>
        <p:spPr>
          <a:xfrm flipV="1">
            <a:off x="8340234" y="812751"/>
            <a:ext cx="1004922" cy="972954"/>
          </a:xfrm>
          <a:prstGeom prst="bentConnector3">
            <a:avLst>
              <a:gd name="adj1" fmla="val 11138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E999507D-7735-481F-92B4-145BAF6D3FF0}"/>
              </a:ext>
            </a:extLst>
          </p:cNvPr>
          <p:cNvCxnSpPr>
            <a:stCxn id="53" idx="3"/>
            <a:endCxn id="91" idx="3"/>
          </p:cNvCxnSpPr>
          <p:nvPr/>
        </p:nvCxnSpPr>
        <p:spPr>
          <a:xfrm>
            <a:off x="10231538" y="812751"/>
            <a:ext cx="1586129" cy="1482949"/>
          </a:xfrm>
          <a:prstGeom prst="bentConnector3">
            <a:avLst>
              <a:gd name="adj1" fmla="val 114412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10158595" y="3354338"/>
            <a:ext cx="1659072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10158595" y="3830900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10158594" y="4041095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10158590" y="4251068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10158593" y="4461263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10158589" y="3622633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10158588" y="4668571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6DCD3F-A0D4-43A2-9EE4-A68A36474E88}"/>
              </a:ext>
            </a:extLst>
          </p:cNvPr>
          <p:cNvSpPr txBox="1"/>
          <p:nvPr/>
        </p:nvSpPr>
        <p:spPr>
          <a:xfrm>
            <a:off x="10816161" y="2959260"/>
            <a:ext cx="855081" cy="694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endParaRPr lang="en-US" sz="3200" b="1" dirty="0"/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264261FE-A9D5-4E78-9E9E-F5195A0AF0F4}"/>
              </a:ext>
            </a:extLst>
          </p:cNvPr>
          <p:cNvCxnSpPr>
            <a:cxnSpLocks/>
            <a:stCxn id="37" idx="3"/>
            <a:endCxn id="80" idx="1"/>
          </p:cNvCxnSpPr>
          <p:nvPr/>
        </p:nvCxnSpPr>
        <p:spPr>
          <a:xfrm flipV="1">
            <a:off x="5689871" y="3488856"/>
            <a:ext cx="4468724" cy="1408452"/>
          </a:xfrm>
          <a:prstGeom prst="bentConnector3">
            <a:avLst>
              <a:gd name="adj1" fmla="val 9049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3944638" y="906789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3743325" y="1265779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3760515" y="1158056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3" name="Title 1">
            <a:extLst>
              <a:ext uri="{FF2B5EF4-FFF2-40B4-BE49-F238E27FC236}">
                <a16:creationId xmlns:a16="http://schemas.microsoft.com/office/drawing/2014/main" id="{ABD430E8-CF8A-4202-9A1C-42F7ED554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-29063"/>
            <a:ext cx="11345008" cy="68995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early_kmem_cache_node_alloc</a:t>
            </a:r>
            <a:r>
              <a:rPr lang="en-US" dirty="0"/>
              <a:t>(): Fully-configured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A5AA0B95-824F-4435-8D14-4B608853D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95" y="2923506"/>
            <a:ext cx="6252452" cy="365768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94948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9129-3B0A-415B-9636-B4561F98D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66187"/>
            <a:ext cx="12354658" cy="68995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[Comparison] Generic </a:t>
            </a:r>
            <a:r>
              <a:rPr lang="en-US" sz="3200" dirty="0" err="1">
                <a:solidFill>
                  <a:schemeClr val="tx1"/>
                </a:solidFill>
              </a:rPr>
              <a:t>kmem_cache_create</a:t>
            </a:r>
            <a:r>
              <a:rPr lang="en-US" sz="3200" dirty="0"/>
              <a:t>()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/>
              <a:t>&amp; low-level implementation </a:t>
            </a:r>
            <a:r>
              <a:rPr lang="en-US" sz="3200" dirty="0">
                <a:solidFill>
                  <a:schemeClr val="tx1"/>
                </a:solidFill>
              </a:rPr>
              <a:t>__</a:t>
            </a:r>
            <a:r>
              <a:rPr lang="en-US" sz="3200" dirty="0" err="1">
                <a:solidFill>
                  <a:schemeClr val="tx1"/>
                </a:solidFill>
              </a:rPr>
              <a:t>kmem_cache_create</a:t>
            </a:r>
            <a:r>
              <a:rPr lang="en-US" sz="3200" dirty="0">
                <a:solidFill>
                  <a:schemeClr val="tx1"/>
                </a:solidFill>
              </a:rPr>
              <a:t>()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7C83B3-2FC6-4FAD-8A10-72007FDC961D}"/>
              </a:ext>
            </a:extLst>
          </p:cNvPr>
          <p:cNvSpPr/>
          <p:nvPr/>
        </p:nvSpPr>
        <p:spPr>
          <a:xfrm>
            <a:off x="454270" y="1054196"/>
            <a:ext cx="102577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start_kernel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9AB601-ADC1-4334-A685-E465EC1AE6E0}"/>
              </a:ext>
            </a:extLst>
          </p:cNvPr>
          <p:cNvSpPr/>
          <p:nvPr/>
        </p:nvSpPr>
        <p:spPr>
          <a:xfrm>
            <a:off x="4226175" y="2152662"/>
            <a:ext cx="1862506" cy="2417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__</a:t>
            </a:r>
            <a:r>
              <a:rPr lang="en-US" sz="1400" b="1" dirty="0" err="1">
                <a:solidFill>
                  <a:schemeClr val="tx1"/>
                </a:solidFill>
              </a:rPr>
              <a:t>kmem_cache_create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D7502-B8EF-440A-873F-04C80E3D15F2}"/>
              </a:ext>
            </a:extLst>
          </p:cNvPr>
          <p:cNvSpPr/>
          <p:nvPr/>
        </p:nvSpPr>
        <p:spPr>
          <a:xfrm>
            <a:off x="8303606" y="2214949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init_kmem_cache_nodes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53E19B-ABFB-4C32-BA9B-5CCE60EABD0F}"/>
              </a:ext>
            </a:extLst>
          </p:cNvPr>
          <p:cNvSpPr/>
          <p:nvPr/>
        </p:nvSpPr>
        <p:spPr>
          <a:xfrm>
            <a:off x="8303605" y="1531346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calculate_sizes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676F99-B946-4563-A177-718F682A75DC}"/>
              </a:ext>
            </a:extLst>
          </p:cNvPr>
          <p:cNvSpPr/>
          <p:nvPr/>
        </p:nvSpPr>
        <p:spPr>
          <a:xfrm>
            <a:off x="6343650" y="2150891"/>
            <a:ext cx="158408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kmem_cache_open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9A59B0-4062-4867-9EF7-605F36958571}"/>
              </a:ext>
            </a:extLst>
          </p:cNvPr>
          <p:cNvSpPr/>
          <p:nvPr/>
        </p:nvSpPr>
        <p:spPr>
          <a:xfrm>
            <a:off x="8303606" y="2793777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162B24E-AECB-409F-BE19-3DF80DE7E01C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 flipV="1">
            <a:off x="6088681" y="2271786"/>
            <a:ext cx="254969" cy="177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EEDF4AF-F39D-43A8-8B3D-C4221FE12C88}"/>
              </a:ext>
            </a:extLst>
          </p:cNvPr>
          <p:cNvCxnSpPr>
            <a:stCxn id="21" idx="3"/>
            <a:endCxn id="20" idx="1"/>
          </p:cNvCxnSpPr>
          <p:nvPr/>
        </p:nvCxnSpPr>
        <p:spPr>
          <a:xfrm flipV="1">
            <a:off x="7927733" y="1652241"/>
            <a:ext cx="375872" cy="61954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2717956-0F12-453A-9C93-AA0DB070CC0C}"/>
              </a:ext>
            </a:extLst>
          </p:cNvPr>
          <p:cNvCxnSpPr>
            <a:stCxn id="21" idx="3"/>
            <a:endCxn id="19" idx="1"/>
          </p:cNvCxnSpPr>
          <p:nvPr/>
        </p:nvCxnSpPr>
        <p:spPr>
          <a:xfrm>
            <a:off x="7927733" y="2271786"/>
            <a:ext cx="375873" cy="6405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A1924981-405C-4976-957A-FB010FABD96C}"/>
              </a:ext>
            </a:extLst>
          </p:cNvPr>
          <p:cNvCxnSpPr>
            <a:stCxn id="21" idx="3"/>
            <a:endCxn id="24" idx="1"/>
          </p:cNvCxnSpPr>
          <p:nvPr/>
        </p:nvCxnSpPr>
        <p:spPr>
          <a:xfrm>
            <a:off x="7927733" y="2271786"/>
            <a:ext cx="375873" cy="64288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D242F63-6D2B-4B85-A570-653856869740}"/>
              </a:ext>
            </a:extLst>
          </p:cNvPr>
          <p:cNvSpPr/>
          <p:nvPr/>
        </p:nvSpPr>
        <p:spPr>
          <a:xfrm>
            <a:off x="1759196" y="1054196"/>
            <a:ext cx="1069731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mm_init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77ECD6-09F8-4182-9253-6CF84131CBBA}"/>
              </a:ext>
            </a:extLst>
          </p:cNvPr>
          <p:cNvSpPr/>
          <p:nvPr/>
        </p:nvSpPr>
        <p:spPr>
          <a:xfrm>
            <a:off x="3086103" y="1054197"/>
            <a:ext cx="140384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kmem_cache_init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EDC6C3-B6B8-4768-BCCE-5AA3B7E14FB5}"/>
              </a:ext>
            </a:extLst>
          </p:cNvPr>
          <p:cNvCxnSpPr>
            <a:cxnSpLocks/>
            <a:stCxn id="4" idx="3"/>
            <a:endCxn id="40" idx="1"/>
          </p:cNvCxnSpPr>
          <p:nvPr/>
        </p:nvCxnSpPr>
        <p:spPr>
          <a:xfrm>
            <a:off x="1480040" y="1175091"/>
            <a:ext cx="27915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F3B7BA-BEB1-4052-BB69-5A5F5BD41D9D}"/>
              </a:ext>
            </a:extLst>
          </p:cNvPr>
          <p:cNvCxnSpPr>
            <a:stCxn id="40" idx="3"/>
            <a:endCxn id="43" idx="1"/>
          </p:cNvCxnSpPr>
          <p:nvPr/>
        </p:nvCxnSpPr>
        <p:spPr>
          <a:xfrm>
            <a:off x="2828927" y="1175091"/>
            <a:ext cx="257176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0496BEC-40B7-437C-9A61-43992FF98990}"/>
              </a:ext>
            </a:extLst>
          </p:cNvPr>
          <p:cNvSpPr/>
          <p:nvPr/>
        </p:nvSpPr>
        <p:spPr>
          <a:xfrm>
            <a:off x="622788" y="1994749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create_boot_cache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2A1F532-67AA-4C1B-B369-CAF5CD59989E}"/>
              </a:ext>
            </a:extLst>
          </p:cNvPr>
          <p:cNvSpPr/>
          <p:nvPr/>
        </p:nvSpPr>
        <p:spPr>
          <a:xfrm>
            <a:off x="623230" y="2392680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create_boot_cache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F75F58AD-F6B5-41AF-A15F-AB736A342F06}"/>
              </a:ext>
            </a:extLst>
          </p:cNvPr>
          <p:cNvCxnSpPr>
            <a:stCxn id="48" idx="3"/>
            <a:endCxn id="18" idx="1"/>
          </p:cNvCxnSpPr>
          <p:nvPr/>
        </p:nvCxnSpPr>
        <p:spPr>
          <a:xfrm>
            <a:off x="3908915" y="2115644"/>
            <a:ext cx="317260" cy="15791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1E8A2B5-F7E4-4113-9C4E-D4854EE7DF64}"/>
              </a:ext>
            </a:extLst>
          </p:cNvPr>
          <p:cNvCxnSpPr>
            <a:stCxn id="50" idx="3"/>
            <a:endCxn id="18" idx="1"/>
          </p:cNvCxnSpPr>
          <p:nvPr/>
        </p:nvCxnSpPr>
        <p:spPr>
          <a:xfrm flipV="1">
            <a:off x="3909357" y="2273557"/>
            <a:ext cx="316818" cy="240018"/>
          </a:xfrm>
          <a:prstGeom prst="bentConnector3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A002389-9290-41A6-A094-CB80FEA2753E}"/>
              </a:ext>
            </a:extLst>
          </p:cNvPr>
          <p:cNvCxnSpPr>
            <a:cxnSpLocks/>
            <a:stCxn id="43" idx="3"/>
            <a:endCxn id="48" idx="1"/>
          </p:cNvCxnSpPr>
          <p:nvPr/>
        </p:nvCxnSpPr>
        <p:spPr>
          <a:xfrm flipH="1">
            <a:off x="622788" y="1175092"/>
            <a:ext cx="3867155" cy="940552"/>
          </a:xfrm>
          <a:prstGeom prst="bentConnector5">
            <a:avLst>
              <a:gd name="adj1" fmla="val -5911"/>
              <a:gd name="adj2" fmla="val 50000"/>
              <a:gd name="adj3" fmla="val 10591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C771486-15FA-448C-B2EC-26C8283B72F0}"/>
              </a:ext>
            </a:extLst>
          </p:cNvPr>
          <p:cNvCxnSpPr>
            <a:stCxn id="48" idx="1"/>
            <a:endCxn id="50" idx="1"/>
          </p:cNvCxnSpPr>
          <p:nvPr/>
        </p:nvCxnSpPr>
        <p:spPr>
          <a:xfrm rot="10800000" flipH="1" flipV="1">
            <a:off x="622788" y="2115643"/>
            <a:ext cx="442" cy="397931"/>
          </a:xfrm>
          <a:prstGeom prst="bentConnector3">
            <a:avLst>
              <a:gd name="adj1" fmla="val -517194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4594A41-0910-4188-970C-BDF65E6412BD}"/>
              </a:ext>
            </a:extLst>
          </p:cNvPr>
          <p:cNvSpPr/>
          <p:nvPr/>
        </p:nvSpPr>
        <p:spPr>
          <a:xfrm>
            <a:off x="9591675" y="3137410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alloc_percpu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2B6317C-7C53-4FE3-A2EC-140C31AB7E1C}"/>
              </a:ext>
            </a:extLst>
          </p:cNvPr>
          <p:cNvSpPr/>
          <p:nvPr/>
        </p:nvSpPr>
        <p:spPr>
          <a:xfrm>
            <a:off x="9591675" y="3498062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165BCC-C6F8-4E27-8C24-CEE73349A088}"/>
              </a:ext>
            </a:extLst>
          </p:cNvPr>
          <p:cNvSpPr txBox="1"/>
          <p:nvPr/>
        </p:nvSpPr>
        <p:spPr>
          <a:xfrm>
            <a:off x="9591675" y="3739851"/>
            <a:ext cx="2153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Assign </a:t>
            </a:r>
            <a:r>
              <a:rPr lang="en-US" sz="1400" dirty="0" err="1"/>
              <a:t>cpu</a:t>
            </a:r>
            <a:r>
              <a:rPr lang="en-US" sz="1400" dirty="0"/>
              <a:t> id to </a:t>
            </a:r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r>
              <a:rPr lang="en-US" sz="1400" dirty="0">
                <a:solidFill>
                  <a:schemeClr val="tx1"/>
                </a:solidFill>
              </a:rPr>
              <a:t>-&gt;</a:t>
            </a:r>
            <a:r>
              <a:rPr lang="en-US" sz="1400" dirty="0" err="1">
                <a:solidFill>
                  <a:schemeClr val="tx1"/>
                </a:solidFill>
              </a:rPr>
              <a:t>tid</a:t>
            </a:r>
            <a:endParaRPr lang="en-US" sz="1400" dirty="0"/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B3C297E7-C560-4DBE-ADBB-023C0EE300EA}"/>
              </a:ext>
            </a:extLst>
          </p:cNvPr>
          <p:cNvCxnSpPr>
            <a:stCxn id="24" idx="2"/>
            <a:endCxn id="56" idx="1"/>
          </p:cNvCxnSpPr>
          <p:nvPr/>
        </p:nvCxnSpPr>
        <p:spPr>
          <a:xfrm rot="16200000" flipH="1">
            <a:off x="9328825" y="2995454"/>
            <a:ext cx="222739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2984BC18-B187-41E8-BB20-B00C71FC9786}"/>
              </a:ext>
            </a:extLst>
          </p:cNvPr>
          <p:cNvCxnSpPr>
            <a:stCxn id="24" idx="2"/>
            <a:endCxn id="57" idx="1"/>
          </p:cNvCxnSpPr>
          <p:nvPr/>
        </p:nvCxnSpPr>
        <p:spPr>
          <a:xfrm rot="16200000" flipH="1">
            <a:off x="9148499" y="3175780"/>
            <a:ext cx="583391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05CE5BC-27AD-4C51-A645-946D0032801E}"/>
              </a:ext>
            </a:extLst>
          </p:cNvPr>
          <p:cNvSpPr txBox="1"/>
          <p:nvPr/>
        </p:nvSpPr>
        <p:spPr>
          <a:xfrm>
            <a:off x="8200110" y="1821099"/>
            <a:ext cx="242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‘</a:t>
            </a:r>
            <a:r>
              <a:rPr lang="en-US" sz="1200" b="1" dirty="0" err="1"/>
              <a:t>kmem_cache_node</a:t>
            </a:r>
            <a:r>
              <a:rPr lang="en-US" sz="1200" dirty="0"/>
              <a:t>’ structs for all CPU nodes (sockets)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F49BFE-D8D0-437E-89F7-C2F44701122D}"/>
              </a:ext>
            </a:extLst>
          </p:cNvPr>
          <p:cNvSpPr txBox="1"/>
          <p:nvPr/>
        </p:nvSpPr>
        <p:spPr>
          <a:xfrm>
            <a:off x="8067671" y="2535828"/>
            <a:ext cx="2747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a ‘</a:t>
            </a:r>
            <a:r>
              <a:rPr lang="en-US" sz="1200" b="1" dirty="0" err="1"/>
              <a:t>kmem_cache_cpu</a:t>
            </a:r>
            <a:r>
              <a:rPr lang="en-US" sz="1200" dirty="0"/>
              <a:t>’ struct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3B6F6F-456C-4749-80B9-3D13BFFC2637}"/>
              </a:ext>
            </a:extLst>
          </p:cNvPr>
          <p:cNvSpPr txBox="1"/>
          <p:nvPr/>
        </p:nvSpPr>
        <p:spPr>
          <a:xfrm>
            <a:off x="8133986" y="1260061"/>
            <a:ext cx="2960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Calculate page order and objects per slab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4AA57CA-C2B9-44C1-9895-99BF148F851E}"/>
              </a:ext>
            </a:extLst>
          </p:cNvPr>
          <p:cNvSpPr/>
          <p:nvPr/>
        </p:nvSpPr>
        <p:spPr>
          <a:xfrm>
            <a:off x="693480" y="5042499"/>
            <a:ext cx="1635371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kmem_cache_create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E7DC49D-B699-4E7F-9061-BA511602AB1B}"/>
              </a:ext>
            </a:extLst>
          </p:cNvPr>
          <p:cNvSpPr/>
          <p:nvPr/>
        </p:nvSpPr>
        <p:spPr>
          <a:xfrm>
            <a:off x="316876" y="5649901"/>
            <a:ext cx="238857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kmem_cache_create_usercopy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FB1B0BD-1281-4485-90F1-F067203EED74}"/>
              </a:ext>
            </a:extLst>
          </p:cNvPr>
          <p:cNvSpPr/>
          <p:nvPr/>
        </p:nvSpPr>
        <p:spPr>
          <a:xfrm>
            <a:off x="3257902" y="4676886"/>
            <a:ext cx="1717432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kmem_cache_alias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D8F752C-0437-45A7-9C1D-ECAAFB0D56A2}"/>
              </a:ext>
            </a:extLst>
          </p:cNvPr>
          <p:cNvSpPr/>
          <p:nvPr/>
        </p:nvSpPr>
        <p:spPr>
          <a:xfrm>
            <a:off x="3257902" y="6274154"/>
            <a:ext cx="121773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create_cache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554D697-985F-4804-B29F-6A0F69A34C39}"/>
              </a:ext>
            </a:extLst>
          </p:cNvPr>
          <p:cNvSpPr/>
          <p:nvPr/>
        </p:nvSpPr>
        <p:spPr>
          <a:xfrm>
            <a:off x="5458176" y="4668827"/>
            <a:ext cx="147417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find_mergeable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BF6D339-6C78-41F9-B6D7-9C78325EC417}"/>
              </a:ext>
            </a:extLst>
          </p:cNvPr>
          <p:cNvSpPr/>
          <p:nvPr/>
        </p:nvSpPr>
        <p:spPr>
          <a:xfrm>
            <a:off x="4762847" y="5609603"/>
            <a:ext cx="185664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kmem_cache_zalloc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BB4519D-68E9-4437-8EB7-B73F7559DD65}"/>
              </a:ext>
            </a:extLst>
          </p:cNvPr>
          <p:cNvSpPr/>
          <p:nvPr/>
        </p:nvSpPr>
        <p:spPr>
          <a:xfrm>
            <a:off x="10160603" y="5609599"/>
            <a:ext cx="158408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slab_alloc_node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98E1315-7894-4E81-9163-BDC5EAB5CDAB}"/>
              </a:ext>
            </a:extLst>
          </p:cNvPr>
          <p:cNvSpPr/>
          <p:nvPr/>
        </p:nvSpPr>
        <p:spPr>
          <a:xfrm>
            <a:off x="8655648" y="5613263"/>
            <a:ext cx="119574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1A49503-325F-4ED9-85EA-CFC1D8EC7004}"/>
              </a:ext>
            </a:extLst>
          </p:cNvPr>
          <p:cNvSpPr/>
          <p:nvPr/>
        </p:nvSpPr>
        <p:spPr>
          <a:xfrm>
            <a:off x="6837832" y="5609600"/>
            <a:ext cx="158408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54132B5-51BE-446C-A6F4-829DDA7B662E}"/>
              </a:ext>
            </a:extLst>
          </p:cNvPr>
          <p:cNvSpPr/>
          <p:nvPr/>
        </p:nvSpPr>
        <p:spPr>
          <a:xfrm>
            <a:off x="4756990" y="6107832"/>
            <a:ext cx="1862506" cy="2417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__</a:t>
            </a:r>
            <a:r>
              <a:rPr lang="en-US" sz="1400" b="1" dirty="0" err="1">
                <a:solidFill>
                  <a:schemeClr val="tx1"/>
                </a:solidFill>
              </a:rPr>
              <a:t>kmem_cache_create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B10625D-D41F-4242-B3CE-264AA53EFA74}"/>
              </a:ext>
            </a:extLst>
          </p:cNvPr>
          <p:cNvSpPr/>
          <p:nvPr/>
        </p:nvSpPr>
        <p:spPr>
          <a:xfrm>
            <a:off x="4756990" y="6515943"/>
            <a:ext cx="239443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list_add</a:t>
            </a:r>
            <a:r>
              <a:rPr lang="en-US" sz="1400" dirty="0">
                <a:solidFill>
                  <a:schemeClr val="tx1"/>
                </a:solidFill>
              </a:rPr>
              <a:t>(&amp;s-&gt;list, &amp;</a:t>
            </a:r>
            <a:r>
              <a:rPr lang="en-US" sz="1400" dirty="0" err="1">
                <a:solidFill>
                  <a:schemeClr val="tx1"/>
                </a:solidFill>
              </a:rPr>
              <a:t>slab_caches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9F3ED43E-56C3-482D-8DE0-83EFD1DD882F}"/>
              </a:ext>
            </a:extLst>
          </p:cNvPr>
          <p:cNvCxnSpPr>
            <a:stCxn id="55" idx="3"/>
            <a:endCxn id="59" idx="1"/>
          </p:cNvCxnSpPr>
          <p:nvPr/>
        </p:nvCxnSpPr>
        <p:spPr>
          <a:xfrm flipV="1">
            <a:off x="2705454" y="4797781"/>
            <a:ext cx="552448" cy="97301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BD76E3B2-9008-4750-ACB4-3FDE9070559C}"/>
              </a:ext>
            </a:extLst>
          </p:cNvPr>
          <p:cNvCxnSpPr>
            <a:stCxn id="55" idx="3"/>
            <a:endCxn id="61" idx="1"/>
          </p:cNvCxnSpPr>
          <p:nvPr/>
        </p:nvCxnSpPr>
        <p:spPr>
          <a:xfrm>
            <a:off x="2705454" y="5770796"/>
            <a:ext cx="552448" cy="62425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82DE4C5-D652-464B-88E6-76F614BF2B3D}"/>
              </a:ext>
            </a:extLst>
          </p:cNvPr>
          <p:cNvCxnSpPr>
            <a:stCxn id="59" idx="3"/>
            <a:endCxn id="63" idx="1"/>
          </p:cNvCxnSpPr>
          <p:nvPr/>
        </p:nvCxnSpPr>
        <p:spPr>
          <a:xfrm flipV="1">
            <a:off x="4975334" y="4789722"/>
            <a:ext cx="482842" cy="80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EE867756-A577-4DFC-9E61-4EDDD532DBD9}"/>
              </a:ext>
            </a:extLst>
          </p:cNvPr>
          <p:cNvCxnSpPr>
            <a:cxnSpLocks/>
            <a:stCxn id="61" idx="3"/>
            <a:endCxn id="64" idx="1"/>
          </p:cNvCxnSpPr>
          <p:nvPr/>
        </p:nvCxnSpPr>
        <p:spPr>
          <a:xfrm flipV="1">
            <a:off x="4475638" y="5730498"/>
            <a:ext cx="287209" cy="66455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D4AF8D5-5387-4971-BF43-528F1860DE69}"/>
              </a:ext>
            </a:extLst>
          </p:cNvPr>
          <p:cNvCxnSpPr>
            <a:cxnSpLocks/>
            <a:stCxn id="64" idx="3"/>
            <a:endCxn id="67" idx="1"/>
          </p:cNvCxnSpPr>
          <p:nvPr/>
        </p:nvCxnSpPr>
        <p:spPr>
          <a:xfrm flipV="1">
            <a:off x="6619496" y="5730495"/>
            <a:ext cx="218336" cy="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591A6F2-8EA2-4E73-9BAC-700286BBA6F7}"/>
              </a:ext>
            </a:extLst>
          </p:cNvPr>
          <p:cNvCxnSpPr>
            <a:stCxn id="67" idx="3"/>
            <a:endCxn id="66" idx="1"/>
          </p:cNvCxnSpPr>
          <p:nvPr/>
        </p:nvCxnSpPr>
        <p:spPr>
          <a:xfrm>
            <a:off x="8421915" y="5730495"/>
            <a:ext cx="233733" cy="36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808F4FB-DB11-4C9D-9651-85533279A0F6}"/>
              </a:ext>
            </a:extLst>
          </p:cNvPr>
          <p:cNvCxnSpPr>
            <a:stCxn id="66" idx="3"/>
            <a:endCxn id="65" idx="1"/>
          </p:cNvCxnSpPr>
          <p:nvPr/>
        </p:nvCxnSpPr>
        <p:spPr>
          <a:xfrm flipV="1">
            <a:off x="9851394" y="5730494"/>
            <a:ext cx="309209" cy="36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3262208-EF25-454C-9100-FA3D6C77AD6D}"/>
              </a:ext>
            </a:extLst>
          </p:cNvPr>
          <p:cNvSpPr txBox="1"/>
          <p:nvPr/>
        </p:nvSpPr>
        <p:spPr>
          <a:xfrm>
            <a:off x="4619242" y="5129489"/>
            <a:ext cx="2532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a ‘</a:t>
            </a:r>
            <a:r>
              <a:rPr lang="en-US" sz="1200" b="1" dirty="0" err="1"/>
              <a:t>kmem_cache</a:t>
            </a:r>
            <a:r>
              <a:rPr lang="en-US" sz="1200" dirty="0"/>
              <a:t>’ struct from a global variable ‘</a:t>
            </a:r>
            <a:r>
              <a:rPr lang="en-US" sz="1200" dirty="0" err="1"/>
              <a:t>kmem_cache</a:t>
            </a:r>
            <a:r>
              <a:rPr lang="en-US" sz="1200" dirty="0"/>
              <a:t>’</a:t>
            </a:r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EABB71A3-A677-46E5-B44E-D32CE33451BE}"/>
              </a:ext>
            </a:extLst>
          </p:cNvPr>
          <p:cNvCxnSpPr>
            <a:stCxn id="61" idx="3"/>
            <a:endCxn id="68" idx="1"/>
          </p:cNvCxnSpPr>
          <p:nvPr/>
        </p:nvCxnSpPr>
        <p:spPr>
          <a:xfrm flipV="1">
            <a:off x="4475638" y="6228727"/>
            <a:ext cx="281352" cy="16632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7B85C503-C5C1-4DCD-A57A-6B6A9D370B4E}"/>
              </a:ext>
            </a:extLst>
          </p:cNvPr>
          <p:cNvCxnSpPr>
            <a:cxnSpLocks/>
            <a:stCxn id="61" idx="3"/>
            <a:endCxn id="73" idx="1"/>
          </p:cNvCxnSpPr>
          <p:nvPr/>
        </p:nvCxnSpPr>
        <p:spPr>
          <a:xfrm>
            <a:off x="4475638" y="6395049"/>
            <a:ext cx="281352" cy="24178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4C51FA6-2237-464D-95E7-F9232A1E5C66}"/>
              </a:ext>
            </a:extLst>
          </p:cNvPr>
          <p:cNvCxnSpPr>
            <a:stCxn id="54" idx="2"/>
            <a:endCxn id="55" idx="0"/>
          </p:cNvCxnSpPr>
          <p:nvPr/>
        </p:nvCxnSpPr>
        <p:spPr>
          <a:xfrm flipH="1">
            <a:off x="1511165" y="5284288"/>
            <a:ext cx="1" cy="3656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8B7D2A-C530-49A7-A79F-1ECC33D3DE3F}"/>
              </a:ext>
            </a:extLst>
          </p:cNvPr>
          <p:cNvCxnSpPr>
            <a:cxnSpLocks/>
          </p:cNvCxnSpPr>
          <p:nvPr/>
        </p:nvCxnSpPr>
        <p:spPr>
          <a:xfrm>
            <a:off x="161192" y="4377371"/>
            <a:ext cx="11583494" cy="0"/>
          </a:xfrm>
          <a:prstGeom prst="line">
            <a:avLst/>
          </a:prstGeom>
          <a:ln w="635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606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7BAF19-8A0C-4A55-AB89-C2A25F87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24" y="1624075"/>
            <a:ext cx="11776075" cy="1416939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chemeClr val="tx1"/>
                </a:solidFill>
              </a:rPr>
              <a:t>[Cache allocation] </a:t>
            </a:r>
            <a:r>
              <a:rPr lang="en-US" sz="6000" dirty="0" err="1">
                <a:solidFill>
                  <a:schemeClr val="tx1"/>
                </a:solidFill>
              </a:rPr>
              <a:t>slab_alloc_node</a:t>
            </a:r>
            <a:r>
              <a:rPr lang="en-US" sz="6000" dirty="0">
                <a:solidFill>
                  <a:schemeClr val="tx1"/>
                </a:solidFill>
              </a:rPr>
              <a:t> – Allocate a slab cache with specific node id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E3936-3B4D-4D0F-AF56-E3F143EF7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1578" y="3429000"/>
            <a:ext cx="10515600" cy="322897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Fast path &amp; slow path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Will follow </a:t>
            </a:r>
            <a:r>
              <a:rPr lang="en-US" sz="2400" dirty="0" err="1">
                <a:solidFill>
                  <a:schemeClr val="tx1"/>
                </a:solidFill>
              </a:rPr>
              <a:t>kmem_cache_init</a:t>
            </a:r>
            <a:r>
              <a:rPr lang="en-US" sz="2400" dirty="0">
                <a:solidFill>
                  <a:schemeClr val="tx1"/>
                </a:solidFill>
              </a:rPr>
              <a:t>() flow</a:t>
            </a:r>
            <a:endParaRPr lang="en-US" sz="2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7191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9129-3B0A-415B-9636-B4561F98D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66187"/>
            <a:ext cx="10515600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kmem_cache_init</a:t>
            </a:r>
            <a:r>
              <a:rPr lang="en-US" dirty="0"/>
              <a:t>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7C83B3-2FC6-4FAD-8A10-72007FDC961D}"/>
              </a:ext>
            </a:extLst>
          </p:cNvPr>
          <p:cNvSpPr/>
          <p:nvPr/>
        </p:nvSpPr>
        <p:spPr>
          <a:xfrm>
            <a:off x="206620" y="2035271"/>
            <a:ext cx="102577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start_kernel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EB3BDE-9302-4328-8246-476260A58DC8}"/>
              </a:ext>
            </a:extLst>
          </p:cNvPr>
          <p:cNvSpPr/>
          <p:nvPr/>
        </p:nvSpPr>
        <p:spPr>
          <a:xfrm>
            <a:off x="4702411" y="1159371"/>
            <a:ext cx="6235220" cy="9542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marL="342900" indent="-3429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Declare two static variables ‘</a:t>
            </a:r>
            <a:r>
              <a:rPr lang="en-US" sz="1400" dirty="0" err="1">
                <a:solidFill>
                  <a:schemeClr val="tx1"/>
                </a:solidFill>
              </a:rPr>
              <a:t>boot_kmem_cache</a:t>
            </a:r>
            <a:r>
              <a:rPr lang="en-US" sz="1400" dirty="0">
                <a:solidFill>
                  <a:schemeClr val="tx1"/>
                </a:solidFill>
              </a:rPr>
              <a:t>’ and ‘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r>
              <a:rPr lang="en-US" sz="1400" dirty="0">
                <a:solidFill>
                  <a:schemeClr val="tx1"/>
                </a:solidFill>
              </a:rPr>
              <a:t>’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Assign the addresses of two static variables to generic/global variables</a:t>
            </a:r>
          </a:p>
          <a:p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= &amp;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pt-BR" sz="1400" dirty="0">
                <a:solidFill>
                  <a:schemeClr val="tx1"/>
                </a:solidFill>
              </a:rPr>
              <a:t>kmem_cache = &amp;boot_kmem_cache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9AB601-ADC1-4334-A685-E465EC1AE6E0}"/>
              </a:ext>
            </a:extLst>
          </p:cNvPr>
          <p:cNvSpPr/>
          <p:nvPr/>
        </p:nvSpPr>
        <p:spPr>
          <a:xfrm>
            <a:off x="3978525" y="3133737"/>
            <a:ext cx="186250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kmem_cache_create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D7502-B8EF-440A-873F-04C80E3D15F2}"/>
              </a:ext>
            </a:extLst>
          </p:cNvPr>
          <p:cNvSpPr/>
          <p:nvPr/>
        </p:nvSpPr>
        <p:spPr>
          <a:xfrm>
            <a:off x="8055956" y="3196024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init_kmem_cache_nodes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53E19B-ABFB-4C32-BA9B-5CCE60EABD0F}"/>
              </a:ext>
            </a:extLst>
          </p:cNvPr>
          <p:cNvSpPr/>
          <p:nvPr/>
        </p:nvSpPr>
        <p:spPr>
          <a:xfrm>
            <a:off x="8055955" y="2512421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calculate_sizes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676F99-B946-4563-A177-718F682A75DC}"/>
              </a:ext>
            </a:extLst>
          </p:cNvPr>
          <p:cNvSpPr/>
          <p:nvPr/>
        </p:nvSpPr>
        <p:spPr>
          <a:xfrm>
            <a:off x="6096000" y="3131966"/>
            <a:ext cx="158408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kmem_cache_open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9A59B0-4062-4867-9EF7-605F36958571}"/>
              </a:ext>
            </a:extLst>
          </p:cNvPr>
          <p:cNvSpPr/>
          <p:nvPr/>
        </p:nvSpPr>
        <p:spPr>
          <a:xfrm>
            <a:off x="8055956" y="3774852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305E8CF-DB96-421F-BB3A-6CDBAA3E7B4F}"/>
              </a:ext>
            </a:extLst>
          </p:cNvPr>
          <p:cNvCxnSpPr>
            <a:cxnSpLocks/>
            <a:stCxn id="43" idx="3"/>
            <a:endCxn id="11" idx="1"/>
          </p:cNvCxnSpPr>
          <p:nvPr/>
        </p:nvCxnSpPr>
        <p:spPr>
          <a:xfrm flipV="1">
            <a:off x="4242293" y="1636520"/>
            <a:ext cx="460118" cy="51964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162B24E-AECB-409F-BE19-3DF80DE7E01C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 flipV="1">
            <a:off x="5841031" y="3252861"/>
            <a:ext cx="254969" cy="177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EEDF4AF-F39D-43A8-8B3D-C4221FE12C88}"/>
              </a:ext>
            </a:extLst>
          </p:cNvPr>
          <p:cNvCxnSpPr>
            <a:stCxn id="21" idx="3"/>
            <a:endCxn id="20" idx="1"/>
          </p:cNvCxnSpPr>
          <p:nvPr/>
        </p:nvCxnSpPr>
        <p:spPr>
          <a:xfrm flipV="1">
            <a:off x="7680083" y="2633316"/>
            <a:ext cx="375872" cy="61954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2717956-0F12-453A-9C93-AA0DB070CC0C}"/>
              </a:ext>
            </a:extLst>
          </p:cNvPr>
          <p:cNvCxnSpPr>
            <a:stCxn id="21" idx="3"/>
            <a:endCxn id="19" idx="1"/>
          </p:cNvCxnSpPr>
          <p:nvPr/>
        </p:nvCxnSpPr>
        <p:spPr>
          <a:xfrm>
            <a:off x="7680083" y="3252861"/>
            <a:ext cx="375873" cy="6405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A1924981-405C-4976-957A-FB010FABD96C}"/>
              </a:ext>
            </a:extLst>
          </p:cNvPr>
          <p:cNvCxnSpPr>
            <a:stCxn id="21" idx="3"/>
            <a:endCxn id="24" idx="1"/>
          </p:cNvCxnSpPr>
          <p:nvPr/>
        </p:nvCxnSpPr>
        <p:spPr>
          <a:xfrm>
            <a:off x="7680083" y="3252861"/>
            <a:ext cx="375873" cy="64288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D242F63-6D2B-4B85-A570-653856869740}"/>
              </a:ext>
            </a:extLst>
          </p:cNvPr>
          <p:cNvSpPr/>
          <p:nvPr/>
        </p:nvSpPr>
        <p:spPr>
          <a:xfrm>
            <a:off x="1511546" y="2035271"/>
            <a:ext cx="1069731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mm_init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77ECD6-09F8-4182-9253-6CF84131CBBA}"/>
              </a:ext>
            </a:extLst>
          </p:cNvPr>
          <p:cNvSpPr/>
          <p:nvPr/>
        </p:nvSpPr>
        <p:spPr>
          <a:xfrm>
            <a:off x="2838453" y="2035272"/>
            <a:ext cx="140384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kmem_cache_init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EDC6C3-B6B8-4768-BCCE-5AA3B7E14FB5}"/>
              </a:ext>
            </a:extLst>
          </p:cNvPr>
          <p:cNvCxnSpPr>
            <a:cxnSpLocks/>
            <a:stCxn id="4" idx="3"/>
            <a:endCxn id="40" idx="1"/>
          </p:cNvCxnSpPr>
          <p:nvPr/>
        </p:nvCxnSpPr>
        <p:spPr>
          <a:xfrm>
            <a:off x="1232390" y="2156166"/>
            <a:ext cx="27915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F3B7BA-BEB1-4052-BB69-5A5F5BD41D9D}"/>
              </a:ext>
            </a:extLst>
          </p:cNvPr>
          <p:cNvCxnSpPr>
            <a:stCxn id="40" idx="3"/>
            <a:endCxn id="43" idx="1"/>
          </p:cNvCxnSpPr>
          <p:nvPr/>
        </p:nvCxnSpPr>
        <p:spPr>
          <a:xfrm>
            <a:off x="2581277" y="2156166"/>
            <a:ext cx="257176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0496BEC-40B7-437C-9A61-43992FF98990}"/>
              </a:ext>
            </a:extLst>
          </p:cNvPr>
          <p:cNvSpPr/>
          <p:nvPr/>
        </p:nvSpPr>
        <p:spPr>
          <a:xfrm>
            <a:off x="375138" y="2975824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create_boot_cache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2A1F532-67AA-4C1B-B369-CAF5CD59989E}"/>
              </a:ext>
            </a:extLst>
          </p:cNvPr>
          <p:cNvSpPr/>
          <p:nvPr/>
        </p:nvSpPr>
        <p:spPr>
          <a:xfrm>
            <a:off x="375580" y="3373755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create_boot_cache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F75F58AD-F6B5-41AF-A15F-AB736A342F06}"/>
              </a:ext>
            </a:extLst>
          </p:cNvPr>
          <p:cNvCxnSpPr>
            <a:stCxn id="48" idx="3"/>
            <a:endCxn id="18" idx="1"/>
          </p:cNvCxnSpPr>
          <p:nvPr/>
        </p:nvCxnSpPr>
        <p:spPr>
          <a:xfrm>
            <a:off x="3661265" y="3096719"/>
            <a:ext cx="317260" cy="15791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1E8A2B5-F7E4-4113-9C4E-D4854EE7DF64}"/>
              </a:ext>
            </a:extLst>
          </p:cNvPr>
          <p:cNvCxnSpPr>
            <a:stCxn id="50" idx="3"/>
            <a:endCxn id="18" idx="1"/>
          </p:cNvCxnSpPr>
          <p:nvPr/>
        </p:nvCxnSpPr>
        <p:spPr>
          <a:xfrm flipV="1">
            <a:off x="3661707" y="3254632"/>
            <a:ext cx="316818" cy="240018"/>
          </a:xfrm>
          <a:prstGeom prst="bentConnector3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A002389-9290-41A6-A094-CB80FEA2753E}"/>
              </a:ext>
            </a:extLst>
          </p:cNvPr>
          <p:cNvCxnSpPr>
            <a:stCxn id="43" idx="3"/>
            <a:endCxn id="48" idx="1"/>
          </p:cNvCxnSpPr>
          <p:nvPr/>
        </p:nvCxnSpPr>
        <p:spPr>
          <a:xfrm flipH="1">
            <a:off x="375138" y="2156167"/>
            <a:ext cx="3867155" cy="940552"/>
          </a:xfrm>
          <a:prstGeom prst="bentConnector5">
            <a:avLst>
              <a:gd name="adj1" fmla="val -5911"/>
              <a:gd name="adj2" fmla="val 50000"/>
              <a:gd name="adj3" fmla="val 10591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827C8098-E444-40EB-9320-B18870AF0C28}"/>
              </a:ext>
            </a:extLst>
          </p:cNvPr>
          <p:cNvSpPr/>
          <p:nvPr/>
        </p:nvSpPr>
        <p:spPr>
          <a:xfrm>
            <a:off x="392361" y="3771686"/>
            <a:ext cx="3256648" cy="495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= bootstrap(&amp;</a:t>
            </a:r>
            <a:r>
              <a:rPr lang="en-US" sz="1400" dirty="0" err="1">
                <a:solidFill>
                  <a:schemeClr val="tx1"/>
                </a:solidFill>
              </a:rPr>
              <a:t>boot_kmem_cache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AD82F0-5CD0-441A-8135-91102AC2E567}"/>
              </a:ext>
            </a:extLst>
          </p:cNvPr>
          <p:cNvSpPr/>
          <p:nvPr/>
        </p:nvSpPr>
        <p:spPr>
          <a:xfrm>
            <a:off x="375138" y="4409559"/>
            <a:ext cx="3270943" cy="495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= bootstrap(&amp;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C771486-15FA-448C-B2EC-26C8283B72F0}"/>
              </a:ext>
            </a:extLst>
          </p:cNvPr>
          <p:cNvCxnSpPr>
            <a:stCxn id="48" idx="1"/>
            <a:endCxn id="50" idx="1"/>
          </p:cNvCxnSpPr>
          <p:nvPr/>
        </p:nvCxnSpPr>
        <p:spPr>
          <a:xfrm rot="10800000" flipH="1" flipV="1">
            <a:off x="375138" y="3096718"/>
            <a:ext cx="442" cy="397931"/>
          </a:xfrm>
          <a:prstGeom prst="bentConnector3">
            <a:avLst>
              <a:gd name="adj1" fmla="val -517194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B230C99-8A9E-4426-B458-A87B7852DDF3}"/>
              </a:ext>
            </a:extLst>
          </p:cNvPr>
          <p:cNvSpPr/>
          <p:nvPr/>
        </p:nvSpPr>
        <p:spPr>
          <a:xfrm>
            <a:off x="392360" y="5060661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setup_kmalloc_cache_index_table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EE7DD0-912A-4407-8A2A-4E846AF8B90B}"/>
              </a:ext>
            </a:extLst>
          </p:cNvPr>
          <p:cNvSpPr/>
          <p:nvPr/>
        </p:nvSpPr>
        <p:spPr>
          <a:xfrm>
            <a:off x="392360" y="5430550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create_kmalloc_caches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6A98437-2F0B-48B8-BF65-32C00BD508CD}"/>
              </a:ext>
            </a:extLst>
          </p:cNvPr>
          <p:cNvCxnSpPr>
            <a:cxnSpLocks/>
            <a:stCxn id="50" idx="1"/>
            <a:endCxn id="36" idx="1"/>
          </p:cNvCxnSpPr>
          <p:nvPr/>
        </p:nvCxnSpPr>
        <p:spPr>
          <a:xfrm rot="10800000" flipH="1" flipV="1">
            <a:off x="375579" y="3494650"/>
            <a:ext cx="16781" cy="524944"/>
          </a:xfrm>
          <a:prstGeom prst="bentConnector3">
            <a:avLst>
              <a:gd name="adj1" fmla="val -136225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59C1CA3-F70B-40A4-8EE4-5C873A16FF92}"/>
              </a:ext>
            </a:extLst>
          </p:cNvPr>
          <p:cNvCxnSpPr>
            <a:cxnSpLocks/>
            <a:stCxn id="36" idx="1"/>
            <a:endCxn id="37" idx="1"/>
          </p:cNvCxnSpPr>
          <p:nvPr/>
        </p:nvCxnSpPr>
        <p:spPr>
          <a:xfrm rot="10800000" flipV="1">
            <a:off x="375139" y="4019593"/>
            <a:ext cx="17223" cy="637873"/>
          </a:xfrm>
          <a:prstGeom prst="bentConnector3">
            <a:avLst>
              <a:gd name="adj1" fmla="val 142729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48D5F4E5-7144-4196-A708-CA09EED31D47}"/>
              </a:ext>
            </a:extLst>
          </p:cNvPr>
          <p:cNvCxnSpPr>
            <a:stCxn id="37" idx="1"/>
            <a:endCxn id="39" idx="1"/>
          </p:cNvCxnSpPr>
          <p:nvPr/>
        </p:nvCxnSpPr>
        <p:spPr>
          <a:xfrm rot="10800000" flipH="1" flipV="1">
            <a:off x="375138" y="4657466"/>
            <a:ext cx="17222" cy="524089"/>
          </a:xfrm>
          <a:prstGeom prst="bentConnector3">
            <a:avLst>
              <a:gd name="adj1" fmla="val -13273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699C733B-3643-4DDF-92F4-21CAE7063176}"/>
              </a:ext>
            </a:extLst>
          </p:cNvPr>
          <p:cNvCxnSpPr>
            <a:cxnSpLocks/>
            <a:stCxn id="39" idx="1"/>
            <a:endCxn id="41" idx="1"/>
          </p:cNvCxnSpPr>
          <p:nvPr/>
        </p:nvCxnSpPr>
        <p:spPr>
          <a:xfrm rot="10800000" flipV="1">
            <a:off x="392360" y="5181555"/>
            <a:ext cx="12700" cy="369889"/>
          </a:xfrm>
          <a:prstGeom prst="bentConnector3">
            <a:avLst>
              <a:gd name="adj1" fmla="val 20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4594A41-0910-4188-970C-BDF65E6412BD}"/>
              </a:ext>
            </a:extLst>
          </p:cNvPr>
          <p:cNvSpPr/>
          <p:nvPr/>
        </p:nvSpPr>
        <p:spPr>
          <a:xfrm>
            <a:off x="9344025" y="4118485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alloc_percpu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2B6317C-7C53-4FE3-A2EC-140C31AB7E1C}"/>
              </a:ext>
            </a:extLst>
          </p:cNvPr>
          <p:cNvSpPr/>
          <p:nvPr/>
        </p:nvSpPr>
        <p:spPr>
          <a:xfrm>
            <a:off x="9344025" y="4479137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165BCC-C6F8-4E27-8C24-CEE73349A088}"/>
              </a:ext>
            </a:extLst>
          </p:cNvPr>
          <p:cNvSpPr txBox="1"/>
          <p:nvPr/>
        </p:nvSpPr>
        <p:spPr>
          <a:xfrm>
            <a:off x="9344025" y="4720926"/>
            <a:ext cx="2153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Assign </a:t>
            </a:r>
            <a:r>
              <a:rPr lang="en-US" sz="1400" dirty="0" err="1"/>
              <a:t>cpu</a:t>
            </a:r>
            <a:r>
              <a:rPr lang="en-US" sz="1400" dirty="0"/>
              <a:t> id to </a:t>
            </a:r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r>
              <a:rPr lang="en-US" sz="1400" dirty="0">
                <a:solidFill>
                  <a:schemeClr val="tx1"/>
                </a:solidFill>
              </a:rPr>
              <a:t>-&gt;</a:t>
            </a:r>
            <a:r>
              <a:rPr lang="en-US" sz="1400" dirty="0" err="1">
                <a:solidFill>
                  <a:schemeClr val="tx1"/>
                </a:solidFill>
              </a:rPr>
              <a:t>tid</a:t>
            </a:r>
            <a:endParaRPr lang="en-US" sz="1400" dirty="0"/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B3C297E7-C560-4DBE-ADBB-023C0EE300EA}"/>
              </a:ext>
            </a:extLst>
          </p:cNvPr>
          <p:cNvCxnSpPr>
            <a:stCxn id="24" idx="2"/>
            <a:endCxn id="56" idx="1"/>
          </p:cNvCxnSpPr>
          <p:nvPr/>
        </p:nvCxnSpPr>
        <p:spPr>
          <a:xfrm rot="16200000" flipH="1">
            <a:off x="9081175" y="3976529"/>
            <a:ext cx="222739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2984BC18-B187-41E8-BB20-B00C71FC9786}"/>
              </a:ext>
            </a:extLst>
          </p:cNvPr>
          <p:cNvCxnSpPr>
            <a:stCxn id="24" idx="2"/>
            <a:endCxn id="57" idx="1"/>
          </p:cNvCxnSpPr>
          <p:nvPr/>
        </p:nvCxnSpPr>
        <p:spPr>
          <a:xfrm rot="16200000" flipH="1">
            <a:off x="8900849" y="4156855"/>
            <a:ext cx="583391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05CE5BC-27AD-4C51-A645-946D0032801E}"/>
              </a:ext>
            </a:extLst>
          </p:cNvPr>
          <p:cNvSpPr txBox="1"/>
          <p:nvPr/>
        </p:nvSpPr>
        <p:spPr>
          <a:xfrm>
            <a:off x="7952460" y="2802174"/>
            <a:ext cx="242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‘</a:t>
            </a:r>
            <a:r>
              <a:rPr lang="en-US" sz="1200" b="1" dirty="0" err="1"/>
              <a:t>kmem_cache_node</a:t>
            </a:r>
            <a:r>
              <a:rPr lang="en-US" sz="1200" dirty="0"/>
              <a:t>’ structs for all CPU nodes (sockets)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F49BFE-D8D0-437E-89F7-C2F44701122D}"/>
              </a:ext>
            </a:extLst>
          </p:cNvPr>
          <p:cNvSpPr txBox="1"/>
          <p:nvPr/>
        </p:nvSpPr>
        <p:spPr>
          <a:xfrm>
            <a:off x="7820021" y="3516903"/>
            <a:ext cx="2747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a ‘</a:t>
            </a:r>
            <a:r>
              <a:rPr lang="en-US" sz="1200" b="1" dirty="0" err="1"/>
              <a:t>kmem_cache_cpu</a:t>
            </a:r>
            <a:r>
              <a:rPr lang="en-US" sz="1200" dirty="0"/>
              <a:t>’ struct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4A69A19-63CC-4A4D-A95C-23B5959FE02A}"/>
              </a:ext>
            </a:extLst>
          </p:cNvPr>
          <p:cNvSpPr/>
          <p:nvPr/>
        </p:nvSpPr>
        <p:spPr>
          <a:xfrm>
            <a:off x="250748" y="3322482"/>
            <a:ext cx="3472365" cy="38210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CE4D25E-B03F-4F92-ACEE-04FC20E89537}"/>
              </a:ext>
            </a:extLst>
          </p:cNvPr>
          <p:cNvSpPr/>
          <p:nvPr/>
        </p:nvSpPr>
        <p:spPr>
          <a:xfrm>
            <a:off x="7935052" y="2830749"/>
            <a:ext cx="2342423" cy="68615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571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52608" y="2840944"/>
            <a:ext cx="1832065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(global variable: </a:t>
            </a:r>
            <a:r>
              <a:rPr lang="en-US" sz="1100" dirty="0" err="1">
                <a:solidFill>
                  <a:schemeClr val="tx1"/>
                </a:solidFill>
              </a:rPr>
              <a:t>kmem_cache</a:t>
            </a:r>
            <a:r>
              <a:rPr lang="en-US" sz="1100" dirty="0">
                <a:solidFill>
                  <a:schemeClr val="tx1"/>
                </a:solidFill>
              </a:rPr>
              <a:t>)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52608" y="3352131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352607" y="3562326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352603" y="3772299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256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352606" y="3982494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352608" y="439670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13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352607" y="5012340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0x10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352607" y="522231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352606" y="5432508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352606" y="5642222"/>
            <a:ext cx="1832065" cy="20706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352605" y="5844484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52605" y="6058002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352603" y="4816814"/>
            <a:ext cx="1832065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0x10020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352602" y="4599968"/>
            <a:ext cx="1832065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oo</a:t>
            </a:r>
            <a:r>
              <a:rPr lang="en-US" sz="1100" dirty="0">
                <a:solidFill>
                  <a:schemeClr val="tx1"/>
                </a:solidFill>
              </a:rPr>
              <a:t> (order objects) = 0x10020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881BA68-DB0B-419E-B4F4-FD6A7292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1" y="-76688"/>
            <a:ext cx="11716483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/>
              <a:t>kmem_cache</a:t>
            </a:r>
            <a:r>
              <a:rPr lang="en-US" sz="4400" dirty="0"/>
              <a:t>: </a:t>
            </a:r>
            <a:r>
              <a:rPr lang="en-US" sz="4400" dirty="0" err="1">
                <a:solidFill>
                  <a:schemeClr val="tx1"/>
                </a:solidFill>
              </a:rPr>
              <a:t>init_kmem_cache_nodes</a:t>
            </a:r>
            <a:r>
              <a:rPr lang="en-US" dirty="0"/>
              <a:t>()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352602" y="4190925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112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5081771" y="3360187"/>
            <a:ext cx="1659072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5081771" y="3836749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5081770" y="4046944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5081766" y="4256917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5081769" y="4467112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5081765" y="3628482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5081764" y="4674420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D136EC2-A721-4D0A-9A5E-92F3EE13FD9B}"/>
              </a:ext>
            </a:extLst>
          </p:cNvPr>
          <p:cNvCxnSpPr>
            <a:stCxn id="37" idx="3"/>
            <a:endCxn id="89" idx="1"/>
          </p:cNvCxnSpPr>
          <p:nvPr/>
        </p:nvCxnSpPr>
        <p:spPr>
          <a:xfrm flipV="1">
            <a:off x="2184670" y="3494705"/>
            <a:ext cx="2897101" cy="2668524"/>
          </a:xfrm>
          <a:prstGeom prst="bentConnector3">
            <a:avLst>
              <a:gd name="adj1" fmla="val 8912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D9E0052-093A-43C0-A1D1-D1555CB89DA6}"/>
              </a:ext>
            </a:extLst>
          </p:cNvPr>
          <p:cNvSpPr txBox="1"/>
          <p:nvPr/>
        </p:nvSpPr>
        <p:spPr>
          <a:xfrm>
            <a:off x="2060842" y="6136250"/>
            <a:ext cx="3001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kmem_cache_node-&gt;node[node] = </a:t>
            </a:r>
            <a:r>
              <a:rPr lang="en-US" sz="1400" dirty="0"/>
              <a:t>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5EA58C1B-FFBB-4CB6-B840-C84E2B45B768}"/>
              </a:ext>
            </a:extLst>
          </p:cNvPr>
          <p:cNvSpPr/>
          <p:nvPr/>
        </p:nvSpPr>
        <p:spPr>
          <a:xfrm>
            <a:off x="6772275" y="4258074"/>
            <a:ext cx="238728" cy="629684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F9DCC2-C94C-42B6-B29A-38A7B70EA2B6}"/>
              </a:ext>
            </a:extLst>
          </p:cNvPr>
          <p:cNvSpPr txBox="1"/>
          <p:nvPr/>
        </p:nvSpPr>
        <p:spPr>
          <a:xfrm>
            <a:off x="7032911" y="4418450"/>
            <a:ext cx="2114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CONFIG_SLUB_DEBUG = y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5081770" y="5210809"/>
            <a:ext cx="1659072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5081770" y="5687371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5081769" y="5897566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5081765" y="6107539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5081768" y="6317734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5081764" y="5479104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5081763" y="6525042"/>
            <a:ext cx="1659072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6DCD3F-A0D4-43A2-9EE4-A68A36474E88}"/>
              </a:ext>
            </a:extLst>
          </p:cNvPr>
          <p:cNvSpPr txBox="1"/>
          <p:nvPr/>
        </p:nvSpPr>
        <p:spPr>
          <a:xfrm>
            <a:off x="5739336" y="4815731"/>
            <a:ext cx="85508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264261FE-A9D5-4E78-9E9E-F5195A0AF0F4}"/>
              </a:ext>
            </a:extLst>
          </p:cNvPr>
          <p:cNvCxnSpPr>
            <a:stCxn id="37" idx="3"/>
            <a:endCxn id="80" idx="1"/>
          </p:cNvCxnSpPr>
          <p:nvPr/>
        </p:nvCxnSpPr>
        <p:spPr>
          <a:xfrm flipV="1">
            <a:off x="2184670" y="5345327"/>
            <a:ext cx="2897100" cy="817902"/>
          </a:xfrm>
          <a:prstGeom prst="bentConnector3">
            <a:avLst>
              <a:gd name="adj1" fmla="val 8923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2900CA0F-0672-47D2-8DF7-C6FC6D4262A6}"/>
              </a:ext>
            </a:extLst>
          </p:cNvPr>
          <p:cNvSpPr/>
          <p:nvPr/>
        </p:nvSpPr>
        <p:spPr>
          <a:xfrm>
            <a:off x="1558532" y="915987"/>
            <a:ext cx="1910074" cy="2428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A26A9DE-339F-447A-85DF-AC56310A348C}"/>
              </a:ext>
            </a:extLst>
          </p:cNvPr>
          <p:cNvSpPr/>
          <p:nvPr/>
        </p:nvSpPr>
        <p:spPr>
          <a:xfrm>
            <a:off x="1558532" y="1152048"/>
            <a:ext cx="191007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14A006-81CE-45C0-B6CE-3F149B29DAC6}"/>
              </a:ext>
            </a:extLst>
          </p:cNvPr>
          <p:cNvSpPr/>
          <p:nvPr/>
        </p:nvSpPr>
        <p:spPr>
          <a:xfrm>
            <a:off x="1558531" y="1362243"/>
            <a:ext cx="191007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tid</a:t>
            </a:r>
            <a:r>
              <a:rPr lang="en-US" sz="1200" dirty="0">
                <a:solidFill>
                  <a:schemeClr val="tx1"/>
                </a:solidFill>
              </a:rPr>
              <a:t> (transaction id) = </a:t>
            </a:r>
            <a:r>
              <a:rPr lang="en-US" sz="1200" dirty="0" err="1">
                <a:solidFill>
                  <a:schemeClr val="tx1"/>
                </a:solidFill>
              </a:rPr>
              <a:t>cpu</a:t>
            </a:r>
            <a:r>
              <a:rPr lang="en-US" sz="1200" dirty="0">
                <a:solidFill>
                  <a:schemeClr val="tx1"/>
                </a:solidFill>
              </a:rPr>
              <a:t> id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C6A5F7A-D209-4AAC-93C7-A3F44B6AF2FD}"/>
              </a:ext>
            </a:extLst>
          </p:cNvPr>
          <p:cNvSpPr/>
          <p:nvPr/>
        </p:nvSpPr>
        <p:spPr>
          <a:xfrm>
            <a:off x="1558527" y="1572216"/>
            <a:ext cx="191007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94D5A46-0D9B-442D-AA7C-0A917845D920}"/>
              </a:ext>
            </a:extLst>
          </p:cNvPr>
          <p:cNvSpPr/>
          <p:nvPr/>
        </p:nvSpPr>
        <p:spPr>
          <a:xfrm>
            <a:off x="1558530" y="1782411"/>
            <a:ext cx="191007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12922CA-454F-46C9-ACE6-04AFE7BD318C}"/>
              </a:ext>
            </a:extLst>
          </p:cNvPr>
          <p:cNvSpPr/>
          <p:nvPr/>
        </p:nvSpPr>
        <p:spPr>
          <a:xfrm>
            <a:off x="1558526" y="1990842"/>
            <a:ext cx="191007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n-NO" sz="1200" dirty="0">
                <a:solidFill>
                  <a:schemeClr val="tx1"/>
                </a:solidFill>
              </a:rPr>
              <a:t>stat[NR_SLUB_STAT_ITEMS]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CA9450C5-62C5-41A6-AA65-B829DEDBCF31}"/>
              </a:ext>
            </a:extLst>
          </p:cNvPr>
          <p:cNvCxnSpPr>
            <a:stCxn id="24" idx="1"/>
            <a:endCxn id="87" idx="1"/>
          </p:cNvCxnSpPr>
          <p:nvPr/>
        </p:nvCxnSpPr>
        <p:spPr>
          <a:xfrm rot="10800000" flipH="1">
            <a:off x="352608" y="1037412"/>
            <a:ext cx="1205924" cy="2419946"/>
          </a:xfrm>
          <a:prstGeom prst="bentConnector3">
            <a:avLst>
              <a:gd name="adj1" fmla="val -1895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FEBBD57B-58A7-4540-8D43-C432C10AB8BF}"/>
              </a:ext>
            </a:extLst>
          </p:cNvPr>
          <p:cNvSpPr txBox="1"/>
          <p:nvPr/>
        </p:nvSpPr>
        <p:spPr>
          <a:xfrm>
            <a:off x="497664" y="2319361"/>
            <a:ext cx="1504059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F1E1BBBA-B70C-4D36-A4BD-6AE6399F1A14}"/>
              </a:ext>
            </a:extLst>
          </p:cNvPr>
          <p:cNvCxnSpPr>
            <a:cxnSpLocks/>
            <a:stCxn id="23" idx="1"/>
            <a:endCxn id="98" idx="1"/>
          </p:cNvCxnSpPr>
          <p:nvPr/>
        </p:nvCxnSpPr>
        <p:spPr>
          <a:xfrm rot="10800000" flipH="1">
            <a:off x="352608" y="2427084"/>
            <a:ext cx="145056" cy="672849"/>
          </a:xfrm>
          <a:prstGeom prst="bentConnector3">
            <a:avLst>
              <a:gd name="adj1" fmla="val -7223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97DD492-23D3-4D85-A387-8D4C80BC3624}"/>
              </a:ext>
            </a:extLst>
          </p:cNvPr>
          <p:cNvSpPr txBox="1"/>
          <p:nvPr/>
        </p:nvSpPr>
        <p:spPr>
          <a:xfrm>
            <a:off x="671973" y="2476359"/>
            <a:ext cx="1205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variable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B0D612E-C180-4AE9-97EA-1C5DF2ED0281}"/>
              </a:ext>
            </a:extLst>
          </p:cNvPr>
          <p:cNvSpPr/>
          <p:nvPr/>
        </p:nvSpPr>
        <p:spPr>
          <a:xfrm>
            <a:off x="6743700" y="4076136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8D787412-3D32-4B89-BA40-F4326BB74DCA}"/>
              </a:ext>
            </a:extLst>
          </p:cNvPr>
          <p:cNvSpPr/>
          <p:nvPr/>
        </p:nvSpPr>
        <p:spPr>
          <a:xfrm>
            <a:off x="6734174" y="5920378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66A718AD-F6FD-4CCD-8705-A10345C51BA8}"/>
              </a:ext>
            </a:extLst>
          </p:cNvPr>
          <p:cNvSpPr/>
          <p:nvPr/>
        </p:nvSpPr>
        <p:spPr>
          <a:xfrm>
            <a:off x="6734778" y="653456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D192973-A6F4-430B-B0A4-ECB0BFB16AF4}"/>
              </a:ext>
            </a:extLst>
          </p:cNvPr>
          <p:cNvSpPr/>
          <p:nvPr/>
        </p:nvSpPr>
        <p:spPr>
          <a:xfrm>
            <a:off x="4933950" y="2840945"/>
            <a:ext cx="4270661" cy="394085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DC3B00D-B8B0-46D1-A1AC-6EA2DB53F0DA}"/>
              </a:ext>
            </a:extLst>
          </p:cNvPr>
          <p:cNvSpPr txBox="1"/>
          <p:nvPr/>
        </p:nvSpPr>
        <p:spPr>
          <a:xfrm>
            <a:off x="4914900" y="2809597"/>
            <a:ext cx="4438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Allocate from global variable ‘</a:t>
            </a:r>
            <a:r>
              <a:rPr lang="en-US" sz="1400" b="1" dirty="0" err="1">
                <a:solidFill>
                  <a:schemeClr val="tx1"/>
                </a:solidFill>
              </a:rPr>
              <a:t>kmem_cache_node</a:t>
            </a:r>
            <a:r>
              <a:rPr lang="en-US" sz="1400" b="1" dirty="0">
                <a:solidFill>
                  <a:schemeClr val="tx1"/>
                </a:solidFill>
              </a:rPr>
              <a:t>’</a:t>
            </a:r>
            <a:r>
              <a:rPr lang="en-US" sz="1400" b="1" dirty="0"/>
              <a:t> </a:t>
            </a:r>
          </a:p>
          <a:p>
            <a:r>
              <a:rPr lang="en-US" sz="1400" b="1" dirty="0"/>
              <a:t>  * </a:t>
            </a:r>
            <a:r>
              <a:rPr lang="en-US" sz="1400" b="1" dirty="0" err="1"/>
              <a:t>init_kmem_cache_nodes</a:t>
            </a:r>
            <a:r>
              <a:rPr lang="en-US" sz="1400" b="1" dirty="0"/>
              <a:t> -&gt; </a:t>
            </a:r>
            <a:r>
              <a:rPr lang="en-US" sz="1400" b="1" dirty="0" err="1"/>
              <a:t>kmem_cache_alloc_node</a:t>
            </a:r>
            <a:endParaRPr lang="en-US" sz="1400" b="1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6A296D4-94EA-4A4D-8224-A1E24DD03820}"/>
              </a:ext>
            </a:extLst>
          </p:cNvPr>
          <p:cNvSpPr/>
          <p:nvPr/>
        </p:nvSpPr>
        <p:spPr>
          <a:xfrm>
            <a:off x="6632518" y="679180"/>
            <a:ext cx="5511858" cy="1923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9F881EE-8FA3-4F50-8E62-76AD8B05263C}"/>
              </a:ext>
            </a:extLst>
          </p:cNvPr>
          <p:cNvSpPr/>
          <p:nvPr/>
        </p:nvSpPr>
        <p:spPr>
          <a:xfrm>
            <a:off x="9726679" y="1512458"/>
            <a:ext cx="231163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 = </a:t>
            </a:r>
            <a:r>
              <a:rPr lang="en-US" sz="1400" dirty="0" err="1">
                <a:solidFill>
                  <a:schemeClr val="tx1"/>
                </a:solidFill>
              </a:rPr>
              <a:t>kmem_cache_alloc_node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61BAD7E-A34D-45D2-8AF3-537AA01D39B4}"/>
              </a:ext>
            </a:extLst>
          </p:cNvPr>
          <p:cNvSpPr/>
          <p:nvPr/>
        </p:nvSpPr>
        <p:spPr>
          <a:xfrm>
            <a:off x="6986190" y="1515170"/>
            <a:ext cx="249737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early_kmem_cache_node_alloc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79CAA03-2CBA-4EEA-A708-B03B94DD2D1E}"/>
              </a:ext>
            </a:extLst>
          </p:cNvPr>
          <p:cNvSpPr/>
          <p:nvPr/>
        </p:nvSpPr>
        <p:spPr>
          <a:xfrm>
            <a:off x="4574375" y="1087424"/>
            <a:ext cx="1970215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init_kmem_cache_nodes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918F1A3-9CB8-4268-B9CF-FF0BD7325586}"/>
              </a:ext>
            </a:extLst>
          </p:cNvPr>
          <p:cNvSpPr txBox="1"/>
          <p:nvPr/>
        </p:nvSpPr>
        <p:spPr>
          <a:xfrm>
            <a:off x="6631422" y="637497"/>
            <a:ext cx="2068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for_each_node_state</a:t>
            </a:r>
            <a:r>
              <a:rPr lang="en-US" sz="1400" dirty="0"/>
              <a:t>()</a:t>
            </a:r>
          </a:p>
        </p:txBody>
      </p:sp>
      <p:sp>
        <p:nvSpPr>
          <p:cNvPr id="113" name="Flowchart: Decision 112">
            <a:extLst>
              <a:ext uri="{FF2B5EF4-FFF2-40B4-BE49-F238E27FC236}">
                <a16:creationId xmlns:a16="http://schemas.microsoft.com/office/drawing/2014/main" id="{88AB28A8-DEFE-437E-ADA3-7ED7769A3EB0}"/>
              </a:ext>
            </a:extLst>
          </p:cNvPr>
          <p:cNvSpPr/>
          <p:nvPr/>
        </p:nvSpPr>
        <p:spPr>
          <a:xfrm>
            <a:off x="6804113" y="938836"/>
            <a:ext cx="2861534" cy="342903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slab_state</a:t>
            </a:r>
            <a:r>
              <a:rPr lang="en-US" sz="1200" dirty="0">
                <a:solidFill>
                  <a:schemeClr val="tx1"/>
                </a:solidFill>
              </a:rPr>
              <a:t> == DOWN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47F0740-4379-46CC-B9F3-35DB2AFEDD59}"/>
              </a:ext>
            </a:extLst>
          </p:cNvPr>
          <p:cNvSpPr/>
          <p:nvPr/>
        </p:nvSpPr>
        <p:spPr>
          <a:xfrm>
            <a:off x="9726677" y="1889042"/>
            <a:ext cx="2311631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7D936A7-26BC-4940-850E-322C667AC3A3}"/>
              </a:ext>
            </a:extLst>
          </p:cNvPr>
          <p:cNvSpPr/>
          <p:nvPr/>
        </p:nvSpPr>
        <p:spPr>
          <a:xfrm>
            <a:off x="9726676" y="2250770"/>
            <a:ext cx="2311631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-&gt;node[node] = n</a:t>
            </a:r>
          </a:p>
        </p:txBody>
      </p: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3F6E017A-9F2C-4BC1-9AED-F901EF045AB1}"/>
              </a:ext>
            </a:extLst>
          </p:cNvPr>
          <p:cNvCxnSpPr>
            <a:cxnSpLocks/>
            <a:stCxn id="111" idx="2"/>
            <a:endCxn id="105" idx="1"/>
          </p:cNvCxnSpPr>
          <p:nvPr/>
        </p:nvCxnSpPr>
        <p:spPr>
          <a:xfrm rot="16200000" flipH="1">
            <a:off x="5940239" y="948456"/>
            <a:ext cx="311522" cy="107303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7699EDD-0317-4913-88DC-6EC139E7BA89}"/>
              </a:ext>
            </a:extLst>
          </p:cNvPr>
          <p:cNvCxnSpPr>
            <a:stCxn id="113" idx="2"/>
            <a:endCxn id="110" idx="0"/>
          </p:cNvCxnSpPr>
          <p:nvPr/>
        </p:nvCxnSpPr>
        <p:spPr>
          <a:xfrm>
            <a:off x="8234880" y="1281739"/>
            <a:ext cx="0" cy="2334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CE4CBA90-906A-4828-8C12-07534E7A18DA}"/>
              </a:ext>
            </a:extLst>
          </p:cNvPr>
          <p:cNvCxnSpPr>
            <a:stCxn id="113" idx="3"/>
            <a:endCxn id="109" idx="0"/>
          </p:cNvCxnSpPr>
          <p:nvPr/>
        </p:nvCxnSpPr>
        <p:spPr>
          <a:xfrm>
            <a:off x="9665647" y="1110288"/>
            <a:ext cx="1216847" cy="40217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BCE4A50-6A79-4F55-B0BF-131E60CB0DB4}"/>
              </a:ext>
            </a:extLst>
          </p:cNvPr>
          <p:cNvCxnSpPr>
            <a:cxnSpLocks/>
            <a:stCxn id="109" idx="2"/>
            <a:endCxn id="114" idx="0"/>
          </p:cNvCxnSpPr>
          <p:nvPr/>
        </p:nvCxnSpPr>
        <p:spPr>
          <a:xfrm flipH="1">
            <a:off x="10882493" y="1754247"/>
            <a:ext cx="1" cy="1347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44F1C3A4-BFA7-4894-9716-E004B58FEE78}"/>
              </a:ext>
            </a:extLst>
          </p:cNvPr>
          <p:cNvCxnSpPr>
            <a:stCxn id="114" idx="2"/>
            <a:endCxn id="115" idx="0"/>
          </p:cNvCxnSpPr>
          <p:nvPr/>
        </p:nvCxnSpPr>
        <p:spPr>
          <a:xfrm flipH="1">
            <a:off x="10882492" y="2130831"/>
            <a:ext cx="1" cy="1199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EA3D5EFB-ADED-4542-A7F0-00F910923D95}"/>
              </a:ext>
            </a:extLst>
          </p:cNvPr>
          <p:cNvSpPr txBox="1"/>
          <p:nvPr/>
        </p:nvSpPr>
        <p:spPr>
          <a:xfrm>
            <a:off x="8210443" y="1248292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6F2B7CA-EC5B-479C-9490-46429A55D524}"/>
              </a:ext>
            </a:extLst>
          </p:cNvPr>
          <p:cNvSpPr txBox="1"/>
          <p:nvPr/>
        </p:nvSpPr>
        <p:spPr>
          <a:xfrm>
            <a:off x="9677087" y="835868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C0C61E7-7C95-4D0E-A5F2-B35FE5C94A5E}"/>
              </a:ext>
            </a:extLst>
          </p:cNvPr>
          <p:cNvSpPr/>
          <p:nvPr/>
        </p:nvSpPr>
        <p:spPr>
          <a:xfrm>
            <a:off x="9645865" y="1425781"/>
            <a:ext cx="2459117" cy="38210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AF2A39C-203E-4635-B7CB-445857EF5C8D}"/>
              </a:ext>
            </a:extLst>
          </p:cNvPr>
          <p:cNvSpPr txBox="1"/>
          <p:nvPr/>
        </p:nvSpPr>
        <p:spPr>
          <a:xfrm>
            <a:off x="6931873" y="1762071"/>
            <a:ext cx="2632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Special (one-shot) path:</a:t>
            </a:r>
          </a:p>
          <a:p>
            <a:r>
              <a:rPr lang="en-US" sz="1400" b="1" dirty="0"/>
              <a:t>Fix ‘chicken or the egg’ problem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44F61E-D0C7-405F-A1C1-544FADA107A6}"/>
              </a:ext>
            </a:extLst>
          </p:cNvPr>
          <p:cNvSpPr txBox="1"/>
          <p:nvPr/>
        </p:nvSpPr>
        <p:spPr>
          <a:xfrm>
            <a:off x="10852310" y="1138792"/>
            <a:ext cx="1292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Generic path</a:t>
            </a:r>
          </a:p>
        </p:txBody>
      </p:sp>
    </p:spTree>
    <p:extLst>
      <p:ext uri="{BB962C8B-B14F-4D97-AF65-F5344CB8AC3E}">
        <p14:creationId xmlns:p14="http://schemas.microsoft.com/office/powerpoint/2010/main" val="42154064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6FB49F4E-D74E-4377-9C13-2109BA053C49}"/>
              </a:ext>
            </a:extLst>
          </p:cNvPr>
          <p:cNvSpPr/>
          <p:nvPr/>
        </p:nvSpPr>
        <p:spPr>
          <a:xfrm>
            <a:off x="3870167" y="2553026"/>
            <a:ext cx="8252318" cy="3849881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0420E-A3FE-4510-A679-D742DCC75454}"/>
              </a:ext>
            </a:extLst>
          </p:cNvPr>
          <p:cNvSpPr/>
          <p:nvPr/>
        </p:nvSpPr>
        <p:spPr>
          <a:xfrm>
            <a:off x="828675" y="4514320"/>
            <a:ext cx="2891889" cy="124830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3B410-682E-4B73-A942-9118C9D895B7}"/>
              </a:ext>
            </a:extLst>
          </p:cNvPr>
          <p:cNvSpPr/>
          <p:nvPr/>
        </p:nvSpPr>
        <p:spPr>
          <a:xfrm>
            <a:off x="1036960" y="4807563"/>
            <a:ext cx="251036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Get a slab object from c-&gt;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3DF1D-7635-4AC4-8987-97B41002E1F9}"/>
              </a:ext>
            </a:extLst>
          </p:cNvPr>
          <p:cNvSpPr/>
          <p:nvPr/>
        </p:nvSpPr>
        <p:spPr>
          <a:xfrm>
            <a:off x="1607087" y="817182"/>
            <a:ext cx="1970215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kmem_cache_alloc_node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00291715-047A-4596-8317-A8C2CB0B6476}"/>
              </a:ext>
            </a:extLst>
          </p:cNvPr>
          <p:cNvSpPr/>
          <p:nvPr/>
        </p:nvSpPr>
        <p:spPr>
          <a:xfrm>
            <a:off x="1180972" y="3533155"/>
            <a:ext cx="2209806" cy="573622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!c-&gt;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or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!c-&gt; page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1DECBE7-96BF-476E-801F-45A37B2B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-76688"/>
            <a:ext cx="11345008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kmem_cache_alloc_node</a:t>
            </a:r>
            <a:r>
              <a:rPr lang="en-US" sz="4400" dirty="0">
                <a:solidFill>
                  <a:schemeClr val="tx1"/>
                </a:solidFill>
              </a:rPr>
              <a:t>/</a:t>
            </a:r>
            <a:r>
              <a:rPr lang="en-US" sz="4400" dirty="0" err="1">
                <a:solidFill>
                  <a:schemeClr val="tx1"/>
                </a:solidFill>
              </a:rPr>
              <a:t>slab_alloc_node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08FCDB-D5DB-4098-BA29-71A6C4D9E9B8}"/>
              </a:ext>
            </a:extLst>
          </p:cNvPr>
          <p:cNvSpPr/>
          <p:nvPr/>
        </p:nvSpPr>
        <p:spPr>
          <a:xfrm>
            <a:off x="4048126" y="3702877"/>
            <a:ext cx="107632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B5BB81-36FE-412E-AD39-57E6F21BF69E}"/>
              </a:ext>
            </a:extLst>
          </p:cNvPr>
          <p:cNvSpPr/>
          <p:nvPr/>
        </p:nvSpPr>
        <p:spPr>
          <a:xfrm>
            <a:off x="161192" y="1338348"/>
            <a:ext cx="159759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936C6D-9003-4D95-86B7-D8AE219AD8C5}"/>
              </a:ext>
            </a:extLst>
          </p:cNvPr>
          <p:cNvSpPr/>
          <p:nvPr/>
        </p:nvSpPr>
        <p:spPr>
          <a:xfrm>
            <a:off x="2095499" y="1341361"/>
            <a:ext cx="87629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048101-74AC-4B64-8974-B28E0DAEE6F7}"/>
              </a:ext>
            </a:extLst>
          </p:cNvPr>
          <p:cNvSpPr/>
          <p:nvPr/>
        </p:nvSpPr>
        <p:spPr>
          <a:xfrm>
            <a:off x="3556872" y="1347873"/>
            <a:ext cx="1310404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slab_alloc_node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4A147-3847-4457-B254-A5ECE1C4C291}"/>
              </a:ext>
            </a:extLst>
          </p:cNvPr>
          <p:cNvSpPr txBox="1"/>
          <p:nvPr/>
        </p:nvSpPr>
        <p:spPr>
          <a:xfrm>
            <a:off x="2818672" y="1552516"/>
            <a:ext cx="14199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NUMA_NO_NODE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7795C0-9A2C-4E2E-82D1-FADDF29C95AD}"/>
              </a:ext>
            </a:extLst>
          </p:cNvPr>
          <p:cNvSpPr/>
          <p:nvPr/>
        </p:nvSpPr>
        <p:spPr>
          <a:xfrm>
            <a:off x="1988108" y="1978068"/>
            <a:ext cx="141995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kmalloc_node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730A8B-4FD3-41E0-BF58-AC6A962757D5}"/>
              </a:ext>
            </a:extLst>
          </p:cNvPr>
          <p:cNvSpPr/>
          <p:nvPr/>
        </p:nvSpPr>
        <p:spPr>
          <a:xfrm>
            <a:off x="312894" y="1981965"/>
            <a:ext cx="129419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kmalloc_node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47D268-BD0A-412B-A7F9-84D1A74DF3E9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2971792" y="1462256"/>
            <a:ext cx="585080" cy="65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EC811E-BF06-4DB1-947A-FC2F6AB3F7EB}"/>
              </a:ext>
            </a:extLst>
          </p:cNvPr>
          <p:cNvCxnSpPr>
            <a:stCxn id="36" idx="3"/>
            <a:endCxn id="35" idx="1"/>
          </p:cNvCxnSpPr>
          <p:nvPr/>
        </p:nvCxnSpPr>
        <p:spPr>
          <a:xfrm flipV="1">
            <a:off x="1607087" y="2098963"/>
            <a:ext cx="381021" cy="38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EB98837-729D-479B-95F0-0BD8C8C951F1}"/>
              </a:ext>
            </a:extLst>
          </p:cNvPr>
          <p:cNvCxnSpPr>
            <a:cxnSpLocks/>
            <a:stCxn id="35" idx="3"/>
            <a:endCxn id="31" idx="2"/>
          </p:cNvCxnSpPr>
          <p:nvPr/>
        </p:nvCxnSpPr>
        <p:spPr>
          <a:xfrm flipV="1">
            <a:off x="3408062" y="1589662"/>
            <a:ext cx="804012" cy="50930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B36931D-7CCD-4E65-AC4E-4CE0B280651C}"/>
              </a:ext>
            </a:extLst>
          </p:cNvPr>
          <p:cNvSpPr txBox="1"/>
          <p:nvPr/>
        </p:nvSpPr>
        <p:spPr>
          <a:xfrm>
            <a:off x="3469863" y="2052771"/>
            <a:ext cx="7326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node_id</a:t>
            </a:r>
            <a:endParaRPr lang="en-US" sz="1200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53FC3DE-70F6-4A01-AB8E-0193BEB5C047}"/>
              </a:ext>
            </a:extLst>
          </p:cNvPr>
          <p:cNvCxnSpPr>
            <a:cxnSpLocks/>
            <a:stCxn id="7" idx="3"/>
            <a:endCxn id="31" idx="0"/>
          </p:cNvCxnSpPr>
          <p:nvPr/>
        </p:nvCxnSpPr>
        <p:spPr>
          <a:xfrm>
            <a:off x="3577302" y="938077"/>
            <a:ext cx="634772" cy="40979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D27C52B-4463-4162-A8FE-DB3BEFA0D5BF}"/>
              </a:ext>
            </a:extLst>
          </p:cNvPr>
          <p:cNvSpPr txBox="1"/>
          <p:nvPr/>
        </p:nvSpPr>
        <p:spPr>
          <a:xfrm>
            <a:off x="3583160" y="657822"/>
            <a:ext cx="7326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node_id</a:t>
            </a:r>
            <a:endParaRPr lang="en-US" sz="12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3E3F6B-C0FF-4614-AB05-735B44C02AC7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>
            <a:off x="1758791" y="1459243"/>
            <a:ext cx="336708" cy="30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C5EA1983-2A9B-40B4-A886-F09CBAD8A930}"/>
              </a:ext>
            </a:extLst>
          </p:cNvPr>
          <p:cNvCxnSpPr>
            <a:stCxn id="31" idx="3"/>
            <a:endCxn id="9" idx="0"/>
          </p:cNvCxnSpPr>
          <p:nvPr/>
        </p:nvCxnSpPr>
        <p:spPr>
          <a:xfrm flipH="1">
            <a:off x="2285875" y="1468768"/>
            <a:ext cx="2581401" cy="2064387"/>
          </a:xfrm>
          <a:prstGeom prst="bentConnector4">
            <a:avLst>
              <a:gd name="adj1" fmla="val -8856"/>
              <a:gd name="adj2" fmla="val 4554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D1A50C08-EDC4-495D-9FD4-8AD10313A1B8}"/>
              </a:ext>
            </a:extLst>
          </p:cNvPr>
          <p:cNvSpPr/>
          <p:nvPr/>
        </p:nvSpPr>
        <p:spPr>
          <a:xfrm>
            <a:off x="5343525" y="3702442"/>
            <a:ext cx="108524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___</a:t>
            </a:r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C6EC661-522D-4D40-B0CF-CFB8179D4E57}"/>
              </a:ext>
            </a:extLst>
          </p:cNvPr>
          <p:cNvSpPr/>
          <p:nvPr/>
        </p:nvSpPr>
        <p:spPr>
          <a:xfrm>
            <a:off x="6683878" y="4917869"/>
            <a:ext cx="153030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new_slab_objects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D9DBAFA-64DD-4330-B4B6-E2B0D7993D88}"/>
              </a:ext>
            </a:extLst>
          </p:cNvPr>
          <p:cNvSpPr/>
          <p:nvPr/>
        </p:nvSpPr>
        <p:spPr>
          <a:xfrm>
            <a:off x="8195323" y="3702442"/>
            <a:ext cx="264852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c-&gt;page = </a:t>
            </a:r>
            <a:r>
              <a:rPr lang="fr-FR" sz="1400" dirty="0" err="1">
                <a:solidFill>
                  <a:schemeClr val="tx1"/>
                </a:solidFill>
              </a:rPr>
              <a:t>slub_percpu_partial</a:t>
            </a:r>
            <a:r>
              <a:rPr lang="fr-FR" sz="1400" dirty="0">
                <a:solidFill>
                  <a:schemeClr val="tx1"/>
                </a:solidFill>
              </a:rPr>
              <a:t>(c)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1DCB473-78A9-46EF-944D-8625451A2C8D}"/>
              </a:ext>
            </a:extLst>
          </p:cNvPr>
          <p:cNvSpPr/>
          <p:nvPr/>
        </p:nvSpPr>
        <p:spPr>
          <a:xfrm>
            <a:off x="6860537" y="2948629"/>
            <a:ext cx="283964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Get a slab object from page-&gt;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1D41374-0A45-415C-BCD4-25C6ADECF37D}"/>
              </a:ext>
            </a:extLst>
          </p:cNvPr>
          <p:cNvCxnSpPr>
            <a:stCxn id="9" idx="3"/>
            <a:endCxn id="24" idx="1"/>
          </p:cNvCxnSpPr>
          <p:nvPr/>
        </p:nvCxnSpPr>
        <p:spPr>
          <a:xfrm>
            <a:off x="3390778" y="3819966"/>
            <a:ext cx="657348" cy="38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714F4AC-ADFF-4312-97E3-1585FD30B533}"/>
              </a:ext>
            </a:extLst>
          </p:cNvPr>
          <p:cNvCxnSpPr>
            <a:stCxn id="24" idx="3"/>
            <a:endCxn id="67" idx="1"/>
          </p:cNvCxnSpPr>
          <p:nvPr/>
        </p:nvCxnSpPr>
        <p:spPr>
          <a:xfrm flipV="1">
            <a:off x="5124450" y="3823337"/>
            <a:ext cx="219075" cy="4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4DC20D2-A96E-4DDB-806B-1A44A234F491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6428773" y="3823337"/>
            <a:ext cx="17665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56B399C-50F4-4370-81BC-E770ED0A2EEB}"/>
              </a:ext>
            </a:extLst>
          </p:cNvPr>
          <p:cNvSpPr txBox="1"/>
          <p:nvPr/>
        </p:nvSpPr>
        <p:spPr>
          <a:xfrm>
            <a:off x="5743245" y="2950429"/>
            <a:ext cx="965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c-&gt;page &amp;&amp;</a:t>
            </a:r>
          </a:p>
          <a:p>
            <a:r>
              <a:rPr lang="en-US" sz="1200" dirty="0"/>
              <a:t>!c-&gt;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734A345-7CAD-4CCA-8353-64520F988B5F}"/>
              </a:ext>
            </a:extLst>
          </p:cNvPr>
          <p:cNvSpPr txBox="1"/>
          <p:nvPr/>
        </p:nvSpPr>
        <p:spPr>
          <a:xfrm>
            <a:off x="6591671" y="3564681"/>
            <a:ext cx="17963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!c-&gt;page &amp;&amp; c-&gt;partial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8EF6CAF-FB14-48DA-B041-AA965FF3B54A}"/>
              </a:ext>
            </a:extLst>
          </p:cNvPr>
          <p:cNvSpPr/>
          <p:nvPr/>
        </p:nvSpPr>
        <p:spPr>
          <a:xfrm>
            <a:off x="8501199" y="4684301"/>
            <a:ext cx="103493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get_partial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5E2315A-F4D5-40A9-9F6E-D3DDE474EE49}"/>
              </a:ext>
            </a:extLst>
          </p:cNvPr>
          <p:cNvSpPr txBox="1"/>
          <p:nvPr/>
        </p:nvSpPr>
        <p:spPr>
          <a:xfrm>
            <a:off x="8345720" y="3447622"/>
            <a:ext cx="2476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Get partial page from </a:t>
            </a:r>
            <a:r>
              <a:rPr lang="en-US" sz="1200" dirty="0" err="1"/>
              <a:t>percpu</a:t>
            </a:r>
            <a:r>
              <a:rPr lang="en-US" sz="1200" dirty="0"/>
              <a:t> cache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5BF41FC-89F4-45A0-AE2E-5148AED72954}"/>
              </a:ext>
            </a:extLst>
          </p:cNvPr>
          <p:cNvSpPr/>
          <p:nvPr/>
        </p:nvSpPr>
        <p:spPr>
          <a:xfrm>
            <a:off x="8501198" y="5294587"/>
            <a:ext cx="103493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new_slab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6B2E602-43B1-4CA8-9F02-86E6005D43CF}"/>
              </a:ext>
            </a:extLst>
          </p:cNvPr>
          <p:cNvSpPr/>
          <p:nvPr/>
        </p:nvSpPr>
        <p:spPr>
          <a:xfrm>
            <a:off x="9804550" y="5293573"/>
            <a:ext cx="108538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allocate_slab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E4BC428-C9C9-4EEE-B9C2-67108A9F91D6}"/>
              </a:ext>
            </a:extLst>
          </p:cNvPr>
          <p:cNvSpPr/>
          <p:nvPr/>
        </p:nvSpPr>
        <p:spPr>
          <a:xfrm>
            <a:off x="10531481" y="5688019"/>
            <a:ext cx="1402582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alloc_slab_page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6AB6E616-2812-408B-854A-5BF330885683}"/>
              </a:ext>
            </a:extLst>
          </p:cNvPr>
          <p:cNvCxnSpPr>
            <a:stCxn id="106" idx="3"/>
            <a:endCxn id="107" idx="1"/>
          </p:cNvCxnSpPr>
          <p:nvPr/>
        </p:nvCxnSpPr>
        <p:spPr>
          <a:xfrm flipV="1">
            <a:off x="9536136" y="5414468"/>
            <a:ext cx="268414" cy="10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5C9F34B5-6572-4E67-BF90-73C44FB0F404}"/>
              </a:ext>
            </a:extLst>
          </p:cNvPr>
          <p:cNvCxnSpPr>
            <a:stCxn id="107" idx="3"/>
            <a:endCxn id="108" idx="0"/>
          </p:cNvCxnSpPr>
          <p:nvPr/>
        </p:nvCxnSpPr>
        <p:spPr>
          <a:xfrm>
            <a:off x="10889936" y="5414468"/>
            <a:ext cx="342836" cy="2735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F69B1F1-3CB6-4D50-B0AB-ADE69F5A6BF8}"/>
              </a:ext>
            </a:extLst>
          </p:cNvPr>
          <p:cNvSpPr txBox="1"/>
          <p:nvPr/>
        </p:nvSpPr>
        <p:spPr>
          <a:xfrm>
            <a:off x="10531481" y="5941242"/>
            <a:ext cx="1562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Allocate pages from Buddy system</a:t>
            </a: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3EAB34A4-C504-4AF7-915E-2653E42C4957}"/>
              </a:ext>
            </a:extLst>
          </p:cNvPr>
          <p:cNvCxnSpPr>
            <a:cxnSpLocks/>
            <a:stCxn id="67" idx="3"/>
            <a:endCxn id="70" idx="1"/>
          </p:cNvCxnSpPr>
          <p:nvPr/>
        </p:nvCxnSpPr>
        <p:spPr>
          <a:xfrm flipV="1">
            <a:off x="6428773" y="3069524"/>
            <a:ext cx="431764" cy="75381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0AE2C3A9-230B-485F-92AB-56A89A6EA4EB}"/>
              </a:ext>
            </a:extLst>
          </p:cNvPr>
          <p:cNvCxnSpPr>
            <a:stCxn id="67" idx="3"/>
            <a:endCxn id="68" idx="1"/>
          </p:cNvCxnSpPr>
          <p:nvPr/>
        </p:nvCxnSpPr>
        <p:spPr>
          <a:xfrm>
            <a:off x="6428773" y="3823337"/>
            <a:ext cx="255105" cy="121542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21B628FC-82B6-4687-8C28-1C5CC91E3193}"/>
              </a:ext>
            </a:extLst>
          </p:cNvPr>
          <p:cNvSpPr txBox="1"/>
          <p:nvPr/>
        </p:nvSpPr>
        <p:spPr>
          <a:xfrm>
            <a:off x="6530940" y="4318494"/>
            <a:ext cx="1696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!c-&gt;page &amp;&amp;  !c-&gt;partial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E5AB9A5-94F2-41B1-AD96-B0CC706D2121}"/>
              </a:ext>
            </a:extLst>
          </p:cNvPr>
          <p:cNvCxnSpPr>
            <a:stCxn id="68" idx="3"/>
            <a:endCxn id="103" idx="1"/>
          </p:cNvCxnSpPr>
          <p:nvPr/>
        </p:nvCxnSpPr>
        <p:spPr>
          <a:xfrm flipV="1">
            <a:off x="8214182" y="4805196"/>
            <a:ext cx="287017" cy="2335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536D68D6-5FCB-4F3D-AFE3-D7E242342A18}"/>
              </a:ext>
            </a:extLst>
          </p:cNvPr>
          <p:cNvCxnSpPr>
            <a:stCxn id="68" idx="3"/>
            <a:endCxn id="106" idx="1"/>
          </p:cNvCxnSpPr>
          <p:nvPr/>
        </p:nvCxnSpPr>
        <p:spPr>
          <a:xfrm>
            <a:off x="8214182" y="5038764"/>
            <a:ext cx="287016" cy="3767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AE25C171-0A1B-443E-BE12-AB2FF66D51C6}"/>
              </a:ext>
            </a:extLst>
          </p:cNvPr>
          <p:cNvSpPr txBox="1"/>
          <p:nvPr/>
        </p:nvSpPr>
        <p:spPr>
          <a:xfrm>
            <a:off x="8367172" y="4228018"/>
            <a:ext cx="2476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Get partial page from node cache (</a:t>
            </a:r>
            <a:r>
              <a:rPr lang="en-US" sz="1200" dirty="0" err="1"/>
              <a:t>kmem_cache_node</a:t>
            </a:r>
            <a:r>
              <a:rPr lang="en-US" sz="1200" dirty="0"/>
              <a:t>)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7215010-5794-4103-80BE-F8A0BE6B7EAA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>
            <a:off x="2285875" y="4106777"/>
            <a:ext cx="6265" cy="7007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C37B8627-B41B-4810-B77C-5302415941C9}"/>
              </a:ext>
            </a:extLst>
          </p:cNvPr>
          <p:cNvSpPr txBox="1"/>
          <p:nvPr/>
        </p:nvSpPr>
        <p:spPr>
          <a:xfrm>
            <a:off x="3394480" y="3612099"/>
            <a:ext cx="28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ADE96F9-428C-4E2D-937D-B119FE0C610E}"/>
              </a:ext>
            </a:extLst>
          </p:cNvPr>
          <p:cNvSpPr txBox="1"/>
          <p:nvPr/>
        </p:nvSpPr>
        <p:spPr>
          <a:xfrm>
            <a:off x="2221876" y="4060926"/>
            <a:ext cx="28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4520EF-43B8-4730-8DA3-BC02DA018C81}"/>
              </a:ext>
            </a:extLst>
          </p:cNvPr>
          <p:cNvSpPr txBox="1"/>
          <p:nvPr/>
        </p:nvSpPr>
        <p:spPr>
          <a:xfrm>
            <a:off x="1866956" y="5412283"/>
            <a:ext cx="837837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fast path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D3EFFD-6097-4DDD-AAD3-09D69B757F75}"/>
              </a:ext>
            </a:extLst>
          </p:cNvPr>
          <p:cNvSpPr txBox="1"/>
          <p:nvPr/>
        </p:nvSpPr>
        <p:spPr>
          <a:xfrm>
            <a:off x="3949503" y="2633008"/>
            <a:ext cx="965414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slow path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16516C-20F5-4795-8EF5-C211431D3389}"/>
              </a:ext>
            </a:extLst>
          </p:cNvPr>
          <p:cNvSpPr txBox="1"/>
          <p:nvPr/>
        </p:nvSpPr>
        <p:spPr>
          <a:xfrm>
            <a:off x="6886320" y="2679807"/>
            <a:ext cx="26485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get_freelist</a:t>
            </a:r>
            <a:r>
              <a:rPr lang="en-US" sz="1200" dirty="0"/>
              <a:t> -&gt; __</a:t>
            </a:r>
            <a:r>
              <a:rPr lang="en-US" sz="1200" dirty="0" err="1"/>
              <a:t>cmpxchg_double_slab</a:t>
            </a:r>
            <a:endParaRPr 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4E8DAC-DC56-4BDD-A714-BA56E1A20A0E}"/>
              </a:ext>
            </a:extLst>
          </p:cNvPr>
          <p:cNvSpPr txBox="1"/>
          <p:nvPr/>
        </p:nvSpPr>
        <p:spPr>
          <a:xfrm>
            <a:off x="1427781" y="5021158"/>
            <a:ext cx="2071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this_cpu_cmpxchg_double</a:t>
            </a:r>
            <a:r>
              <a:rPr lang="en-US" sz="12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592012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83">
            <a:extLst>
              <a:ext uri="{FF2B5EF4-FFF2-40B4-BE49-F238E27FC236}">
                <a16:creationId xmlns:a16="http://schemas.microsoft.com/office/drawing/2014/main" id="{271AD74B-8172-4526-9826-E7AB9424F43D}"/>
              </a:ext>
            </a:extLst>
          </p:cNvPr>
          <p:cNvSpPr/>
          <p:nvPr/>
        </p:nvSpPr>
        <p:spPr>
          <a:xfrm>
            <a:off x="2255679" y="1160132"/>
            <a:ext cx="4518962" cy="3428641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10AD8-7238-4CAF-A1A4-6B2B2E2E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62"/>
            <a:ext cx="2181225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Fast Path</a:t>
            </a:r>
          </a:p>
        </p:txBody>
      </p:sp>
      <p:sp>
        <p:nvSpPr>
          <p:cNvPr id="101" name="矩形 40">
            <a:extLst>
              <a:ext uri="{FF2B5EF4-FFF2-40B4-BE49-F238E27FC236}">
                <a16:creationId xmlns:a16="http://schemas.microsoft.com/office/drawing/2014/main" id="{EC23BBA4-4F56-427F-A2F0-41DB61395C40}"/>
              </a:ext>
            </a:extLst>
          </p:cNvPr>
          <p:cNvSpPr/>
          <p:nvPr/>
        </p:nvSpPr>
        <p:spPr>
          <a:xfrm>
            <a:off x="2793616" y="6227163"/>
            <a:ext cx="7542653" cy="4608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</a:rPr>
              <a:t>Get a slab object from </a:t>
            </a:r>
            <a:r>
              <a:rPr lang="en-US" sz="2800" b="1" dirty="0" err="1">
                <a:solidFill>
                  <a:schemeClr val="tx1"/>
                </a:solidFill>
              </a:rPr>
              <a:t>kmem_cache_cpu</a:t>
            </a:r>
            <a:r>
              <a:rPr lang="en-US" sz="2800" b="1" dirty="0">
                <a:solidFill>
                  <a:schemeClr val="tx1"/>
                </a:solidFill>
              </a:rPr>
              <a:t>-&gt;</a:t>
            </a:r>
            <a:r>
              <a:rPr lang="en-US" sz="2800" b="1" dirty="0" err="1">
                <a:solidFill>
                  <a:schemeClr val="tx1"/>
                </a:solidFill>
              </a:rPr>
              <a:t>freelist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32C243-9A53-4E0E-BAFE-BDF172499B5A}"/>
              </a:ext>
            </a:extLst>
          </p:cNvPr>
          <p:cNvSpPr txBox="1"/>
          <p:nvPr/>
        </p:nvSpPr>
        <p:spPr>
          <a:xfrm>
            <a:off x="3229022" y="2983792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A6145D-C379-480E-AD73-16E6E4B733C7}"/>
              </a:ext>
            </a:extLst>
          </p:cNvPr>
          <p:cNvSpPr/>
          <p:nvPr/>
        </p:nvSpPr>
        <p:spPr>
          <a:xfrm>
            <a:off x="2674145" y="1964295"/>
            <a:ext cx="1427216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#0)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E76C757-CF4E-4245-A374-4AED73581B46}"/>
              </a:ext>
            </a:extLst>
          </p:cNvPr>
          <p:cNvSpPr/>
          <p:nvPr/>
        </p:nvSpPr>
        <p:spPr>
          <a:xfrm>
            <a:off x="2674145" y="2390720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0DAC7CE-53A5-40C6-94DD-195F82A4AF72}"/>
              </a:ext>
            </a:extLst>
          </p:cNvPr>
          <p:cNvSpPr/>
          <p:nvPr/>
        </p:nvSpPr>
        <p:spPr>
          <a:xfrm>
            <a:off x="2674140" y="2601338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4D14553-733A-4D87-8625-E8E89057FC42}"/>
              </a:ext>
            </a:extLst>
          </p:cNvPr>
          <p:cNvSpPr/>
          <p:nvPr/>
        </p:nvSpPr>
        <p:spPr>
          <a:xfrm>
            <a:off x="2674143" y="2811533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CF4A0BE-5749-4159-A8F2-6E891ED95995}"/>
              </a:ext>
            </a:extLst>
          </p:cNvPr>
          <p:cNvSpPr/>
          <p:nvPr/>
        </p:nvSpPr>
        <p:spPr>
          <a:xfrm>
            <a:off x="2674140" y="3368701"/>
            <a:ext cx="1427216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8BFA659-3AE3-4B85-9BD7-6E56E509A597}"/>
              </a:ext>
            </a:extLst>
          </p:cNvPr>
          <p:cNvSpPr/>
          <p:nvPr/>
        </p:nvSpPr>
        <p:spPr>
          <a:xfrm>
            <a:off x="2674140" y="3795126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struct page *page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ECCBBD5-30B4-4B7A-BC89-2CDE032662F0}"/>
              </a:ext>
            </a:extLst>
          </p:cNvPr>
          <p:cNvSpPr/>
          <p:nvPr/>
        </p:nvSpPr>
        <p:spPr>
          <a:xfrm>
            <a:off x="2674135" y="4005744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296BED3-4067-4E62-B674-F3ECB04335B9}"/>
              </a:ext>
            </a:extLst>
          </p:cNvPr>
          <p:cNvSpPr/>
          <p:nvPr/>
        </p:nvSpPr>
        <p:spPr>
          <a:xfrm>
            <a:off x="2674138" y="4215939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A989CC34-BF76-44D3-8D57-3F83556CEBD4}"/>
              </a:ext>
            </a:extLst>
          </p:cNvPr>
          <p:cNvCxnSpPr>
            <a:cxnSpLocks/>
            <a:stCxn id="79" idx="3"/>
          </p:cNvCxnSpPr>
          <p:nvPr/>
        </p:nvCxnSpPr>
        <p:spPr>
          <a:xfrm flipV="1">
            <a:off x="4101361" y="1599931"/>
            <a:ext cx="1008420" cy="896016"/>
          </a:xfrm>
          <a:prstGeom prst="bentConnector4">
            <a:avLst>
              <a:gd name="adj1" fmla="val 31769"/>
              <a:gd name="adj2" fmla="val 12551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F9CE4257-32CC-40A8-9612-C4FF1F9DE32E}"/>
              </a:ext>
            </a:extLst>
          </p:cNvPr>
          <p:cNvCxnSpPr>
            <a:cxnSpLocks/>
            <a:endCxn id="135" idx="3"/>
          </p:cNvCxnSpPr>
          <p:nvPr/>
        </p:nvCxnSpPr>
        <p:spPr>
          <a:xfrm flipV="1">
            <a:off x="4093736" y="2562922"/>
            <a:ext cx="852168" cy="14364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CCF3663-D621-47F8-88F4-0D8121F86594}"/>
              </a:ext>
            </a:extLst>
          </p:cNvPr>
          <p:cNvSpPr/>
          <p:nvPr/>
        </p:nvSpPr>
        <p:spPr>
          <a:xfrm>
            <a:off x="4742084" y="3035853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C114D2C-8090-4737-ABBF-F3E6D552CF2A}"/>
              </a:ext>
            </a:extLst>
          </p:cNvPr>
          <p:cNvSpPr/>
          <p:nvPr/>
        </p:nvSpPr>
        <p:spPr>
          <a:xfrm rot="5400000">
            <a:off x="4449838" y="3518738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CD8676B-99CC-44A4-8F8F-974920D04C6D}"/>
              </a:ext>
            </a:extLst>
          </p:cNvPr>
          <p:cNvSpPr/>
          <p:nvPr/>
        </p:nvSpPr>
        <p:spPr>
          <a:xfrm rot="5400000">
            <a:off x="4638091" y="3518739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5959CA6-3A7A-4C3F-9A9D-A282E336DFF9}"/>
              </a:ext>
            </a:extLst>
          </p:cNvPr>
          <p:cNvSpPr txBox="1"/>
          <p:nvPr/>
        </p:nvSpPr>
        <p:spPr>
          <a:xfrm>
            <a:off x="5064774" y="3361588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8FCA2FD-50EC-4A46-A9F1-2EA62F061D40}"/>
              </a:ext>
            </a:extLst>
          </p:cNvPr>
          <p:cNvSpPr/>
          <p:nvPr/>
        </p:nvSpPr>
        <p:spPr>
          <a:xfrm rot="5400000">
            <a:off x="5000523" y="3519675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DFC9A56-51DE-421B-8B77-3960EFE26DF4}"/>
              </a:ext>
            </a:extLst>
          </p:cNvPr>
          <p:cNvSpPr txBox="1"/>
          <p:nvPr/>
        </p:nvSpPr>
        <p:spPr>
          <a:xfrm>
            <a:off x="4855495" y="2980587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1E43DF8-F296-4AC4-9C1C-2D4A2C124C8E}"/>
              </a:ext>
            </a:extLst>
          </p:cNvPr>
          <p:cNvSpPr/>
          <p:nvPr/>
        </p:nvSpPr>
        <p:spPr>
          <a:xfrm>
            <a:off x="5797174" y="3028924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78413DB-126A-41A7-BB05-73AECD63427A}"/>
              </a:ext>
            </a:extLst>
          </p:cNvPr>
          <p:cNvSpPr/>
          <p:nvPr/>
        </p:nvSpPr>
        <p:spPr>
          <a:xfrm rot="5400000">
            <a:off x="5504928" y="3511809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EC010DF-31AA-4075-8E24-2DC62307434B}"/>
              </a:ext>
            </a:extLst>
          </p:cNvPr>
          <p:cNvSpPr/>
          <p:nvPr/>
        </p:nvSpPr>
        <p:spPr>
          <a:xfrm rot="5400000">
            <a:off x="5693181" y="3511810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3877DFD-43C0-489A-989A-6C9836F05B4F}"/>
              </a:ext>
            </a:extLst>
          </p:cNvPr>
          <p:cNvSpPr txBox="1"/>
          <p:nvPr/>
        </p:nvSpPr>
        <p:spPr>
          <a:xfrm>
            <a:off x="6119864" y="3354659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F8DEDAB-5997-4A81-B7EC-07FAED380E9B}"/>
              </a:ext>
            </a:extLst>
          </p:cNvPr>
          <p:cNvSpPr/>
          <p:nvPr/>
        </p:nvSpPr>
        <p:spPr>
          <a:xfrm rot="5400000">
            <a:off x="6055613" y="351274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41C987D-6DB8-441E-8DCD-0EC8C72984B5}"/>
              </a:ext>
            </a:extLst>
          </p:cNvPr>
          <p:cNvSpPr txBox="1"/>
          <p:nvPr/>
        </p:nvSpPr>
        <p:spPr>
          <a:xfrm>
            <a:off x="5955125" y="2967213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1DE9055B-FBD2-4B8B-906C-8167CBF6B010}"/>
              </a:ext>
            </a:extLst>
          </p:cNvPr>
          <p:cNvCxnSpPr>
            <a:cxnSpLocks/>
            <a:stCxn id="82" idx="3"/>
            <a:endCxn id="121" idx="0"/>
          </p:cNvCxnSpPr>
          <p:nvPr/>
        </p:nvCxnSpPr>
        <p:spPr>
          <a:xfrm>
            <a:off x="4101359" y="2916760"/>
            <a:ext cx="1008422" cy="11909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7E96D23B-57A6-49B5-BE6B-19578F56C896}"/>
              </a:ext>
            </a:extLst>
          </p:cNvPr>
          <p:cNvCxnSpPr/>
          <p:nvPr/>
        </p:nvCxnSpPr>
        <p:spPr>
          <a:xfrm>
            <a:off x="5477477" y="3134475"/>
            <a:ext cx="31969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F6618F4-D6FB-4025-8D46-48090AB24190}"/>
              </a:ext>
            </a:extLst>
          </p:cNvPr>
          <p:cNvSpPr/>
          <p:nvPr/>
        </p:nvSpPr>
        <p:spPr>
          <a:xfrm>
            <a:off x="22225" y="2895085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C3DE938-D47C-4E0E-9F91-04BF811A5012}"/>
              </a:ext>
            </a:extLst>
          </p:cNvPr>
          <p:cNvSpPr/>
          <p:nvPr/>
        </p:nvSpPr>
        <p:spPr>
          <a:xfrm>
            <a:off x="22225" y="3357644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3F5C2243-44DC-4EEE-BD77-60718BA6F064}"/>
              </a:ext>
            </a:extLst>
          </p:cNvPr>
          <p:cNvCxnSpPr>
            <a:stCxn id="163" idx="3"/>
            <a:endCxn id="77" idx="1"/>
          </p:cNvCxnSpPr>
          <p:nvPr/>
        </p:nvCxnSpPr>
        <p:spPr>
          <a:xfrm flipV="1">
            <a:off x="1854290" y="2180902"/>
            <a:ext cx="819855" cy="1281969"/>
          </a:xfrm>
          <a:prstGeom prst="bentConnector3">
            <a:avLst>
              <a:gd name="adj1" fmla="val 3141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0B1C0CEB-5A44-4741-8039-1FE004D2EB91}"/>
              </a:ext>
            </a:extLst>
          </p:cNvPr>
          <p:cNvCxnSpPr>
            <a:stCxn id="163" idx="3"/>
            <a:endCxn id="84" idx="1"/>
          </p:cNvCxnSpPr>
          <p:nvPr/>
        </p:nvCxnSpPr>
        <p:spPr>
          <a:xfrm>
            <a:off x="1854290" y="3462871"/>
            <a:ext cx="819850" cy="122437"/>
          </a:xfrm>
          <a:prstGeom prst="bentConnector3">
            <a:avLst>
              <a:gd name="adj1" fmla="val 3141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DC37723-B7A8-471A-95E0-9E1EB75B4AE6}"/>
              </a:ext>
            </a:extLst>
          </p:cNvPr>
          <p:cNvSpPr txBox="1"/>
          <p:nvPr/>
        </p:nvSpPr>
        <p:spPr>
          <a:xfrm>
            <a:off x="2312074" y="1211041"/>
            <a:ext cx="1205281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percpu</a:t>
            </a:r>
            <a:r>
              <a:rPr lang="en-US" sz="16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5AD361B-8764-4D1F-9623-09A85F36EF0C}"/>
              </a:ext>
            </a:extLst>
          </p:cNvPr>
          <p:cNvSpPr/>
          <p:nvPr/>
        </p:nvSpPr>
        <p:spPr>
          <a:xfrm>
            <a:off x="7583569" y="1160132"/>
            <a:ext cx="4518962" cy="3428641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F1600F5-3364-4417-B4FC-D2D039D8DF17}"/>
              </a:ext>
            </a:extLst>
          </p:cNvPr>
          <p:cNvSpPr txBox="1"/>
          <p:nvPr/>
        </p:nvSpPr>
        <p:spPr>
          <a:xfrm>
            <a:off x="8500517" y="2980124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206D71E-CEEC-4606-85B2-F006967EFCA1}"/>
              </a:ext>
            </a:extLst>
          </p:cNvPr>
          <p:cNvSpPr/>
          <p:nvPr/>
        </p:nvSpPr>
        <p:spPr>
          <a:xfrm>
            <a:off x="7945640" y="1960627"/>
            <a:ext cx="1427216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#0)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232FF6C-ACFA-4CF1-8558-0C1FBD0F65E6}"/>
              </a:ext>
            </a:extLst>
          </p:cNvPr>
          <p:cNvSpPr/>
          <p:nvPr/>
        </p:nvSpPr>
        <p:spPr>
          <a:xfrm>
            <a:off x="7945640" y="2387052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05B9E01-131F-4D7F-8EDE-E8FF9096425E}"/>
              </a:ext>
            </a:extLst>
          </p:cNvPr>
          <p:cNvSpPr/>
          <p:nvPr/>
        </p:nvSpPr>
        <p:spPr>
          <a:xfrm>
            <a:off x="7945635" y="2597670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01BC1C7-3E64-45F2-B4FE-5AEAA86C7B5B}"/>
              </a:ext>
            </a:extLst>
          </p:cNvPr>
          <p:cNvSpPr/>
          <p:nvPr/>
        </p:nvSpPr>
        <p:spPr>
          <a:xfrm>
            <a:off x="7945638" y="2807865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78CFAC5-E6DD-4167-B6FD-FE3DDE82AD38}"/>
              </a:ext>
            </a:extLst>
          </p:cNvPr>
          <p:cNvSpPr/>
          <p:nvPr/>
        </p:nvSpPr>
        <p:spPr>
          <a:xfrm>
            <a:off x="7945635" y="3365033"/>
            <a:ext cx="1427216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81BC22F-2628-4438-9BE1-9E87A8E5E4B1}"/>
              </a:ext>
            </a:extLst>
          </p:cNvPr>
          <p:cNvSpPr/>
          <p:nvPr/>
        </p:nvSpPr>
        <p:spPr>
          <a:xfrm>
            <a:off x="7945635" y="3791458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struct page *page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3F64B93-C089-452C-B761-048DC7A0E35B}"/>
              </a:ext>
            </a:extLst>
          </p:cNvPr>
          <p:cNvSpPr/>
          <p:nvPr/>
        </p:nvSpPr>
        <p:spPr>
          <a:xfrm>
            <a:off x="7945630" y="4002076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53F429D-55FF-40B5-9C9D-CADA7AF832DA}"/>
              </a:ext>
            </a:extLst>
          </p:cNvPr>
          <p:cNvSpPr/>
          <p:nvPr/>
        </p:nvSpPr>
        <p:spPr>
          <a:xfrm>
            <a:off x="7945633" y="4212271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4DE015F0-4106-4944-84F7-083EED317206}"/>
              </a:ext>
            </a:extLst>
          </p:cNvPr>
          <p:cNvCxnSpPr>
            <a:cxnSpLocks/>
            <a:stCxn id="78" idx="3"/>
            <a:endCxn id="68" idx="0"/>
          </p:cNvCxnSpPr>
          <p:nvPr/>
        </p:nvCxnSpPr>
        <p:spPr>
          <a:xfrm flipV="1">
            <a:off x="9372856" y="1596263"/>
            <a:ext cx="1075859" cy="896016"/>
          </a:xfrm>
          <a:prstGeom prst="bentConnector4">
            <a:avLst>
              <a:gd name="adj1" fmla="val 29777"/>
              <a:gd name="adj2" fmla="val 12551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C6611DAB-4C83-4EDA-9C50-6D6F81ED52FA}"/>
              </a:ext>
            </a:extLst>
          </p:cNvPr>
          <p:cNvSpPr/>
          <p:nvPr/>
        </p:nvSpPr>
        <p:spPr>
          <a:xfrm>
            <a:off x="10013579" y="3032185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B180C6E-BED8-4B2B-A6EE-99E6AA00CA2A}"/>
              </a:ext>
            </a:extLst>
          </p:cNvPr>
          <p:cNvSpPr/>
          <p:nvPr/>
        </p:nvSpPr>
        <p:spPr>
          <a:xfrm rot="5400000">
            <a:off x="9721333" y="3515070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9482680-5162-46CD-995F-25CA29F276AD}"/>
              </a:ext>
            </a:extLst>
          </p:cNvPr>
          <p:cNvSpPr/>
          <p:nvPr/>
        </p:nvSpPr>
        <p:spPr>
          <a:xfrm rot="5400000">
            <a:off x="9909586" y="3515071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6D964BA-D66A-4C16-935E-6517916E0A58}"/>
              </a:ext>
            </a:extLst>
          </p:cNvPr>
          <p:cNvSpPr txBox="1"/>
          <p:nvPr/>
        </p:nvSpPr>
        <p:spPr>
          <a:xfrm>
            <a:off x="10336269" y="3357920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354D2DE-5B44-4961-9758-E12B3071B996}"/>
              </a:ext>
            </a:extLst>
          </p:cNvPr>
          <p:cNvSpPr/>
          <p:nvPr/>
        </p:nvSpPr>
        <p:spPr>
          <a:xfrm rot="5400000">
            <a:off x="10272018" y="3516007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E0B946D-B152-409E-B98A-D779B9482B52}"/>
              </a:ext>
            </a:extLst>
          </p:cNvPr>
          <p:cNvSpPr txBox="1"/>
          <p:nvPr/>
        </p:nvSpPr>
        <p:spPr>
          <a:xfrm>
            <a:off x="10126990" y="2976919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A9E22FE-05A4-44B0-A73F-07A2C2D38EE8}"/>
              </a:ext>
            </a:extLst>
          </p:cNvPr>
          <p:cNvSpPr/>
          <p:nvPr/>
        </p:nvSpPr>
        <p:spPr>
          <a:xfrm>
            <a:off x="11068669" y="3025256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A74F3D3-C0CA-4835-9C38-E274BDE604DF}"/>
              </a:ext>
            </a:extLst>
          </p:cNvPr>
          <p:cNvSpPr/>
          <p:nvPr/>
        </p:nvSpPr>
        <p:spPr>
          <a:xfrm rot="5400000">
            <a:off x="10776423" y="3508141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256305A-FD35-4282-A3F1-0828E111E148}"/>
              </a:ext>
            </a:extLst>
          </p:cNvPr>
          <p:cNvSpPr/>
          <p:nvPr/>
        </p:nvSpPr>
        <p:spPr>
          <a:xfrm rot="5400000">
            <a:off x="10964676" y="3508142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6AC26E6-D02C-4C50-9D3B-21A86CEBF478}"/>
              </a:ext>
            </a:extLst>
          </p:cNvPr>
          <p:cNvSpPr txBox="1"/>
          <p:nvPr/>
        </p:nvSpPr>
        <p:spPr>
          <a:xfrm>
            <a:off x="11391359" y="3350991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6B267BB-14A7-4E68-B673-F2103BB5E86E}"/>
              </a:ext>
            </a:extLst>
          </p:cNvPr>
          <p:cNvSpPr/>
          <p:nvPr/>
        </p:nvSpPr>
        <p:spPr>
          <a:xfrm rot="5400000">
            <a:off x="11327108" y="3509078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61BA88D-1E75-4C37-B4F5-3B4FFA2F5464}"/>
              </a:ext>
            </a:extLst>
          </p:cNvPr>
          <p:cNvSpPr txBox="1"/>
          <p:nvPr/>
        </p:nvSpPr>
        <p:spPr>
          <a:xfrm>
            <a:off x="11226620" y="2963545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0EB5235D-F413-4548-B57C-0AEFFA416F9E}"/>
              </a:ext>
            </a:extLst>
          </p:cNvPr>
          <p:cNvCxnSpPr>
            <a:cxnSpLocks/>
            <a:stCxn id="83" idx="3"/>
            <a:endCxn id="94" idx="0"/>
          </p:cNvCxnSpPr>
          <p:nvPr/>
        </p:nvCxnSpPr>
        <p:spPr>
          <a:xfrm>
            <a:off x="9372854" y="2913092"/>
            <a:ext cx="1008422" cy="11909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4004C7B-825D-40D6-BA90-626B09B6F239}"/>
              </a:ext>
            </a:extLst>
          </p:cNvPr>
          <p:cNvCxnSpPr/>
          <p:nvPr/>
        </p:nvCxnSpPr>
        <p:spPr>
          <a:xfrm>
            <a:off x="10748972" y="3130807"/>
            <a:ext cx="31969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C0EDA4B5-222E-43D8-BACF-CBBBDDCCD8B2}"/>
              </a:ext>
            </a:extLst>
          </p:cNvPr>
          <p:cNvSpPr txBox="1"/>
          <p:nvPr/>
        </p:nvSpPr>
        <p:spPr>
          <a:xfrm>
            <a:off x="7640719" y="1207373"/>
            <a:ext cx="1205281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percpu</a:t>
            </a:r>
            <a:r>
              <a:rPr lang="en-US" sz="1600" b="1" dirty="0">
                <a:solidFill>
                  <a:schemeClr val="bg1"/>
                </a:solidFill>
              </a:rPr>
              <a:t> cache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2B6C11-969E-42D1-8BFF-6A36D4A37E79}"/>
              </a:ext>
            </a:extLst>
          </p:cNvPr>
          <p:cNvCxnSpPr>
            <a:cxnSpLocks/>
            <a:stCxn id="184" idx="3"/>
            <a:endCxn id="67" idx="1"/>
          </p:cNvCxnSpPr>
          <p:nvPr/>
        </p:nvCxnSpPr>
        <p:spPr>
          <a:xfrm>
            <a:off x="6774641" y="2874453"/>
            <a:ext cx="80892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E0EB3C9-D2A1-4A02-BFE5-F8F3EF2A6A68}"/>
              </a:ext>
            </a:extLst>
          </p:cNvPr>
          <p:cNvGrpSpPr/>
          <p:nvPr/>
        </p:nvGrpSpPr>
        <p:grpSpPr>
          <a:xfrm>
            <a:off x="10013579" y="1527623"/>
            <a:ext cx="871413" cy="1028480"/>
            <a:chOff x="10013579" y="1527623"/>
            <a:chExt cx="871413" cy="102848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92BE3F1-CA46-49BF-80F5-C195FA474349}"/>
                </a:ext>
              </a:extLst>
            </p:cNvPr>
            <p:cNvSpPr/>
            <p:nvPr/>
          </p:nvSpPr>
          <p:spPr>
            <a:xfrm>
              <a:off x="10013579" y="1596263"/>
              <a:ext cx="870271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5928D82-E1EB-4899-A42B-703D748EEE7B}"/>
                </a:ext>
              </a:extLst>
            </p:cNvPr>
            <p:cNvSpPr/>
            <p:nvPr/>
          </p:nvSpPr>
          <p:spPr>
            <a:xfrm rot="5400000">
              <a:off x="9721333" y="207914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422D946-17ED-4216-BEE0-6524775348E4}"/>
                </a:ext>
              </a:extLst>
            </p:cNvPr>
            <p:cNvSpPr/>
            <p:nvPr/>
          </p:nvSpPr>
          <p:spPr>
            <a:xfrm rot="5400000">
              <a:off x="9901966" y="2079149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77B46A8-26B7-4364-80AF-8FC635242E03}"/>
                </a:ext>
              </a:extLst>
            </p:cNvPr>
            <p:cNvSpPr txBox="1"/>
            <p:nvPr/>
          </p:nvSpPr>
          <p:spPr>
            <a:xfrm>
              <a:off x="10483801" y="1930991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627C442-D6A2-4CFF-992D-9A16FE6EC568}"/>
                </a:ext>
              </a:extLst>
            </p:cNvPr>
            <p:cNvSpPr txBox="1"/>
            <p:nvPr/>
          </p:nvSpPr>
          <p:spPr>
            <a:xfrm>
              <a:off x="10127556" y="1527623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6D8D055C-E43D-4E0B-AED1-AEE6B5C3B9B1}"/>
                </a:ext>
              </a:extLst>
            </p:cNvPr>
            <p:cNvSpPr/>
            <p:nvPr/>
          </p:nvSpPr>
          <p:spPr>
            <a:xfrm rot="5400000">
              <a:off x="10080670" y="207914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7D11EA3-14BF-4E0D-9D11-C524929495FC}"/>
                </a:ext>
              </a:extLst>
            </p:cNvPr>
            <p:cNvSpPr/>
            <p:nvPr/>
          </p:nvSpPr>
          <p:spPr>
            <a:xfrm rot="5400000">
              <a:off x="10408039" y="207914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4431746-6E6C-47FC-A63C-C9E69BA7DC28}"/>
              </a:ext>
            </a:extLst>
          </p:cNvPr>
          <p:cNvGrpSpPr/>
          <p:nvPr/>
        </p:nvGrpSpPr>
        <p:grpSpPr>
          <a:xfrm>
            <a:off x="4672917" y="1534442"/>
            <a:ext cx="871413" cy="1028480"/>
            <a:chOff x="10013579" y="1527623"/>
            <a:chExt cx="871413" cy="1028480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108279D-6757-4867-A663-3A2F500A2562}"/>
                </a:ext>
              </a:extLst>
            </p:cNvPr>
            <p:cNvSpPr/>
            <p:nvPr/>
          </p:nvSpPr>
          <p:spPr>
            <a:xfrm>
              <a:off x="10013579" y="1596263"/>
              <a:ext cx="870271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F9A39965-9933-4F0B-8994-D6B866875794}"/>
                </a:ext>
              </a:extLst>
            </p:cNvPr>
            <p:cNvSpPr/>
            <p:nvPr/>
          </p:nvSpPr>
          <p:spPr>
            <a:xfrm rot="5400000">
              <a:off x="9721333" y="207914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3B36188-152A-44D0-A5A9-EC676B85278C}"/>
                </a:ext>
              </a:extLst>
            </p:cNvPr>
            <p:cNvSpPr/>
            <p:nvPr/>
          </p:nvSpPr>
          <p:spPr>
            <a:xfrm rot="5400000">
              <a:off x="9901966" y="2079149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6EEB9C18-929F-4881-BAF6-243A76BE5473}"/>
                </a:ext>
              </a:extLst>
            </p:cNvPr>
            <p:cNvSpPr txBox="1"/>
            <p:nvPr/>
          </p:nvSpPr>
          <p:spPr>
            <a:xfrm>
              <a:off x="10483801" y="1930991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AE079464-6C24-4F8F-80AE-1348E519264E}"/>
                </a:ext>
              </a:extLst>
            </p:cNvPr>
            <p:cNvSpPr txBox="1"/>
            <p:nvPr/>
          </p:nvSpPr>
          <p:spPr>
            <a:xfrm>
              <a:off x="10127556" y="1527623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A3A20FEF-E196-463C-A1D3-328AEDDE74AC}"/>
                </a:ext>
              </a:extLst>
            </p:cNvPr>
            <p:cNvSpPr/>
            <p:nvPr/>
          </p:nvSpPr>
          <p:spPr>
            <a:xfrm rot="5400000">
              <a:off x="10080670" y="207914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90806F0-1CC8-4847-959B-6EF8EABB27E5}"/>
                </a:ext>
              </a:extLst>
            </p:cNvPr>
            <p:cNvSpPr/>
            <p:nvPr/>
          </p:nvSpPr>
          <p:spPr>
            <a:xfrm rot="5400000">
              <a:off x="10408039" y="207914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</p:grp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DC62C623-09BE-4E06-A718-D9E38514A314}"/>
              </a:ext>
            </a:extLst>
          </p:cNvPr>
          <p:cNvCxnSpPr>
            <a:cxnSpLocks/>
            <a:stCxn id="80" idx="3"/>
            <a:endCxn id="111" idx="3"/>
          </p:cNvCxnSpPr>
          <p:nvPr/>
        </p:nvCxnSpPr>
        <p:spPr>
          <a:xfrm flipV="1">
            <a:off x="9372851" y="2556102"/>
            <a:ext cx="1092419" cy="14679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D70579E-E532-4902-97E3-9E5DB4A857FC}"/>
              </a:ext>
            </a:extLst>
          </p:cNvPr>
          <p:cNvSpPr/>
          <p:nvPr/>
        </p:nvSpPr>
        <p:spPr>
          <a:xfrm>
            <a:off x="4830068" y="1777415"/>
            <a:ext cx="229813" cy="81789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F23EF6-D358-4254-9C3A-1B10FDEABF82}"/>
              </a:ext>
            </a:extLst>
          </p:cNvPr>
          <p:cNvSpPr txBox="1"/>
          <p:nvPr/>
        </p:nvSpPr>
        <p:spPr>
          <a:xfrm>
            <a:off x="4935986" y="2536688"/>
            <a:ext cx="1506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get a slab object</a:t>
            </a:r>
          </a:p>
        </p:txBody>
      </p:sp>
    </p:spTree>
    <p:extLst>
      <p:ext uri="{BB962C8B-B14F-4D97-AF65-F5344CB8AC3E}">
        <p14:creationId xmlns:p14="http://schemas.microsoft.com/office/powerpoint/2010/main" val="2740097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6FB49F4E-D74E-4377-9C13-2109BA053C49}"/>
              </a:ext>
            </a:extLst>
          </p:cNvPr>
          <p:cNvSpPr/>
          <p:nvPr/>
        </p:nvSpPr>
        <p:spPr>
          <a:xfrm>
            <a:off x="3870167" y="2553026"/>
            <a:ext cx="8252318" cy="3849881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0420E-A3FE-4510-A679-D742DCC75454}"/>
              </a:ext>
            </a:extLst>
          </p:cNvPr>
          <p:cNvSpPr/>
          <p:nvPr/>
        </p:nvSpPr>
        <p:spPr>
          <a:xfrm>
            <a:off x="828675" y="4514320"/>
            <a:ext cx="2891889" cy="124830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3B410-682E-4B73-A942-9118C9D895B7}"/>
              </a:ext>
            </a:extLst>
          </p:cNvPr>
          <p:cNvSpPr/>
          <p:nvPr/>
        </p:nvSpPr>
        <p:spPr>
          <a:xfrm>
            <a:off x="1036960" y="4807563"/>
            <a:ext cx="251036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Get a slab object from c-&gt;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3DF1D-7635-4AC4-8987-97B41002E1F9}"/>
              </a:ext>
            </a:extLst>
          </p:cNvPr>
          <p:cNvSpPr/>
          <p:nvPr/>
        </p:nvSpPr>
        <p:spPr>
          <a:xfrm>
            <a:off x="1607087" y="817182"/>
            <a:ext cx="1970215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kmem_cache_alloc_node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00291715-047A-4596-8317-A8C2CB0B6476}"/>
              </a:ext>
            </a:extLst>
          </p:cNvPr>
          <p:cNvSpPr/>
          <p:nvPr/>
        </p:nvSpPr>
        <p:spPr>
          <a:xfrm>
            <a:off x="1180972" y="3533155"/>
            <a:ext cx="2209806" cy="573622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!c-&gt;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or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!c-&gt; page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1DECBE7-96BF-476E-801F-45A37B2B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1" y="-76688"/>
            <a:ext cx="12235055" cy="689951"/>
          </a:xfrm>
        </p:spPr>
        <p:txBody>
          <a:bodyPr>
            <a:noAutofit/>
          </a:bodyPr>
          <a:lstStyle/>
          <a:p>
            <a:r>
              <a:rPr lang="en-US" sz="3200" dirty="0" err="1"/>
              <a:t>slab_alloc_node</a:t>
            </a:r>
            <a:r>
              <a:rPr lang="en-US" sz="3200" dirty="0"/>
              <a:t>(): </a:t>
            </a:r>
            <a:r>
              <a:rPr lang="en-US" sz="3200" dirty="0" err="1"/>
              <a:t>slowpath</a:t>
            </a:r>
            <a:r>
              <a:rPr lang="en-US" sz="3200" dirty="0"/>
              <a:t> #1 – Get an object from node’s partial page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08FCDB-D5DB-4098-BA29-71A6C4D9E9B8}"/>
              </a:ext>
            </a:extLst>
          </p:cNvPr>
          <p:cNvSpPr/>
          <p:nvPr/>
        </p:nvSpPr>
        <p:spPr>
          <a:xfrm>
            <a:off x="4048126" y="3702877"/>
            <a:ext cx="107632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B5BB81-36FE-412E-AD39-57E6F21BF69E}"/>
              </a:ext>
            </a:extLst>
          </p:cNvPr>
          <p:cNvSpPr/>
          <p:nvPr/>
        </p:nvSpPr>
        <p:spPr>
          <a:xfrm>
            <a:off x="161192" y="1338348"/>
            <a:ext cx="159759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936C6D-9003-4D95-86B7-D8AE219AD8C5}"/>
              </a:ext>
            </a:extLst>
          </p:cNvPr>
          <p:cNvSpPr/>
          <p:nvPr/>
        </p:nvSpPr>
        <p:spPr>
          <a:xfrm>
            <a:off x="2095499" y="1341361"/>
            <a:ext cx="87629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048101-74AC-4B64-8974-B28E0DAEE6F7}"/>
              </a:ext>
            </a:extLst>
          </p:cNvPr>
          <p:cNvSpPr/>
          <p:nvPr/>
        </p:nvSpPr>
        <p:spPr>
          <a:xfrm>
            <a:off x="3556872" y="1347873"/>
            <a:ext cx="1310404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slab_alloc_node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4A147-3847-4457-B254-A5ECE1C4C291}"/>
              </a:ext>
            </a:extLst>
          </p:cNvPr>
          <p:cNvSpPr txBox="1"/>
          <p:nvPr/>
        </p:nvSpPr>
        <p:spPr>
          <a:xfrm>
            <a:off x="2818672" y="1552516"/>
            <a:ext cx="14199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NUMA_NO_NODE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7795C0-9A2C-4E2E-82D1-FADDF29C95AD}"/>
              </a:ext>
            </a:extLst>
          </p:cNvPr>
          <p:cNvSpPr/>
          <p:nvPr/>
        </p:nvSpPr>
        <p:spPr>
          <a:xfrm>
            <a:off x="1988108" y="1978068"/>
            <a:ext cx="141995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kmalloc_node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730A8B-4FD3-41E0-BF58-AC6A962757D5}"/>
              </a:ext>
            </a:extLst>
          </p:cNvPr>
          <p:cNvSpPr/>
          <p:nvPr/>
        </p:nvSpPr>
        <p:spPr>
          <a:xfrm>
            <a:off x="312894" y="1981965"/>
            <a:ext cx="129419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kmalloc_node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47D268-BD0A-412B-A7F9-84D1A74DF3E9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2971792" y="1462256"/>
            <a:ext cx="585080" cy="65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EC811E-BF06-4DB1-947A-FC2F6AB3F7EB}"/>
              </a:ext>
            </a:extLst>
          </p:cNvPr>
          <p:cNvCxnSpPr>
            <a:stCxn id="36" idx="3"/>
            <a:endCxn id="35" idx="1"/>
          </p:cNvCxnSpPr>
          <p:nvPr/>
        </p:nvCxnSpPr>
        <p:spPr>
          <a:xfrm flipV="1">
            <a:off x="1607087" y="2098963"/>
            <a:ext cx="381021" cy="38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EB98837-729D-479B-95F0-0BD8C8C951F1}"/>
              </a:ext>
            </a:extLst>
          </p:cNvPr>
          <p:cNvCxnSpPr>
            <a:cxnSpLocks/>
            <a:stCxn id="35" idx="3"/>
            <a:endCxn id="31" idx="2"/>
          </p:cNvCxnSpPr>
          <p:nvPr/>
        </p:nvCxnSpPr>
        <p:spPr>
          <a:xfrm flipV="1">
            <a:off x="3408062" y="1589662"/>
            <a:ext cx="804012" cy="50930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B36931D-7CCD-4E65-AC4E-4CE0B280651C}"/>
              </a:ext>
            </a:extLst>
          </p:cNvPr>
          <p:cNvSpPr txBox="1"/>
          <p:nvPr/>
        </p:nvSpPr>
        <p:spPr>
          <a:xfrm>
            <a:off x="3469863" y="2052771"/>
            <a:ext cx="7326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node_id</a:t>
            </a:r>
            <a:endParaRPr lang="en-US" sz="1200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53FC3DE-70F6-4A01-AB8E-0193BEB5C047}"/>
              </a:ext>
            </a:extLst>
          </p:cNvPr>
          <p:cNvCxnSpPr>
            <a:cxnSpLocks/>
            <a:stCxn id="7" idx="3"/>
            <a:endCxn id="31" idx="0"/>
          </p:cNvCxnSpPr>
          <p:nvPr/>
        </p:nvCxnSpPr>
        <p:spPr>
          <a:xfrm>
            <a:off x="3577302" y="938077"/>
            <a:ext cx="634772" cy="40979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D27C52B-4463-4162-A8FE-DB3BEFA0D5BF}"/>
              </a:ext>
            </a:extLst>
          </p:cNvPr>
          <p:cNvSpPr txBox="1"/>
          <p:nvPr/>
        </p:nvSpPr>
        <p:spPr>
          <a:xfrm>
            <a:off x="3583160" y="657822"/>
            <a:ext cx="7326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node_id</a:t>
            </a:r>
            <a:endParaRPr lang="en-US" sz="12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3E3F6B-C0FF-4614-AB05-735B44C02AC7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>
            <a:off x="1758791" y="1459243"/>
            <a:ext cx="336708" cy="30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C5EA1983-2A9B-40B4-A886-F09CBAD8A930}"/>
              </a:ext>
            </a:extLst>
          </p:cNvPr>
          <p:cNvCxnSpPr>
            <a:stCxn id="31" idx="3"/>
            <a:endCxn id="9" idx="0"/>
          </p:cNvCxnSpPr>
          <p:nvPr/>
        </p:nvCxnSpPr>
        <p:spPr>
          <a:xfrm flipH="1">
            <a:off x="2285875" y="1468768"/>
            <a:ext cx="2581401" cy="2064387"/>
          </a:xfrm>
          <a:prstGeom prst="bentConnector4">
            <a:avLst>
              <a:gd name="adj1" fmla="val -8856"/>
              <a:gd name="adj2" fmla="val 4554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D1A50C08-EDC4-495D-9FD4-8AD10313A1B8}"/>
              </a:ext>
            </a:extLst>
          </p:cNvPr>
          <p:cNvSpPr/>
          <p:nvPr/>
        </p:nvSpPr>
        <p:spPr>
          <a:xfrm>
            <a:off x="5343525" y="3702442"/>
            <a:ext cx="108524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___</a:t>
            </a:r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C6EC661-522D-4D40-B0CF-CFB8179D4E57}"/>
              </a:ext>
            </a:extLst>
          </p:cNvPr>
          <p:cNvSpPr/>
          <p:nvPr/>
        </p:nvSpPr>
        <p:spPr>
          <a:xfrm>
            <a:off x="6683878" y="4917869"/>
            <a:ext cx="153030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new_slab_objects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D9DBAFA-64DD-4330-B4B6-E2B0D7993D88}"/>
              </a:ext>
            </a:extLst>
          </p:cNvPr>
          <p:cNvSpPr/>
          <p:nvPr/>
        </p:nvSpPr>
        <p:spPr>
          <a:xfrm>
            <a:off x="8195323" y="3702442"/>
            <a:ext cx="264852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c-&gt;page = </a:t>
            </a:r>
            <a:r>
              <a:rPr lang="fr-FR" sz="1400" dirty="0" err="1">
                <a:solidFill>
                  <a:schemeClr val="tx1"/>
                </a:solidFill>
              </a:rPr>
              <a:t>slub_percpu_partial</a:t>
            </a:r>
            <a:r>
              <a:rPr lang="fr-FR" sz="1400" dirty="0">
                <a:solidFill>
                  <a:schemeClr val="tx1"/>
                </a:solidFill>
              </a:rPr>
              <a:t>(c)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1D41374-0A45-415C-BCD4-25C6ADECF37D}"/>
              </a:ext>
            </a:extLst>
          </p:cNvPr>
          <p:cNvCxnSpPr>
            <a:stCxn id="9" idx="3"/>
            <a:endCxn id="24" idx="1"/>
          </p:cNvCxnSpPr>
          <p:nvPr/>
        </p:nvCxnSpPr>
        <p:spPr>
          <a:xfrm>
            <a:off x="3390778" y="3819966"/>
            <a:ext cx="657348" cy="38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714F4AC-ADFF-4312-97E3-1585FD30B533}"/>
              </a:ext>
            </a:extLst>
          </p:cNvPr>
          <p:cNvCxnSpPr>
            <a:stCxn id="24" idx="3"/>
            <a:endCxn id="67" idx="1"/>
          </p:cNvCxnSpPr>
          <p:nvPr/>
        </p:nvCxnSpPr>
        <p:spPr>
          <a:xfrm flipV="1">
            <a:off x="5124450" y="3823337"/>
            <a:ext cx="219075" cy="4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4DC20D2-A96E-4DDB-806B-1A44A234F491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6428773" y="3823337"/>
            <a:ext cx="17665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56B399C-50F4-4370-81BC-E770ED0A2EEB}"/>
              </a:ext>
            </a:extLst>
          </p:cNvPr>
          <p:cNvSpPr txBox="1"/>
          <p:nvPr/>
        </p:nvSpPr>
        <p:spPr>
          <a:xfrm>
            <a:off x="5743245" y="2950429"/>
            <a:ext cx="965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c-&gt;page &amp;&amp;</a:t>
            </a:r>
          </a:p>
          <a:p>
            <a:r>
              <a:rPr lang="en-US" sz="1200" dirty="0"/>
              <a:t>!c-&gt;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734A345-7CAD-4CCA-8353-64520F988B5F}"/>
              </a:ext>
            </a:extLst>
          </p:cNvPr>
          <p:cNvSpPr txBox="1"/>
          <p:nvPr/>
        </p:nvSpPr>
        <p:spPr>
          <a:xfrm>
            <a:off x="6591671" y="3564681"/>
            <a:ext cx="17963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!c-&gt;page &amp;&amp; c-&gt;partial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8EF6CAF-FB14-48DA-B041-AA965FF3B54A}"/>
              </a:ext>
            </a:extLst>
          </p:cNvPr>
          <p:cNvSpPr/>
          <p:nvPr/>
        </p:nvSpPr>
        <p:spPr>
          <a:xfrm>
            <a:off x="8501199" y="4684301"/>
            <a:ext cx="103493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get_partial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5E2315A-F4D5-40A9-9F6E-D3DDE474EE49}"/>
              </a:ext>
            </a:extLst>
          </p:cNvPr>
          <p:cNvSpPr txBox="1"/>
          <p:nvPr/>
        </p:nvSpPr>
        <p:spPr>
          <a:xfrm>
            <a:off x="8345720" y="3447622"/>
            <a:ext cx="2476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Get partial page from </a:t>
            </a:r>
            <a:r>
              <a:rPr lang="en-US" sz="1200" dirty="0" err="1"/>
              <a:t>percpu</a:t>
            </a:r>
            <a:r>
              <a:rPr lang="en-US" sz="1200" dirty="0"/>
              <a:t> cache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5BF41FC-89F4-45A0-AE2E-5148AED72954}"/>
              </a:ext>
            </a:extLst>
          </p:cNvPr>
          <p:cNvSpPr/>
          <p:nvPr/>
        </p:nvSpPr>
        <p:spPr>
          <a:xfrm>
            <a:off x="8501198" y="5294587"/>
            <a:ext cx="103493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new_slab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6B2E602-43B1-4CA8-9F02-86E6005D43CF}"/>
              </a:ext>
            </a:extLst>
          </p:cNvPr>
          <p:cNvSpPr/>
          <p:nvPr/>
        </p:nvSpPr>
        <p:spPr>
          <a:xfrm>
            <a:off x="9804550" y="5293573"/>
            <a:ext cx="108538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allocate_slab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E4BC428-C9C9-4EEE-B9C2-67108A9F91D6}"/>
              </a:ext>
            </a:extLst>
          </p:cNvPr>
          <p:cNvSpPr/>
          <p:nvPr/>
        </p:nvSpPr>
        <p:spPr>
          <a:xfrm>
            <a:off x="10531481" y="5688019"/>
            <a:ext cx="1402582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alloc_slab_page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6AB6E616-2812-408B-854A-5BF330885683}"/>
              </a:ext>
            </a:extLst>
          </p:cNvPr>
          <p:cNvCxnSpPr>
            <a:stCxn id="106" idx="3"/>
            <a:endCxn id="107" idx="1"/>
          </p:cNvCxnSpPr>
          <p:nvPr/>
        </p:nvCxnSpPr>
        <p:spPr>
          <a:xfrm flipV="1">
            <a:off x="9536136" y="5414468"/>
            <a:ext cx="268414" cy="10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5C9F34B5-6572-4E67-BF90-73C44FB0F404}"/>
              </a:ext>
            </a:extLst>
          </p:cNvPr>
          <p:cNvCxnSpPr>
            <a:stCxn id="107" idx="3"/>
            <a:endCxn id="108" idx="0"/>
          </p:cNvCxnSpPr>
          <p:nvPr/>
        </p:nvCxnSpPr>
        <p:spPr>
          <a:xfrm>
            <a:off x="10889936" y="5414468"/>
            <a:ext cx="342836" cy="2735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F69B1F1-3CB6-4D50-B0AB-ADE69F5A6BF8}"/>
              </a:ext>
            </a:extLst>
          </p:cNvPr>
          <p:cNvSpPr txBox="1"/>
          <p:nvPr/>
        </p:nvSpPr>
        <p:spPr>
          <a:xfrm>
            <a:off x="10531481" y="5941242"/>
            <a:ext cx="1562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Allocate pages from Buddy system</a:t>
            </a: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3EAB34A4-C504-4AF7-915E-2653E42C4957}"/>
              </a:ext>
            </a:extLst>
          </p:cNvPr>
          <p:cNvCxnSpPr>
            <a:cxnSpLocks/>
            <a:stCxn id="67" idx="3"/>
          </p:cNvCxnSpPr>
          <p:nvPr/>
        </p:nvCxnSpPr>
        <p:spPr>
          <a:xfrm flipV="1">
            <a:off x="6428773" y="3069524"/>
            <a:ext cx="431764" cy="75381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0AE2C3A9-230B-485F-92AB-56A89A6EA4EB}"/>
              </a:ext>
            </a:extLst>
          </p:cNvPr>
          <p:cNvCxnSpPr>
            <a:stCxn id="67" idx="3"/>
            <a:endCxn id="68" idx="1"/>
          </p:cNvCxnSpPr>
          <p:nvPr/>
        </p:nvCxnSpPr>
        <p:spPr>
          <a:xfrm>
            <a:off x="6428773" y="3823337"/>
            <a:ext cx="255105" cy="121542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21B628FC-82B6-4687-8C28-1C5CC91E3193}"/>
              </a:ext>
            </a:extLst>
          </p:cNvPr>
          <p:cNvSpPr txBox="1"/>
          <p:nvPr/>
        </p:nvSpPr>
        <p:spPr>
          <a:xfrm>
            <a:off x="6530940" y="4575669"/>
            <a:ext cx="1696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!c-&gt;page &amp;&amp;  !c-&gt;partial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E5AB9A5-94F2-41B1-AD96-B0CC706D2121}"/>
              </a:ext>
            </a:extLst>
          </p:cNvPr>
          <p:cNvCxnSpPr>
            <a:stCxn id="68" idx="3"/>
            <a:endCxn id="103" idx="1"/>
          </p:cNvCxnSpPr>
          <p:nvPr/>
        </p:nvCxnSpPr>
        <p:spPr>
          <a:xfrm flipV="1">
            <a:off x="8214182" y="4805196"/>
            <a:ext cx="287017" cy="2335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536D68D6-5FCB-4F3D-AFE3-D7E242342A18}"/>
              </a:ext>
            </a:extLst>
          </p:cNvPr>
          <p:cNvCxnSpPr>
            <a:stCxn id="68" idx="3"/>
            <a:endCxn id="106" idx="1"/>
          </p:cNvCxnSpPr>
          <p:nvPr/>
        </p:nvCxnSpPr>
        <p:spPr>
          <a:xfrm>
            <a:off x="8214182" y="5038764"/>
            <a:ext cx="287016" cy="3767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AE25C171-0A1B-443E-BE12-AB2FF66D51C6}"/>
              </a:ext>
            </a:extLst>
          </p:cNvPr>
          <p:cNvSpPr txBox="1"/>
          <p:nvPr/>
        </p:nvSpPr>
        <p:spPr>
          <a:xfrm>
            <a:off x="8367172" y="4228018"/>
            <a:ext cx="2476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Get partial page from node cache (</a:t>
            </a:r>
            <a:r>
              <a:rPr lang="en-US" sz="1200" dirty="0" err="1"/>
              <a:t>kmem_cache_node</a:t>
            </a:r>
            <a:r>
              <a:rPr lang="en-US" sz="1200" dirty="0"/>
              <a:t>)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7215010-5794-4103-80BE-F8A0BE6B7EAA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>
            <a:off x="2285875" y="4106777"/>
            <a:ext cx="6265" cy="7007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C37B8627-B41B-4810-B77C-5302415941C9}"/>
              </a:ext>
            </a:extLst>
          </p:cNvPr>
          <p:cNvSpPr txBox="1"/>
          <p:nvPr/>
        </p:nvSpPr>
        <p:spPr>
          <a:xfrm>
            <a:off x="3394480" y="3612099"/>
            <a:ext cx="28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ADE96F9-428C-4E2D-937D-B119FE0C610E}"/>
              </a:ext>
            </a:extLst>
          </p:cNvPr>
          <p:cNvSpPr txBox="1"/>
          <p:nvPr/>
        </p:nvSpPr>
        <p:spPr>
          <a:xfrm>
            <a:off x="2221876" y="4060926"/>
            <a:ext cx="28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4520EF-43B8-4730-8DA3-BC02DA018C81}"/>
              </a:ext>
            </a:extLst>
          </p:cNvPr>
          <p:cNvSpPr txBox="1"/>
          <p:nvPr/>
        </p:nvSpPr>
        <p:spPr>
          <a:xfrm>
            <a:off x="1866956" y="5412283"/>
            <a:ext cx="837837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fast path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D3EFFD-6097-4DDD-AAD3-09D69B757F75}"/>
              </a:ext>
            </a:extLst>
          </p:cNvPr>
          <p:cNvSpPr txBox="1"/>
          <p:nvPr/>
        </p:nvSpPr>
        <p:spPr>
          <a:xfrm>
            <a:off x="3949503" y="2633008"/>
            <a:ext cx="965414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slow path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16516C-20F5-4795-8EF5-C211431D3389}"/>
              </a:ext>
            </a:extLst>
          </p:cNvPr>
          <p:cNvSpPr txBox="1"/>
          <p:nvPr/>
        </p:nvSpPr>
        <p:spPr>
          <a:xfrm>
            <a:off x="6886320" y="2679807"/>
            <a:ext cx="26485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get_freelist</a:t>
            </a:r>
            <a:r>
              <a:rPr lang="en-US" sz="1200" dirty="0"/>
              <a:t> -&gt; __</a:t>
            </a:r>
            <a:r>
              <a:rPr lang="en-US" sz="1200" dirty="0" err="1"/>
              <a:t>cmpxchg_double_slab</a:t>
            </a:r>
            <a:endParaRPr 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4E8DAC-DC56-4BDD-A714-BA56E1A20A0E}"/>
              </a:ext>
            </a:extLst>
          </p:cNvPr>
          <p:cNvSpPr txBox="1"/>
          <p:nvPr/>
        </p:nvSpPr>
        <p:spPr>
          <a:xfrm>
            <a:off x="1427781" y="5021158"/>
            <a:ext cx="2071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this_cpu_cmpxchg_double</a:t>
            </a:r>
            <a:r>
              <a:rPr lang="en-US" sz="1200" dirty="0"/>
              <a:t>()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812B5A0-14FE-4C61-B826-49E42D40AFFA}"/>
              </a:ext>
            </a:extLst>
          </p:cNvPr>
          <p:cNvSpPr/>
          <p:nvPr/>
        </p:nvSpPr>
        <p:spPr>
          <a:xfrm>
            <a:off x="6429374" y="4255626"/>
            <a:ext cx="4362451" cy="98633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49EB4DA-7A9C-40BE-84F8-FBF880A99160}"/>
              </a:ext>
            </a:extLst>
          </p:cNvPr>
          <p:cNvSpPr/>
          <p:nvPr/>
        </p:nvSpPr>
        <p:spPr>
          <a:xfrm>
            <a:off x="6860537" y="2948629"/>
            <a:ext cx="283964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Get a slab object from page-&gt;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134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CC17EFF9-950E-4F35-9CB1-9D55B8C5E333}"/>
              </a:ext>
            </a:extLst>
          </p:cNvPr>
          <p:cNvCxnSpPr>
            <a:cxnSpLocks/>
            <a:endCxn id="91" idx="3"/>
          </p:cNvCxnSpPr>
          <p:nvPr/>
        </p:nvCxnSpPr>
        <p:spPr>
          <a:xfrm rot="10800000">
            <a:off x="6615091" y="3718389"/>
            <a:ext cx="5364184" cy="2117938"/>
          </a:xfrm>
          <a:prstGeom prst="bentConnector3">
            <a:avLst>
              <a:gd name="adj1" fmla="val 9162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777855D-07D6-4AA0-AA78-622654F140B9}"/>
              </a:ext>
            </a:extLst>
          </p:cNvPr>
          <p:cNvCxnSpPr>
            <a:cxnSpLocks/>
            <a:stCxn id="128" idx="3"/>
          </p:cNvCxnSpPr>
          <p:nvPr/>
        </p:nvCxnSpPr>
        <p:spPr>
          <a:xfrm>
            <a:off x="11644605" y="3940203"/>
            <a:ext cx="335262" cy="1896125"/>
          </a:xfrm>
          <a:prstGeom prst="bentConnector2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5283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5283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 = NULL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5283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5283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7561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A270E7A-69A2-4996-981D-5A0ADF575C04}"/>
              </a:ext>
            </a:extLst>
          </p:cNvPr>
          <p:cNvSpPr/>
          <p:nvPr/>
        </p:nvSpPr>
        <p:spPr>
          <a:xfrm>
            <a:off x="4430736" y="1375785"/>
            <a:ext cx="2143125" cy="67997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3CC1AE69-AF1B-4E87-9476-915DE0FC547C}"/>
              </a:ext>
            </a:extLst>
          </p:cNvPr>
          <p:cNvSpPr/>
          <p:nvPr/>
        </p:nvSpPr>
        <p:spPr>
          <a:xfrm>
            <a:off x="6588125" y="1609725"/>
            <a:ext cx="2143125" cy="1277605"/>
          </a:xfrm>
          <a:custGeom>
            <a:avLst/>
            <a:gdLst>
              <a:gd name="connsiteX0" fmla="*/ 0 w 2143125"/>
              <a:gd name="connsiteY0" fmla="*/ 0 h 1285875"/>
              <a:gd name="connsiteX1" fmla="*/ 1333500 w 2143125"/>
              <a:gd name="connsiteY1" fmla="*/ 247650 h 1285875"/>
              <a:gd name="connsiteX2" fmla="*/ 2143125 w 2143125"/>
              <a:gd name="connsiteY2" fmla="*/ 1285875 h 1285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3125" h="1285875">
                <a:moveTo>
                  <a:pt x="0" y="0"/>
                </a:moveTo>
                <a:cubicBezTo>
                  <a:pt x="488156" y="16669"/>
                  <a:pt x="976313" y="33338"/>
                  <a:pt x="1333500" y="247650"/>
                </a:cubicBezTo>
                <a:cubicBezTo>
                  <a:pt x="1690688" y="461963"/>
                  <a:pt x="1916906" y="873919"/>
                  <a:pt x="2143125" y="1285875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66E43E4-CA23-4ED3-AA78-39B8AB72A2A7}"/>
              </a:ext>
            </a:extLst>
          </p:cNvPr>
          <p:cNvSpPr txBox="1"/>
          <p:nvPr/>
        </p:nvSpPr>
        <p:spPr>
          <a:xfrm>
            <a:off x="4143757" y="2331775"/>
            <a:ext cx="3863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Get a page (slab) from </a:t>
            </a:r>
            <a:r>
              <a:rPr lang="en-US" sz="1600" b="1" dirty="0" err="1">
                <a:solidFill>
                  <a:srgbClr val="C00000"/>
                </a:solidFill>
              </a:rPr>
              <a:t>kmem_cache_node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400713" y="29264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400713" y="34029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400712" y="36131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400708" y="38231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400711" y="40333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400707" y="31947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400706" y="42406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400711" y="47294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400711" y="52059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400710" y="54161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400706" y="56261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400709" y="58363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400705" y="49976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400704" y="60436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580686" y="62509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400704" y="43458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stCxn id="106" idx="3"/>
            <a:endCxn id="80" idx="3"/>
          </p:cNvCxnSpPr>
          <p:nvPr/>
        </p:nvCxnSpPr>
        <p:spPr>
          <a:xfrm flipH="1">
            <a:off x="6615084" y="4345865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269609E-DFA3-41F6-8DE4-F3B3E09257D2}"/>
              </a:ext>
            </a:extLst>
          </p:cNvPr>
          <p:cNvSpPr/>
          <p:nvPr/>
        </p:nvSpPr>
        <p:spPr>
          <a:xfrm>
            <a:off x="4229830" y="2849791"/>
            <a:ext cx="2549653" cy="367815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ED94CF00-08D1-4A5B-B909-7F4F9B5D1341}"/>
              </a:ext>
            </a:extLst>
          </p:cNvPr>
          <p:cNvSpPr/>
          <p:nvPr/>
        </p:nvSpPr>
        <p:spPr>
          <a:xfrm>
            <a:off x="4016105" y="1600200"/>
            <a:ext cx="419370" cy="1220978"/>
          </a:xfrm>
          <a:custGeom>
            <a:avLst/>
            <a:gdLst>
              <a:gd name="connsiteX0" fmla="*/ 257445 w 419370"/>
              <a:gd name="connsiteY0" fmla="*/ 1428750 h 1428750"/>
              <a:gd name="connsiteX1" fmla="*/ 9795 w 419370"/>
              <a:gd name="connsiteY1" fmla="*/ 838200 h 1428750"/>
              <a:gd name="connsiteX2" fmla="*/ 85995 w 419370"/>
              <a:gd name="connsiteY2" fmla="*/ 361950 h 1428750"/>
              <a:gd name="connsiteX3" fmla="*/ 419370 w 419370"/>
              <a:gd name="connsiteY3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370" h="1428750">
                <a:moveTo>
                  <a:pt x="257445" y="1428750"/>
                </a:moveTo>
                <a:cubicBezTo>
                  <a:pt x="147907" y="1222375"/>
                  <a:pt x="38370" y="1016000"/>
                  <a:pt x="9795" y="838200"/>
                </a:cubicBezTo>
                <a:cubicBezTo>
                  <a:pt x="-18780" y="660400"/>
                  <a:pt x="17732" y="501650"/>
                  <a:pt x="85995" y="361950"/>
                </a:cubicBezTo>
                <a:cubicBezTo>
                  <a:pt x="154257" y="222250"/>
                  <a:pt x="286813" y="111125"/>
                  <a:pt x="419370" y="0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F97130A9-D93B-4E71-B913-829DF152EEAC}"/>
              </a:ext>
            </a:extLst>
          </p:cNvPr>
          <p:cNvSpPr/>
          <p:nvPr/>
        </p:nvSpPr>
        <p:spPr>
          <a:xfrm>
            <a:off x="3975072" y="2249587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06CDAD86-E115-4F73-ADD2-6FF49465BDBB}"/>
              </a:ext>
            </a:extLst>
          </p:cNvPr>
          <p:cNvSpPr/>
          <p:nvPr/>
        </p:nvSpPr>
        <p:spPr>
          <a:xfrm>
            <a:off x="7758505" y="5655978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887306B-6491-4EC4-90C8-F456D2D90974}"/>
              </a:ext>
            </a:extLst>
          </p:cNvPr>
          <p:cNvSpPr txBox="1"/>
          <p:nvPr/>
        </p:nvSpPr>
        <p:spPr>
          <a:xfrm>
            <a:off x="8007348" y="5775115"/>
            <a:ext cx="372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Get a page (slab) from ‘partial’ member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060923"/>
            <a:ext cx="628542" cy="15402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25C7C664-5F96-4522-84C5-231F5F98FA56}"/>
              </a:ext>
            </a:extLst>
          </p:cNvPr>
          <p:cNvSpPr/>
          <p:nvPr/>
        </p:nvSpPr>
        <p:spPr>
          <a:xfrm>
            <a:off x="7907456" y="1713660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8189B42-8EF0-4B3B-A498-2D3CD53C0547}"/>
              </a:ext>
            </a:extLst>
          </p:cNvPr>
          <p:cNvSpPr txBox="1"/>
          <p:nvPr/>
        </p:nvSpPr>
        <p:spPr>
          <a:xfrm>
            <a:off x="8137327" y="1545166"/>
            <a:ext cx="2379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Move node’s partial page (slab) to </a:t>
            </a:r>
            <a:r>
              <a:rPr lang="en-US" sz="1600" b="1" dirty="0" err="1">
                <a:solidFill>
                  <a:srgbClr val="C00000"/>
                </a:solidFill>
              </a:rPr>
              <a:t>percpu</a:t>
            </a:r>
            <a:r>
              <a:rPr lang="en-US" sz="1600" b="1" dirty="0">
                <a:solidFill>
                  <a:srgbClr val="C00000"/>
                </a:solidFill>
              </a:rPr>
              <a:t> cache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440EABA-5984-47AD-B065-3321AAE2D6B9}"/>
              </a:ext>
            </a:extLst>
          </p:cNvPr>
          <p:cNvSpPr/>
          <p:nvPr/>
        </p:nvSpPr>
        <p:spPr>
          <a:xfrm>
            <a:off x="7506291" y="2952522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#0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3521221-C5A1-4134-8EA7-8508B4AF4C46}"/>
              </a:ext>
            </a:extLst>
          </p:cNvPr>
          <p:cNvSpPr/>
          <p:nvPr/>
        </p:nvSpPr>
        <p:spPr>
          <a:xfrm>
            <a:off x="8381951" y="3395287"/>
            <a:ext cx="2046900" cy="19392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470A65D-A405-4597-B649-5776E9DB66B3}"/>
              </a:ext>
            </a:extLst>
          </p:cNvPr>
          <p:cNvSpPr/>
          <p:nvPr/>
        </p:nvSpPr>
        <p:spPr>
          <a:xfrm>
            <a:off x="7505702" y="3951985"/>
            <a:ext cx="292315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3FF5BF9-4A71-4BA2-875C-6CA7C0343BFE}"/>
              </a:ext>
            </a:extLst>
          </p:cNvPr>
          <p:cNvSpPr/>
          <p:nvPr/>
        </p:nvSpPr>
        <p:spPr>
          <a:xfrm>
            <a:off x="7505715" y="4162180"/>
            <a:ext cx="292377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9DE2350-B599-473E-9EC1-5FD6C715EE81}"/>
              </a:ext>
            </a:extLst>
          </p:cNvPr>
          <p:cNvSpPr/>
          <p:nvPr/>
        </p:nvSpPr>
        <p:spPr>
          <a:xfrm>
            <a:off x="7722228" y="4372153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509AFCC-4442-4453-971C-5DD9F5EDC71C}"/>
              </a:ext>
            </a:extLst>
          </p:cNvPr>
          <p:cNvSpPr/>
          <p:nvPr/>
        </p:nvSpPr>
        <p:spPr>
          <a:xfrm>
            <a:off x="8381951" y="3589473"/>
            <a:ext cx="2046900" cy="19456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AEDB2C4-7FE3-4E3B-8DE5-C3E5C7A58316}"/>
              </a:ext>
            </a:extLst>
          </p:cNvPr>
          <p:cNvSpPr/>
          <p:nvPr/>
        </p:nvSpPr>
        <p:spPr>
          <a:xfrm>
            <a:off x="8381951" y="3782267"/>
            <a:ext cx="2046900" cy="17102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E4CA2E4-8F59-4C6D-98F2-16FA51163507}"/>
              </a:ext>
            </a:extLst>
          </p:cNvPr>
          <p:cNvSpPr/>
          <p:nvPr/>
        </p:nvSpPr>
        <p:spPr>
          <a:xfrm>
            <a:off x="7722216" y="4577690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1A26C69-8FBD-4821-BACF-79C902FF11A5}"/>
              </a:ext>
            </a:extLst>
          </p:cNvPr>
          <p:cNvSpPr/>
          <p:nvPr/>
        </p:nvSpPr>
        <p:spPr>
          <a:xfrm>
            <a:off x="8781396" y="4784971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1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45CF99C-42AE-43CB-9DA9-4838EB9663E7}"/>
              </a:ext>
            </a:extLst>
          </p:cNvPr>
          <p:cNvSpPr/>
          <p:nvPr/>
        </p:nvSpPr>
        <p:spPr>
          <a:xfrm>
            <a:off x="8781396" y="4994944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67283D3-8671-4CF1-B79F-42366FC54F03}"/>
              </a:ext>
            </a:extLst>
          </p:cNvPr>
          <p:cNvSpPr/>
          <p:nvPr/>
        </p:nvSpPr>
        <p:spPr>
          <a:xfrm>
            <a:off x="8781384" y="5200481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0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DBF5D90-E0BA-4C45-9F72-D498E64371ED}"/>
              </a:ext>
            </a:extLst>
          </p:cNvPr>
          <p:cNvSpPr/>
          <p:nvPr/>
        </p:nvSpPr>
        <p:spPr>
          <a:xfrm rot="5400000">
            <a:off x="7112765" y="4765104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BC49115-4738-4DC5-A9FB-DB63F9AD5EFD}"/>
              </a:ext>
            </a:extLst>
          </p:cNvPr>
          <p:cNvSpPr/>
          <p:nvPr/>
        </p:nvSpPr>
        <p:spPr>
          <a:xfrm>
            <a:off x="7758581" y="4784971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54ABC4F-4D3D-4828-869A-601A76EEE85E}"/>
              </a:ext>
            </a:extLst>
          </p:cNvPr>
          <p:cNvSpPr/>
          <p:nvPr/>
        </p:nvSpPr>
        <p:spPr>
          <a:xfrm rot="5400000">
            <a:off x="7249159" y="3443280"/>
            <a:ext cx="767148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624DC4C-BA12-4FA7-9F7F-E35F78F8261A}"/>
              </a:ext>
            </a:extLst>
          </p:cNvPr>
          <p:cNvSpPr/>
          <p:nvPr/>
        </p:nvSpPr>
        <p:spPr>
          <a:xfrm>
            <a:off x="7758505" y="3395288"/>
            <a:ext cx="630578" cy="5580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9EE53A9-E000-438E-878F-7B948DB2859A}"/>
              </a:ext>
            </a:extLst>
          </p:cNvPr>
          <p:cNvSpPr/>
          <p:nvPr/>
        </p:nvSpPr>
        <p:spPr>
          <a:xfrm>
            <a:off x="10758223" y="3805695"/>
            <a:ext cx="886382" cy="26901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list_head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607590B4-2337-4C24-ADF8-5818E7916328}"/>
              </a:ext>
            </a:extLst>
          </p:cNvPr>
          <p:cNvCxnSpPr>
            <a:cxnSpLocks/>
            <a:stCxn id="131" idx="3"/>
            <a:endCxn id="128" idx="1"/>
          </p:cNvCxnSpPr>
          <p:nvPr/>
        </p:nvCxnSpPr>
        <p:spPr>
          <a:xfrm>
            <a:off x="10429468" y="3291369"/>
            <a:ext cx="328755" cy="6488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C510D36-C649-4709-8DD6-D7C82FD29687}"/>
              </a:ext>
            </a:extLst>
          </p:cNvPr>
          <p:cNvSpPr/>
          <p:nvPr/>
        </p:nvSpPr>
        <p:spPr>
          <a:xfrm>
            <a:off x="7758505" y="3186142"/>
            <a:ext cx="267096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FE03CE4-3D5B-4E75-B28E-36D2207C738F}"/>
              </a:ext>
            </a:extLst>
          </p:cNvPr>
          <p:cNvSpPr/>
          <p:nvPr/>
        </p:nvSpPr>
        <p:spPr>
          <a:xfrm>
            <a:off x="10814679" y="4299738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1004F2C-42F4-4C75-9541-5DFCDAA956A6}"/>
              </a:ext>
            </a:extLst>
          </p:cNvPr>
          <p:cNvSpPr/>
          <p:nvPr/>
        </p:nvSpPr>
        <p:spPr>
          <a:xfrm rot="5400000">
            <a:off x="10522433" y="4782623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4A87B52-0812-4FA8-B884-EEE403485BF4}"/>
              </a:ext>
            </a:extLst>
          </p:cNvPr>
          <p:cNvSpPr/>
          <p:nvPr/>
        </p:nvSpPr>
        <p:spPr>
          <a:xfrm rot="5400000">
            <a:off x="10890869" y="4782624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9B8D8D8-E0EB-47D0-8BBD-D34339903C7A}"/>
              </a:ext>
            </a:extLst>
          </p:cNvPr>
          <p:cNvSpPr txBox="1"/>
          <p:nvPr/>
        </p:nvSpPr>
        <p:spPr>
          <a:xfrm>
            <a:off x="11302469" y="4625473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4B27AD4-117D-4021-992D-84A4F2691721}"/>
              </a:ext>
            </a:extLst>
          </p:cNvPr>
          <p:cNvSpPr/>
          <p:nvPr/>
        </p:nvSpPr>
        <p:spPr>
          <a:xfrm rot="5400000">
            <a:off x="11262498" y="4783093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52C6E02-3ABC-4853-95E8-095B1D50F46A}"/>
              </a:ext>
            </a:extLst>
          </p:cNvPr>
          <p:cNvSpPr txBox="1"/>
          <p:nvPr/>
        </p:nvSpPr>
        <p:spPr>
          <a:xfrm>
            <a:off x="11026985" y="4245119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F315586-AF74-48FA-AEB0-359E3D1387A7}"/>
              </a:ext>
            </a:extLst>
          </p:cNvPr>
          <p:cNvSpPr/>
          <p:nvPr/>
        </p:nvSpPr>
        <p:spPr>
          <a:xfrm rot="5400000">
            <a:off x="10707733" y="4782624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0BA5EF2-FD39-437A-999F-0A484BA14FF6}"/>
              </a:ext>
            </a:extLst>
          </p:cNvPr>
          <p:cNvCxnSpPr>
            <a:stCxn id="108" idx="3"/>
            <a:endCxn id="145" idx="3"/>
          </p:cNvCxnSpPr>
          <p:nvPr/>
        </p:nvCxnSpPr>
        <p:spPr>
          <a:xfrm>
            <a:off x="10429492" y="4267407"/>
            <a:ext cx="662841" cy="992171"/>
          </a:xfrm>
          <a:prstGeom prst="bentConnector4">
            <a:avLst>
              <a:gd name="adj1" fmla="val 20988"/>
              <a:gd name="adj2" fmla="val 12304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824FD6C-AC87-472A-979F-4BD3613BB960}"/>
              </a:ext>
            </a:extLst>
          </p:cNvPr>
          <p:cNvSpPr/>
          <p:nvPr/>
        </p:nvSpPr>
        <p:spPr>
          <a:xfrm>
            <a:off x="7505702" y="6307509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#1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CC4CE98-7ABC-453D-AC83-22FA85C70C4C}"/>
              </a:ext>
            </a:extLst>
          </p:cNvPr>
          <p:cNvCxnSpPr>
            <a:cxnSpLocks/>
            <a:stCxn id="82" idx="3"/>
            <a:endCxn id="146" idx="1"/>
          </p:cNvCxnSpPr>
          <p:nvPr/>
        </p:nvCxnSpPr>
        <p:spPr>
          <a:xfrm>
            <a:off x="6615083" y="5521386"/>
            <a:ext cx="890619" cy="908233"/>
          </a:xfrm>
          <a:prstGeom prst="bentConnector3">
            <a:avLst>
              <a:gd name="adj1" fmla="val 3203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60542F8-810A-43C5-B6AE-CB8C5F4BA7C1}"/>
              </a:ext>
            </a:extLst>
          </p:cNvPr>
          <p:cNvSpPr/>
          <p:nvPr/>
        </p:nvSpPr>
        <p:spPr>
          <a:xfrm>
            <a:off x="7349004" y="2887330"/>
            <a:ext cx="4738221" cy="320348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EAF3EA-E19C-44D7-BE81-22BCD099C23F}"/>
              </a:ext>
            </a:extLst>
          </p:cNvPr>
          <p:cNvSpPr txBox="1"/>
          <p:nvPr/>
        </p:nvSpPr>
        <p:spPr>
          <a:xfrm>
            <a:off x="40163" y="1667756"/>
            <a:ext cx="1635129" cy="24622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45720" rIns="0" rtlCol="0">
            <a:spAutoFit/>
          </a:bodyPr>
          <a:lstStyle/>
          <a:p>
            <a:r>
              <a:rPr lang="en-US" sz="1400" dirty="0"/>
              <a:t>Allocate a slab object from node #0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8D8C48-75E9-46ED-AED7-E6DAEE0936C1}"/>
              </a:ext>
            </a:extLst>
          </p:cNvPr>
          <p:cNvCxnSpPr>
            <a:cxnSpLocks/>
            <a:stCxn id="62" idx="0"/>
          </p:cNvCxnSpPr>
          <p:nvPr/>
        </p:nvCxnSpPr>
        <p:spPr>
          <a:xfrm rot="5400000" flipH="1" flipV="1">
            <a:off x="943511" y="785647"/>
            <a:ext cx="796326" cy="9678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CEB3AC1E-B1A7-4238-AC53-3D731EEC56CF}"/>
              </a:ext>
            </a:extLst>
          </p:cNvPr>
          <p:cNvSpPr/>
          <p:nvPr/>
        </p:nvSpPr>
        <p:spPr>
          <a:xfrm>
            <a:off x="280426" y="1452032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ADF992C-DB46-4B00-80BD-F007FA553A05}"/>
              </a:ext>
            </a:extLst>
          </p:cNvPr>
          <p:cNvSpPr/>
          <p:nvPr/>
        </p:nvSpPr>
        <p:spPr>
          <a:xfrm>
            <a:off x="241126" y="2895372"/>
            <a:ext cx="1254454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573BA0F-485A-4C57-9E94-E4E14F351F91}"/>
              </a:ext>
            </a:extLst>
          </p:cNvPr>
          <p:cNvSpPr/>
          <p:nvPr/>
        </p:nvSpPr>
        <p:spPr>
          <a:xfrm>
            <a:off x="241126" y="3363347"/>
            <a:ext cx="125445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*node[]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A80CAAF-E06B-4826-806F-C028BCE5995A}"/>
              </a:ext>
            </a:extLst>
          </p:cNvPr>
          <p:cNvSpPr txBox="1"/>
          <p:nvPr/>
        </p:nvSpPr>
        <p:spPr>
          <a:xfrm>
            <a:off x="135123" y="2500997"/>
            <a:ext cx="151616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F60220F-113B-47AE-BE47-FF648045D502}"/>
              </a:ext>
            </a:extLst>
          </p:cNvPr>
          <p:cNvSpPr txBox="1"/>
          <p:nvPr/>
        </p:nvSpPr>
        <p:spPr>
          <a:xfrm>
            <a:off x="127462" y="2238413"/>
            <a:ext cx="1598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AFCC303-202B-4107-A4A6-CB509672C76D}"/>
              </a:ext>
            </a:extLst>
          </p:cNvPr>
          <p:cNvSpPr txBox="1"/>
          <p:nvPr/>
        </p:nvSpPr>
        <p:spPr>
          <a:xfrm>
            <a:off x="101816" y="3524187"/>
            <a:ext cx="1598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slab objects for node[0] &amp; node[1]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30E06A3-EF48-49AF-A3F6-6969AA8F16E0}"/>
              </a:ext>
            </a:extLst>
          </p:cNvPr>
          <p:cNvCxnSpPr>
            <a:stCxn id="149" idx="0"/>
            <a:endCxn id="152" idx="2"/>
          </p:cNvCxnSpPr>
          <p:nvPr/>
        </p:nvCxnSpPr>
        <p:spPr>
          <a:xfrm flipV="1">
            <a:off x="868353" y="2716441"/>
            <a:ext cx="24854" cy="1789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itle 1">
            <a:extLst>
              <a:ext uri="{FF2B5EF4-FFF2-40B4-BE49-F238E27FC236}">
                <a16:creationId xmlns:a16="http://schemas.microsoft.com/office/drawing/2014/main" id="{B7CE73EE-5408-4698-ACCE-938CECF44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37" y="-29553"/>
            <a:ext cx="12235055" cy="689951"/>
          </a:xfrm>
        </p:spPr>
        <p:txBody>
          <a:bodyPr>
            <a:noAutofit/>
          </a:bodyPr>
          <a:lstStyle/>
          <a:p>
            <a:r>
              <a:rPr lang="en-US" sz="4000" dirty="0" err="1"/>
              <a:t>Slowpath</a:t>
            </a:r>
            <a:r>
              <a:rPr lang="en-US" sz="4000" dirty="0"/>
              <a:t> #1 – Get an object from node’s partial page</a:t>
            </a:r>
          </a:p>
        </p:txBody>
      </p:sp>
    </p:spTree>
    <p:extLst>
      <p:ext uri="{BB962C8B-B14F-4D97-AF65-F5344CB8AC3E}">
        <p14:creationId xmlns:p14="http://schemas.microsoft.com/office/powerpoint/2010/main" val="36622024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CC17EFF9-950E-4F35-9CB1-9D55B8C5E333}"/>
              </a:ext>
            </a:extLst>
          </p:cNvPr>
          <p:cNvCxnSpPr>
            <a:cxnSpLocks/>
            <a:endCxn id="91" idx="3"/>
          </p:cNvCxnSpPr>
          <p:nvPr/>
        </p:nvCxnSpPr>
        <p:spPr>
          <a:xfrm rot="10800000">
            <a:off x="6615091" y="3718389"/>
            <a:ext cx="5364184" cy="2117938"/>
          </a:xfrm>
          <a:prstGeom prst="bentConnector3">
            <a:avLst>
              <a:gd name="adj1" fmla="val 9162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777855D-07D6-4AA0-AA78-622654F140B9}"/>
              </a:ext>
            </a:extLst>
          </p:cNvPr>
          <p:cNvCxnSpPr>
            <a:cxnSpLocks/>
            <a:stCxn id="128" idx="3"/>
          </p:cNvCxnSpPr>
          <p:nvPr/>
        </p:nvCxnSpPr>
        <p:spPr>
          <a:xfrm>
            <a:off x="11644605" y="3940203"/>
            <a:ext cx="335262" cy="1896125"/>
          </a:xfrm>
          <a:prstGeom prst="bentConnector2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5283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5283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 = NULL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5283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5283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7561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A270E7A-69A2-4996-981D-5A0ADF575C04}"/>
              </a:ext>
            </a:extLst>
          </p:cNvPr>
          <p:cNvSpPr/>
          <p:nvPr/>
        </p:nvSpPr>
        <p:spPr>
          <a:xfrm>
            <a:off x="4430736" y="1375785"/>
            <a:ext cx="2143125" cy="67997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3CC1AE69-AF1B-4E87-9476-915DE0FC547C}"/>
              </a:ext>
            </a:extLst>
          </p:cNvPr>
          <p:cNvSpPr/>
          <p:nvPr/>
        </p:nvSpPr>
        <p:spPr>
          <a:xfrm>
            <a:off x="6588125" y="1609725"/>
            <a:ext cx="2143125" cy="1277605"/>
          </a:xfrm>
          <a:custGeom>
            <a:avLst/>
            <a:gdLst>
              <a:gd name="connsiteX0" fmla="*/ 0 w 2143125"/>
              <a:gd name="connsiteY0" fmla="*/ 0 h 1285875"/>
              <a:gd name="connsiteX1" fmla="*/ 1333500 w 2143125"/>
              <a:gd name="connsiteY1" fmla="*/ 247650 h 1285875"/>
              <a:gd name="connsiteX2" fmla="*/ 2143125 w 2143125"/>
              <a:gd name="connsiteY2" fmla="*/ 1285875 h 1285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3125" h="1285875">
                <a:moveTo>
                  <a:pt x="0" y="0"/>
                </a:moveTo>
                <a:cubicBezTo>
                  <a:pt x="488156" y="16669"/>
                  <a:pt x="976313" y="33338"/>
                  <a:pt x="1333500" y="247650"/>
                </a:cubicBezTo>
                <a:cubicBezTo>
                  <a:pt x="1690688" y="461963"/>
                  <a:pt x="1916906" y="873919"/>
                  <a:pt x="2143125" y="1285875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66E43E4-CA23-4ED3-AA78-39B8AB72A2A7}"/>
              </a:ext>
            </a:extLst>
          </p:cNvPr>
          <p:cNvSpPr txBox="1"/>
          <p:nvPr/>
        </p:nvSpPr>
        <p:spPr>
          <a:xfrm>
            <a:off x="4143757" y="2331775"/>
            <a:ext cx="3863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Get a page (slab) from </a:t>
            </a:r>
            <a:r>
              <a:rPr lang="en-US" sz="1600" b="1" dirty="0" err="1">
                <a:solidFill>
                  <a:srgbClr val="C00000"/>
                </a:solidFill>
              </a:rPr>
              <a:t>kmem_cache_node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400713" y="29264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400713" y="34029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400712" y="36131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400708" y="38231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400711" y="40333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400707" y="31947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400706" y="42406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400711" y="47294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400711" y="52059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400710" y="54161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400706" y="56261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400709" y="58363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400705" y="49976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400704" y="60436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580686" y="62509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400704" y="43458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stCxn id="106" idx="3"/>
            <a:endCxn id="80" idx="3"/>
          </p:cNvCxnSpPr>
          <p:nvPr/>
        </p:nvCxnSpPr>
        <p:spPr>
          <a:xfrm flipH="1">
            <a:off x="6615084" y="4345865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269609E-DFA3-41F6-8DE4-F3B3E09257D2}"/>
              </a:ext>
            </a:extLst>
          </p:cNvPr>
          <p:cNvSpPr/>
          <p:nvPr/>
        </p:nvSpPr>
        <p:spPr>
          <a:xfrm>
            <a:off x="4229830" y="2849791"/>
            <a:ext cx="2549653" cy="367815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ED94CF00-08D1-4A5B-B909-7F4F9B5D1341}"/>
              </a:ext>
            </a:extLst>
          </p:cNvPr>
          <p:cNvSpPr/>
          <p:nvPr/>
        </p:nvSpPr>
        <p:spPr>
          <a:xfrm>
            <a:off x="4016105" y="1600200"/>
            <a:ext cx="419370" cy="1220978"/>
          </a:xfrm>
          <a:custGeom>
            <a:avLst/>
            <a:gdLst>
              <a:gd name="connsiteX0" fmla="*/ 257445 w 419370"/>
              <a:gd name="connsiteY0" fmla="*/ 1428750 h 1428750"/>
              <a:gd name="connsiteX1" fmla="*/ 9795 w 419370"/>
              <a:gd name="connsiteY1" fmla="*/ 838200 h 1428750"/>
              <a:gd name="connsiteX2" fmla="*/ 85995 w 419370"/>
              <a:gd name="connsiteY2" fmla="*/ 361950 h 1428750"/>
              <a:gd name="connsiteX3" fmla="*/ 419370 w 419370"/>
              <a:gd name="connsiteY3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370" h="1428750">
                <a:moveTo>
                  <a:pt x="257445" y="1428750"/>
                </a:moveTo>
                <a:cubicBezTo>
                  <a:pt x="147907" y="1222375"/>
                  <a:pt x="38370" y="1016000"/>
                  <a:pt x="9795" y="838200"/>
                </a:cubicBezTo>
                <a:cubicBezTo>
                  <a:pt x="-18780" y="660400"/>
                  <a:pt x="17732" y="501650"/>
                  <a:pt x="85995" y="361950"/>
                </a:cubicBezTo>
                <a:cubicBezTo>
                  <a:pt x="154257" y="222250"/>
                  <a:pt x="286813" y="111125"/>
                  <a:pt x="419370" y="0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F97130A9-D93B-4E71-B913-829DF152EEAC}"/>
              </a:ext>
            </a:extLst>
          </p:cNvPr>
          <p:cNvSpPr/>
          <p:nvPr/>
        </p:nvSpPr>
        <p:spPr>
          <a:xfrm>
            <a:off x="3975072" y="2249587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06CDAD86-E115-4F73-ADD2-6FF49465BDBB}"/>
              </a:ext>
            </a:extLst>
          </p:cNvPr>
          <p:cNvSpPr/>
          <p:nvPr/>
        </p:nvSpPr>
        <p:spPr>
          <a:xfrm>
            <a:off x="7758505" y="5655978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887306B-6491-4EC4-90C8-F456D2D90974}"/>
              </a:ext>
            </a:extLst>
          </p:cNvPr>
          <p:cNvSpPr txBox="1"/>
          <p:nvPr/>
        </p:nvSpPr>
        <p:spPr>
          <a:xfrm>
            <a:off x="8007348" y="5775115"/>
            <a:ext cx="372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Get a page (slab) from ‘partial’ member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060923"/>
            <a:ext cx="628542" cy="15402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25C7C664-5F96-4522-84C5-231F5F98FA56}"/>
              </a:ext>
            </a:extLst>
          </p:cNvPr>
          <p:cNvSpPr/>
          <p:nvPr/>
        </p:nvSpPr>
        <p:spPr>
          <a:xfrm>
            <a:off x="7907456" y="1713660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8189B42-8EF0-4B3B-A498-2D3CD53C0547}"/>
              </a:ext>
            </a:extLst>
          </p:cNvPr>
          <p:cNvSpPr txBox="1"/>
          <p:nvPr/>
        </p:nvSpPr>
        <p:spPr>
          <a:xfrm>
            <a:off x="8137327" y="1545166"/>
            <a:ext cx="2379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Move node’s partial page (slab) to </a:t>
            </a:r>
            <a:r>
              <a:rPr lang="en-US" sz="1600" b="1" dirty="0" err="1">
                <a:solidFill>
                  <a:srgbClr val="C00000"/>
                </a:solidFill>
              </a:rPr>
              <a:t>percpu</a:t>
            </a:r>
            <a:r>
              <a:rPr lang="en-US" sz="1600" b="1" dirty="0">
                <a:solidFill>
                  <a:srgbClr val="C00000"/>
                </a:solidFill>
              </a:rPr>
              <a:t> cache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440EABA-5984-47AD-B065-3321AAE2D6B9}"/>
              </a:ext>
            </a:extLst>
          </p:cNvPr>
          <p:cNvSpPr/>
          <p:nvPr/>
        </p:nvSpPr>
        <p:spPr>
          <a:xfrm>
            <a:off x="7506291" y="2952522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#0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3521221-C5A1-4134-8EA7-8508B4AF4C46}"/>
              </a:ext>
            </a:extLst>
          </p:cNvPr>
          <p:cNvSpPr/>
          <p:nvPr/>
        </p:nvSpPr>
        <p:spPr>
          <a:xfrm>
            <a:off x="8381951" y="3395287"/>
            <a:ext cx="2046900" cy="19392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470A65D-A405-4597-B649-5776E9DB66B3}"/>
              </a:ext>
            </a:extLst>
          </p:cNvPr>
          <p:cNvSpPr/>
          <p:nvPr/>
        </p:nvSpPr>
        <p:spPr>
          <a:xfrm>
            <a:off x="7505702" y="3951985"/>
            <a:ext cx="292315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3FF5BF9-4A71-4BA2-875C-6CA7C0343BFE}"/>
              </a:ext>
            </a:extLst>
          </p:cNvPr>
          <p:cNvSpPr/>
          <p:nvPr/>
        </p:nvSpPr>
        <p:spPr>
          <a:xfrm>
            <a:off x="7505715" y="4162180"/>
            <a:ext cx="292377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9DE2350-B599-473E-9EC1-5FD6C715EE81}"/>
              </a:ext>
            </a:extLst>
          </p:cNvPr>
          <p:cNvSpPr/>
          <p:nvPr/>
        </p:nvSpPr>
        <p:spPr>
          <a:xfrm>
            <a:off x="7722228" y="4372153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509AFCC-4442-4453-971C-5DD9F5EDC71C}"/>
              </a:ext>
            </a:extLst>
          </p:cNvPr>
          <p:cNvSpPr/>
          <p:nvPr/>
        </p:nvSpPr>
        <p:spPr>
          <a:xfrm>
            <a:off x="8381951" y="3589473"/>
            <a:ext cx="2046900" cy="19456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AEDB2C4-7FE3-4E3B-8DE5-C3E5C7A58316}"/>
              </a:ext>
            </a:extLst>
          </p:cNvPr>
          <p:cNvSpPr/>
          <p:nvPr/>
        </p:nvSpPr>
        <p:spPr>
          <a:xfrm>
            <a:off x="8381951" y="3782267"/>
            <a:ext cx="2046900" cy="17102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E4CA2E4-8F59-4C6D-98F2-16FA51163507}"/>
              </a:ext>
            </a:extLst>
          </p:cNvPr>
          <p:cNvSpPr/>
          <p:nvPr/>
        </p:nvSpPr>
        <p:spPr>
          <a:xfrm>
            <a:off x="7722216" y="4577690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1A26C69-8FBD-4821-BACF-79C902FF11A5}"/>
              </a:ext>
            </a:extLst>
          </p:cNvPr>
          <p:cNvSpPr/>
          <p:nvPr/>
        </p:nvSpPr>
        <p:spPr>
          <a:xfrm>
            <a:off x="8781396" y="4784971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1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45CF99C-42AE-43CB-9DA9-4838EB9663E7}"/>
              </a:ext>
            </a:extLst>
          </p:cNvPr>
          <p:cNvSpPr/>
          <p:nvPr/>
        </p:nvSpPr>
        <p:spPr>
          <a:xfrm>
            <a:off x="8781396" y="4994944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67283D3-8671-4CF1-B79F-42366FC54F03}"/>
              </a:ext>
            </a:extLst>
          </p:cNvPr>
          <p:cNvSpPr/>
          <p:nvPr/>
        </p:nvSpPr>
        <p:spPr>
          <a:xfrm>
            <a:off x="8781384" y="5200481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0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DBF5D90-E0BA-4C45-9F72-D498E64371ED}"/>
              </a:ext>
            </a:extLst>
          </p:cNvPr>
          <p:cNvSpPr/>
          <p:nvPr/>
        </p:nvSpPr>
        <p:spPr>
          <a:xfrm rot="5400000">
            <a:off x="7112765" y="4765104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BC49115-4738-4DC5-A9FB-DB63F9AD5EFD}"/>
              </a:ext>
            </a:extLst>
          </p:cNvPr>
          <p:cNvSpPr/>
          <p:nvPr/>
        </p:nvSpPr>
        <p:spPr>
          <a:xfrm>
            <a:off x="7758581" y="4784971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54ABC4F-4D3D-4828-869A-601A76EEE85E}"/>
              </a:ext>
            </a:extLst>
          </p:cNvPr>
          <p:cNvSpPr/>
          <p:nvPr/>
        </p:nvSpPr>
        <p:spPr>
          <a:xfrm rot="5400000">
            <a:off x="7249159" y="3443280"/>
            <a:ext cx="767148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624DC4C-BA12-4FA7-9F7F-E35F78F8261A}"/>
              </a:ext>
            </a:extLst>
          </p:cNvPr>
          <p:cNvSpPr/>
          <p:nvPr/>
        </p:nvSpPr>
        <p:spPr>
          <a:xfrm>
            <a:off x="7758505" y="3395288"/>
            <a:ext cx="630578" cy="5580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9EE53A9-E000-438E-878F-7B948DB2859A}"/>
              </a:ext>
            </a:extLst>
          </p:cNvPr>
          <p:cNvSpPr/>
          <p:nvPr/>
        </p:nvSpPr>
        <p:spPr>
          <a:xfrm>
            <a:off x="10758223" y="3805695"/>
            <a:ext cx="886382" cy="26901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list_head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607590B4-2337-4C24-ADF8-5818E7916328}"/>
              </a:ext>
            </a:extLst>
          </p:cNvPr>
          <p:cNvCxnSpPr>
            <a:cxnSpLocks/>
            <a:stCxn id="131" idx="3"/>
            <a:endCxn id="128" idx="1"/>
          </p:cNvCxnSpPr>
          <p:nvPr/>
        </p:nvCxnSpPr>
        <p:spPr>
          <a:xfrm>
            <a:off x="10429468" y="3291369"/>
            <a:ext cx="328755" cy="6488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C510D36-C649-4709-8DD6-D7C82FD29687}"/>
              </a:ext>
            </a:extLst>
          </p:cNvPr>
          <p:cNvSpPr/>
          <p:nvPr/>
        </p:nvSpPr>
        <p:spPr>
          <a:xfrm>
            <a:off x="7758505" y="3186142"/>
            <a:ext cx="267096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FE03CE4-3D5B-4E75-B28E-36D2207C738F}"/>
              </a:ext>
            </a:extLst>
          </p:cNvPr>
          <p:cNvSpPr/>
          <p:nvPr/>
        </p:nvSpPr>
        <p:spPr>
          <a:xfrm>
            <a:off x="10814679" y="4299738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1004F2C-42F4-4C75-9541-5DFCDAA956A6}"/>
              </a:ext>
            </a:extLst>
          </p:cNvPr>
          <p:cNvSpPr/>
          <p:nvPr/>
        </p:nvSpPr>
        <p:spPr>
          <a:xfrm rot="5400000">
            <a:off x="10522433" y="4782623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4A87B52-0812-4FA8-B884-EEE403485BF4}"/>
              </a:ext>
            </a:extLst>
          </p:cNvPr>
          <p:cNvSpPr/>
          <p:nvPr/>
        </p:nvSpPr>
        <p:spPr>
          <a:xfrm rot="5400000">
            <a:off x="10890869" y="4782624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9B8D8D8-E0EB-47D0-8BBD-D34339903C7A}"/>
              </a:ext>
            </a:extLst>
          </p:cNvPr>
          <p:cNvSpPr txBox="1"/>
          <p:nvPr/>
        </p:nvSpPr>
        <p:spPr>
          <a:xfrm>
            <a:off x="11302469" y="4625473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4B27AD4-117D-4021-992D-84A4F2691721}"/>
              </a:ext>
            </a:extLst>
          </p:cNvPr>
          <p:cNvSpPr/>
          <p:nvPr/>
        </p:nvSpPr>
        <p:spPr>
          <a:xfrm rot="5400000">
            <a:off x="11262498" y="4783093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52C6E02-3ABC-4853-95E8-095B1D50F46A}"/>
              </a:ext>
            </a:extLst>
          </p:cNvPr>
          <p:cNvSpPr txBox="1"/>
          <p:nvPr/>
        </p:nvSpPr>
        <p:spPr>
          <a:xfrm>
            <a:off x="11026985" y="4245119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F315586-AF74-48FA-AEB0-359E3D1387A7}"/>
              </a:ext>
            </a:extLst>
          </p:cNvPr>
          <p:cNvSpPr/>
          <p:nvPr/>
        </p:nvSpPr>
        <p:spPr>
          <a:xfrm rot="5400000">
            <a:off x="10707733" y="4782624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0BA5EF2-FD39-437A-999F-0A484BA14FF6}"/>
              </a:ext>
            </a:extLst>
          </p:cNvPr>
          <p:cNvCxnSpPr>
            <a:stCxn id="108" idx="3"/>
            <a:endCxn id="145" idx="3"/>
          </p:cNvCxnSpPr>
          <p:nvPr/>
        </p:nvCxnSpPr>
        <p:spPr>
          <a:xfrm>
            <a:off x="10429492" y="4267407"/>
            <a:ext cx="662841" cy="992171"/>
          </a:xfrm>
          <a:prstGeom prst="bentConnector4">
            <a:avLst>
              <a:gd name="adj1" fmla="val 20988"/>
              <a:gd name="adj2" fmla="val 12304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824FD6C-AC87-472A-979F-4BD3613BB960}"/>
              </a:ext>
            </a:extLst>
          </p:cNvPr>
          <p:cNvSpPr/>
          <p:nvPr/>
        </p:nvSpPr>
        <p:spPr>
          <a:xfrm>
            <a:off x="7505702" y="6307509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#1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CC4CE98-7ABC-453D-AC83-22FA85C70C4C}"/>
              </a:ext>
            </a:extLst>
          </p:cNvPr>
          <p:cNvCxnSpPr>
            <a:cxnSpLocks/>
            <a:stCxn id="82" idx="3"/>
            <a:endCxn id="146" idx="1"/>
          </p:cNvCxnSpPr>
          <p:nvPr/>
        </p:nvCxnSpPr>
        <p:spPr>
          <a:xfrm>
            <a:off x="6615083" y="5521386"/>
            <a:ext cx="890619" cy="908233"/>
          </a:xfrm>
          <a:prstGeom prst="bentConnector3">
            <a:avLst>
              <a:gd name="adj1" fmla="val 3203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60542F8-810A-43C5-B6AE-CB8C5F4BA7C1}"/>
              </a:ext>
            </a:extLst>
          </p:cNvPr>
          <p:cNvSpPr/>
          <p:nvPr/>
        </p:nvSpPr>
        <p:spPr>
          <a:xfrm>
            <a:off x="7349004" y="2887330"/>
            <a:ext cx="4738221" cy="320348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EAF3EA-E19C-44D7-BE81-22BCD099C23F}"/>
              </a:ext>
            </a:extLst>
          </p:cNvPr>
          <p:cNvSpPr txBox="1"/>
          <p:nvPr/>
        </p:nvSpPr>
        <p:spPr>
          <a:xfrm>
            <a:off x="40163" y="1667756"/>
            <a:ext cx="1635129" cy="24622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45720" rIns="0" rtlCol="0">
            <a:spAutoFit/>
          </a:bodyPr>
          <a:lstStyle/>
          <a:p>
            <a:r>
              <a:rPr lang="en-US" sz="1400" dirty="0"/>
              <a:t>Allocate a slab object from node #0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8D8C48-75E9-46ED-AED7-E6DAEE0936C1}"/>
              </a:ext>
            </a:extLst>
          </p:cNvPr>
          <p:cNvCxnSpPr>
            <a:cxnSpLocks/>
            <a:stCxn id="62" idx="0"/>
          </p:cNvCxnSpPr>
          <p:nvPr/>
        </p:nvCxnSpPr>
        <p:spPr>
          <a:xfrm rot="5400000" flipH="1" flipV="1">
            <a:off x="943511" y="785647"/>
            <a:ext cx="796326" cy="9678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CEB3AC1E-B1A7-4238-AC53-3D731EEC56CF}"/>
              </a:ext>
            </a:extLst>
          </p:cNvPr>
          <p:cNvSpPr/>
          <p:nvPr/>
        </p:nvSpPr>
        <p:spPr>
          <a:xfrm>
            <a:off x="280426" y="1452032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ADF992C-DB46-4B00-80BD-F007FA553A05}"/>
              </a:ext>
            </a:extLst>
          </p:cNvPr>
          <p:cNvSpPr/>
          <p:nvPr/>
        </p:nvSpPr>
        <p:spPr>
          <a:xfrm>
            <a:off x="241126" y="2895372"/>
            <a:ext cx="1254454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573BA0F-485A-4C57-9E94-E4E14F351F91}"/>
              </a:ext>
            </a:extLst>
          </p:cNvPr>
          <p:cNvSpPr/>
          <p:nvPr/>
        </p:nvSpPr>
        <p:spPr>
          <a:xfrm>
            <a:off x="241126" y="3363347"/>
            <a:ext cx="125445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*node[]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A80CAAF-E06B-4826-806F-C028BCE5995A}"/>
              </a:ext>
            </a:extLst>
          </p:cNvPr>
          <p:cNvSpPr txBox="1"/>
          <p:nvPr/>
        </p:nvSpPr>
        <p:spPr>
          <a:xfrm>
            <a:off x="135123" y="2500997"/>
            <a:ext cx="151616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F60220F-113B-47AE-BE47-FF648045D502}"/>
              </a:ext>
            </a:extLst>
          </p:cNvPr>
          <p:cNvSpPr txBox="1"/>
          <p:nvPr/>
        </p:nvSpPr>
        <p:spPr>
          <a:xfrm>
            <a:off x="127462" y="2238413"/>
            <a:ext cx="1598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AFCC303-202B-4107-A4A6-CB509672C76D}"/>
              </a:ext>
            </a:extLst>
          </p:cNvPr>
          <p:cNvSpPr txBox="1"/>
          <p:nvPr/>
        </p:nvSpPr>
        <p:spPr>
          <a:xfrm>
            <a:off x="101816" y="3524187"/>
            <a:ext cx="1598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slab objects for node[0] &amp; node[1]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30E06A3-EF48-49AF-A3F6-6969AA8F16E0}"/>
              </a:ext>
            </a:extLst>
          </p:cNvPr>
          <p:cNvCxnSpPr>
            <a:stCxn id="149" idx="0"/>
            <a:endCxn id="152" idx="2"/>
          </p:cNvCxnSpPr>
          <p:nvPr/>
        </p:nvCxnSpPr>
        <p:spPr>
          <a:xfrm flipV="1">
            <a:off x="868353" y="2716441"/>
            <a:ext cx="24854" cy="1789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FF1B0A57-8B8F-4453-9BA0-EC59FF5DB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291" y="496151"/>
            <a:ext cx="7468642" cy="236253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97" name="Title 1">
            <a:extLst>
              <a:ext uri="{FF2B5EF4-FFF2-40B4-BE49-F238E27FC236}">
                <a16:creationId xmlns:a16="http://schemas.microsoft.com/office/drawing/2014/main" id="{1FBF35DF-354E-48C7-B320-31F7D4DEC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37" y="-123823"/>
            <a:ext cx="12235055" cy="689951"/>
          </a:xfrm>
        </p:spPr>
        <p:txBody>
          <a:bodyPr>
            <a:noAutofit/>
          </a:bodyPr>
          <a:lstStyle/>
          <a:p>
            <a:r>
              <a:rPr lang="en-US" sz="4000" dirty="0" err="1"/>
              <a:t>Slowpath</a:t>
            </a:r>
            <a:r>
              <a:rPr lang="en-US" sz="4000" dirty="0"/>
              <a:t> #1 – Get an object from node’s partial page</a:t>
            </a:r>
          </a:p>
        </p:txBody>
      </p:sp>
    </p:spTree>
    <p:extLst>
      <p:ext uri="{BB962C8B-B14F-4D97-AF65-F5344CB8AC3E}">
        <p14:creationId xmlns:p14="http://schemas.microsoft.com/office/powerpoint/2010/main" val="17151677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CC17EFF9-950E-4F35-9CB1-9D55B8C5E333}"/>
              </a:ext>
            </a:extLst>
          </p:cNvPr>
          <p:cNvCxnSpPr>
            <a:cxnSpLocks/>
            <a:endCxn id="91" idx="3"/>
          </p:cNvCxnSpPr>
          <p:nvPr/>
        </p:nvCxnSpPr>
        <p:spPr>
          <a:xfrm rot="10800000">
            <a:off x="6615091" y="3718389"/>
            <a:ext cx="5364184" cy="2117938"/>
          </a:xfrm>
          <a:prstGeom prst="bentConnector3">
            <a:avLst>
              <a:gd name="adj1" fmla="val 9162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777855D-07D6-4AA0-AA78-622654F140B9}"/>
              </a:ext>
            </a:extLst>
          </p:cNvPr>
          <p:cNvCxnSpPr>
            <a:cxnSpLocks/>
            <a:stCxn id="128" idx="3"/>
          </p:cNvCxnSpPr>
          <p:nvPr/>
        </p:nvCxnSpPr>
        <p:spPr>
          <a:xfrm>
            <a:off x="11644605" y="3940203"/>
            <a:ext cx="335262" cy="1896125"/>
          </a:xfrm>
          <a:prstGeom prst="bentConnector2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5283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5283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 = NULL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5283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5283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7561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A270E7A-69A2-4996-981D-5A0ADF575C04}"/>
              </a:ext>
            </a:extLst>
          </p:cNvPr>
          <p:cNvSpPr/>
          <p:nvPr/>
        </p:nvSpPr>
        <p:spPr>
          <a:xfrm>
            <a:off x="4430736" y="1375785"/>
            <a:ext cx="2143125" cy="67997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3CC1AE69-AF1B-4E87-9476-915DE0FC547C}"/>
              </a:ext>
            </a:extLst>
          </p:cNvPr>
          <p:cNvSpPr/>
          <p:nvPr/>
        </p:nvSpPr>
        <p:spPr>
          <a:xfrm>
            <a:off x="6588125" y="1609725"/>
            <a:ext cx="2143125" cy="1277605"/>
          </a:xfrm>
          <a:custGeom>
            <a:avLst/>
            <a:gdLst>
              <a:gd name="connsiteX0" fmla="*/ 0 w 2143125"/>
              <a:gd name="connsiteY0" fmla="*/ 0 h 1285875"/>
              <a:gd name="connsiteX1" fmla="*/ 1333500 w 2143125"/>
              <a:gd name="connsiteY1" fmla="*/ 247650 h 1285875"/>
              <a:gd name="connsiteX2" fmla="*/ 2143125 w 2143125"/>
              <a:gd name="connsiteY2" fmla="*/ 1285875 h 1285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3125" h="1285875">
                <a:moveTo>
                  <a:pt x="0" y="0"/>
                </a:moveTo>
                <a:cubicBezTo>
                  <a:pt x="488156" y="16669"/>
                  <a:pt x="976313" y="33338"/>
                  <a:pt x="1333500" y="247650"/>
                </a:cubicBezTo>
                <a:cubicBezTo>
                  <a:pt x="1690688" y="461963"/>
                  <a:pt x="1916906" y="873919"/>
                  <a:pt x="2143125" y="1285875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66E43E4-CA23-4ED3-AA78-39B8AB72A2A7}"/>
              </a:ext>
            </a:extLst>
          </p:cNvPr>
          <p:cNvSpPr txBox="1"/>
          <p:nvPr/>
        </p:nvSpPr>
        <p:spPr>
          <a:xfrm>
            <a:off x="4143757" y="2331775"/>
            <a:ext cx="3863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Get a page (slab) from </a:t>
            </a:r>
            <a:r>
              <a:rPr lang="en-US" sz="1600" b="1" dirty="0" err="1">
                <a:solidFill>
                  <a:srgbClr val="C00000"/>
                </a:solidFill>
              </a:rPr>
              <a:t>kmem_cache_node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400713" y="29264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400713" y="34029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400712" y="36131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400708" y="38231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400711" y="40333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400707" y="31947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400706" y="42406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400711" y="47294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400711" y="52059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400710" y="54161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400706" y="56261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400709" y="58363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400705" y="49976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400704" y="60436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580686" y="62509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400704" y="43458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stCxn id="106" idx="3"/>
            <a:endCxn id="80" idx="3"/>
          </p:cNvCxnSpPr>
          <p:nvPr/>
        </p:nvCxnSpPr>
        <p:spPr>
          <a:xfrm flipH="1">
            <a:off x="6615084" y="4345865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269609E-DFA3-41F6-8DE4-F3B3E09257D2}"/>
              </a:ext>
            </a:extLst>
          </p:cNvPr>
          <p:cNvSpPr/>
          <p:nvPr/>
        </p:nvSpPr>
        <p:spPr>
          <a:xfrm>
            <a:off x="4229830" y="2849791"/>
            <a:ext cx="2549653" cy="367815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ED94CF00-08D1-4A5B-B909-7F4F9B5D1341}"/>
              </a:ext>
            </a:extLst>
          </p:cNvPr>
          <p:cNvSpPr/>
          <p:nvPr/>
        </p:nvSpPr>
        <p:spPr>
          <a:xfrm>
            <a:off x="4016105" y="1600200"/>
            <a:ext cx="419370" cy="1220978"/>
          </a:xfrm>
          <a:custGeom>
            <a:avLst/>
            <a:gdLst>
              <a:gd name="connsiteX0" fmla="*/ 257445 w 419370"/>
              <a:gd name="connsiteY0" fmla="*/ 1428750 h 1428750"/>
              <a:gd name="connsiteX1" fmla="*/ 9795 w 419370"/>
              <a:gd name="connsiteY1" fmla="*/ 838200 h 1428750"/>
              <a:gd name="connsiteX2" fmla="*/ 85995 w 419370"/>
              <a:gd name="connsiteY2" fmla="*/ 361950 h 1428750"/>
              <a:gd name="connsiteX3" fmla="*/ 419370 w 419370"/>
              <a:gd name="connsiteY3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370" h="1428750">
                <a:moveTo>
                  <a:pt x="257445" y="1428750"/>
                </a:moveTo>
                <a:cubicBezTo>
                  <a:pt x="147907" y="1222375"/>
                  <a:pt x="38370" y="1016000"/>
                  <a:pt x="9795" y="838200"/>
                </a:cubicBezTo>
                <a:cubicBezTo>
                  <a:pt x="-18780" y="660400"/>
                  <a:pt x="17732" y="501650"/>
                  <a:pt x="85995" y="361950"/>
                </a:cubicBezTo>
                <a:cubicBezTo>
                  <a:pt x="154257" y="222250"/>
                  <a:pt x="286813" y="111125"/>
                  <a:pt x="419370" y="0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F97130A9-D93B-4E71-B913-829DF152EEAC}"/>
              </a:ext>
            </a:extLst>
          </p:cNvPr>
          <p:cNvSpPr/>
          <p:nvPr/>
        </p:nvSpPr>
        <p:spPr>
          <a:xfrm>
            <a:off x="3975072" y="2249587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06CDAD86-E115-4F73-ADD2-6FF49465BDBB}"/>
              </a:ext>
            </a:extLst>
          </p:cNvPr>
          <p:cNvSpPr/>
          <p:nvPr/>
        </p:nvSpPr>
        <p:spPr>
          <a:xfrm>
            <a:off x="7758505" y="5655978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887306B-6491-4EC4-90C8-F456D2D90974}"/>
              </a:ext>
            </a:extLst>
          </p:cNvPr>
          <p:cNvSpPr txBox="1"/>
          <p:nvPr/>
        </p:nvSpPr>
        <p:spPr>
          <a:xfrm>
            <a:off x="8007348" y="5775115"/>
            <a:ext cx="372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Get a page (slab) from ‘partial’ member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060923"/>
            <a:ext cx="628542" cy="15402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25C7C664-5F96-4522-84C5-231F5F98FA56}"/>
              </a:ext>
            </a:extLst>
          </p:cNvPr>
          <p:cNvSpPr/>
          <p:nvPr/>
        </p:nvSpPr>
        <p:spPr>
          <a:xfrm>
            <a:off x="7907456" y="1713660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8189B42-8EF0-4B3B-A498-2D3CD53C0547}"/>
              </a:ext>
            </a:extLst>
          </p:cNvPr>
          <p:cNvSpPr txBox="1"/>
          <p:nvPr/>
        </p:nvSpPr>
        <p:spPr>
          <a:xfrm>
            <a:off x="8137327" y="1545166"/>
            <a:ext cx="2379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Move node’s partial page (slab) to </a:t>
            </a:r>
            <a:r>
              <a:rPr lang="en-US" sz="1600" b="1" dirty="0" err="1">
                <a:solidFill>
                  <a:srgbClr val="C00000"/>
                </a:solidFill>
              </a:rPr>
              <a:t>percpu</a:t>
            </a:r>
            <a:r>
              <a:rPr lang="en-US" sz="1600" b="1" dirty="0">
                <a:solidFill>
                  <a:srgbClr val="C00000"/>
                </a:solidFill>
              </a:rPr>
              <a:t> cache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440EABA-5984-47AD-B065-3321AAE2D6B9}"/>
              </a:ext>
            </a:extLst>
          </p:cNvPr>
          <p:cNvSpPr/>
          <p:nvPr/>
        </p:nvSpPr>
        <p:spPr>
          <a:xfrm>
            <a:off x="7506291" y="2952522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#0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3521221-C5A1-4134-8EA7-8508B4AF4C46}"/>
              </a:ext>
            </a:extLst>
          </p:cNvPr>
          <p:cNvSpPr/>
          <p:nvPr/>
        </p:nvSpPr>
        <p:spPr>
          <a:xfrm>
            <a:off x="8381951" y="3395287"/>
            <a:ext cx="2046900" cy="19392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470A65D-A405-4597-B649-5776E9DB66B3}"/>
              </a:ext>
            </a:extLst>
          </p:cNvPr>
          <p:cNvSpPr/>
          <p:nvPr/>
        </p:nvSpPr>
        <p:spPr>
          <a:xfrm>
            <a:off x="7505702" y="3951985"/>
            <a:ext cx="292315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3FF5BF9-4A71-4BA2-875C-6CA7C0343BFE}"/>
              </a:ext>
            </a:extLst>
          </p:cNvPr>
          <p:cNvSpPr/>
          <p:nvPr/>
        </p:nvSpPr>
        <p:spPr>
          <a:xfrm>
            <a:off x="7505715" y="4162180"/>
            <a:ext cx="292377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9DE2350-B599-473E-9EC1-5FD6C715EE81}"/>
              </a:ext>
            </a:extLst>
          </p:cNvPr>
          <p:cNvSpPr/>
          <p:nvPr/>
        </p:nvSpPr>
        <p:spPr>
          <a:xfrm>
            <a:off x="7722228" y="4372153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509AFCC-4442-4453-971C-5DD9F5EDC71C}"/>
              </a:ext>
            </a:extLst>
          </p:cNvPr>
          <p:cNvSpPr/>
          <p:nvPr/>
        </p:nvSpPr>
        <p:spPr>
          <a:xfrm>
            <a:off x="8381951" y="3589473"/>
            <a:ext cx="2046900" cy="19456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AEDB2C4-7FE3-4E3B-8DE5-C3E5C7A58316}"/>
              </a:ext>
            </a:extLst>
          </p:cNvPr>
          <p:cNvSpPr/>
          <p:nvPr/>
        </p:nvSpPr>
        <p:spPr>
          <a:xfrm>
            <a:off x="8381951" y="3782267"/>
            <a:ext cx="2046900" cy="17102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E4CA2E4-8F59-4C6D-98F2-16FA51163507}"/>
              </a:ext>
            </a:extLst>
          </p:cNvPr>
          <p:cNvSpPr/>
          <p:nvPr/>
        </p:nvSpPr>
        <p:spPr>
          <a:xfrm>
            <a:off x="7722216" y="4577690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1A26C69-8FBD-4821-BACF-79C902FF11A5}"/>
              </a:ext>
            </a:extLst>
          </p:cNvPr>
          <p:cNvSpPr/>
          <p:nvPr/>
        </p:nvSpPr>
        <p:spPr>
          <a:xfrm>
            <a:off x="8781396" y="4784971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1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45CF99C-42AE-43CB-9DA9-4838EB9663E7}"/>
              </a:ext>
            </a:extLst>
          </p:cNvPr>
          <p:cNvSpPr/>
          <p:nvPr/>
        </p:nvSpPr>
        <p:spPr>
          <a:xfrm>
            <a:off x="8781396" y="4994944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67283D3-8671-4CF1-B79F-42366FC54F03}"/>
              </a:ext>
            </a:extLst>
          </p:cNvPr>
          <p:cNvSpPr/>
          <p:nvPr/>
        </p:nvSpPr>
        <p:spPr>
          <a:xfrm>
            <a:off x="8781384" y="5200481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0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DBF5D90-E0BA-4C45-9F72-D498E64371ED}"/>
              </a:ext>
            </a:extLst>
          </p:cNvPr>
          <p:cNvSpPr/>
          <p:nvPr/>
        </p:nvSpPr>
        <p:spPr>
          <a:xfrm rot="5400000">
            <a:off x="7112765" y="4765104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BC49115-4738-4DC5-A9FB-DB63F9AD5EFD}"/>
              </a:ext>
            </a:extLst>
          </p:cNvPr>
          <p:cNvSpPr/>
          <p:nvPr/>
        </p:nvSpPr>
        <p:spPr>
          <a:xfrm>
            <a:off x="7758581" y="4784971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54ABC4F-4D3D-4828-869A-601A76EEE85E}"/>
              </a:ext>
            </a:extLst>
          </p:cNvPr>
          <p:cNvSpPr/>
          <p:nvPr/>
        </p:nvSpPr>
        <p:spPr>
          <a:xfrm rot="5400000">
            <a:off x="7249159" y="3443280"/>
            <a:ext cx="767148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624DC4C-BA12-4FA7-9F7F-E35F78F8261A}"/>
              </a:ext>
            </a:extLst>
          </p:cNvPr>
          <p:cNvSpPr/>
          <p:nvPr/>
        </p:nvSpPr>
        <p:spPr>
          <a:xfrm>
            <a:off x="7758505" y="3395288"/>
            <a:ext cx="630578" cy="5580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9EE53A9-E000-438E-878F-7B948DB2859A}"/>
              </a:ext>
            </a:extLst>
          </p:cNvPr>
          <p:cNvSpPr/>
          <p:nvPr/>
        </p:nvSpPr>
        <p:spPr>
          <a:xfrm>
            <a:off x="10758223" y="3805695"/>
            <a:ext cx="886382" cy="26901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list_head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607590B4-2337-4C24-ADF8-5818E7916328}"/>
              </a:ext>
            </a:extLst>
          </p:cNvPr>
          <p:cNvCxnSpPr>
            <a:cxnSpLocks/>
            <a:stCxn id="131" idx="3"/>
            <a:endCxn id="128" idx="1"/>
          </p:cNvCxnSpPr>
          <p:nvPr/>
        </p:nvCxnSpPr>
        <p:spPr>
          <a:xfrm>
            <a:off x="10429468" y="3291369"/>
            <a:ext cx="328755" cy="6488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C510D36-C649-4709-8DD6-D7C82FD29687}"/>
              </a:ext>
            </a:extLst>
          </p:cNvPr>
          <p:cNvSpPr/>
          <p:nvPr/>
        </p:nvSpPr>
        <p:spPr>
          <a:xfrm>
            <a:off x="7758505" y="3186142"/>
            <a:ext cx="267096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FE03CE4-3D5B-4E75-B28E-36D2207C738F}"/>
              </a:ext>
            </a:extLst>
          </p:cNvPr>
          <p:cNvSpPr/>
          <p:nvPr/>
        </p:nvSpPr>
        <p:spPr>
          <a:xfrm>
            <a:off x="10814679" y="4299738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1004F2C-42F4-4C75-9541-5DFCDAA956A6}"/>
              </a:ext>
            </a:extLst>
          </p:cNvPr>
          <p:cNvSpPr/>
          <p:nvPr/>
        </p:nvSpPr>
        <p:spPr>
          <a:xfrm rot="5400000">
            <a:off x="10522433" y="4782623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4A87B52-0812-4FA8-B884-EEE403485BF4}"/>
              </a:ext>
            </a:extLst>
          </p:cNvPr>
          <p:cNvSpPr/>
          <p:nvPr/>
        </p:nvSpPr>
        <p:spPr>
          <a:xfrm rot="5400000">
            <a:off x="10890869" y="4782624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9B8D8D8-E0EB-47D0-8BBD-D34339903C7A}"/>
              </a:ext>
            </a:extLst>
          </p:cNvPr>
          <p:cNvSpPr txBox="1"/>
          <p:nvPr/>
        </p:nvSpPr>
        <p:spPr>
          <a:xfrm>
            <a:off x="11302469" y="4625473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4B27AD4-117D-4021-992D-84A4F2691721}"/>
              </a:ext>
            </a:extLst>
          </p:cNvPr>
          <p:cNvSpPr/>
          <p:nvPr/>
        </p:nvSpPr>
        <p:spPr>
          <a:xfrm rot="5400000">
            <a:off x="11262498" y="4783093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52C6E02-3ABC-4853-95E8-095B1D50F46A}"/>
              </a:ext>
            </a:extLst>
          </p:cNvPr>
          <p:cNvSpPr txBox="1"/>
          <p:nvPr/>
        </p:nvSpPr>
        <p:spPr>
          <a:xfrm>
            <a:off x="11026985" y="4245119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F315586-AF74-48FA-AEB0-359E3D1387A7}"/>
              </a:ext>
            </a:extLst>
          </p:cNvPr>
          <p:cNvSpPr/>
          <p:nvPr/>
        </p:nvSpPr>
        <p:spPr>
          <a:xfrm rot="5400000">
            <a:off x="10707733" y="4782624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0BA5EF2-FD39-437A-999F-0A484BA14FF6}"/>
              </a:ext>
            </a:extLst>
          </p:cNvPr>
          <p:cNvCxnSpPr>
            <a:stCxn id="108" idx="3"/>
            <a:endCxn id="145" idx="3"/>
          </p:cNvCxnSpPr>
          <p:nvPr/>
        </p:nvCxnSpPr>
        <p:spPr>
          <a:xfrm>
            <a:off x="10429492" y="4267407"/>
            <a:ext cx="662841" cy="992171"/>
          </a:xfrm>
          <a:prstGeom prst="bentConnector4">
            <a:avLst>
              <a:gd name="adj1" fmla="val 20988"/>
              <a:gd name="adj2" fmla="val 12304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824FD6C-AC87-472A-979F-4BD3613BB960}"/>
              </a:ext>
            </a:extLst>
          </p:cNvPr>
          <p:cNvSpPr/>
          <p:nvPr/>
        </p:nvSpPr>
        <p:spPr>
          <a:xfrm>
            <a:off x="7505702" y="6307509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#1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CC4CE98-7ABC-453D-AC83-22FA85C70C4C}"/>
              </a:ext>
            </a:extLst>
          </p:cNvPr>
          <p:cNvCxnSpPr>
            <a:cxnSpLocks/>
            <a:stCxn id="82" idx="3"/>
            <a:endCxn id="146" idx="1"/>
          </p:cNvCxnSpPr>
          <p:nvPr/>
        </p:nvCxnSpPr>
        <p:spPr>
          <a:xfrm>
            <a:off x="6615083" y="5521386"/>
            <a:ext cx="890619" cy="908233"/>
          </a:xfrm>
          <a:prstGeom prst="bentConnector3">
            <a:avLst>
              <a:gd name="adj1" fmla="val 3203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60542F8-810A-43C5-B6AE-CB8C5F4BA7C1}"/>
              </a:ext>
            </a:extLst>
          </p:cNvPr>
          <p:cNvSpPr/>
          <p:nvPr/>
        </p:nvSpPr>
        <p:spPr>
          <a:xfrm>
            <a:off x="7349004" y="2887330"/>
            <a:ext cx="4738221" cy="320348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EAF3EA-E19C-44D7-BE81-22BCD099C23F}"/>
              </a:ext>
            </a:extLst>
          </p:cNvPr>
          <p:cNvSpPr txBox="1"/>
          <p:nvPr/>
        </p:nvSpPr>
        <p:spPr>
          <a:xfrm>
            <a:off x="40163" y="1667756"/>
            <a:ext cx="1635129" cy="24622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45720" rIns="0" rtlCol="0">
            <a:spAutoFit/>
          </a:bodyPr>
          <a:lstStyle/>
          <a:p>
            <a:r>
              <a:rPr lang="en-US" sz="1400" dirty="0"/>
              <a:t>Allocate a slab object from node #0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8D8C48-75E9-46ED-AED7-E6DAEE0936C1}"/>
              </a:ext>
            </a:extLst>
          </p:cNvPr>
          <p:cNvCxnSpPr>
            <a:cxnSpLocks/>
            <a:stCxn id="62" idx="0"/>
          </p:cNvCxnSpPr>
          <p:nvPr/>
        </p:nvCxnSpPr>
        <p:spPr>
          <a:xfrm rot="5400000" flipH="1" flipV="1">
            <a:off x="943511" y="785647"/>
            <a:ext cx="796326" cy="9678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CEB3AC1E-B1A7-4238-AC53-3D731EEC56CF}"/>
              </a:ext>
            </a:extLst>
          </p:cNvPr>
          <p:cNvSpPr/>
          <p:nvPr/>
        </p:nvSpPr>
        <p:spPr>
          <a:xfrm>
            <a:off x="280426" y="1452032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ADF992C-DB46-4B00-80BD-F007FA553A05}"/>
              </a:ext>
            </a:extLst>
          </p:cNvPr>
          <p:cNvSpPr/>
          <p:nvPr/>
        </p:nvSpPr>
        <p:spPr>
          <a:xfrm>
            <a:off x="241126" y="2895372"/>
            <a:ext cx="1254454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573BA0F-485A-4C57-9E94-E4E14F351F91}"/>
              </a:ext>
            </a:extLst>
          </p:cNvPr>
          <p:cNvSpPr/>
          <p:nvPr/>
        </p:nvSpPr>
        <p:spPr>
          <a:xfrm>
            <a:off x="241126" y="3363347"/>
            <a:ext cx="125445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*node[]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A80CAAF-E06B-4826-806F-C028BCE5995A}"/>
              </a:ext>
            </a:extLst>
          </p:cNvPr>
          <p:cNvSpPr txBox="1"/>
          <p:nvPr/>
        </p:nvSpPr>
        <p:spPr>
          <a:xfrm>
            <a:off x="135123" y="2500997"/>
            <a:ext cx="151616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F60220F-113B-47AE-BE47-FF648045D502}"/>
              </a:ext>
            </a:extLst>
          </p:cNvPr>
          <p:cNvSpPr txBox="1"/>
          <p:nvPr/>
        </p:nvSpPr>
        <p:spPr>
          <a:xfrm>
            <a:off x="127462" y="2238413"/>
            <a:ext cx="1598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AFCC303-202B-4107-A4A6-CB509672C76D}"/>
              </a:ext>
            </a:extLst>
          </p:cNvPr>
          <p:cNvSpPr txBox="1"/>
          <p:nvPr/>
        </p:nvSpPr>
        <p:spPr>
          <a:xfrm>
            <a:off x="101816" y="3524187"/>
            <a:ext cx="1598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slab objects for node[0] &amp; node[1]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30E06A3-EF48-49AF-A3F6-6969AA8F16E0}"/>
              </a:ext>
            </a:extLst>
          </p:cNvPr>
          <p:cNvCxnSpPr>
            <a:stCxn id="149" idx="0"/>
            <a:endCxn id="152" idx="2"/>
          </p:cNvCxnSpPr>
          <p:nvPr/>
        </p:nvCxnSpPr>
        <p:spPr>
          <a:xfrm flipV="1">
            <a:off x="868353" y="2716441"/>
            <a:ext cx="24854" cy="1789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Picture 96">
            <a:extLst>
              <a:ext uri="{FF2B5EF4-FFF2-40B4-BE49-F238E27FC236}">
                <a16:creationId xmlns:a16="http://schemas.microsoft.com/office/drawing/2014/main" id="{5AF1EB7F-B520-4B99-A19A-9C6E25EB8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394" y="542121"/>
            <a:ext cx="5325218" cy="185763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98" name="Title 1">
            <a:extLst>
              <a:ext uri="{FF2B5EF4-FFF2-40B4-BE49-F238E27FC236}">
                <a16:creationId xmlns:a16="http://schemas.microsoft.com/office/drawing/2014/main" id="{9755B22E-3E27-4C0B-A096-213A74EE4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37" y="-123823"/>
            <a:ext cx="12235055" cy="689951"/>
          </a:xfrm>
        </p:spPr>
        <p:txBody>
          <a:bodyPr>
            <a:noAutofit/>
          </a:bodyPr>
          <a:lstStyle/>
          <a:p>
            <a:r>
              <a:rPr lang="en-US" sz="4000" dirty="0" err="1"/>
              <a:t>Slowpath</a:t>
            </a:r>
            <a:r>
              <a:rPr lang="en-US" sz="4000" dirty="0"/>
              <a:t> #1 – Get an object from node’s partial page</a:t>
            </a:r>
          </a:p>
        </p:txBody>
      </p:sp>
    </p:spTree>
    <p:extLst>
      <p:ext uri="{BB962C8B-B14F-4D97-AF65-F5344CB8AC3E}">
        <p14:creationId xmlns:p14="http://schemas.microsoft.com/office/powerpoint/2010/main" val="1365770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CC17EFF9-950E-4F35-9CB1-9D55B8C5E333}"/>
              </a:ext>
            </a:extLst>
          </p:cNvPr>
          <p:cNvCxnSpPr>
            <a:cxnSpLocks/>
            <a:endCxn id="91" idx="3"/>
          </p:cNvCxnSpPr>
          <p:nvPr/>
        </p:nvCxnSpPr>
        <p:spPr>
          <a:xfrm rot="10800000">
            <a:off x="6615091" y="3718389"/>
            <a:ext cx="5364184" cy="2117938"/>
          </a:xfrm>
          <a:prstGeom prst="bentConnector3">
            <a:avLst>
              <a:gd name="adj1" fmla="val 9162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777855D-07D6-4AA0-AA78-622654F140B9}"/>
              </a:ext>
            </a:extLst>
          </p:cNvPr>
          <p:cNvCxnSpPr>
            <a:cxnSpLocks/>
            <a:stCxn id="128" idx="3"/>
          </p:cNvCxnSpPr>
          <p:nvPr/>
        </p:nvCxnSpPr>
        <p:spPr>
          <a:xfrm>
            <a:off x="11644605" y="3940203"/>
            <a:ext cx="335262" cy="1896125"/>
          </a:xfrm>
          <a:prstGeom prst="bentConnector2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5283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5283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 = NULL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5283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5283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7561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A270E7A-69A2-4996-981D-5A0ADF575C04}"/>
              </a:ext>
            </a:extLst>
          </p:cNvPr>
          <p:cNvSpPr/>
          <p:nvPr/>
        </p:nvSpPr>
        <p:spPr>
          <a:xfrm>
            <a:off x="4430736" y="1375785"/>
            <a:ext cx="2143125" cy="67997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3CC1AE69-AF1B-4E87-9476-915DE0FC547C}"/>
              </a:ext>
            </a:extLst>
          </p:cNvPr>
          <p:cNvSpPr/>
          <p:nvPr/>
        </p:nvSpPr>
        <p:spPr>
          <a:xfrm>
            <a:off x="6588125" y="1609725"/>
            <a:ext cx="2143125" cy="1277605"/>
          </a:xfrm>
          <a:custGeom>
            <a:avLst/>
            <a:gdLst>
              <a:gd name="connsiteX0" fmla="*/ 0 w 2143125"/>
              <a:gd name="connsiteY0" fmla="*/ 0 h 1285875"/>
              <a:gd name="connsiteX1" fmla="*/ 1333500 w 2143125"/>
              <a:gd name="connsiteY1" fmla="*/ 247650 h 1285875"/>
              <a:gd name="connsiteX2" fmla="*/ 2143125 w 2143125"/>
              <a:gd name="connsiteY2" fmla="*/ 1285875 h 1285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3125" h="1285875">
                <a:moveTo>
                  <a:pt x="0" y="0"/>
                </a:moveTo>
                <a:cubicBezTo>
                  <a:pt x="488156" y="16669"/>
                  <a:pt x="976313" y="33338"/>
                  <a:pt x="1333500" y="247650"/>
                </a:cubicBezTo>
                <a:cubicBezTo>
                  <a:pt x="1690688" y="461963"/>
                  <a:pt x="1916906" y="873919"/>
                  <a:pt x="2143125" y="1285875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66E43E4-CA23-4ED3-AA78-39B8AB72A2A7}"/>
              </a:ext>
            </a:extLst>
          </p:cNvPr>
          <p:cNvSpPr txBox="1"/>
          <p:nvPr/>
        </p:nvSpPr>
        <p:spPr>
          <a:xfrm>
            <a:off x="4143757" y="2331775"/>
            <a:ext cx="3863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Get a page (slab) from </a:t>
            </a:r>
            <a:r>
              <a:rPr lang="en-US" sz="1600" b="1" dirty="0" err="1">
                <a:solidFill>
                  <a:srgbClr val="C00000"/>
                </a:solidFill>
              </a:rPr>
              <a:t>kmem_cache_node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400713" y="29264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400713" y="34029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400712" y="36131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400708" y="38231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400711" y="40333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400707" y="31947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400706" y="42406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400711" y="47294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400711" y="52059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400710" y="54161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400706" y="56261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400709" y="58363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400705" y="49976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400704" y="60436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580686" y="62509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400704" y="43458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stCxn id="106" idx="3"/>
            <a:endCxn id="80" idx="3"/>
          </p:cNvCxnSpPr>
          <p:nvPr/>
        </p:nvCxnSpPr>
        <p:spPr>
          <a:xfrm flipH="1">
            <a:off x="6615084" y="4345865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269609E-DFA3-41F6-8DE4-F3B3E09257D2}"/>
              </a:ext>
            </a:extLst>
          </p:cNvPr>
          <p:cNvSpPr/>
          <p:nvPr/>
        </p:nvSpPr>
        <p:spPr>
          <a:xfrm>
            <a:off x="4229830" y="2849791"/>
            <a:ext cx="2549653" cy="367815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ED94CF00-08D1-4A5B-B909-7F4F9B5D1341}"/>
              </a:ext>
            </a:extLst>
          </p:cNvPr>
          <p:cNvSpPr/>
          <p:nvPr/>
        </p:nvSpPr>
        <p:spPr>
          <a:xfrm>
            <a:off x="4016105" y="1600200"/>
            <a:ext cx="419370" cy="1220978"/>
          </a:xfrm>
          <a:custGeom>
            <a:avLst/>
            <a:gdLst>
              <a:gd name="connsiteX0" fmla="*/ 257445 w 419370"/>
              <a:gd name="connsiteY0" fmla="*/ 1428750 h 1428750"/>
              <a:gd name="connsiteX1" fmla="*/ 9795 w 419370"/>
              <a:gd name="connsiteY1" fmla="*/ 838200 h 1428750"/>
              <a:gd name="connsiteX2" fmla="*/ 85995 w 419370"/>
              <a:gd name="connsiteY2" fmla="*/ 361950 h 1428750"/>
              <a:gd name="connsiteX3" fmla="*/ 419370 w 419370"/>
              <a:gd name="connsiteY3" fmla="*/ 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370" h="1428750">
                <a:moveTo>
                  <a:pt x="257445" y="1428750"/>
                </a:moveTo>
                <a:cubicBezTo>
                  <a:pt x="147907" y="1222375"/>
                  <a:pt x="38370" y="1016000"/>
                  <a:pt x="9795" y="838200"/>
                </a:cubicBezTo>
                <a:cubicBezTo>
                  <a:pt x="-18780" y="660400"/>
                  <a:pt x="17732" y="501650"/>
                  <a:pt x="85995" y="361950"/>
                </a:cubicBezTo>
                <a:cubicBezTo>
                  <a:pt x="154257" y="222250"/>
                  <a:pt x="286813" y="111125"/>
                  <a:pt x="419370" y="0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F97130A9-D93B-4E71-B913-829DF152EEAC}"/>
              </a:ext>
            </a:extLst>
          </p:cNvPr>
          <p:cNvSpPr/>
          <p:nvPr/>
        </p:nvSpPr>
        <p:spPr>
          <a:xfrm>
            <a:off x="3975072" y="2249587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06CDAD86-E115-4F73-ADD2-6FF49465BDBB}"/>
              </a:ext>
            </a:extLst>
          </p:cNvPr>
          <p:cNvSpPr/>
          <p:nvPr/>
        </p:nvSpPr>
        <p:spPr>
          <a:xfrm>
            <a:off x="7758505" y="5655978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887306B-6491-4EC4-90C8-F456D2D90974}"/>
              </a:ext>
            </a:extLst>
          </p:cNvPr>
          <p:cNvSpPr txBox="1"/>
          <p:nvPr/>
        </p:nvSpPr>
        <p:spPr>
          <a:xfrm>
            <a:off x="8007348" y="5775115"/>
            <a:ext cx="372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Get a page (slab) from ‘partial’ member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060923"/>
            <a:ext cx="628542" cy="15402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25C7C664-5F96-4522-84C5-231F5F98FA56}"/>
              </a:ext>
            </a:extLst>
          </p:cNvPr>
          <p:cNvSpPr/>
          <p:nvPr/>
        </p:nvSpPr>
        <p:spPr>
          <a:xfrm>
            <a:off x="7907456" y="1713660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8189B42-8EF0-4B3B-A498-2D3CD53C0547}"/>
              </a:ext>
            </a:extLst>
          </p:cNvPr>
          <p:cNvSpPr txBox="1"/>
          <p:nvPr/>
        </p:nvSpPr>
        <p:spPr>
          <a:xfrm>
            <a:off x="8137327" y="1545166"/>
            <a:ext cx="2379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Move node’s partial page (slab) to </a:t>
            </a:r>
            <a:r>
              <a:rPr lang="en-US" sz="1600" b="1" dirty="0" err="1">
                <a:solidFill>
                  <a:srgbClr val="C00000"/>
                </a:solidFill>
              </a:rPr>
              <a:t>percpu</a:t>
            </a:r>
            <a:r>
              <a:rPr lang="en-US" sz="1600" b="1" dirty="0">
                <a:solidFill>
                  <a:srgbClr val="C00000"/>
                </a:solidFill>
              </a:rPr>
              <a:t> cache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440EABA-5984-47AD-B065-3321AAE2D6B9}"/>
              </a:ext>
            </a:extLst>
          </p:cNvPr>
          <p:cNvSpPr/>
          <p:nvPr/>
        </p:nvSpPr>
        <p:spPr>
          <a:xfrm>
            <a:off x="7506291" y="2952522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#0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3521221-C5A1-4134-8EA7-8508B4AF4C46}"/>
              </a:ext>
            </a:extLst>
          </p:cNvPr>
          <p:cNvSpPr/>
          <p:nvPr/>
        </p:nvSpPr>
        <p:spPr>
          <a:xfrm>
            <a:off x="8381951" y="3395287"/>
            <a:ext cx="2046900" cy="19392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470A65D-A405-4597-B649-5776E9DB66B3}"/>
              </a:ext>
            </a:extLst>
          </p:cNvPr>
          <p:cNvSpPr/>
          <p:nvPr/>
        </p:nvSpPr>
        <p:spPr>
          <a:xfrm>
            <a:off x="7505702" y="3951985"/>
            <a:ext cx="292315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3FF5BF9-4A71-4BA2-875C-6CA7C0343BFE}"/>
              </a:ext>
            </a:extLst>
          </p:cNvPr>
          <p:cNvSpPr/>
          <p:nvPr/>
        </p:nvSpPr>
        <p:spPr>
          <a:xfrm>
            <a:off x="7505715" y="4162180"/>
            <a:ext cx="292377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9DE2350-B599-473E-9EC1-5FD6C715EE81}"/>
              </a:ext>
            </a:extLst>
          </p:cNvPr>
          <p:cNvSpPr/>
          <p:nvPr/>
        </p:nvSpPr>
        <p:spPr>
          <a:xfrm>
            <a:off x="7722228" y="4372153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509AFCC-4442-4453-971C-5DD9F5EDC71C}"/>
              </a:ext>
            </a:extLst>
          </p:cNvPr>
          <p:cNvSpPr/>
          <p:nvPr/>
        </p:nvSpPr>
        <p:spPr>
          <a:xfrm>
            <a:off x="8381951" y="3589473"/>
            <a:ext cx="2046900" cy="19456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AEDB2C4-7FE3-4E3B-8DE5-C3E5C7A58316}"/>
              </a:ext>
            </a:extLst>
          </p:cNvPr>
          <p:cNvSpPr/>
          <p:nvPr/>
        </p:nvSpPr>
        <p:spPr>
          <a:xfrm>
            <a:off x="8381951" y="3782267"/>
            <a:ext cx="2046900" cy="17102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E4CA2E4-8F59-4C6D-98F2-16FA51163507}"/>
              </a:ext>
            </a:extLst>
          </p:cNvPr>
          <p:cNvSpPr/>
          <p:nvPr/>
        </p:nvSpPr>
        <p:spPr>
          <a:xfrm>
            <a:off x="7722216" y="4577690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1A26C69-8FBD-4821-BACF-79C902FF11A5}"/>
              </a:ext>
            </a:extLst>
          </p:cNvPr>
          <p:cNvSpPr/>
          <p:nvPr/>
        </p:nvSpPr>
        <p:spPr>
          <a:xfrm>
            <a:off x="8781396" y="4784971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1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45CF99C-42AE-43CB-9DA9-4838EB9663E7}"/>
              </a:ext>
            </a:extLst>
          </p:cNvPr>
          <p:cNvSpPr/>
          <p:nvPr/>
        </p:nvSpPr>
        <p:spPr>
          <a:xfrm>
            <a:off x="8781396" y="4994944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67283D3-8671-4CF1-B79F-42366FC54F03}"/>
              </a:ext>
            </a:extLst>
          </p:cNvPr>
          <p:cNvSpPr/>
          <p:nvPr/>
        </p:nvSpPr>
        <p:spPr>
          <a:xfrm>
            <a:off x="8781384" y="5200481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0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DBF5D90-E0BA-4C45-9F72-D498E64371ED}"/>
              </a:ext>
            </a:extLst>
          </p:cNvPr>
          <p:cNvSpPr/>
          <p:nvPr/>
        </p:nvSpPr>
        <p:spPr>
          <a:xfrm rot="5400000">
            <a:off x="7112765" y="4765104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BC49115-4738-4DC5-A9FB-DB63F9AD5EFD}"/>
              </a:ext>
            </a:extLst>
          </p:cNvPr>
          <p:cNvSpPr/>
          <p:nvPr/>
        </p:nvSpPr>
        <p:spPr>
          <a:xfrm>
            <a:off x="7758581" y="4784971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54ABC4F-4D3D-4828-869A-601A76EEE85E}"/>
              </a:ext>
            </a:extLst>
          </p:cNvPr>
          <p:cNvSpPr/>
          <p:nvPr/>
        </p:nvSpPr>
        <p:spPr>
          <a:xfrm rot="5400000">
            <a:off x="7249159" y="3443280"/>
            <a:ext cx="767148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624DC4C-BA12-4FA7-9F7F-E35F78F8261A}"/>
              </a:ext>
            </a:extLst>
          </p:cNvPr>
          <p:cNvSpPr/>
          <p:nvPr/>
        </p:nvSpPr>
        <p:spPr>
          <a:xfrm>
            <a:off x="7758505" y="3395288"/>
            <a:ext cx="630578" cy="5580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9EE53A9-E000-438E-878F-7B948DB2859A}"/>
              </a:ext>
            </a:extLst>
          </p:cNvPr>
          <p:cNvSpPr/>
          <p:nvPr/>
        </p:nvSpPr>
        <p:spPr>
          <a:xfrm>
            <a:off x="10758223" y="3805695"/>
            <a:ext cx="886382" cy="26901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list_head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607590B4-2337-4C24-ADF8-5818E7916328}"/>
              </a:ext>
            </a:extLst>
          </p:cNvPr>
          <p:cNvCxnSpPr>
            <a:cxnSpLocks/>
            <a:stCxn id="131" idx="3"/>
            <a:endCxn id="128" idx="1"/>
          </p:cNvCxnSpPr>
          <p:nvPr/>
        </p:nvCxnSpPr>
        <p:spPr>
          <a:xfrm>
            <a:off x="10429468" y="3291369"/>
            <a:ext cx="328755" cy="6488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C510D36-C649-4709-8DD6-D7C82FD29687}"/>
              </a:ext>
            </a:extLst>
          </p:cNvPr>
          <p:cNvSpPr/>
          <p:nvPr/>
        </p:nvSpPr>
        <p:spPr>
          <a:xfrm>
            <a:off x="7758505" y="3186142"/>
            <a:ext cx="267096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FE03CE4-3D5B-4E75-B28E-36D2207C738F}"/>
              </a:ext>
            </a:extLst>
          </p:cNvPr>
          <p:cNvSpPr/>
          <p:nvPr/>
        </p:nvSpPr>
        <p:spPr>
          <a:xfrm>
            <a:off x="10814679" y="4299738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1004F2C-42F4-4C75-9541-5DFCDAA956A6}"/>
              </a:ext>
            </a:extLst>
          </p:cNvPr>
          <p:cNvSpPr/>
          <p:nvPr/>
        </p:nvSpPr>
        <p:spPr>
          <a:xfrm rot="5400000">
            <a:off x="10522433" y="4782623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4A87B52-0812-4FA8-B884-EEE403485BF4}"/>
              </a:ext>
            </a:extLst>
          </p:cNvPr>
          <p:cNvSpPr/>
          <p:nvPr/>
        </p:nvSpPr>
        <p:spPr>
          <a:xfrm rot="5400000">
            <a:off x="10890869" y="4782624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9B8D8D8-E0EB-47D0-8BBD-D34339903C7A}"/>
              </a:ext>
            </a:extLst>
          </p:cNvPr>
          <p:cNvSpPr txBox="1"/>
          <p:nvPr/>
        </p:nvSpPr>
        <p:spPr>
          <a:xfrm>
            <a:off x="11302469" y="4625473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4B27AD4-117D-4021-992D-84A4F2691721}"/>
              </a:ext>
            </a:extLst>
          </p:cNvPr>
          <p:cNvSpPr/>
          <p:nvPr/>
        </p:nvSpPr>
        <p:spPr>
          <a:xfrm rot="5400000">
            <a:off x="11262498" y="4783093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52C6E02-3ABC-4853-95E8-095B1D50F46A}"/>
              </a:ext>
            </a:extLst>
          </p:cNvPr>
          <p:cNvSpPr txBox="1"/>
          <p:nvPr/>
        </p:nvSpPr>
        <p:spPr>
          <a:xfrm>
            <a:off x="11026985" y="4245119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F315586-AF74-48FA-AEB0-359E3D1387A7}"/>
              </a:ext>
            </a:extLst>
          </p:cNvPr>
          <p:cNvSpPr/>
          <p:nvPr/>
        </p:nvSpPr>
        <p:spPr>
          <a:xfrm rot="5400000">
            <a:off x="10707733" y="4782624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0BA5EF2-FD39-437A-999F-0A484BA14FF6}"/>
              </a:ext>
            </a:extLst>
          </p:cNvPr>
          <p:cNvCxnSpPr>
            <a:stCxn id="108" idx="3"/>
            <a:endCxn id="145" idx="3"/>
          </p:cNvCxnSpPr>
          <p:nvPr/>
        </p:nvCxnSpPr>
        <p:spPr>
          <a:xfrm>
            <a:off x="10429492" y="4267407"/>
            <a:ext cx="662841" cy="992171"/>
          </a:xfrm>
          <a:prstGeom prst="bentConnector4">
            <a:avLst>
              <a:gd name="adj1" fmla="val 20988"/>
              <a:gd name="adj2" fmla="val 12304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824FD6C-AC87-472A-979F-4BD3613BB960}"/>
              </a:ext>
            </a:extLst>
          </p:cNvPr>
          <p:cNvSpPr/>
          <p:nvPr/>
        </p:nvSpPr>
        <p:spPr>
          <a:xfrm>
            <a:off x="7505702" y="6307509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#1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CC4CE98-7ABC-453D-AC83-22FA85C70C4C}"/>
              </a:ext>
            </a:extLst>
          </p:cNvPr>
          <p:cNvCxnSpPr>
            <a:cxnSpLocks/>
            <a:stCxn id="82" idx="3"/>
            <a:endCxn id="146" idx="1"/>
          </p:cNvCxnSpPr>
          <p:nvPr/>
        </p:nvCxnSpPr>
        <p:spPr>
          <a:xfrm>
            <a:off x="6615083" y="5521386"/>
            <a:ext cx="890619" cy="908233"/>
          </a:xfrm>
          <a:prstGeom prst="bentConnector3">
            <a:avLst>
              <a:gd name="adj1" fmla="val 3203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60542F8-810A-43C5-B6AE-CB8C5F4BA7C1}"/>
              </a:ext>
            </a:extLst>
          </p:cNvPr>
          <p:cNvSpPr/>
          <p:nvPr/>
        </p:nvSpPr>
        <p:spPr>
          <a:xfrm>
            <a:off x="7349004" y="2887330"/>
            <a:ext cx="4738221" cy="320348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EAF3EA-E19C-44D7-BE81-22BCD099C23F}"/>
              </a:ext>
            </a:extLst>
          </p:cNvPr>
          <p:cNvSpPr txBox="1"/>
          <p:nvPr/>
        </p:nvSpPr>
        <p:spPr>
          <a:xfrm>
            <a:off x="40163" y="1667756"/>
            <a:ext cx="1635129" cy="24622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45720" rIns="0" rtlCol="0">
            <a:spAutoFit/>
          </a:bodyPr>
          <a:lstStyle/>
          <a:p>
            <a:r>
              <a:rPr lang="en-US" sz="1400" dirty="0"/>
              <a:t>Allocate a slab object from node #0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8D8C48-75E9-46ED-AED7-E6DAEE0936C1}"/>
              </a:ext>
            </a:extLst>
          </p:cNvPr>
          <p:cNvCxnSpPr>
            <a:cxnSpLocks/>
            <a:stCxn id="62" idx="0"/>
          </p:cNvCxnSpPr>
          <p:nvPr/>
        </p:nvCxnSpPr>
        <p:spPr>
          <a:xfrm rot="5400000" flipH="1" flipV="1">
            <a:off x="943511" y="785647"/>
            <a:ext cx="796326" cy="9678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CEB3AC1E-B1A7-4238-AC53-3D731EEC56CF}"/>
              </a:ext>
            </a:extLst>
          </p:cNvPr>
          <p:cNvSpPr/>
          <p:nvPr/>
        </p:nvSpPr>
        <p:spPr>
          <a:xfrm>
            <a:off x="280426" y="1452032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ADF992C-DB46-4B00-80BD-F007FA553A05}"/>
              </a:ext>
            </a:extLst>
          </p:cNvPr>
          <p:cNvSpPr/>
          <p:nvPr/>
        </p:nvSpPr>
        <p:spPr>
          <a:xfrm>
            <a:off x="241126" y="2895372"/>
            <a:ext cx="1254454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573BA0F-485A-4C57-9E94-E4E14F351F91}"/>
              </a:ext>
            </a:extLst>
          </p:cNvPr>
          <p:cNvSpPr/>
          <p:nvPr/>
        </p:nvSpPr>
        <p:spPr>
          <a:xfrm>
            <a:off x="241126" y="3363347"/>
            <a:ext cx="125445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*node[]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A80CAAF-E06B-4826-806F-C028BCE5995A}"/>
              </a:ext>
            </a:extLst>
          </p:cNvPr>
          <p:cNvSpPr txBox="1"/>
          <p:nvPr/>
        </p:nvSpPr>
        <p:spPr>
          <a:xfrm>
            <a:off x="135123" y="2500997"/>
            <a:ext cx="151616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F60220F-113B-47AE-BE47-FF648045D502}"/>
              </a:ext>
            </a:extLst>
          </p:cNvPr>
          <p:cNvSpPr txBox="1"/>
          <p:nvPr/>
        </p:nvSpPr>
        <p:spPr>
          <a:xfrm>
            <a:off x="127462" y="2238413"/>
            <a:ext cx="1598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AFCC303-202B-4107-A4A6-CB509672C76D}"/>
              </a:ext>
            </a:extLst>
          </p:cNvPr>
          <p:cNvSpPr txBox="1"/>
          <p:nvPr/>
        </p:nvSpPr>
        <p:spPr>
          <a:xfrm>
            <a:off x="101816" y="3524187"/>
            <a:ext cx="1598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slab objects for node[0] &amp; node[1]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30E06A3-EF48-49AF-A3F6-6969AA8F16E0}"/>
              </a:ext>
            </a:extLst>
          </p:cNvPr>
          <p:cNvCxnSpPr>
            <a:stCxn id="149" idx="0"/>
            <a:endCxn id="152" idx="2"/>
          </p:cNvCxnSpPr>
          <p:nvPr/>
        </p:nvCxnSpPr>
        <p:spPr>
          <a:xfrm flipV="1">
            <a:off x="868353" y="2716441"/>
            <a:ext cx="24854" cy="1789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E5B98BF4-0AFD-40EA-9354-B0727BF09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890" y="2692617"/>
            <a:ext cx="6980020" cy="127148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97" name="Title 1">
            <a:extLst>
              <a:ext uri="{FF2B5EF4-FFF2-40B4-BE49-F238E27FC236}">
                <a16:creationId xmlns:a16="http://schemas.microsoft.com/office/drawing/2014/main" id="{60EE5EC1-2C40-4659-AD3E-D23B7734B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37" y="-123823"/>
            <a:ext cx="12235055" cy="689951"/>
          </a:xfrm>
        </p:spPr>
        <p:txBody>
          <a:bodyPr>
            <a:noAutofit/>
          </a:bodyPr>
          <a:lstStyle/>
          <a:p>
            <a:r>
              <a:rPr lang="en-US" sz="4000" dirty="0" err="1"/>
              <a:t>Slowpath</a:t>
            </a:r>
            <a:r>
              <a:rPr lang="en-US" sz="4000" dirty="0"/>
              <a:t> #1 – Get an object from node’s partial page</a:t>
            </a:r>
          </a:p>
        </p:txBody>
      </p:sp>
    </p:spTree>
    <p:extLst>
      <p:ext uri="{BB962C8B-B14F-4D97-AF65-F5344CB8AC3E}">
        <p14:creationId xmlns:p14="http://schemas.microsoft.com/office/powerpoint/2010/main" val="13434667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1092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1092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1092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1092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95913" y="31169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95913" y="35934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95912" y="38036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95908" y="40136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95911" y="42238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95907" y="33852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95906" y="4431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95911" y="49199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95911" y="53964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95910" y="56066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95906" y="58166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95909" y="60268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95905" y="51881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95904" y="6234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275886" y="64414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95904" y="45363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stCxn id="106" idx="3"/>
            <a:endCxn id="80" idx="3"/>
          </p:cNvCxnSpPr>
          <p:nvPr/>
        </p:nvCxnSpPr>
        <p:spPr>
          <a:xfrm flipH="1">
            <a:off x="6310284" y="4536365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251423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824FD6C-AC87-472A-979F-4BD3613BB960}"/>
              </a:ext>
            </a:extLst>
          </p:cNvPr>
          <p:cNvSpPr/>
          <p:nvPr/>
        </p:nvSpPr>
        <p:spPr>
          <a:xfrm>
            <a:off x="6696077" y="5354873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#1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CC4CE98-7ABC-453D-AC83-22FA85C70C4C}"/>
              </a:ext>
            </a:extLst>
          </p:cNvPr>
          <p:cNvCxnSpPr>
            <a:cxnSpLocks/>
            <a:stCxn id="82" idx="3"/>
            <a:endCxn id="146" idx="1"/>
          </p:cNvCxnSpPr>
          <p:nvPr/>
        </p:nvCxnSpPr>
        <p:spPr>
          <a:xfrm flipV="1">
            <a:off x="6310283" y="5476983"/>
            <a:ext cx="385794" cy="2349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9EAF3EA-E19C-44D7-BE81-22BCD099C23F}"/>
              </a:ext>
            </a:extLst>
          </p:cNvPr>
          <p:cNvSpPr txBox="1"/>
          <p:nvPr/>
        </p:nvSpPr>
        <p:spPr>
          <a:xfrm>
            <a:off x="40163" y="1667756"/>
            <a:ext cx="1635129" cy="24622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45720" rIns="0" rtlCol="0">
            <a:spAutoFit/>
          </a:bodyPr>
          <a:lstStyle/>
          <a:p>
            <a:r>
              <a:rPr lang="en-US" sz="1400" dirty="0"/>
              <a:t>Allocate a slab object from node #0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8D8C48-75E9-46ED-AED7-E6DAEE0936C1}"/>
              </a:ext>
            </a:extLst>
          </p:cNvPr>
          <p:cNvCxnSpPr>
            <a:cxnSpLocks/>
            <a:stCxn id="62" idx="0"/>
          </p:cNvCxnSpPr>
          <p:nvPr/>
        </p:nvCxnSpPr>
        <p:spPr>
          <a:xfrm rot="5400000" flipH="1" flipV="1">
            <a:off x="943511" y="785647"/>
            <a:ext cx="796326" cy="9678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ADF992C-DB46-4B00-80BD-F007FA553A05}"/>
              </a:ext>
            </a:extLst>
          </p:cNvPr>
          <p:cNvSpPr/>
          <p:nvPr/>
        </p:nvSpPr>
        <p:spPr>
          <a:xfrm>
            <a:off x="241126" y="2895372"/>
            <a:ext cx="1254454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573BA0F-485A-4C57-9E94-E4E14F351F91}"/>
              </a:ext>
            </a:extLst>
          </p:cNvPr>
          <p:cNvSpPr/>
          <p:nvPr/>
        </p:nvSpPr>
        <p:spPr>
          <a:xfrm>
            <a:off x="241126" y="3363347"/>
            <a:ext cx="125445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*node[]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A80CAAF-E06B-4826-806F-C028BCE5995A}"/>
              </a:ext>
            </a:extLst>
          </p:cNvPr>
          <p:cNvSpPr txBox="1"/>
          <p:nvPr/>
        </p:nvSpPr>
        <p:spPr>
          <a:xfrm>
            <a:off x="135123" y="2500997"/>
            <a:ext cx="151616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F60220F-113B-47AE-BE47-FF648045D502}"/>
              </a:ext>
            </a:extLst>
          </p:cNvPr>
          <p:cNvSpPr txBox="1"/>
          <p:nvPr/>
        </p:nvSpPr>
        <p:spPr>
          <a:xfrm>
            <a:off x="127462" y="2238413"/>
            <a:ext cx="1598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30E06A3-EF48-49AF-A3F6-6969AA8F16E0}"/>
              </a:ext>
            </a:extLst>
          </p:cNvPr>
          <p:cNvCxnSpPr>
            <a:stCxn id="149" idx="0"/>
            <a:endCxn id="152" idx="2"/>
          </p:cNvCxnSpPr>
          <p:nvPr/>
        </p:nvCxnSpPr>
        <p:spPr>
          <a:xfrm flipV="1">
            <a:off x="868353" y="2716441"/>
            <a:ext cx="24854" cy="1789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7337DBEB-47B3-4238-8339-7C3D18641452}"/>
              </a:ext>
            </a:extLst>
          </p:cNvPr>
          <p:cNvSpPr txBox="1"/>
          <p:nvPr/>
        </p:nvSpPr>
        <p:spPr>
          <a:xfrm>
            <a:off x="10186799" y="1182098"/>
            <a:ext cx="1285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Return this object address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55B634C-9D3B-4BC1-859B-6451500087D8}"/>
              </a:ext>
            </a:extLst>
          </p:cNvPr>
          <p:cNvSpPr/>
          <p:nvPr/>
        </p:nvSpPr>
        <p:spPr>
          <a:xfrm>
            <a:off x="6780405" y="678839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#0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3B22DA7-0F7F-4B9C-9E2A-12DB4D4B7ACF}"/>
              </a:ext>
            </a:extLst>
          </p:cNvPr>
          <p:cNvSpPr/>
          <p:nvPr/>
        </p:nvSpPr>
        <p:spPr>
          <a:xfrm>
            <a:off x="7656065" y="1121604"/>
            <a:ext cx="2046900" cy="19392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6D59FDD-70AF-4D3A-91F8-F18C9632B9AC}"/>
              </a:ext>
            </a:extLst>
          </p:cNvPr>
          <p:cNvSpPr/>
          <p:nvPr/>
        </p:nvSpPr>
        <p:spPr>
          <a:xfrm>
            <a:off x="6779816" y="1678302"/>
            <a:ext cx="292315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F125610-11C3-4225-87FE-1549EEA47F7A}"/>
              </a:ext>
            </a:extLst>
          </p:cNvPr>
          <p:cNvSpPr/>
          <p:nvPr/>
        </p:nvSpPr>
        <p:spPr>
          <a:xfrm>
            <a:off x="6779829" y="1888497"/>
            <a:ext cx="292377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 = NULL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0AAA60B-15B2-490E-81A8-6CDE6F0650BC}"/>
              </a:ext>
            </a:extLst>
          </p:cNvPr>
          <p:cNvSpPr/>
          <p:nvPr/>
        </p:nvSpPr>
        <p:spPr>
          <a:xfrm>
            <a:off x="6996342" y="2098470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A05100D-4071-450A-81C4-5F2313ACD136}"/>
              </a:ext>
            </a:extLst>
          </p:cNvPr>
          <p:cNvSpPr/>
          <p:nvPr/>
        </p:nvSpPr>
        <p:spPr>
          <a:xfrm>
            <a:off x="7656065" y="1315790"/>
            <a:ext cx="2046900" cy="19456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BC196D2-D68E-41F8-BF10-C519B7151334}"/>
              </a:ext>
            </a:extLst>
          </p:cNvPr>
          <p:cNvSpPr/>
          <p:nvPr/>
        </p:nvSpPr>
        <p:spPr>
          <a:xfrm>
            <a:off x="7656065" y="1508584"/>
            <a:ext cx="2046900" cy="17102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2AA0B24-41D4-4A2C-A314-0BBBFA64C23D}"/>
              </a:ext>
            </a:extLst>
          </p:cNvPr>
          <p:cNvSpPr/>
          <p:nvPr/>
        </p:nvSpPr>
        <p:spPr>
          <a:xfrm>
            <a:off x="6996330" y="2304007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B19410C-08C1-4412-8992-07A95D22B9BB}"/>
              </a:ext>
            </a:extLst>
          </p:cNvPr>
          <p:cNvSpPr/>
          <p:nvPr/>
        </p:nvSpPr>
        <p:spPr>
          <a:xfrm>
            <a:off x="8055510" y="2511288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64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38F40A4-062E-4149-A007-F19B7B5034B7}"/>
              </a:ext>
            </a:extLst>
          </p:cNvPr>
          <p:cNvSpPr/>
          <p:nvPr/>
        </p:nvSpPr>
        <p:spPr>
          <a:xfrm>
            <a:off x="8055510" y="2721261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F985455-AFD8-4029-A35E-89D1976156AE}"/>
              </a:ext>
            </a:extLst>
          </p:cNvPr>
          <p:cNvSpPr/>
          <p:nvPr/>
        </p:nvSpPr>
        <p:spPr>
          <a:xfrm>
            <a:off x="8055498" y="2926798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1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41BFCFA-23A0-4A94-9419-12ED7B7F7474}"/>
              </a:ext>
            </a:extLst>
          </p:cNvPr>
          <p:cNvSpPr/>
          <p:nvPr/>
        </p:nvSpPr>
        <p:spPr>
          <a:xfrm rot="5400000">
            <a:off x="6386879" y="2491421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BEB8A5D-9494-4583-B209-873DDC93AE1C}"/>
              </a:ext>
            </a:extLst>
          </p:cNvPr>
          <p:cNvSpPr/>
          <p:nvPr/>
        </p:nvSpPr>
        <p:spPr>
          <a:xfrm>
            <a:off x="7032695" y="2511288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687B96D-421C-4BCF-8B4B-8096EDB7591D}"/>
              </a:ext>
            </a:extLst>
          </p:cNvPr>
          <p:cNvSpPr/>
          <p:nvPr/>
        </p:nvSpPr>
        <p:spPr>
          <a:xfrm rot="5400000">
            <a:off x="6523273" y="1169597"/>
            <a:ext cx="767148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86A983D-210F-4B69-8F53-F85955F9638B}"/>
              </a:ext>
            </a:extLst>
          </p:cNvPr>
          <p:cNvSpPr/>
          <p:nvPr/>
        </p:nvSpPr>
        <p:spPr>
          <a:xfrm>
            <a:off x="7032619" y="1121605"/>
            <a:ext cx="630578" cy="5580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ED201F6-432B-467C-9BB5-35D6E9F24AA1}"/>
              </a:ext>
            </a:extLst>
          </p:cNvPr>
          <p:cNvSpPr/>
          <p:nvPr/>
        </p:nvSpPr>
        <p:spPr>
          <a:xfrm>
            <a:off x="7032619" y="912459"/>
            <a:ext cx="267096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r>
              <a:rPr lang="en-US" sz="1200" dirty="0">
                <a:solidFill>
                  <a:schemeClr val="tx1"/>
                </a:solidFill>
              </a:rPr>
              <a:t> = invalid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C961B99-B80D-4E62-8C43-91C3692A2F8E}"/>
              </a:ext>
            </a:extLst>
          </p:cNvPr>
          <p:cNvSpPr/>
          <p:nvPr/>
        </p:nvSpPr>
        <p:spPr>
          <a:xfrm>
            <a:off x="9974493" y="1949855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B745213-4588-4F22-BBD7-967DE0F79541}"/>
              </a:ext>
            </a:extLst>
          </p:cNvPr>
          <p:cNvSpPr/>
          <p:nvPr/>
        </p:nvSpPr>
        <p:spPr>
          <a:xfrm rot="5400000">
            <a:off x="9682250" y="2432740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EA34A3E2-FE2B-4B96-91F9-33A0E9E7280D}"/>
              </a:ext>
            </a:extLst>
          </p:cNvPr>
          <p:cNvSpPr/>
          <p:nvPr/>
        </p:nvSpPr>
        <p:spPr>
          <a:xfrm rot="5400000">
            <a:off x="10050683" y="2432741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7AAD4AC-18FE-4913-9784-6D7B9C28EABA}"/>
              </a:ext>
            </a:extLst>
          </p:cNvPr>
          <p:cNvSpPr txBox="1"/>
          <p:nvPr/>
        </p:nvSpPr>
        <p:spPr>
          <a:xfrm>
            <a:off x="10462283" y="2275590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FC9746C-D745-4647-AC3E-4EB7EA7F33D7}"/>
              </a:ext>
            </a:extLst>
          </p:cNvPr>
          <p:cNvSpPr/>
          <p:nvPr/>
        </p:nvSpPr>
        <p:spPr>
          <a:xfrm rot="5400000">
            <a:off x="10422312" y="2433210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9890D20-6B87-4D2E-8CCD-D5A22887EB97}"/>
              </a:ext>
            </a:extLst>
          </p:cNvPr>
          <p:cNvSpPr txBox="1"/>
          <p:nvPr/>
        </p:nvSpPr>
        <p:spPr>
          <a:xfrm>
            <a:off x="10186799" y="1895236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E1EB89D-5329-48A8-B7A5-8CA4ACE7A159}"/>
              </a:ext>
            </a:extLst>
          </p:cNvPr>
          <p:cNvSpPr/>
          <p:nvPr/>
        </p:nvSpPr>
        <p:spPr>
          <a:xfrm rot="5400000">
            <a:off x="9867547" y="2432741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E82F9D04-0068-4C61-BEB0-B689D1E9A64E}"/>
              </a:ext>
            </a:extLst>
          </p:cNvPr>
          <p:cNvCxnSpPr>
            <a:stCxn id="113" idx="3"/>
            <a:endCxn id="99" idx="1"/>
          </p:cNvCxnSpPr>
          <p:nvPr/>
        </p:nvCxnSpPr>
        <p:spPr>
          <a:xfrm flipV="1">
            <a:off x="6055765" y="800949"/>
            <a:ext cx="724640" cy="68816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CF135968-D38F-4477-9EA5-EB566F893B40}"/>
              </a:ext>
            </a:extLst>
          </p:cNvPr>
          <p:cNvCxnSpPr>
            <a:cxnSpLocks/>
            <a:stCxn id="114" idx="3"/>
            <a:endCxn id="167" idx="3"/>
          </p:cNvCxnSpPr>
          <p:nvPr/>
        </p:nvCxnSpPr>
        <p:spPr>
          <a:xfrm>
            <a:off x="6055760" y="1699732"/>
            <a:ext cx="4379523" cy="1209963"/>
          </a:xfrm>
          <a:prstGeom prst="bentConnector4">
            <a:avLst>
              <a:gd name="adj1" fmla="val 9288"/>
              <a:gd name="adj2" fmla="val 12755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6F0E44-836F-4544-86FF-B1EE6DBA087F}"/>
              </a:ext>
            </a:extLst>
          </p:cNvPr>
          <p:cNvSpPr/>
          <p:nvPr/>
        </p:nvSpPr>
        <p:spPr>
          <a:xfrm>
            <a:off x="9972612" y="1476375"/>
            <a:ext cx="247713" cy="647700"/>
          </a:xfrm>
          <a:custGeom>
            <a:avLst/>
            <a:gdLst>
              <a:gd name="connsiteX0" fmla="*/ 247713 w 247713"/>
              <a:gd name="connsiteY0" fmla="*/ 647700 h 647700"/>
              <a:gd name="connsiteX1" fmla="*/ 63 w 247713"/>
              <a:gd name="connsiteY1" fmla="*/ 314325 h 647700"/>
              <a:gd name="connsiteX2" fmla="*/ 228663 w 247713"/>
              <a:gd name="connsiteY2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713" h="647700">
                <a:moveTo>
                  <a:pt x="247713" y="647700"/>
                </a:moveTo>
                <a:cubicBezTo>
                  <a:pt x="125475" y="534987"/>
                  <a:pt x="3238" y="422275"/>
                  <a:pt x="63" y="314325"/>
                </a:cubicBezTo>
                <a:cubicBezTo>
                  <a:pt x="-3112" y="206375"/>
                  <a:pt x="112775" y="103187"/>
                  <a:pt x="228663" y="0"/>
                </a:cubicBezTo>
              </a:path>
            </a:pathLst>
          </a:custGeom>
          <a:noFill/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9B004EF0-094C-4F66-85C4-70CC7D0D55A6}"/>
              </a:ext>
            </a:extLst>
          </p:cNvPr>
          <p:cNvSpPr/>
          <p:nvPr/>
        </p:nvSpPr>
        <p:spPr>
          <a:xfrm>
            <a:off x="6297738" y="3835664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AEE77F1D-88B2-4BAB-9827-5F499723320D}"/>
              </a:ext>
            </a:extLst>
          </p:cNvPr>
          <p:cNvSpPr txBox="1"/>
          <p:nvPr/>
        </p:nvSpPr>
        <p:spPr>
          <a:xfrm>
            <a:off x="101816" y="3524187"/>
            <a:ext cx="159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slab objects for node[0] &amp; node[1]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node[0]: allocated</a:t>
            </a:r>
          </a:p>
        </p:txBody>
      </p:sp>
      <p:sp>
        <p:nvSpPr>
          <p:cNvPr id="87" name="Title 1">
            <a:extLst>
              <a:ext uri="{FF2B5EF4-FFF2-40B4-BE49-F238E27FC236}">
                <a16:creationId xmlns:a16="http://schemas.microsoft.com/office/drawing/2014/main" id="{5BCFEB6F-A064-490A-BD74-C19A78685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37" y="-123823"/>
            <a:ext cx="12235055" cy="689951"/>
          </a:xfrm>
        </p:spPr>
        <p:txBody>
          <a:bodyPr>
            <a:noAutofit/>
          </a:bodyPr>
          <a:lstStyle/>
          <a:p>
            <a:r>
              <a:rPr lang="en-US" sz="4000" dirty="0" err="1"/>
              <a:t>Slowpath</a:t>
            </a:r>
            <a:r>
              <a:rPr lang="en-US" sz="4000" dirty="0"/>
              <a:t> #1 – Get an object from node’s partial page</a:t>
            </a:r>
          </a:p>
        </p:txBody>
      </p:sp>
    </p:spTree>
    <p:extLst>
      <p:ext uri="{BB962C8B-B14F-4D97-AF65-F5344CB8AC3E}">
        <p14:creationId xmlns:p14="http://schemas.microsoft.com/office/powerpoint/2010/main" val="21215836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1092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1092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1092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1092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95913" y="31169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95913" y="35934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95912" y="38036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95908" y="40136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95911" y="42238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95907" y="33852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95906" y="4431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95911" y="49199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95911" y="53964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95910" y="56066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95906" y="58166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95909" y="60268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95905" y="51881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95904" y="6234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275886" y="64414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95904" y="45363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stCxn id="106" idx="3"/>
            <a:endCxn id="80" idx="3"/>
          </p:cNvCxnSpPr>
          <p:nvPr/>
        </p:nvCxnSpPr>
        <p:spPr>
          <a:xfrm flipH="1">
            <a:off x="6310284" y="4536365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251423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824FD6C-AC87-472A-979F-4BD3613BB960}"/>
              </a:ext>
            </a:extLst>
          </p:cNvPr>
          <p:cNvSpPr/>
          <p:nvPr/>
        </p:nvSpPr>
        <p:spPr>
          <a:xfrm>
            <a:off x="6696077" y="5354873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#1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CC4CE98-7ABC-453D-AC83-22FA85C70C4C}"/>
              </a:ext>
            </a:extLst>
          </p:cNvPr>
          <p:cNvCxnSpPr>
            <a:cxnSpLocks/>
            <a:stCxn id="82" idx="3"/>
            <a:endCxn id="146" idx="1"/>
          </p:cNvCxnSpPr>
          <p:nvPr/>
        </p:nvCxnSpPr>
        <p:spPr>
          <a:xfrm flipV="1">
            <a:off x="6310283" y="5476983"/>
            <a:ext cx="385794" cy="2349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9EAF3EA-E19C-44D7-BE81-22BCD099C23F}"/>
              </a:ext>
            </a:extLst>
          </p:cNvPr>
          <p:cNvSpPr txBox="1"/>
          <p:nvPr/>
        </p:nvSpPr>
        <p:spPr>
          <a:xfrm>
            <a:off x="40163" y="1667756"/>
            <a:ext cx="1635129" cy="24622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45720" rIns="0" rtlCol="0">
            <a:spAutoFit/>
          </a:bodyPr>
          <a:lstStyle/>
          <a:p>
            <a:r>
              <a:rPr lang="en-US" sz="1400" dirty="0"/>
              <a:t>Allocate a slab object from node #0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8D8C48-75E9-46ED-AED7-E6DAEE0936C1}"/>
              </a:ext>
            </a:extLst>
          </p:cNvPr>
          <p:cNvCxnSpPr>
            <a:cxnSpLocks/>
            <a:stCxn id="62" idx="0"/>
          </p:cNvCxnSpPr>
          <p:nvPr/>
        </p:nvCxnSpPr>
        <p:spPr>
          <a:xfrm rot="5400000" flipH="1" flipV="1">
            <a:off x="943511" y="785647"/>
            <a:ext cx="796326" cy="9678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ADF992C-DB46-4B00-80BD-F007FA553A05}"/>
              </a:ext>
            </a:extLst>
          </p:cNvPr>
          <p:cNvSpPr/>
          <p:nvPr/>
        </p:nvSpPr>
        <p:spPr>
          <a:xfrm>
            <a:off x="241126" y="2895372"/>
            <a:ext cx="1254454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573BA0F-485A-4C57-9E94-E4E14F351F91}"/>
              </a:ext>
            </a:extLst>
          </p:cNvPr>
          <p:cNvSpPr/>
          <p:nvPr/>
        </p:nvSpPr>
        <p:spPr>
          <a:xfrm>
            <a:off x="241126" y="3363347"/>
            <a:ext cx="125445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*node[]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A80CAAF-E06B-4826-806F-C028BCE5995A}"/>
              </a:ext>
            </a:extLst>
          </p:cNvPr>
          <p:cNvSpPr txBox="1"/>
          <p:nvPr/>
        </p:nvSpPr>
        <p:spPr>
          <a:xfrm>
            <a:off x="135123" y="2500997"/>
            <a:ext cx="151616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F60220F-113B-47AE-BE47-FF648045D502}"/>
              </a:ext>
            </a:extLst>
          </p:cNvPr>
          <p:cNvSpPr txBox="1"/>
          <p:nvPr/>
        </p:nvSpPr>
        <p:spPr>
          <a:xfrm>
            <a:off x="127462" y="2238413"/>
            <a:ext cx="1598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AFCC303-202B-4107-A4A6-CB509672C76D}"/>
              </a:ext>
            </a:extLst>
          </p:cNvPr>
          <p:cNvSpPr txBox="1"/>
          <p:nvPr/>
        </p:nvSpPr>
        <p:spPr>
          <a:xfrm>
            <a:off x="101816" y="3524187"/>
            <a:ext cx="159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slab objects for node[0] &amp; node[1]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node[0]: allocated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30E06A3-EF48-49AF-A3F6-6969AA8F16E0}"/>
              </a:ext>
            </a:extLst>
          </p:cNvPr>
          <p:cNvCxnSpPr>
            <a:stCxn id="149" idx="0"/>
            <a:endCxn id="152" idx="2"/>
          </p:cNvCxnSpPr>
          <p:nvPr/>
        </p:nvCxnSpPr>
        <p:spPr>
          <a:xfrm flipV="1">
            <a:off x="868353" y="2716441"/>
            <a:ext cx="24854" cy="1789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7337DBEB-47B3-4238-8339-7C3D18641452}"/>
              </a:ext>
            </a:extLst>
          </p:cNvPr>
          <p:cNvSpPr txBox="1"/>
          <p:nvPr/>
        </p:nvSpPr>
        <p:spPr>
          <a:xfrm>
            <a:off x="10186799" y="1182098"/>
            <a:ext cx="1285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Return this object address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55B634C-9D3B-4BC1-859B-6451500087D8}"/>
              </a:ext>
            </a:extLst>
          </p:cNvPr>
          <p:cNvSpPr/>
          <p:nvPr/>
        </p:nvSpPr>
        <p:spPr>
          <a:xfrm>
            <a:off x="6780405" y="678839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#0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3B22DA7-0F7F-4B9C-9E2A-12DB4D4B7ACF}"/>
              </a:ext>
            </a:extLst>
          </p:cNvPr>
          <p:cNvSpPr/>
          <p:nvPr/>
        </p:nvSpPr>
        <p:spPr>
          <a:xfrm>
            <a:off x="7656065" y="1121604"/>
            <a:ext cx="2046900" cy="19392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6D59FDD-70AF-4D3A-91F8-F18C9632B9AC}"/>
              </a:ext>
            </a:extLst>
          </p:cNvPr>
          <p:cNvSpPr/>
          <p:nvPr/>
        </p:nvSpPr>
        <p:spPr>
          <a:xfrm>
            <a:off x="6779816" y="1678302"/>
            <a:ext cx="292315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F125610-11C3-4225-87FE-1549EEA47F7A}"/>
              </a:ext>
            </a:extLst>
          </p:cNvPr>
          <p:cNvSpPr/>
          <p:nvPr/>
        </p:nvSpPr>
        <p:spPr>
          <a:xfrm>
            <a:off x="6779829" y="1888497"/>
            <a:ext cx="292377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 = NULL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0AAA60B-15B2-490E-81A8-6CDE6F0650BC}"/>
              </a:ext>
            </a:extLst>
          </p:cNvPr>
          <p:cNvSpPr/>
          <p:nvPr/>
        </p:nvSpPr>
        <p:spPr>
          <a:xfrm>
            <a:off x="6996342" y="2098470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A05100D-4071-450A-81C4-5F2313ACD136}"/>
              </a:ext>
            </a:extLst>
          </p:cNvPr>
          <p:cNvSpPr/>
          <p:nvPr/>
        </p:nvSpPr>
        <p:spPr>
          <a:xfrm>
            <a:off x="7656065" y="1315790"/>
            <a:ext cx="2046900" cy="19456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BC196D2-D68E-41F8-BF10-C519B7151334}"/>
              </a:ext>
            </a:extLst>
          </p:cNvPr>
          <p:cNvSpPr/>
          <p:nvPr/>
        </p:nvSpPr>
        <p:spPr>
          <a:xfrm>
            <a:off x="7656065" y="1508584"/>
            <a:ext cx="2046900" cy="17102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2AA0B24-41D4-4A2C-A314-0BBBFA64C23D}"/>
              </a:ext>
            </a:extLst>
          </p:cNvPr>
          <p:cNvSpPr/>
          <p:nvPr/>
        </p:nvSpPr>
        <p:spPr>
          <a:xfrm>
            <a:off x="6996330" y="2304007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B19410C-08C1-4412-8992-07A95D22B9BB}"/>
              </a:ext>
            </a:extLst>
          </p:cNvPr>
          <p:cNvSpPr/>
          <p:nvPr/>
        </p:nvSpPr>
        <p:spPr>
          <a:xfrm>
            <a:off x="8055510" y="2511288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64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38F40A4-062E-4149-A007-F19B7B5034B7}"/>
              </a:ext>
            </a:extLst>
          </p:cNvPr>
          <p:cNvSpPr/>
          <p:nvPr/>
        </p:nvSpPr>
        <p:spPr>
          <a:xfrm>
            <a:off x="8055510" y="2721261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F985455-AFD8-4029-A35E-89D1976156AE}"/>
              </a:ext>
            </a:extLst>
          </p:cNvPr>
          <p:cNvSpPr/>
          <p:nvPr/>
        </p:nvSpPr>
        <p:spPr>
          <a:xfrm>
            <a:off x="8055498" y="2926798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1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41BFCFA-23A0-4A94-9419-12ED7B7F7474}"/>
              </a:ext>
            </a:extLst>
          </p:cNvPr>
          <p:cNvSpPr/>
          <p:nvPr/>
        </p:nvSpPr>
        <p:spPr>
          <a:xfrm rot="5400000">
            <a:off x="6386879" y="2491421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BEB8A5D-9494-4583-B209-873DDC93AE1C}"/>
              </a:ext>
            </a:extLst>
          </p:cNvPr>
          <p:cNvSpPr/>
          <p:nvPr/>
        </p:nvSpPr>
        <p:spPr>
          <a:xfrm>
            <a:off x="7032695" y="2511288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687B96D-421C-4BCF-8B4B-8096EDB7591D}"/>
              </a:ext>
            </a:extLst>
          </p:cNvPr>
          <p:cNvSpPr/>
          <p:nvPr/>
        </p:nvSpPr>
        <p:spPr>
          <a:xfrm rot="5400000">
            <a:off x="6523273" y="1169597"/>
            <a:ext cx="767148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86A983D-210F-4B69-8F53-F85955F9638B}"/>
              </a:ext>
            </a:extLst>
          </p:cNvPr>
          <p:cNvSpPr/>
          <p:nvPr/>
        </p:nvSpPr>
        <p:spPr>
          <a:xfrm>
            <a:off x="7032619" y="1121605"/>
            <a:ext cx="630578" cy="5580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ED201F6-432B-467C-9BB5-35D6E9F24AA1}"/>
              </a:ext>
            </a:extLst>
          </p:cNvPr>
          <p:cNvSpPr/>
          <p:nvPr/>
        </p:nvSpPr>
        <p:spPr>
          <a:xfrm>
            <a:off x="7032619" y="912459"/>
            <a:ext cx="267096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r>
              <a:rPr lang="en-US" sz="1200" dirty="0">
                <a:solidFill>
                  <a:schemeClr val="tx1"/>
                </a:solidFill>
              </a:rPr>
              <a:t> = invalid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C961B99-B80D-4E62-8C43-91C3692A2F8E}"/>
              </a:ext>
            </a:extLst>
          </p:cNvPr>
          <p:cNvSpPr/>
          <p:nvPr/>
        </p:nvSpPr>
        <p:spPr>
          <a:xfrm>
            <a:off x="9974493" y="1949855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B745213-4588-4F22-BBD7-967DE0F79541}"/>
              </a:ext>
            </a:extLst>
          </p:cNvPr>
          <p:cNvSpPr/>
          <p:nvPr/>
        </p:nvSpPr>
        <p:spPr>
          <a:xfrm rot="5400000">
            <a:off x="9682250" y="2432740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EA34A3E2-FE2B-4B96-91F9-33A0E9E7280D}"/>
              </a:ext>
            </a:extLst>
          </p:cNvPr>
          <p:cNvSpPr/>
          <p:nvPr/>
        </p:nvSpPr>
        <p:spPr>
          <a:xfrm rot="5400000">
            <a:off x="10050683" y="2432741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7AAD4AC-18FE-4913-9784-6D7B9C28EABA}"/>
              </a:ext>
            </a:extLst>
          </p:cNvPr>
          <p:cNvSpPr txBox="1"/>
          <p:nvPr/>
        </p:nvSpPr>
        <p:spPr>
          <a:xfrm>
            <a:off x="10462283" y="2275590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FC9746C-D745-4647-AC3E-4EB7EA7F33D7}"/>
              </a:ext>
            </a:extLst>
          </p:cNvPr>
          <p:cNvSpPr/>
          <p:nvPr/>
        </p:nvSpPr>
        <p:spPr>
          <a:xfrm rot="5400000">
            <a:off x="10422312" y="2433210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9890D20-6B87-4D2E-8CCD-D5A22887EB97}"/>
              </a:ext>
            </a:extLst>
          </p:cNvPr>
          <p:cNvSpPr txBox="1"/>
          <p:nvPr/>
        </p:nvSpPr>
        <p:spPr>
          <a:xfrm>
            <a:off x="10186799" y="1895236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E1EB89D-5329-48A8-B7A5-8CA4ACE7A159}"/>
              </a:ext>
            </a:extLst>
          </p:cNvPr>
          <p:cNvSpPr/>
          <p:nvPr/>
        </p:nvSpPr>
        <p:spPr>
          <a:xfrm rot="5400000">
            <a:off x="9867547" y="2432741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E82F9D04-0068-4C61-BEB0-B689D1E9A64E}"/>
              </a:ext>
            </a:extLst>
          </p:cNvPr>
          <p:cNvCxnSpPr>
            <a:stCxn id="113" idx="3"/>
            <a:endCxn id="99" idx="1"/>
          </p:cNvCxnSpPr>
          <p:nvPr/>
        </p:nvCxnSpPr>
        <p:spPr>
          <a:xfrm flipV="1">
            <a:off x="6055765" y="800949"/>
            <a:ext cx="724640" cy="68816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CF135968-D38F-4477-9EA5-EB566F893B40}"/>
              </a:ext>
            </a:extLst>
          </p:cNvPr>
          <p:cNvCxnSpPr>
            <a:cxnSpLocks/>
            <a:stCxn id="114" idx="3"/>
            <a:endCxn id="167" idx="3"/>
          </p:cNvCxnSpPr>
          <p:nvPr/>
        </p:nvCxnSpPr>
        <p:spPr>
          <a:xfrm>
            <a:off x="6055760" y="1699732"/>
            <a:ext cx="4379523" cy="1209963"/>
          </a:xfrm>
          <a:prstGeom prst="bentConnector4">
            <a:avLst>
              <a:gd name="adj1" fmla="val 9288"/>
              <a:gd name="adj2" fmla="val 12755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6F0E44-836F-4544-86FF-B1EE6DBA087F}"/>
              </a:ext>
            </a:extLst>
          </p:cNvPr>
          <p:cNvSpPr/>
          <p:nvPr/>
        </p:nvSpPr>
        <p:spPr>
          <a:xfrm>
            <a:off x="9972612" y="1476375"/>
            <a:ext cx="247713" cy="647700"/>
          </a:xfrm>
          <a:custGeom>
            <a:avLst/>
            <a:gdLst>
              <a:gd name="connsiteX0" fmla="*/ 247713 w 247713"/>
              <a:gd name="connsiteY0" fmla="*/ 647700 h 647700"/>
              <a:gd name="connsiteX1" fmla="*/ 63 w 247713"/>
              <a:gd name="connsiteY1" fmla="*/ 314325 h 647700"/>
              <a:gd name="connsiteX2" fmla="*/ 228663 w 247713"/>
              <a:gd name="connsiteY2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713" h="647700">
                <a:moveTo>
                  <a:pt x="247713" y="647700"/>
                </a:moveTo>
                <a:cubicBezTo>
                  <a:pt x="125475" y="534987"/>
                  <a:pt x="3238" y="422275"/>
                  <a:pt x="63" y="314325"/>
                </a:cubicBezTo>
                <a:cubicBezTo>
                  <a:pt x="-3112" y="206375"/>
                  <a:pt x="112775" y="103187"/>
                  <a:pt x="228663" y="0"/>
                </a:cubicBezTo>
              </a:path>
            </a:pathLst>
          </a:custGeom>
          <a:noFill/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9B004EF0-094C-4F66-85C4-70CC7D0D55A6}"/>
              </a:ext>
            </a:extLst>
          </p:cNvPr>
          <p:cNvSpPr/>
          <p:nvPr/>
        </p:nvSpPr>
        <p:spPr>
          <a:xfrm>
            <a:off x="6297738" y="3835664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778A29-FBF2-4792-9BCF-E251933EE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466" y="3428848"/>
            <a:ext cx="7421234" cy="332707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87" name="Title 1">
            <a:extLst>
              <a:ext uri="{FF2B5EF4-FFF2-40B4-BE49-F238E27FC236}">
                <a16:creationId xmlns:a16="http://schemas.microsoft.com/office/drawing/2014/main" id="{8156D144-C326-41CB-BF50-D889226A4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37" y="-123823"/>
            <a:ext cx="12235055" cy="689951"/>
          </a:xfrm>
        </p:spPr>
        <p:txBody>
          <a:bodyPr>
            <a:noAutofit/>
          </a:bodyPr>
          <a:lstStyle/>
          <a:p>
            <a:r>
              <a:rPr lang="en-US" sz="4000" dirty="0" err="1"/>
              <a:t>Slowpath</a:t>
            </a:r>
            <a:r>
              <a:rPr lang="en-US" sz="4000" dirty="0"/>
              <a:t> #1 – Get an object from node’s partial page</a:t>
            </a:r>
          </a:p>
        </p:txBody>
      </p:sp>
    </p:spTree>
    <p:extLst>
      <p:ext uri="{BB962C8B-B14F-4D97-AF65-F5344CB8AC3E}">
        <p14:creationId xmlns:p14="http://schemas.microsoft.com/office/powerpoint/2010/main" val="1602154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1092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1092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1092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1092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95913" y="31169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95913" y="35934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95912" y="38036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95908" y="40136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95911" y="42238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95907" y="33852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95906" y="4431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95911" y="49199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95911" y="53964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95910" y="56066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95906" y="58166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95909" y="60268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95905" y="51881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95904" y="6234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275886" y="64414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95904" y="45363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stCxn id="106" idx="3"/>
            <a:endCxn id="80" idx="3"/>
          </p:cNvCxnSpPr>
          <p:nvPr/>
        </p:nvCxnSpPr>
        <p:spPr>
          <a:xfrm flipH="1">
            <a:off x="6310284" y="4536365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251423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824FD6C-AC87-472A-979F-4BD3613BB960}"/>
              </a:ext>
            </a:extLst>
          </p:cNvPr>
          <p:cNvSpPr/>
          <p:nvPr/>
        </p:nvSpPr>
        <p:spPr>
          <a:xfrm>
            <a:off x="6696077" y="5354873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#1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CC4CE98-7ABC-453D-AC83-22FA85C70C4C}"/>
              </a:ext>
            </a:extLst>
          </p:cNvPr>
          <p:cNvCxnSpPr>
            <a:cxnSpLocks/>
            <a:stCxn id="82" idx="3"/>
            <a:endCxn id="146" idx="1"/>
          </p:cNvCxnSpPr>
          <p:nvPr/>
        </p:nvCxnSpPr>
        <p:spPr>
          <a:xfrm flipV="1">
            <a:off x="6310283" y="5476983"/>
            <a:ext cx="385794" cy="2349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9EAF3EA-E19C-44D7-BE81-22BCD099C23F}"/>
              </a:ext>
            </a:extLst>
          </p:cNvPr>
          <p:cNvSpPr txBox="1"/>
          <p:nvPr/>
        </p:nvSpPr>
        <p:spPr>
          <a:xfrm>
            <a:off x="40163" y="1667756"/>
            <a:ext cx="1635129" cy="24622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45720" rIns="0" rtlCol="0">
            <a:spAutoFit/>
          </a:bodyPr>
          <a:lstStyle/>
          <a:p>
            <a:r>
              <a:rPr lang="en-US" sz="1400" dirty="0"/>
              <a:t>Allocate a slab object from node #1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8D8C48-75E9-46ED-AED7-E6DAEE0936C1}"/>
              </a:ext>
            </a:extLst>
          </p:cNvPr>
          <p:cNvCxnSpPr>
            <a:cxnSpLocks/>
            <a:stCxn id="62" idx="0"/>
          </p:cNvCxnSpPr>
          <p:nvPr/>
        </p:nvCxnSpPr>
        <p:spPr>
          <a:xfrm rot="5400000" flipH="1" flipV="1">
            <a:off x="943511" y="785647"/>
            <a:ext cx="796326" cy="9678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ADF992C-DB46-4B00-80BD-F007FA553A05}"/>
              </a:ext>
            </a:extLst>
          </p:cNvPr>
          <p:cNvSpPr/>
          <p:nvPr/>
        </p:nvSpPr>
        <p:spPr>
          <a:xfrm>
            <a:off x="241126" y="2895372"/>
            <a:ext cx="1254454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573BA0F-485A-4C57-9E94-E4E14F351F91}"/>
              </a:ext>
            </a:extLst>
          </p:cNvPr>
          <p:cNvSpPr/>
          <p:nvPr/>
        </p:nvSpPr>
        <p:spPr>
          <a:xfrm>
            <a:off x="241126" y="3363347"/>
            <a:ext cx="125445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*node[]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A80CAAF-E06B-4826-806F-C028BCE5995A}"/>
              </a:ext>
            </a:extLst>
          </p:cNvPr>
          <p:cNvSpPr txBox="1"/>
          <p:nvPr/>
        </p:nvSpPr>
        <p:spPr>
          <a:xfrm>
            <a:off x="135123" y="2500997"/>
            <a:ext cx="151616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F60220F-113B-47AE-BE47-FF648045D502}"/>
              </a:ext>
            </a:extLst>
          </p:cNvPr>
          <p:cNvSpPr txBox="1"/>
          <p:nvPr/>
        </p:nvSpPr>
        <p:spPr>
          <a:xfrm>
            <a:off x="127462" y="2238413"/>
            <a:ext cx="1598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AFCC303-202B-4107-A4A6-CB509672C76D}"/>
              </a:ext>
            </a:extLst>
          </p:cNvPr>
          <p:cNvSpPr txBox="1"/>
          <p:nvPr/>
        </p:nvSpPr>
        <p:spPr>
          <a:xfrm>
            <a:off x="101816" y="3524187"/>
            <a:ext cx="159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slab objects for node[0] &amp; node[1]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node[0]: allocated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30E06A3-EF48-49AF-A3F6-6969AA8F16E0}"/>
              </a:ext>
            </a:extLst>
          </p:cNvPr>
          <p:cNvCxnSpPr>
            <a:stCxn id="149" idx="0"/>
            <a:endCxn id="152" idx="2"/>
          </p:cNvCxnSpPr>
          <p:nvPr/>
        </p:nvCxnSpPr>
        <p:spPr>
          <a:xfrm flipV="1">
            <a:off x="868353" y="2716441"/>
            <a:ext cx="24854" cy="1789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955B634C-9D3B-4BC1-859B-6451500087D8}"/>
              </a:ext>
            </a:extLst>
          </p:cNvPr>
          <p:cNvSpPr/>
          <p:nvPr/>
        </p:nvSpPr>
        <p:spPr>
          <a:xfrm>
            <a:off x="6780405" y="678839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#0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3B22DA7-0F7F-4B9C-9E2A-12DB4D4B7ACF}"/>
              </a:ext>
            </a:extLst>
          </p:cNvPr>
          <p:cNvSpPr/>
          <p:nvPr/>
        </p:nvSpPr>
        <p:spPr>
          <a:xfrm>
            <a:off x="7656065" y="1121604"/>
            <a:ext cx="2046900" cy="19392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6D59FDD-70AF-4D3A-91F8-F18C9632B9AC}"/>
              </a:ext>
            </a:extLst>
          </p:cNvPr>
          <p:cNvSpPr/>
          <p:nvPr/>
        </p:nvSpPr>
        <p:spPr>
          <a:xfrm>
            <a:off x="6779816" y="1678302"/>
            <a:ext cx="292315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F125610-11C3-4225-87FE-1549EEA47F7A}"/>
              </a:ext>
            </a:extLst>
          </p:cNvPr>
          <p:cNvSpPr/>
          <p:nvPr/>
        </p:nvSpPr>
        <p:spPr>
          <a:xfrm>
            <a:off x="6779829" y="1888497"/>
            <a:ext cx="292377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 = NULL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0AAA60B-15B2-490E-81A8-6CDE6F0650BC}"/>
              </a:ext>
            </a:extLst>
          </p:cNvPr>
          <p:cNvSpPr/>
          <p:nvPr/>
        </p:nvSpPr>
        <p:spPr>
          <a:xfrm>
            <a:off x="6996342" y="2098470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A05100D-4071-450A-81C4-5F2313ACD136}"/>
              </a:ext>
            </a:extLst>
          </p:cNvPr>
          <p:cNvSpPr/>
          <p:nvPr/>
        </p:nvSpPr>
        <p:spPr>
          <a:xfrm>
            <a:off x="7656065" y="1315790"/>
            <a:ext cx="2046900" cy="19456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BC196D2-D68E-41F8-BF10-C519B7151334}"/>
              </a:ext>
            </a:extLst>
          </p:cNvPr>
          <p:cNvSpPr/>
          <p:nvPr/>
        </p:nvSpPr>
        <p:spPr>
          <a:xfrm>
            <a:off x="7656065" y="1508584"/>
            <a:ext cx="2046900" cy="17102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2AA0B24-41D4-4A2C-A314-0BBBFA64C23D}"/>
              </a:ext>
            </a:extLst>
          </p:cNvPr>
          <p:cNvSpPr/>
          <p:nvPr/>
        </p:nvSpPr>
        <p:spPr>
          <a:xfrm>
            <a:off x="6996330" y="2304007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B19410C-08C1-4412-8992-07A95D22B9BB}"/>
              </a:ext>
            </a:extLst>
          </p:cNvPr>
          <p:cNvSpPr/>
          <p:nvPr/>
        </p:nvSpPr>
        <p:spPr>
          <a:xfrm>
            <a:off x="8055510" y="2511288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64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38F40A4-062E-4149-A007-F19B7B5034B7}"/>
              </a:ext>
            </a:extLst>
          </p:cNvPr>
          <p:cNvSpPr/>
          <p:nvPr/>
        </p:nvSpPr>
        <p:spPr>
          <a:xfrm>
            <a:off x="8055510" y="2721261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F985455-AFD8-4029-A35E-89D1976156AE}"/>
              </a:ext>
            </a:extLst>
          </p:cNvPr>
          <p:cNvSpPr/>
          <p:nvPr/>
        </p:nvSpPr>
        <p:spPr>
          <a:xfrm>
            <a:off x="8055498" y="2926798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1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41BFCFA-23A0-4A94-9419-12ED7B7F7474}"/>
              </a:ext>
            </a:extLst>
          </p:cNvPr>
          <p:cNvSpPr/>
          <p:nvPr/>
        </p:nvSpPr>
        <p:spPr>
          <a:xfrm rot="5400000">
            <a:off x="6386879" y="2491421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BEB8A5D-9494-4583-B209-873DDC93AE1C}"/>
              </a:ext>
            </a:extLst>
          </p:cNvPr>
          <p:cNvSpPr/>
          <p:nvPr/>
        </p:nvSpPr>
        <p:spPr>
          <a:xfrm>
            <a:off x="7032695" y="2511288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687B96D-421C-4BCF-8B4B-8096EDB7591D}"/>
              </a:ext>
            </a:extLst>
          </p:cNvPr>
          <p:cNvSpPr/>
          <p:nvPr/>
        </p:nvSpPr>
        <p:spPr>
          <a:xfrm rot="5400000">
            <a:off x="6523273" y="1169597"/>
            <a:ext cx="767148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86A983D-210F-4B69-8F53-F85955F9638B}"/>
              </a:ext>
            </a:extLst>
          </p:cNvPr>
          <p:cNvSpPr/>
          <p:nvPr/>
        </p:nvSpPr>
        <p:spPr>
          <a:xfrm>
            <a:off x="7032619" y="1121605"/>
            <a:ext cx="630578" cy="5580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ED201F6-432B-467C-9BB5-35D6E9F24AA1}"/>
              </a:ext>
            </a:extLst>
          </p:cNvPr>
          <p:cNvSpPr/>
          <p:nvPr/>
        </p:nvSpPr>
        <p:spPr>
          <a:xfrm>
            <a:off x="7032619" y="912459"/>
            <a:ext cx="267096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r>
              <a:rPr lang="en-US" sz="1200" dirty="0">
                <a:solidFill>
                  <a:schemeClr val="tx1"/>
                </a:solidFill>
              </a:rPr>
              <a:t> = invalid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C961B99-B80D-4E62-8C43-91C3692A2F8E}"/>
              </a:ext>
            </a:extLst>
          </p:cNvPr>
          <p:cNvSpPr/>
          <p:nvPr/>
        </p:nvSpPr>
        <p:spPr>
          <a:xfrm>
            <a:off x="9974493" y="1949855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B745213-4588-4F22-BBD7-967DE0F79541}"/>
              </a:ext>
            </a:extLst>
          </p:cNvPr>
          <p:cNvSpPr/>
          <p:nvPr/>
        </p:nvSpPr>
        <p:spPr>
          <a:xfrm rot="5400000">
            <a:off x="9682250" y="2432740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EA34A3E2-FE2B-4B96-91F9-33A0E9E7280D}"/>
              </a:ext>
            </a:extLst>
          </p:cNvPr>
          <p:cNvSpPr/>
          <p:nvPr/>
        </p:nvSpPr>
        <p:spPr>
          <a:xfrm rot="5400000">
            <a:off x="10050683" y="2432741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7AAD4AC-18FE-4913-9784-6D7B9C28EABA}"/>
              </a:ext>
            </a:extLst>
          </p:cNvPr>
          <p:cNvSpPr txBox="1"/>
          <p:nvPr/>
        </p:nvSpPr>
        <p:spPr>
          <a:xfrm>
            <a:off x="10462283" y="2275590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FC9746C-D745-4647-AC3E-4EB7EA7F33D7}"/>
              </a:ext>
            </a:extLst>
          </p:cNvPr>
          <p:cNvSpPr/>
          <p:nvPr/>
        </p:nvSpPr>
        <p:spPr>
          <a:xfrm rot="5400000">
            <a:off x="10422312" y="2433210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9890D20-6B87-4D2E-8CCD-D5A22887EB97}"/>
              </a:ext>
            </a:extLst>
          </p:cNvPr>
          <p:cNvSpPr txBox="1"/>
          <p:nvPr/>
        </p:nvSpPr>
        <p:spPr>
          <a:xfrm>
            <a:off x="10186799" y="1895236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E1EB89D-5329-48A8-B7A5-8CA4ACE7A159}"/>
              </a:ext>
            </a:extLst>
          </p:cNvPr>
          <p:cNvSpPr/>
          <p:nvPr/>
        </p:nvSpPr>
        <p:spPr>
          <a:xfrm rot="5400000">
            <a:off x="9867547" y="2432741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E82F9D04-0068-4C61-BEB0-B689D1E9A64E}"/>
              </a:ext>
            </a:extLst>
          </p:cNvPr>
          <p:cNvCxnSpPr>
            <a:stCxn id="113" idx="3"/>
            <a:endCxn id="99" idx="1"/>
          </p:cNvCxnSpPr>
          <p:nvPr/>
        </p:nvCxnSpPr>
        <p:spPr>
          <a:xfrm flipV="1">
            <a:off x="6055765" y="800949"/>
            <a:ext cx="724640" cy="68816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CF135968-D38F-4477-9EA5-EB566F893B40}"/>
              </a:ext>
            </a:extLst>
          </p:cNvPr>
          <p:cNvCxnSpPr>
            <a:cxnSpLocks/>
            <a:stCxn id="114" idx="3"/>
            <a:endCxn id="167" idx="3"/>
          </p:cNvCxnSpPr>
          <p:nvPr/>
        </p:nvCxnSpPr>
        <p:spPr>
          <a:xfrm>
            <a:off x="6055760" y="1699732"/>
            <a:ext cx="4379523" cy="1209963"/>
          </a:xfrm>
          <a:prstGeom prst="bentConnector4">
            <a:avLst>
              <a:gd name="adj1" fmla="val 9288"/>
              <a:gd name="adj2" fmla="val 12755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9B004EF0-094C-4F66-85C4-70CC7D0D55A6}"/>
              </a:ext>
            </a:extLst>
          </p:cNvPr>
          <p:cNvSpPr/>
          <p:nvPr/>
        </p:nvSpPr>
        <p:spPr>
          <a:xfrm>
            <a:off x="6297738" y="3835664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E9E3A0E-9CD2-47A7-817B-126F3C6F7B19}"/>
              </a:ext>
            </a:extLst>
          </p:cNvPr>
          <p:cNvSpPr/>
          <p:nvPr/>
        </p:nvSpPr>
        <p:spPr>
          <a:xfrm>
            <a:off x="226206" y="1448861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2FBFEA-FCF9-4610-8410-CDDD03FFB10E}"/>
              </a:ext>
            </a:extLst>
          </p:cNvPr>
          <p:cNvSpPr/>
          <p:nvPr/>
        </p:nvSpPr>
        <p:spPr>
          <a:xfrm>
            <a:off x="6242622" y="620135"/>
            <a:ext cx="5853375" cy="246161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644E992E-64ED-4099-A8CD-1B070ABCD491}"/>
              </a:ext>
            </a:extLst>
          </p:cNvPr>
          <p:cNvSpPr/>
          <p:nvPr/>
        </p:nvSpPr>
        <p:spPr>
          <a:xfrm>
            <a:off x="9824872" y="798977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E8C5E30-141C-415E-8880-2FE814FF39A6}"/>
              </a:ext>
            </a:extLst>
          </p:cNvPr>
          <p:cNvSpPr txBox="1"/>
          <p:nvPr/>
        </p:nvSpPr>
        <p:spPr>
          <a:xfrm>
            <a:off x="10055401" y="678839"/>
            <a:ext cx="1934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C00000"/>
                </a:solidFill>
              </a:rPr>
              <a:t>percpu</a:t>
            </a:r>
            <a:r>
              <a:rPr lang="en-US" sz="1600" b="1" dirty="0">
                <a:solidFill>
                  <a:srgbClr val="C00000"/>
                </a:solidFill>
              </a:rPr>
              <a:t> page’s node is mismatch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79B11E2-BAEA-425F-AB71-5B3C2C3E1FA8}"/>
              </a:ext>
            </a:extLst>
          </p:cNvPr>
          <p:cNvSpPr/>
          <p:nvPr/>
        </p:nvSpPr>
        <p:spPr>
          <a:xfrm>
            <a:off x="6372225" y="3133725"/>
            <a:ext cx="4524375" cy="986103"/>
          </a:xfrm>
          <a:custGeom>
            <a:avLst/>
            <a:gdLst>
              <a:gd name="connsiteX0" fmla="*/ 4524375 w 4524375"/>
              <a:gd name="connsiteY0" fmla="*/ 0 h 986103"/>
              <a:gd name="connsiteX1" fmla="*/ 3648075 w 4524375"/>
              <a:gd name="connsiteY1" fmla="*/ 838200 h 986103"/>
              <a:gd name="connsiteX2" fmla="*/ 0 w 4524375"/>
              <a:gd name="connsiteY2" fmla="*/ 981075 h 98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4375" h="986103">
                <a:moveTo>
                  <a:pt x="4524375" y="0"/>
                </a:moveTo>
                <a:cubicBezTo>
                  <a:pt x="4463256" y="337344"/>
                  <a:pt x="4402137" y="674688"/>
                  <a:pt x="3648075" y="838200"/>
                </a:cubicBezTo>
                <a:cubicBezTo>
                  <a:pt x="2894012" y="1001713"/>
                  <a:pt x="1447006" y="991394"/>
                  <a:pt x="0" y="981075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CE325C4B-2FB7-4DE3-B8DA-E0F44823CDCE}"/>
              </a:ext>
            </a:extLst>
          </p:cNvPr>
          <p:cNvSpPr/>
          <p:nvPr/>
        </p:nvSpPr>
        <p:spPr>
          <a:xfrm>
            <a:off x="7832759" y="3947414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3F7F67D-D5F5-44F9-830C-3F48D1DAA339}"/>
              </a:ext>
            </a:extLst>
          </p:cNvPr>
          <p:cNvSpPr txBox="1"/>
          <p:nvPr/>
        </p:nvSpPr>
        <p:spPr>
          <a:xfrm>
            <a:off x="7983050" y="4079909"/>
            <a:ext cx="3523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C00000"/>
                </a:solidFill>
              </a:rPr>
              <a:t>deactivate_slab</a:t>
            </a:r>
            <a:r>
              <a:rPr lang="en-US" sz="1600" b="1" dirty="0">
                <a:solidFill>
                  <a:srgbClr val="C00000"/>
                </a:solidFill>
              </a:rPr>
              <a:t>(): Remove </a:t>
            </a:r>
            <a:r>
              <a:rPr lang="en-US" sz="1600" b="1" dirty="0" err="1">
                <a:solidFill>
                  <a:srgbClr val="C00000"/>
                </a:solidFill>
              </a:rPr>
              <a:t>percpu</a:t>
            </a:r>
            <a:r>
              <a:rPr lang="en-US" sz="1600" b="1" dirty="0">
                <a:solidFill>
                  <a:srgbClr val="C00000"/>
                </a:solidFill>
              </a:rPr>
              <a:t> slab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0059BE24-8823-4805-B060-50F694D5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37" y="-123823"/>
            <a:ext cx="12235055" cy="689951"/>
          </a:xfrm>
        </p:spPr>
        <p:txBody>
          <a:bodyPr>
            <a:noAutofit/>
          </a:bodyPr>
          <a:lstStyle/>
          <a:p>
            <a:r>
              <a:rPr lang="en-US" sz="4000" dirty="0" err="1"/>
              <a:t>Slowpath</a:t>
            </a:r>
            <a:r>
              <a:rPr lang="en-US" sz="4000" dirty="0"/>
              <a:t> #1 – Get an object from node’s partial page</a:t>
            </a:r>
          </a:p>
        </p:txBody>
      </p:sp>
    </p:spTree>
    <p:extLst>
      <p:ext uri="{BB962C8B-B14F-4D97-AF65-F5344CB8AC3E}">
        <p14:creationId xmlns:p14="http://schemas.microsoft.com/office/powerpoint/2010/main" val="17720614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1092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1092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1092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1092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95913" y="31169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95913" y="35934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95912" y="38036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95908" y="40136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95911" y="42238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95907" y="33852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95906" y="4431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95911" y="49199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95911" y="53964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95910" y="56066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95906" y="58166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95909" y="60268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95905" y="51881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95904" y="6234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275886" y="64414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95904" y="45363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stCxn id="106" idx="3"/>
            <a:endCxn id="80" idx="3"/>
          </p:cNvCxnSpPr>
          <p:nvPr/>
        </p:nvCxnSpPr>
        <p:spPr>
          <a:xfrm flipH="1">
            <a:off x="6310284" y="4536365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251423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824FD6C-AC87-472A-979F-4BD3613BB960}"/>
              </a:ext>
            </a:extLst>
          </p:cNvPr>
          <p:cNvSpPr/>
          <p:nvPr/>
        </p:nvSpPr>
        <p:spPr>
          <a:xfrm>
            <a:off x="6696077" y="5354873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#1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CC4CE98-7ABC-453D-AC83-22FA85C70C4C}"/>
              </a:ext>
            </a:extLst>
          </p:cNvPr>
          <p:cNvCxnSpPr>
            <a:cxnSpLocks/>
            <a:stCxn id="82" idx="3"/>
            <a:endCxn id="146" idx="1"/>
          </p:cNvCxnSpPr>
          <p:nvPr/>
        </p:nvCxnSpPr>
        <p:spPr>
          <a:xfrm flipV="1">
            <a:off x="6310283" y="5476983"/>
            <a:ext cx="385794" cy="2349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9EAF3EA-E19C-44D7-BE81-22BCD099C23F}"/>
              </a:ext>
            </a:extLst>
          </p:cNvPr>
          <p:cNvSpPr txBox="1"/>
          <p:nvPr/>
        </p:nvSpPr>
        <p:spPr>
          <a:xfrm>
            <a:off x="40163" y="1667756"/>
            <a:ext cx="1635129" cy="24622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45720" rIns="0" rtlCol="0">
            <a:spAutoFit/>
          </a:bodyPr>
          <a:lstStyle/>
          <a:p>
            <a:r>
              <a:rPr lang="en-US" sz="1400" dirty="0"/>
              <a:t>Allocate a slab object from node #1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8D8C48-75E9-46ED-AED7-E6DAEE0936C1}"/>
              </a:ext>
            </a:extLst>
          </p:cNvPr>
          <p:cNvCxnSpPr>
            <a:cxnSpLocks/>
            <a:stCxn id="62" idx="0"/>
          </p:cNvCxnSpPr>
          <p:nvPr/>
        </p:nvCxnSpPr>
        <p:spPr>
          <a:xfrm rot="5400000" flipH="1" flipV="1">
            <a:off x="943511" y="785647"/>
            <a:ext cx="796326" cy="9678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ADF992C-DB46-4B00-80BD-F007FA553A05}"/>
              </a:ext>
            </a:extLst>
          </p:cNvPr>
          <p:cNvSpPr/>
          <p:nvPr/>
        </p:nvSpPr>
        <p:spPr>
          <a:xfrm>
            <a:off x="241126" y="2895372"/>
            <a:ext cx="1254454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573BA0F-485A-4C57-9E94-E4E14F351F91}"/>
              </a:ext>
            </a:extLst>
          </p:cNvPr>
          <p:cNvSpPr/>
          <p:nvPr/>
        </p:nvSpPr>
        <p:spPr>
          <a:xfrm>
            <a:off x="241126" y="3363347"/>
            <a:ext cx="125445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*node[]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A80CAAF-E06B-4826-806F-C028BCE5995A}"/>
              </a:ext>
            </a:extLst>
          </p:cNvPr>
          <p:cNvSpPr txBox="1"/>
          <p:nvPr/>
        </p:nvSpPr>
        <p:spPr>
          <a:xfrm>
            <a:off x="135123" y="2500997"/>
            <a:ext cx="151616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F60220F-113B-47AE-BE47-FF648045D502}"/>
              </a:ext>
            </a:extLst>
          </p:cNvPr>
          <p:cNvSpPr txBox="1"/>
          <p:nvPr/>
        </p:nvSpPr>
        <p:spPr>
          <a:xfrm>
            <a:off x="127462" y="2238413"/>
            <a:ext cx="1598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AFCC303-202B-4107-A4A6-CB509672C76D}"/>
              </a:ext>
            </a:extLst>
          </p:cNvPr>
          <p:cNvSpPr txBox="1"/>
          <p:nvPr/>
        </p:nvSpPr>
        <p:spPr>
          <a:xfrm>
            <a:off x="101816" y="3524187"/>
            <a:ext cx="159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slab objects for node[0] &amp; node[1]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node[0]: allocated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30E06A3-EF48-49AF-A3F6-6969AA8F16E0}"/>
              </a:ext>
            </a:extLst>
          </p:cNvPr>
          <p:cNvCxnSpPr>
            <a:stCxn id="149" idx="0"/>
            <a:endCxn id="152" idx="2"/>
          </p:cNvCxnSpPr>
          <p:nvPr/>
        </p:nvCxnSpPr>
        <p:spPr>
          <a:xfrm flipV="1">
            <a:off x="868353" y="2716441"/>
            <a:ext cx="24854" cy="1789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955B634C-9D3B-4BC1-859B-6451500087D8}"/>
              </a:ext>
            </a:extLst>
          </p:cNvPr>
          <p:cNvSpPr/>
          <p:nvPr/>
        </p:nvSpPr>
        <p:spPr>
          <a:xfrm>
            <a:off x="6780405" y="678839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#0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3B22DA7-0F7F-4B9C-9E2A-12DB4D4B7ACF}"/>
              </a:ext>
            </a:extLst>
          </p:cNvPr>
          <p:cNvSpPr/>
          <p:nvPr/>
        </p:nvSpPr>
        <p:spPr>
          <a:xfrm>
            <a:off x="7656065" y="1121604"/>
            <a:ext cx="2046900" cy="19392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6D59FDD-70AF-4D3A-91F8-F18C9632B9AC}"/>
              </a:ext>
            </a:extLst>
          </p:cNvPr>
          <p:cNvSpPr/>
          <p:nvPr/>
        </p:nvSpPr>
        <p:spPr>
          <a:xfrm>
            <a:off x="6779816" y="1678302"/>
            <a:ext cx="292315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F125610-11C3-4225-87FE-1549EEA47F7A}"/>
              </a:ext>
            </a:extLst>
          </p:cNvPr>
          <p:cNvSpPr/>
          <p:nvPr/>
        </p:nvSpPr>
        <p:spPr>
          <a:xfrm>
            <a:off x="6779829" y="1888497"/>
            <a:ext cx="292377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 = NULL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0AAA60B-15B2-490E-81A8-6CDE6F0650BC}"/>
              </a:ext>
            </a:extLst>
          </p:cNvPr>
          <p:cNvSpPr/>
          <p:nvPr/>
        </p:nvSpPr>
        <p:spPr>
          <a:xfrm>
            <a:off x="6996342" y="2098470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A05100D-4071-450A-81C4-5F2313ACD136}"/>
              </a:ext>
            </a:extLst>
          </p:cNvPr>
          <p:cNvSpPr/>
          <p:nvPr/>
        </p:nvSpPr>
        <p:spPr>
          <a:xfrm>
            <a:off x="7656065" y="1315790"/>
            <a:ext cx="2046900" cy="19456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BC196D2-D68E-41F8-BF10-C519B7151334}"/>
              </a:ext>
            </a:extLst>
          </p:cNvPr>
          <p:cNvSpPr/>
          <p:nvPr/>
        </p:nvSpPr>
        <p:spPr>
          <a:xfrm>
            <a:off x="7656065" y="1508584"/>
            <a:ext cx="2046900" cy="17102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2AA0B24-41D4-4A2C-A314-0BBBFA64C23D}"/>
              </a:ext>
            </a:extLst>
          </p:cNvPr>
          <p:cNvSpPr/>
          <p:nvPr/>
        </p:nvSpPr>
        <p:spPr>
          <a:xfrm>
            <a:off x="6996330" y="2304007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B19410C-08C1-4412-8992-07A95D22B9BB}"/>
              </a:ext>
            </a:extLst>
          </p:cNvPr>
          <p:cNvSpPr/>
          <p:nvPr/>
        </p:nvSpPr>
        <p:spPr>
          <a:xfrm>
            <a:off x="8055510" y="2511288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64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38F40A4-062E-4149-A007-F19B7B5034B7}"/>
              </a:ext>
            </a:extLst>
          </p:cNvPr>
          <p:cNvSpPr/>
          <p:nvPr/>
        </p:nvSpPr>
        <p:spPr>
          <a:xfrm>
            <a:off x="8055510" y="2721261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F985455-AFD8-4029-A35E-89D1976156AE}"/>
              </a:ext>
            </a:extLst>
          </p:cNvPr>
          <p:cNvSpPr/>
          <p:nvPr/>
        </p:nvSpPr>
        <p:spPr>
          <a:xfrm>
            <a:off x="8055498" y="2926798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1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41BFCFA-23A0-4A94-9419-12ED7B7F7474}"/>
              </a:ext>
            </a:extLst>
          </p:cNvPr>
          <p:cNvSpPr/>
          <p:nvPr/>
        </p:nvSpPr>
        <p:spPr>
          <a:xfrm rot="5400000">
            <a:off x="6386879" y="2491421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BEB8A5D-9494-4583-B209-873DDC93AE1C}"/>
              </a:ext>
            </a:extLst>
          </p:cNvPr>
          <p:cNvSpPr/>
          <p:nvPr/>
        </p:nvSpPr>
        <p:spPr>
          <a:xfrm>
            <a:off x="7032695" y="2511288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687B96D-421C-4BCF-8B4B-8096EDB7591D}"/>
              </a:ext>
            </a:extLst>
          </p:cNvPr>
          <p:cNvSpPr/>
          <p:nvPr/>
        </p:nvSpPr>
        <p:spPr>
          <a:xfrm rot="5400000">
            <a:off x="6523273" y="1169597"/>
            <a:ext cx="767148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86A983D-210F-4B69-8F53-F85955F9638B}"/>
              </a:ext>
            </a:extLst>
          </p:cNvPr>
          <p:cNvSpPr/>
          <p:nvPr/>
        </p:nvSpPr>
        <p:spPr>
          <a:xfrm>
            <a:off x="7032619" y="1121605"/>
            <a:ext cx="630578" cy="5580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ED201F6-432B-467C-9BB5-35D6E9F24AA1}"/>
              </a:ext>
            </a:extLst>
          </p:cNvPr>
          <p:cNvSpPr/>
          <p:nvPr/>
        </p:nvSpPr>
        <p:spPr>
          <a:xfrm>
            <a:off x="7032619" y="912459"/>
            <a:ext cx="267096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r>
              <a:rPr lang="en-US" sz="1200" dirty="0">
                <a:solidFill>
                  <a:schemeClr val="tx1"/>
                </a:solidFill>
              </a:rPr>
              <a:t> = invalid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C961B99-B80D-4E62-8C43-91C3692A2F8E}"/>
              </a:ext>
            </a:extLst>
          </p:cNvPr>
          <p:cNvSpPr/>
          <p:nvPr/>
        </p:nvSpPr>
        <p:spPr>
          <a:xfrm>
            <a:off x="9974493" y="1949855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B745213-4588-4F22-BBD7-967DE0F79541}"/>
              </a:ext>
            </a:extLst>
          </p:cNvPr>
          <p:cNvSpPr/>
          <p:nvPr/>
        </p:nvSpPr>
        <p:spPr>
          <a:xfrm rot="5400000">
            <a:off x="9682250" y="2432740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EA34A3E2-FE2B-4B96-91F9-33A0E9E7280D}"/>
              </a:ext>
            </a:extLst>
          </p:cNvPr>
          <p:cNvSpPr/>
          <p:nvPr/>
        </p:nvSpPr>
        <p:spPr>
          <a:xfrm rot="5400000">
            <a:off x="10050683" y="2432741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7AAD4AC-18FE-4913-9784-6D7B9C28EABA}"/>
              </a:ext>
            </a:extLst>
          </p:cNvPr>
          <p:cNvSpPr txBox="1"/>
          <p:nvPr/>
        </p:nvSpPr>
        <p:spPr>
          <a:xfrm>
            <a:off x="10462283" y="2275590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FC9746C-D745-4647-AC3E-4EB7EA7F33D7}"/>
              </a:ext>
            </a:extLst>
          </p:cNvPr>
          <p:cNvSpPr/>
          <p:nvPr/>
        </p:nvSpPr>
        <p:spPr>
          <a:xfrm rot="5400000">
            <a:off x="10422312" y="2433210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9890D20-6B87-4D2E-8CCD-D5A22887EB97}"/>
              </a:ext>
            </a:extLst>
          </p:cNvPr>
          <p:cNvSpPr txBox="1"/>
          <p:nvPr/>
        </p:nvSpPr>
        <p:spPr>
          <a:xfrm>
            <a:off x="10186799" y="1895236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E1EB89D-5329-48A8-B7A5-8CA4ACE7A159}"/>
              </a:ext>
            </a:extLst>
          </p:cNvPr>
          <p:cNvSpPr/>
          <p:nvPr/>
        </p:nvSpPr>
        <p:spPr>
          <a:xfrm rot="5400000">
            <a:off x="9867547" y="2432741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E82F9D04-0068-4C61-BEB0-B689D1E9A64E}"/>
              </a:ext>
            </a:extLst>
          </p:cNvPr>
          <p:cNvCxnSpPr>
            <a:stCxn id="113" idx="3"/>
            <a:endCxn id="99" idx="1"/>
          </p:cNvCxnSpPr>
          <p:nvPr/>
        </p:nvCxnSpPr>
        <p:spPr>
          <a:xfrm flipV="1">
            <a:off x="6055765" y="800949"/>
            <a:ext cx="724640" cy="68816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CF135968-D38F-4477-9EA5-EB566F893B40}"/>
              </a:ext>
            </a:extLst>
          </p:cNvPr>
          <p:cNvCxnSpPr>
            <a:cxnSpLocks/>
            <a:stCxn id="114" idx="3"/>
            <a:endCxn id="167" idx="3"/>
          </p:cNvCxnSpPr>
          <p:nvPr/>
        </p:nvCxnSpPr>
        <p:spPr>
          <a:xfrm>
            <a:off x="6055760" y="1699732"/>
            <a:ext cx="4379523" cy="1209963"/>
          </a:xfrm>
          <a:prstGeom prst="bentConnector4">
            <a:avLst>
              <a:gd name="adj1" fmla="val 9288"/>
              <a:gd name="adj2" fmla="val 12755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9B004EF0-094C-4F66-85C4-70CC7D0D55A6}"/>
              </a:ext>
            </a:extLst>
          </p:cNvPr>
          <p:cNvSpPr/>
          <p:nvPr/>
        </p:nvSpPr>
        <p:spPr>
          <a:xfrm>
            <a:off x="6297738" y="3835664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E9E3A0E-9CD2-47A7-817B-126F3C6F7B19}"/>
              </a:ext>
            </a:extLst>
          </p:cNvPr>
          <p:cNvSpPr/>
          <p:nvPr/>
        </p:nvSpPr>
        <p:spPr>
          <a:xfrm>
            <a:off x="226206" y="1448861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2FBFEA-FCF9-4610-8410-CDDD03FFB10E}"/>
              </a:ext>
            </a:extLst>
          </p:cNvPr>
          <p:cNvSpPr/>
          <p:nvPr/>
        </p:nvSpPr>
        <p:spPr>
          <a:xfrm>
            <a:off x="6242622" y="620135"/>
            <a:ext cx="5853375" cy="246161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644E992E-64ED-4099-A8CD-1B070ABCD491}"/>
              </a:ext>
            </a:extLst>
          </p:cNvPr>
          <p:cNvSpPr/>
          <p:nvPr/>
        </p:nvSpPr>
        <p:spPr>
          <a:xfrm>
            <a:off x="9824872" y="798977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E8C5E30-141C-415E-8880-2FE814FF39A6}"/>
              </a:ext>
            </a:extLst>
          </p:cNvPr>
          <p:cNvSpPr txBox="1"/>
          <p:nvPr/>
        </p:nvSpPr>
        <p:spPr>
          <a:xfrm>
            <a:off x="10055401" y="678839"/>
            <a:ext cx="1934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C00000"/>
                </a:solidFill>
              </a:rPr>
              <a:t>percpu</a:t>
            </a:r>
            <a:r>
              <a:rPr lang="en-US" sz="1600" b="1" dirty="0">
                <a:solidFill>
                  <a:srgbClr val="C00000"/>
                </a:solidFill>
              </a:rPr>
              <a:t> page’s node is mismatch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79B11E2-BAEA-425F-AB71-5B3C2C3E1FA8}"/>
              </a:ext>
            </a:extLst>
          </p:cNvPr>
          <p:cNvSpPr/>
          <p:nvPr/>
        </p:nvSpPr>
        <p:spPr>
          <a:xfrm>
            <a:off x="6372225" y="3133725"/>
            <a:ext cx="4524375" cy="986103"/>
          </a:xfrm>
          <a:custGeom>
            <a:avLst/>
            <a:gdLst>
              <a:gd name="connsiteX0" fmla="*/ 4524375 w 4524375"/>
              <a:gd name="connsiteY0" fmla="*/ 0 h 986103"/>
              <a:gd name="connsiteX1" fmla="*/ 3648075 w 4524375"/>
              <a:gd name="connsiteY1" fmla="*/ 838200 h 986103"/>
              <a:gd name="connsiteX2" fmla="*/ 0 w 4524375"/>
              <a:gd name="connsiteY2" fmla="*/ 981075 h 98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4375" h="986103">
                <a:moveTo>
                  <a:pt x="4524375" y="0"/>
                </a:moveTo>
                <a:cubicBezTo>
                  <a:pt x="4463256" y="337344"/>
                  <a:pt x="4402137" y="674688"/>
                  <a:pt x="3648075" y="838200"/>
                </a:cubicBezTo>
                <a:cubicBezTo>
                  <a:pt x="2894012" y="1001713"/>
                  <a:pt x="1447006" y="991394"/>
                  <a:pt x="0" y="981075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CE325C4B-2FB7-4DE3-B8DA-E0F44823CDCE}"/>
              </a:ext>
            </a:extLst>
          </p:cNvPr>
          <p:cNvSpPr/>
          <p:nvPr/>
        </p:nvSpPr>
        <p:spPr>
          <a:xfrm>
            <a:off x="7832759" y="3947414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B59FC6-F897-49B1-9999-602DF2A1E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2" y="4267969"/>
            <a:ext cx="6762256" cy="247863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50D1F9C9-65C1-424D-AFC9-05F987DCC656}"/>
              </a:ext>
            </a:extLst>
          </p:cNvPr>
          <p:cNvSpPr txBox="1"/>
          <p:nvPr/>
        </p:nvSpPr>
        <p:spPr>
          <a:xfrm>
            <a:off x="7983050" y="4079909"/>
            <a:ext cx="3523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C00000"/>
                </a:solidFill>
              </a:rPr>
              <a:t>deactivate_slab</a:t>
            </a:r>
            <a:r>
              <a:rPr lang="en-US" sz="1600" b="1" dirty="0">
                <a:solidFill>
                  <a:srgbClr val="C00000"/>
                </a:solidFill>
              </a:rPr>
              <a:t>(): Remove </a:t>
            </a:r>
            <a:r>
              <a:rPr lang="en-US" sz="1600" b="1" dirty="0" err="1">
                <a:solidFill>
                  <a:srgbClr val="C00000"/>
                </a:solidFill>
              </a:rPr>
              <a:t>percpu</a:t>
            </a:r>
            <a:r>
              <a:rPr lang="en-US" sz="1600" b="1" dirty="0">
                <a:solidFill>
                  <a:srgbClr val="C00000"/>
                </a:solidFill>
              </a:rPr>
              <a:t> slab</a:t>
            </a:r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39620CB0-9B7A-41B3-BA4D-540532C20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37" y="-123823"/>
            <a:ext cx="12235055" cy="689951"/>
          </a:xfrm>
        </p:spPr>
        <p:txBody>
          <a:bodyPr>
            <a:noAutofit/>
          </a:bodyPr>
          <a:lstStyle/>
          <a:p>
            <a:r>
              <a:rPr lang="en-US" sz="4000" dirty="0" err="1"/>
              <a:t>Slowpath</a:t>
            </a:r>
            <a:r>
              <a:rPr lang="en-US" sz="4000" dirty="0"/>
              <a:t> #1 – Get an object from node’s partial page</a:t>
            </a:r>
          </a:p>
        </p:txBody>
      </p:sp>
    </p:spTree>
    <p:extLst>
      <p:ext uri="{BB962C8B-B14F-4D97-AF65-F5344CB8AC3E}">
        <p14:creationId xmlns:p14="http://schemas.microsoft.com/office/powerpoint/2010/main" val="39347481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1092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1092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 = NULL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1092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1092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95913" y="31169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95913" y="35934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95912" y="38036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95908" y="40136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95911" y="42238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95907" y="33852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95906" y="4431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95911" y="49199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95911" y="53964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95910" y="56066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95906" y="58166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95909" y="60268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95905" y="51881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95904" y="6234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275886" y="64414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95904" y="45363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stCxn id="106" idx="3"/>
            <a:endCxn id="80" idx="3"/>
          </p:cNvCxnSpPr>
          <p:nvPr/>
        </p:nvCxnSpPr>
        <p:spPr>
          <a:xfrm flipH="1">
            <a:off x="6310284" y="4536365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251423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CC4CE98-7ABC-453D-AC83-22FA85C70C4C}"/>
              </a:ext>
            </a:extLst>
          </p:cNvPr>
          <p:cNvCxnSpPr>
            <a:cxnSpLocks/>
            <a:stCxn id="82" idx="3"/>
            <a:endCxn id="107" idx="1"/>
          </p:cNvCxnSpPr>
          <p:nvPr/>
        </p:nvCxnSpPr>
        <p:spPr>
          <a:xfrm flipV="1">
            <a:off x="6310283" y="4430001"/>
            <a:ext cx="598144" cy="12818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9EAF3EA-E19C-44D7-BE81-22BCD099C23F}"/>
              </a:ext>
            </a:extLst>
          </p:cNvPr>
          <p:cNvSpPr txBox="1"/>
          <p:nvPr/>
        </p:nvSpPr>
        <p:spPr>
          <a:xfrm>
            <a:off x="40163" y="1667756"/>
            <a:ext cx="1635129" cy="24622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45720" rIns="0" rtlCol="0">
            <a:spAutoFit/>
          </a:bodyPr>
          <a:lstStyle/>
          <a:p>
            <a:r>
              <a:rPr lang="en-US" sz="1400" dirty="0"/>
              <a:t>Allocate a slab object from node #1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8D8C48-75E9-46ED-AED7-E6DAEE0936C1}"/>
              </a:ext>
            </a:extLst>
          </p:cNvPr>
          <p:cNvCxnSpPr>
            <a:cxnSpLocks/>
            <a:stCxn id="62" idx="0"/>
          </p:cNvCxnSpPr>
          <p:nvPr/>
        </p:nvCxnSpPr>
        <p:spPr>
          <a:xfrm rot="5400000" flipH="1" flipV="1">
            <a:off x="943511" y="785647"/>
            <a:ext cx="796326" cy="9678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ADF992C-DB46-4B00-80BD-F007FA553A05}"/>
              </a:ext>
            </a:extLst>
          </p:cNvPr>
          <p:cNvSpPr/>
          <p:nvPr/>
        </p:nvSpPr>
        <p:spPr>
          <a:xfrm>
            <a:off x="241126" y="2895372"/>
            <a:ext cx="1254454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573BA0F-485A-4C57-9E94-E4E14F351F91}"/>
              </a:ext>
            </a:extLst>
          </p:cNvPr>
          <p:cNvSpPr/>
          <p:nvPr/>
        </p:nvSpPr>
        <p:spPr>
          <a:xfrm>
            <a:off x="241126" y="3363347"/>
            <a:ext cx="125445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*node[]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A80CAAF-E06B-4826-806F-C028BCE5995A}"/>
              </a:ext>
            </a:extLst>
          </p:cNvPr>
          <p:cNvSpPr txBox="1"/>
          <p:nvPr/>
        </p:nvSpPr>
        <p:spPr>
          <a:xfrm>
            <a:off x="135123" y="2500997"/>
            <a:ext cx="151616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F60220F-113B-47AE-BE47-FF648045D502}"/>
              </a:ext>
            </a:extLst>
          </p:cNvPr>
          <p:cNvSpPr txBox="1"/>
          <p:nvPr/>
        </p:nvSpPr>
        <p:spPr>
          <a:xfrm>
            <a:off x="127462" y="2238413"/>
            <a:ext cx="1598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AFCC303-202B-4107-A4A6-CB509672C76D}"/>
              </a:ext>
            </a:extLst>
          </p:cNvPr>
          <p:cNvSpPr txBox="1"/>
          <p:nvPr/>
        </p:nvSpPr>
        <p:spPr>
          <a:xfrm>
            <a:off x="101816" y="3524187"/>
            <a:ext cx="159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slab objects for node[0] &amp; node[1]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node[0]: allocated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30E06A3-EF48-49AF-A3F6-6969AA8F16E0}"/>
              </a:ext>
            </a:extLst>
          </p:cNvPr>
          <p:cNvCxnSpPr>
            <a:stCxn id="149" idx="0"/>
            <a:endCxn id="152" idx="2"/>
          </p:cNvCxnSpPr>
          <p:nvPr/>
        </p:nvCxnSpPr>
        <p:spPr>
          <a:xfrm flipV="1">
            <a:off x="868353" y="2716441"/>
            <a:ext cx="24854" cy="1789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955B634C-9D3B-4BC1-859B-6451500087D8}"/>
              </a:ext>
            </a:extLst>
          </p:cNvPr>
          <p:cNvSpPr/>
          <p:nvPr/>
        </p:nvSpPr>
        <p:spPr>
          <a:xfrm>
            <a:off x="6907421" y="1551864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#0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3B22DA7-0F7F-4B9C-9E2A-12DB4D4B7ACF}"/>
              </a:ext>
            </a:extLst>
          </p:cNvPr>
          <p:cNvSpPr/>
          <p:nvPr/>
        </p:nvSpPr>
        <p:spPr>
          <a:xfrm>
            <a:off x="7783081" y="1994629"/>
            <a:ext cx="2046900" cy="19392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6D59FDD-70AF-4D3A-91F8-F18C9632B9AC}"/>
              </a:ext>
            </a:extLst>
          </p:cNvPr>
          <p:cNvSpPr/>
          <p:nvPr/>
        </p:nvSpPr>
        <p:spPr>
          <a:xfrm>
            <a:off x="6906832" y="2551327"/>
            <a:ext cx="292315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F125610-11C3-4225-87FE-1549EEA47F7A}"/>
              </a:ext>
            </a:extLst>
          </p:cNvPr>
          <p:cNvSpPr/>
          <p:nvPr/>
        </p:nvSpPr>
        <p:spPr>
          <a:xfrm>
            <a:off x="6906845" y="2761522"/>
            <a:ext cx="292377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0AAA60B-15B2-490E-81A8-6CDE6F0650BC}"/>
              </a:ext>
            </a:extLst>
          </p:cNvPr>
          <p:cNvSpPr/>
          <p:nvPr/>
        </p:nvSpPr>
        <p:spPr>
          <a:xfrm>
            <a:off x="7123358" y="2971495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A05100D-4071-450A-81C4-5F2313ACD136}"/>
              </a:ext>
            </a:extLst>
          </p:cNvPr>
          <p:cNvSpPr/>
          <p:nvPr/>
        </p:nvSpPr>
        <p:spPr>
          <a:xfrm>
            <a:off x="7783081" y="2188815"/>
            <a:ext cx="2046900" cy="19456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BC196D2-D68E-41F8-BF10-C519B7151334}"/>
              </a:ext>
            </a:extLst>
          </p:cNvPr>
          <p:cNvSpPr/>
          <p:nvPr/>
        </p:nvSpPr>
        <p:spPr>
          <a:xfrm>
            <a:off x="7783081" y="2381609"/>
            <a:ext cx="2046900" cy="17102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2AA0B24-41D4-4A2C-A314-0BBBFA64C23D}"/>
              </a:ext>
            </a:extLst>
          </p:cNvPr>
          <p:cNvSpPr/>
          <p:nvPr/>
        </p:nvSpPr>
        <p:spPr>
          <a:xfrm>
            <a:off x="7123346" y="3177032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B19410C-08C1-4412-8992-07A95D22B9BB}"/>
              </a:ext>
            </a:extLst>
          </p:cNvPr>
          <p:cNvSpPr/>
          <p:nvPr/>
        </p:nvSpPr>
        <p:spPr>
          <a:xfrm>
            <a:off x="8182526" y="3384313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2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38F40A4-062E-4149-A007-F19B7B5034B7}"/>
              </a:ext>
            </a:extLst>
          </p:cNvPr>
          <p:cNvSpPr/>
          <p:nvPr/>
        </p:nvSpPr>
        <p:spPr>
          <a:xfrm>
            <a:off x="8182526" y="3594286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F985455-AFD8-4029-A35E-89D1976156AE}"/>
              </a:ext>
            </a:extLst>
          </p:cNvPr>
          <p:cNvSpPr/>
          <p:nvPr/>
        </p:nvSpPr>
        <p:spPr>
          <a:xfrm>
            <a:off x="8182514" y="3799823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0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41BFCFA-23A0-4A94-9419-12ED7B7F7474}"/>
              </a:ext>
            </a:extLst>
          </p:cNvPr>
          <p:cNvSpPr/>
          <p:nvPr/>
        </p:nvSpPr>
        <p:spPr>
          <a:xfrm rot="5400000">
            <a:off x="6513895" y="3364446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BEB8A5D-9494-4583-B209-873DDC93AE1C}"/>
              </a:ext>
            </a:extLst>
          </p:cNvPr>
          <p:cNvSpPr/>
          <p:nvPr/>
        </p:nvSpPr>
        <p:spPr>
          <a:xfrm>
            <a:off x="7159711" y="3384313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687B96D-421C-4BCF-8B4B-8096EDB7591D}"/>
              </a:ext>
            </a:extLst>
          </p:cNvPr>
          <p:cNvSpPr/>
          <p:nvPr/>
        </p:nvSpPr>
        <p:spPr>
          <a:xfrm rot="5400000">
            <a:off x="6650289" y="2042622"/>
            <a:ext cx="767148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86A983D-210F-4B69-8F53-F85955F9638B}"/>
              </a:ext>
            </a:extLst>
          </p:cNvPr>
          <p:cNvSpPr/>
          <p:nvPr/>
        </p:nvSpPr>
        <p:spPr>
          <a:xfrm>
            <a:off x="7159635" y="1994630"/>
            <a:ext cx="630578" cy="5580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ED201F6-432B-467C-9BB5-35D6E9F24AA1}"/>
              </a:ext>
            </a:extLst>
          </p:cNvPr>
          <p:cNvSpPr/>
          <p:nvPr/>
        </p:nvSpPr>
        <p:spPr>
          <a:xfrm>
            <a:off x="7159635" y="1785484"/>
            <a:ext cx="267096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C961B99-B80D-4E62-8C43-91C3692A2F8E}"/>
              </a:ext>
            </a:extLst>
          </p:cNvPr>
          <p:cNvSpPr/>
          <p:nvPr/>
        </p:nvSpPr>
        <p:spPr>
          <a:xfrm>
            <a:off x="10196759" y="2822880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B745213-4588-4F22-BBD7-967DE0F79541}"/>
              </a:ext>
            </a:extLst>
          </p:cNvPr>
          <p:cNvSpPr/>
          <p:nvPr/>
        </p:nvSpPr>
        <p:spPr>
          <a:xfrm rot="5400000">
            <a:off x="9904516" y="3305765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EA34A3E2-FE2B-4B96-91F9-33A0E9E7280D}"/>
              </a:ext>
            </a:extLst>
          </p:cNvPr>
          <p:cNvSpPr/>
          <p:nvPr/>
        </p:nvSpPr>
        <p:spPr>
          <a:xfrm rot="5400000">
            <a:off x="10272949" y="330576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7AAD4AC-18FE-4913-9784-6D7B9C28EABA}"/>
              </a:ext>
            </a:extLst>
          </p:cNvPr>
          <p:cNvSpPr txBox="1"/>
          <p:nvPr/>
        </p:nvSpPr>
        <p:spPr>
          <a:xfrm>
            <a:off x="10684549" y="3148615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FC9746C-D745-4647-AC3E-4EB7EA7F33D7}"/>
              </a:ext>
            </a:extLst>
          </p:cNvPr>
          <p:cNvSpPr/>
          <p:nvPr/>
        </p:nvSpPr>
        <p:spPr>
          <a:xfrm rot="5400000">
            <a:off x="10644578" y="3306235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9890D20-6B87-4D2E-8CCD-D5A22887EB97}"/>
              </a:ext>
            </a:extLst>
          </p:cNvPr>
          <p:cNvSpPr txBox="1"/>
          <p:nvPr/>
        </p:nvSpPr>
        <p:spPr>
          <a:xfrm>
            <a:off x="10409065" y="2768261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E1EB89D-5329-48A8-B7A5-8CA4ACE7A159}"/>
              </a:ext>
            </a:extLst>
          </p:cNvPr>
          <p:cNvSpPr/>
          <p:nvPr/>
        </p:nvSpPr>
        <p:spPr>
          <a:xfrm rot="5400000">
            <a:off x="10089813" y="3305766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E9E3A0E-9CD2-47A7-817B-126F3C6F7B19}"/>
              </a:ext>
            </a:extLst>
          </p:cNvPr>
          <p:cNvSpPr/>
          <p:nvPr/>
        </p:nvSpPr>
        <p:spPr>
          <a:xfrm>
            <a:off x="226206" y="1448861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FCC08FF-54E0-48ED-A32F-0FD7B7A985AB}"/>
              </a:ext>
            </a:extLst>
          </p:cNvPr>
          <p:cNvCxnSpPr>
            <a:cxnSpLocks/>
            <a:stCxn id="102" idx="3"/>
            <a:endCxn id="169" idx="3"/>
          </p:cNvCxnSpPr>
          <p:nvPr/>
        </p:nvCxnSpPr>
        <p:spPr>
          <a:xfrm>
            <a:off x="9830622" y="2866749"/>
            <a:ext cx="1198088" cy="915972"/>
          </a:xfrm>
          <a:prstGeom prst="bentConnector4">
            <a:avLst>
              <a:gd name="adj1" fmla="val 17274"/>
              <a:gd name="adj2" fmla="val 1249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62B75B-E14A-4CC9-ACCA-96F309D63D04}"/>
              </a:ext>
            </a:extLst>
          </p:cNvPr>
          <p:cNvGrpSpPr/>
          <p:nvPr/>
        </p:nvGrpSpPr>
        <p:grpSpPr>
          <a:xfrm>
            <a:off x="6907838" y="4307891"/>
            <a:ext cx="2924383" cy="2458413"/>
            <a:chOff x="7059232" y="1647114"/>
            <a:chExt cx="2924383" cy="2458413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82A48A0-C700-47FB-96A8-C887468B9907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node #1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5A003AA-FDBB-4FC2-A4B6-F3FCE99F7D06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5039891-EFA4-4CE7-A9C9-F61573596A35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D849E95-0F0F-4579-B533-11BF75C5FD18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BA1A864-E3FF-4005-9A55-1FB55789BC3D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E472742-5004-4DE4-A506-2E67178508A4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28B1047-F234-4A68-93B5-47860125DCE2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6AFD800-9ECC-43AC-8BE8-98977F9B281E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BEB763E-DE3F-4CCB-88A6-CD04424E7B58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1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18B1962-C07C-4637-8B1F-5E9396C26E43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64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57D2F4A-05F4-4A49-9347-9FED2C28873A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0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7C91180-2CB8-4DD1-858B-CC563B8F4A0A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680B50E3-B20C-4837-A183-AC145EC0714F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A157A930-9B09-42A6-88DE-9F8F19ACCEE8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D3097E1-156D-4925-8A6E-33008DE50C96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3F7317A-C123-4B03-BBBD-B0A56C981513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78D6EC63-C574-43F4-ACFC-EDC63B00DE7B}"/>
              </a:ext>
            </a:extLst>
          </p:cNvPr>
          <p:cNvCxnSpPr>
            <a:stCxn id="91" idx="3"/>
            <a:endCxn id="99" idx="1"/>
          </p:cNvCxnSpPr>
          <p:nvPr/>
        </p:nvCxnSpPr>
        <p:spPr>
          <a:xfrm flipV="1">
            <a:off x="6310291" y="1673974"/>
            <a:ext cx="597130" cy="223491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4D69D14-C392-4DBE-8730-B8FFD34BD229}"/>
              </a:ext>
            </a:extLst>
          </p:cNvPr>
          <p:cNvSpPr/>
          <p:nvPr/>
        </p:nvSpPr>
        <p:spPr>
          <a:xfrm>
            <a:off x="10241625" y="5121633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AD86A15-A6F3-4072-BE05-8F58BD2C9D05}"/>
              </a:ext>
            </a:extLst>
          </p:cNvPr>
          <p:cNvSpPr/>
          <p:nvPr/>
        </p:nvSpPr>
        <p:spPr>
          <a:xfrm rot="5400000">
            <a:off x="9949382" y="5604518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C5549C3-5615-4956-94E4-9117FBD43844}"/>
              </a:ext>
            </a:extLst>
          </p:cNvPr>
          <p:cNvSpPr/>
          <p:nvPr/>
        </p:nvSpPr>
        <p:spPr>
          <a:xfrm rot="5400000">
            <a:off x="10317815" y="560451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CCB499C-8199-4E73-AA66-02C9F4C1576B}"/>
              </a:ext>
            </a:extLst>
          </p:cNvPr>
          <p:cNvSpPr txBox="1"/>
          <p:nvPr/>
        </p:nvSpPr>
        <p:spPr>
          <a:xfrm>
            <a:off x="10729415" y="5447368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8D39DFA-2C81-4299-BFCA-96B07300AA70}"/>
              </a:ext>
            </a:extLst>
          </p:cNvPr>
          <p:cNvSpPr/>
          <p:nvPr/>
        </p:nvSpPr>
        <p:spPr>
          <a:xfrm rot="5400000">
            <a:off x="10689444" y="5604988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526B2D1-29C4-4C89-BD33-FD63B380A5ED}"/>
              </a:ext>
            </a:extLst>
          </p:cNvPr>
          <p:cNvSpPr txBox="1"/>
          <p:nvPr/>
        </p:nvSpPr>
        <p:spPr>
          <a:xfrm>
            <a:off x="10453931" y="5067014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37280FB-85F1-4C52-B840-F62A81C58A22}"/>
              </a:ext>
            </a:extLst>
          </p:cNvPr>
          <p:cNvSpPr/>
          <p:nvPr/>
        </p:nvSpPr>
        <p:spPr>
          <a:xfrm rot="5400000">
            <a:off x="10134679" y="560451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C0AF30D3-5F9C-47DE-8FDB-4DE71C838810}"/>
              </a:ext>
            </a:extLst>
          </p:cNvPr>
          <p:cNvCxnSpPr>
            <a:stCxn id="110" idx="3"/>
            <a:endCxn id="137" idx="3"/>
          </p:cNvCxnSpPr>
          <p:nvPr/>
        </p:nvCxnSpPr>
        <p:spPr>
          <a:xfrm>
            <a:off x="9831628" y="5622776"/>
            <a:ext cx="687651" cy="458697"/>
          </a:xfrm>
          <a:prstGeom prst="bentConnector4">
            <a:avLst>
              <a:gd name="adj1" fmla="val 22035"/>
              <a:gd name="adj2" fmla="val 14983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685A4A6F-E517-40B1-BEF0-514C97F67931}"/>
              </a:ext>
            </a:extLst>
          </p:cNvPr>
          <p:cNvSpPr/>
          <p:nvPr/>
        </p:nvSpPr>
        <p:spPr>
          <a:xfrm>
            <a:off x="10877550" y="3790950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5D1715A0-804E-43C0-BBBB-04BA0AA8F844}"/>
              </a:ext>
            </a:extLst>
          </p:cNvPr>
          <p:cNvSpPr/>
          <p:nvPr/>
        </p:nvSpPr>
        <p:spPr>
          <a:xfrm>
            <a:off x="10683228" y="3790202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2AACBB3-90F5-4961-88C0-9D0340F51179}"/>
              </a:ext>
            </a:extLst>
          </p:cNvPr>
          <p:cNvSpPr txBox="1"/>
          <p:nvPr/>
        </p:nvSpPr>
        <p:spPr>
          <a:xfrm>
            <a:off x="11024493" y="3778508"/>
            <a:ext cx="114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</a:rPr>
              <a:t>freepointers</a:t>
            </a:r>
            <a:r>
              <a:rPr lang="en-US" sz="1400" b="1" dirty="0">
                <a:solidFill>
                  <a:srgbClr val="C00000"/>
                </a:solidFill>
              </a:rPr>
              <a:t>: reverse!</a:t>
            </a:r>
          </a:p>
        </p:txBody>
      </p:sp>
      <p:sp>
        <p:nvSpPr>
          <p:cNvPr id="138" name="Title 1">
            <a:extLst>
              <a:ext uri="{FF2B5EF4-FFF2-40B4-BE49-F238E27FC236}">
                <a16:creationId xmlns:a16="http://schemas.microsoft.com/office/drawing/2014/main" id="{47720982-1A7E-4C1C-B710-860F44FF9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37" y="-123823"/>
            <a:ext cx="12235055" cy="689951"/>
          </a:xfrm>
        </p:spPr>
        <p:txBody>
          <a:bodyPr>
            <a:noAutofit/>
          </a:bodyPr>
          <a:lstStyle/>
          <a:p>
            <a:r>
              <a:rPr lang="en-US" sz="4000" dirty="0" err="1"/>
              <a:t>Slowpath</a:t>
            </a:r>
            <a:r>
              <a:rPr lang="en-US" sz="4000" dirty="0"/>
              <a:t> #1 – Get an object from node’s partial page</a:t>
            </a:r>
          </a:p>
        </p:txBody>
      </p:sp>
    </p:spTree>
    <p:extLst>
      <p:ext uri="{BB962C8B-B14F-4D97-AF65-F5344CB8AC3E}">
        <p14:creationId xmlns:p14="http://schemas.microsoft.com/office/powerpoint/2010/main" val="24906771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1092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1092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 = NULL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1092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1092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95913" y="31169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95913" y="35934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95912" y="38036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95908" y="40136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95911" y="42238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95907" y="33852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95906" y="4431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95911" y="49199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95911" y="53964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95910" y="56066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95906" y="58166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95909" y="60268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95905" y="51881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95904" y="6234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275886" y="64414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95904" y="45363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stCxn id="106" idx="3"/>
            <a:endCxn id="80" idx="3"/>
          </p:cNvCxnSpPr>
          <p:nvPr/>
        </p:nvCxnSpPr>
        <p:spPr>
          <a:xfrm flipH="1">
            <a:off x="6310284" y="4536365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251423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CC4CE98-7ABC-453D-AC83-22FA85C70C4C}"/>
              </a:ext>
            </a:extLst>
          </p:cNvPr>
          <p:cNvCxnSpPr>
            <a:cxnSpLocks/>
            <a:stCxn id="82" idx="3"/>
            <a:endCxn id="107" idx="1"/>
          </p:cNvCxnSpPr>
          <p:nvPr/>
        </p:nvCxnSpPr>
        <p:spPr>
          <a:xfrm flipV="1">
            <a:off x="6310283" y="4430001"/>
            <a:ext cx="598144" cy="12818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9EAF3EA-E19C-44D7-BE81-22BCD099C23F}"/>
              </a:ext>
            </a:extLst>
          </p:cNvPr>
          <p:cNvSpPr txBox="1"/>
          <p:nvPr/>
        </p:nvSpPr>
        <p:spPr>
          <a:xfrm>
            <a:off x="40163" y="1667756"/>
            <a:ext cx="1635129" cy="24622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45720" rIns="0" rtlCol="0">
            <a:spAutoFit/>
          </a:bodyPr>
          <a:lstStyle/>
          <a:p>
            <a:r>
              <a:rPr lang="en-US" sz="1400" dirty="0"/>
              <a:t>Allocate a slab object from node #1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8D8C48-75E9-46ED-AED7-E6DAEE0936C1}"/>
              </a:ext>
            </a:extLst>
          </p:cNvPr>
          <p:cNvCxnSpPr>
            <a:cxnSpLocks/>
            <a:stCxn id="62" idx="0"/>
          </p:cNvCxnSpPr>
          <p:nvPr/>
        </p:nvCxnSpPr>
        <p:spPr>
          <a:xfrm rot="5400000" flipH="1" flipV="1">
            <a:off x="943511" y="785647"/>
            <a:ext cx="796326" cy="9678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ADF992C-DB46-4B00-80BD-F007FA553A05}"/>
              </a:ext>
            </a:extLst>
          </p:cNvPr>
          <p:cNvSpPr/>
          <p:nvPr/>
        </p:nvSpPr>
        <p:spPr>
          <a:xfrm>
            <a:off x="241126" y="2895372"/>
            <a:ext cx="1254454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573BA0F-485A-4C57-9E94-E4E14F351F91}"/>
              </a:ext>
            </a:extLst>
          </p:cNvPr>
          <p:cNvSpPr/>
          <p:nvPr/>
        </p:nvSpPr>
        <p:spPr>
          <a:xfrm>
            <a:off x="241126" y="3363347"/>
            <a:ext cx="125445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*node[]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A80CAAF-E06B-4826-806F-C028BCE5995A}"/>
              </a:ext>
            </a:extLst>
          </p:cNvPr>
          <p:cNvSpPr txBox="1"/>
          <p:nvPr/>
        </p:nvSpPr>
        <p:spPr>
          <a:xfrm>
            <a:off x="135123" y="2500997"/>
            <a:ext cx="151616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F60220F-113B-47AE-BE47-FF648045D502}"/>
              </a:ext>
            </a:extLst>
          </p:cNvPr>
          <p:cNvSpPr txBox="1"/>
          <p:nvPr/>
        </p:nvSpPr>
        <p:spPr>
          <a:xfrm>
            <a:off x="127462" y="2238413"/>
            <a:ext cx="1598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AFCC303-202B-4107-A4A6-CB509672C76D}"/>
              </a:ext>
            </a:extLst>
          </p:cNvPr>
          <p:cNvSpPr txBox="1"/>
          <p:nvPr/>
        </p:nvSpPr>
        <p:spPr>
          <a:xfrm>
            <a:off x="101816" y="3524187"/>
            <a:ext cx="159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slab objects for node[0] &amp; node[1]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node[0]: allocated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30E06A3-EF48-49AF-A3F6-6969AA8F16E0}"/>
              </a:ext>
            </a:extLst>
          </p:cNvPr>
          <p:cNvCxnSpPr>
            <a:stCxn id="149" idx="0"/>
            <a:endCxn id="152" idx="2"/>
          </p:cNvCxnSpPr>
          <p:nvPr/>
        </p:nvCxnSpPr>
        <p:spPr>
          <a:xfrm flipV="1">
            <a:off x="868353" y="2716441"/>
            <a:ext cx="24854" cy="1789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955B634C-9D3B-4BC1-859B-6451500087D8}"/>
              </a:ext>
            </a:extLst>
          </p:cNvPr>
          <p:cNvSpPr/>
          <p:nvPr/>
        </p:nvSpPr>
        <p:spPr>
          <a:xfrm>
            <a:off x="6907421" y="1551864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#0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3B22DA7-0F7F-4B9C-9E2A-12DB4D4B7ACF}"/>
              </a:ext>
            </a:extLst>
          </p:cNvPr>
          <p:cNvSpPr/>
          <p:nvPr/>
        </p:nvSpPr>
        <p:spPr>
          <a:xfrm>
            <a:off x="7783081" y="1994629"/>
            <a:ext cx="2046900" cy="19392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6D59FDD-70AF-4D3A-91F8-F18C9632B9AC}"/>
              </a:ext>
            </a:extLst>
          </p:cNvPr>
          <p:cNvSpPr/>
          <p:nvPr/>
        </p:nvSpPr>
        <p:spPr>
          <a:xfrm>
            <a:off x="6906832" y="2551327"/>
            <a:ext cx="292315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F125610-11C3-4225-87FE-1549EEA47F7A}"/>
              </a:ext>
            </a:extLst>
          </p:cNvPr>
          <p:cNvSpPr/>
          <p:nvPr/>
        </p:nvSpPr>
        <p:spPr>
          <a:xfrm>
            <a:off x="6906845" y="2761522"/>
            <a:ext cx="292377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0AAA60B-15B2-490E-81A8-6CDE6F0650BC}"/>
              </a:ext>
            </a:extLst>
          </p:cNvPr>
          <p:cNvSpPr/>
          <p:nvPr/>
        </p:nvSpPr>
        <p:spPr>
          <a:xfrm>
            <a:off x="7123358" y="2971495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A05100D-4071-450A-81C4-5F2313ACD136}"/>
              </a:ext>
            </a:extLst>
          </p:cNvPr>
          <p:cNvSpPr/>
          <p:nvPr/>
        </p:nvSpPr>
        <p:spPr>
          <a:xfrm>
            <a:off x="7783081" y="2188815"/>
            <a:ext cx="2046900" cy="19456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BC196D2-D68E-41F8-BF10-C519B7151334}"/>
              </a:ext>
            </a:extLst>
          </p:cNvPr>
          <p:cNvSpPr/>
          <p:nvPr/>
        </p:nvSpPr>
        <p:spPr>
          <a:xfrm>
            <a:off x="7783081" y="2381609"/>
            <a:ext cx="2046900" cy="17102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2AA0B24-41D4-4A2C-A314-0BBBFA64C23D}"/>
              </a:ext>
            </a:extLst>
          </p:cNvPr>
          <p:cNvSpPr/>
          <p:nvPr/>
        </p:nvSpPr>
        <p:spPr>
          <a:xfrm>
            <a:off x="7123346" y="3177032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B19410C-08C1-4412-8992-07A95D22B9BB}"/>
              </a:ext>
            </a:extLst>
          </p:cNvPr>
          <p:cNvSpPr/>
          <p:nvPr/>
        </p:nvSpPr>
        <p:spPr>
          <a:xfrm>
            <a:off x="8182526" y="3384313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2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38F40A4-062E-4149-A007-F19B7B5034B7}"/>
              </a:ext>
            </a:extLst>
          </p:cNvPr>
          <p:cNvSpPr/>
          <p:nvPr/>
        </p:nvSpPr>
        <p:spPr>
          <a:xfrm>
            <a:off x="8182526" y="3594286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F985455-AFD8-4029-A35E-89D1976156AE}"/>
              </a:ext>
            </a:extLst>
          </p:cNvPr>
          <p:cNvSpPr/>
          <p:nvPr/>
        </p:nvSpPr>
        <p:spPr>
          <a:xfrm>
            <a:off x="8182514" y="3799823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0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41BFCFA-23A0-4A94-9419-12ED7B7F7474}"/>
              </a:ext>
            </a:extLst>
          </p:cNvPr>
          <p:cNvSpPr/>
          <p:nvPr/>
        </p:nvSpPr>
        <p:spPr>
          <a:xfrm rot="5400000">
            <a:off x="6513895" y="3364446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BEB8A5D-9494-4583-B209-873DDC93AE1C}"/>
              </a:ext>
            </a:extLst>
          </p:cNvPr>
          <p:cNvSpPr/>
          <p:nvPr/>
        </p:nvSpPr>
        <p:spPr>
          <a:xfrm>
            <a:off x="7159711" y="3384313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687B96D-421C-4BCF-8B4B-8096EDB7591D}"/>
              </a:ext>
            </a:extLst>
          </p:cNvPr>
          <p:cNvSpPr/>
          <p:nvPr/>
        </p:nvSpPr>
        <p:spPr>
          <a:xfrm rot="5400000">
            <a:off x="6650289" y="2042622"/>
            <a:ext cx="767148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86A983D-210F-4B69-8F53-F85955F9638B}"/>
              </a:ext>
            </a:extLst>
          </p:cNvPr>
          <p:cNvSpPr/>
          <p:nvPr/>
        </p:nvSpPr>
        <p:spPr>
          <a:xfrm>
            <a:off x="7159635" y="1994630"/>
            <a:ext cx="630578" cy="5580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ED201F6-432B-467C-9BB5-35D6E9F24AA1}"/>
              </a:ext>
            </a:extLst>
          </p:cNvPr>
          <p:cNvSpPr/>
          <p:nvPr/>
        </p:nvSpPr>
        <p:spPr>
          <a:xfrm>
            <a:off x="7159635" y="1785484"/>
            <a:ext cx="267096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E9E3A0E-9CD2-47A7-817B-126F3C6F7B19}"/>
              </a:ext>
            </a:extLst>
          </p:cNvPr>
          <p:cNvSpPr/>
          <p:nvPr/>
        </p:nvSpPr>
        <p:spPr>
          <a:xfrm>
            <a:off x="226206" y="1448861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62B75B-E14A-4CC9-ACCA-96F309D63D04}"/>
              </a:ext>
            </a:extLst>
          </p:cNvPr>
          <p:cNvGrpSpPr/>
          <p:nvPr/>
        </p:nvGrpSpPr>
        <p:grpSpPr>
          <a:xfrm>
            <a:off x="6907838" y="4307891"/>
            <a:ext cx="2924383" cy="2458413"/>
            <a:chOff x="7059232" y="1647114"/>
            <a:chExt cx="2924383" cy="2458413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82A48A0-C700-47FB-96A8-C887468B9907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node #1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5A003AA-FDBB-4FC2-A4B6-F3FCE99F7D06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5039891-EFA4-4CE7-A9C9-F61573596A35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D849E95-0F0F-4579-B533-11BF75C5FD18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BA1A864-E3FF-4005-9A55-1FB55789BC3D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E472742-5004-4DE4-A506-2E67178508A4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28B1047-F234-4A68-93B5-47860125DCE2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6AFD800-9ECC-43AC-8BE8-98977F9B281E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BEB763E-DE3F-4CCB-88A6-CD04424E7B58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1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18B1962-C07C-4637-8B1F-5E9396C26E43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64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57D2F4A-05F4-4A49-9347-9FED2C28873A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0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7C91180-2CB8-4DD1-858B-CC563B8F4A0A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680B50E3-B20C-4837-A183-AC145EC0714F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A157A930-9B09-42A6-88DE-9F8F19ACCEE8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D3097E1-156D-4925-8A6E-33008DE50C96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3F7317A-C123-4B03-BBBD-B0A56C981513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78D6EC63-C574-43F4-ACFC-EDC63B00DE7B}"/>
              </a:ext>
            </a:extLst>
          </p:cNvPr>
          <p:cNvCxnSpPr>
            <a:stCxn id="91" idx="3"/>
            <a:endCxn id="99" idx="1"/>
          </p:cNvCxnSpPr>
          <p:nvPr/>
        </p:nvCxnSpPr>
        <p:spPr>
          <a:xfrm flipV="1">
            <a:off x="6310291" y="1673974"/>
            <a:ext cx="597130" cy="223491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4D69D14-C392-4DBE-8730-B8FFD34BD229}"/>
              </a:ext>
            </a:extLst>
          </p:cNvPr>
          <p:cNvSpPr/>
          <p:nvPr/>
        </p:nvSpPr>
        <p:spPr>
          <a:xfrm>
            <a:off x="10241625" y="5121633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AD86A15-A6F3-4072-BE05-8F58BD2C9D05}"/>
              </a:ext>
            </a:extLst>
          </p:cNvPr>
          <p:cNvSpPr/>
          <p:nvPr/>
        </p:nvSpPr>
        <p:spPr>
          <a:xfrm rot="5400000">
            <a:off x="9949382" y="5604518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C5549C3-5615-4956-94E4-9117FBD43844}"/>
              </a:ext>
            </a:extLst>
          </p:cNvPr>
          <p:cNvSpPr/>
          <p:nvPr/>
        </p:nvSpPr>
        <p:spPr>
          <a:xfrm rot="5400000">
            <a:off x="10317815" y="560451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CCB499C-8199-4E73-AA66-02C9F4C1576B}"/>
              </a:ext>
            </a:extLst>
          </p:cNvPr>
          <p:cNvSpPr txBox="1"/>
          <p:nvPr/>
        </p:nvSpPr>
        <p:spPr>
          <a:xfrm>
            <a:off x="10729415" y="5447368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8D39DFA-2C81-4299-BFCA-96B07300AA70}"/>
              </a:ext>
            </a:extLst>
          </p:cNvPr>
          <p:cNvSpPr/>
          <p:nvPr/>
        </p:nvSpPr>
        <p:spPr>
          <a:xfrm rot="5400000">
            <a:off x="10689444" y="5604988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526B2D1-29C4-4C89-BD33-FD63B380A5ED}"/>
              </a:ext>
            </a:extLst>
          </p:cNvPr>
          <p:cNvSpPr txBox="1"/>
          <p:nvPr/>
        </p:nvSpPr>
        <p:spPr>
          <a:xfrm>
            <a:off x="10453931" y="5067014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37280FB-85F1-4C52-B840-F62A81C58A22}"/>
              </a:ext>
            </a:extLst>
          </p:cNvPr>
          <p:cNvSpPr/>
          <p:nvPr/>
        </p:nvSpPr>
        <p:spPr>
          <a:xfrm rot="5400000">
            <a:off x="10134679" y="560451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C0AF30D3-5F9C-47DE-8FDB-4DE71C838810}"/>
              </a:ext>
            </a:extLst>
          </p:cNvPr>
          <p:cNvCxnSpPr>
            <a:stCxn id="110" idx="3"/>
            <a:endCxn id="137" idx="3"/>
          </p:cNvCxnSpPr>
          <p:nvPr/>
        </p:nvCxnSpPr>
        <p:spPr>
          <a:xfrm>
            <a:off x="9831628" y="5622776"/>
            <a:ext cx="687651" cy="458697"/>
          </a:xfrm>
          <a:prstGeom prst="bentConnector4">
            <a:avLst>
              <a:gd name="adj1" fmla="val 22035"/>
              <a:gd name="adj2" fmla="val 14983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37">
            <a:extLst>
              <a:ext uri="{FF2B5EF4-FFF2-40B4-BE49-F238E27FC236}">
                <a16:creationId xmlns:a16="http://schemas.microsoft.com/office/drawing/2014/main" id="{9A155499-F78B-4DD9-A865-54C1A682E327}"/>
              </a:ext>
            </a:extLst>
          </p:cNvPr>
          <p:cNvSpPr/>
          <p:nvPr/>
        </p:nvSpPr>
        <p:spPr>
          <a:xfrm>
            <a:off x="10196759" y="2822880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7203E26-2D8C-4230-9634-9E9119F754D7}"/>
              </a:ext>
            </a:extLst>
          </p:cNvPr>
          <p:cNvSpPr/>
          <p:nvPr/>
        </p:nvSpPr>
        <p:spPr>
          <a:xfrm rot="5400000">
            <a:off x="9904516" y="3305765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B51C701-AD57-4855-BDAF-E81E96513440}"/>
              </a:ext>
            </a:extLst>
          </p:cNvPr>
          <p:cNvSpPr/>
          <p:nvPr/>
        </p:nvSpPr>
        <p:spPr>
          <a:xfrm rot="5400000">
            <a:off x="10272949" y="330576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5B16CA9-5B63-4D2C-BC8C-9193E6C36B53}"/>
              </a:ext>
            </a:extLst>
          </p:cNvPr>
          <p:cNvSpPr txBox="1"/>
          <p:nvPr/>
        </p:nvSpPr>
        <p:spPr>
          <a:xfrm>
            <a:off x="10684549" y="3148615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B7C2B8A-CAEB-4E91-A375-9F50597FA287}"/>
              </a:ext>
            </a:extLst>
          </p:cNvPr>
          <p:cNvSpPr/>
          <p:nvPr/>
        </p:nvSpPr>
        <p:spPr>
          <a:xfrm rot="5400000">
            <a:off x="10644578" y="3306235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3E7D04D-7CCF-4E3F-A399-1AEF5823F712}"/>
              </a:ext>
            </a:extLst>
          </p:cNvPr>
          <p:cNvSpPr txBox="1"/>
          <p:nvPr/>
        </p:nvSpPr>
        <p:spPr>
          <a:xfrm>
            <a:off x="10409065" y="2768261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17F083AC-8617-41DA-800C-93EC6FDD5F36}"/>
              </a:ext>
            </a:extLst>
          </p:cNvPr>
          <p:cNvSpPr/>
          <p:nvPr/>
        </p:nvSpPr>
        <p:spPr>
          <a:xfrm rot="5400000">
            <a:off x="10089813" y="3305766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C6A27EB7-E426-40EC-8AC9-0C28FF09A38F}"/>
              </a:ext>
            </a:extLst>
          </p:cNvPr>
          <p:cNvCxnSpPr>
            <a:cxnSpLocks/>
            <a:endCxn id="142" idx="3"/>
          </p:cNvCxnSpPr>
          <p:nvPr/>
        </p:nvCxnSpPr>
        <p:spPr>
          <a:xfrm>
            <a:off x="9830622" y="2866749"/>
            <a:ext cx="1198088" cy="915972"/>
          </a:xfrm>
          <a:prstGeom prst="bentConnector4">
            <a:avLst>
              <a:gd name="adj1" fmla="val 17274"/>
              <a:gd name="adj2" fmla="val 1249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A5AF3892-C0C8-4B82-AB6A-81E2104CCA3F}"/>
              </a:ext>
            </a:extLst>
          </p:cNvPr>
          <p:cNvSpPr/>
          <p:nvPr/>
        </p:nvSpPr>
        <p:spPr>
          <a:xfrm>
            <a:off x="10877550" y="3790950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CFECFA54-86E1-4541-9E67-530F074FA15C}"/>
              </a:ext>
            </a:extLst>
          </p:cNvPr>
          <p:cNvSpPr/>
          <p:nvPr/>
        </p:nvSpPr>
        <p:spPr>
          <a:xfrm>
            <a:off x="10683228" y="3790202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9A7BD77-DD23-4A1D-BBB2-DE30987B0C66}"/>
              </a:ext>
            </a:extLst>
          </p:cNvPr>
          <p:cNvSpPr txBox="1"/>
          <p:nvPr/>
        </p:nvSpPr>
        <p:spPr>
          <a:xfrm>
            <a:off x="11024493" y="3778508"/>
            <a:ext cx="114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</a:rPr>
              <a:t>freepointers</a:t>
            </a:r>
            <a:r>
              <a:rPr lang="en-US" sz="1400" b="1" dirty="0">
                <a:solidFill>
                  <a:srgbClr val="C00000"/>
                </a:solidFill>
              </a:rPr>
              <a:t>: reverse!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02C668-015A-4736-9D0E-66B35950F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861" y="495002"/>
            <a:ext cx="5172797" cy="1009791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A27222D-4192-455F-AB80-92DD35889B5A}"/>
              </a:ext>
            </a:extLst>
          </p:cNvPr>
          <p:cNvCxnSpPr>
            <a:endCxn id="148" idx="0"/>
          </p:cNvCxnSpPr>
          <p:nvPr/>
        </p:nvCxnSpPr>
        <p:spPr>
          <a:xfrm>
            <a:off x="11340445" y="1551864"/>
            <a:ext cx="255707" cy="2226644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itle 1">
            <a:extLst>
              <a:ext uri="{FF2B5EF4-FFF2-40B4-BE49-F238E27FC236}">
                <a16:creationId xmlns:a16="http://schemas.microsoft.com/office/drawing/2014/main" id="{967C38CC-8A94-4BA1-88E0-41B4249EF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37" y="-123823"/>
            <a:ext cx="12235055" cy="689951"/>
          </a:xfrm>
        </p:spPr>
        <p:txBody>
          <a:bodyPr>
            <a:noAutofit/>
          </a:bodyPr>
          <a:lstStyle/>
          <a:p>
            <a:r>
              <a:rPr lang="en-US" sz="4000" dirty="0" err="1"/>
              <a:t>Slowpath</a:t>
            </a:r>
            <a:r>
              <a:rPr lang="en-US" sz="4000" dirty="0"/>
              <a:t> #1 – Get an object from node’s partial page</a:t>
            </a:r>
          </a:p>
        </p:txBody>
      </p:sp>
    </p:spTree>
    <p:extLst>
      <p:ext uri="{BB962C8B-B14F-4D97-AF65-F5344CB8AC3E}">
        <p14:creationId xmlns:p14="http://schemas.microsoft.com/office/powerpoint/2010/main" val="31837168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1092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1092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 = NULL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1092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1092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95913" y="31169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95913" y="35934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95912" y="38036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95908" y="40136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95911" y="42238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95907" y="33852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95906" y="4431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95911" y="49199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95911" y="53964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95910" y="56066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95906" y="58166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95909" y="60268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95905" y="51881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95904" y="6234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275886" y="64414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95904" y="45363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stCxn id="106" idx="3"/>
            <a:endCxn id="80" idx="3"/>
          </p:cNvCxnSpPr>
          <p:nvPr/>
        </p:nvCxnSpPr>
        <p:spPr>
          <a:xfrm flipH="1">
            <a:off x="6310284" y="4536365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251423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CC4CE98-7ABC-453D-AC83-22FA85C70C4C}"/>
              </a:ext>
            </a:extLst>
          </p:cNvPr>
          <p:cNvCxnSpPr>
            <a:cxnSpLocks/>
            <a:stCxn id="82" idx="3"/>
            <a:endCxn id="107" idx="1"/>
          </p:cNvCxnSpPr>
          <p:nvPr/>
        </p:nvCxnSpPr>
        <p:spPr>
          <a:xfrm flipV="1">
            <a:off x="6310283" y="4430001"/>
            <a:ext cx="598144" cy="12818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9EAF3EA-E19C-44D7-BE81-22BCD099C23F}"/>
              </a:ext>
            </a:extLst>
          </p:cNvPr>
          <p:cNvSpPr txBox="1"/>
          <p:nvPr/>
        </p:nvSpPr>
        <p:spPr>
          <a:xfrm>
            <a:off x="40163" y="1667756"/>
            <a:ext cx="1635129" cy="24622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45720" rIns="0" rtlCol="0">
            <a:spAutoFit/>
          </a:bodyPr>
          <a:lstStyle/>
          <a:p>
            <a:r>
              <a:rPr lang="en-US" sz="1400" dirty="0"/>
              <a:t>Allocate a slab object from node #1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8D8C48-75E9-46ED-AED7-E6DAEE0936C1}"/>
              </a:ext>
            </a:extLst>
          </p:cNvPr>
          <p:cNvCxnSpPr>
            <a:cxnSpLocks/>
            <a:stCxn id="62" idx="0"/>
          </p:cNvCxnSpPr>
          <p:nvPr/>
        </p:nvCxnSpPr>
        <p:spPr>
          <a:xfrm rot="5400000" flipH="1" flipV="1">
            <a:off x="943511" y="785647"/>
            <a:ext cx="796326" cy="9678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ADF992C-DB46-4B00-80BD-F007FA553A05}"/>
              </a:ext>
            </a:extLst>
          </p:cNvPr>
          <p:cNvSpPr/>
          <p:nvPr/>
        </p:nvSpPr>
        <p:spPr>
          <a:xfrm>
            <a:off x="241126" y="2895372"/>
            <a:ext cx="1254454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573BA0F-485A-4C57-9E94-E4E14F351F91}"/>
              </a:ext>
            </a:extLst>
          </p:cNvPr>
          <p:cNvSpPr/>
          <p:nvPr/>
        </p:nvSpPr>
        <p:spPr>
          <a:xfrm>
            <a:off x="241126" y="3363347"/>
            <a:ext cx="125445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*node[]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A80CAAF-E06B-4826-806F-C028BCE5995A}"/>
              </a:ext>
            </a:extLst>
          </p:cNvPr>
          <p:cNvSpPr txBox="1"/>
          <p:nvPr/>
        </p:nvSpPr>
        <p:spPr>
          <a:xfrm>
            <a:off x="135123" y="2500997"/>
            <a:ext cx="151616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F60220F-113B-47AE-BE47-FF648045D502}"/>
              </a:ext>
            </a:extLst>
          </p:cNvPr>
          <p:cNvSpPr txBox="1"/>
          <p:nvPr/>
        </p:nvSpPr>
        <p:spPr>
          <a:xfrm>
            <a:off x="127462" y="2238413"/>
            <a:ext cx="1598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AFCC303-202B-4107-A4A6-CB509672C76D}"/>
              </a:ext>
            </a:extLst>
          </p:cNvPr>
          <p:cNvSpPr txBox="1"/>
          <p:nvPr/>
        </p:nvSpPr>
        <p:spPr>
          <a:xfrm>
            <a:off x="101816" y="3524187"/>
            <a:ext cx="159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slab objects for node[0] &amp; node[1]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node[0]: allocated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30E06A3-EF48-49AF-A3F6-6969AA8F16E0}"/>
              </a:ext>
            </a:extLst>
          </p:cNvPr>
          <p:cNvCxnSpPr>
            <a:stCxn id="149" idx="0"/>
            <a:endCxn id="152" idx="2"/>
          </p:cNvCxnSpPr>
          <p:nvPr/>
        </p:nvCxnSpPr>
        <p:spPr>
          <a:xfrm flipV="1">
            <a:off x="868353" y="2716441"/>
            <a:ext cx="24854" cy="1789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955B634C-9D3B-4BC1-859B-6451500087D8}"/>
              </a:ext>
            </a:extLst>
          </p:cNvPr>
          <p:cNvSpPr/>
          <p:nvPr/>
        </p:nvSpPr>
        <p:spPr>
          <a:xfrm>
            <a:off x="6907421" y="1551864"/>
            <a:ext cx="2923794" cy="244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struct (slab, slob or </a:t>
            </a:r>
            <a:r>
              <a:rPr lang="en-US" sz="1400" dirty="0" err="1">
                <a:solidFill>
                  <a:schemeClr val="tx1"/>
                </a:solidFill>
              </a:rPr>
              <a:t>slub</a:t>
            </a:r>
            <a:r>
              <a:rPr lang="en-US" sz="1400" dirty="0">
                <a:solidFill>
                  <a:schemeClr val="tx1"/>
                </a:solidFill>
              </a:rPr>
              <a:t>): node #0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3B22DA7-0F7F-4B9C-9E2A-12DB4D4B7ACF}"/>
              </a:ext>
            </a:extLst>
          </p:cNvPr>
          <p:cNvSpPr/>
          <p:nvPr/>
        </p:nvSpPr>
        <p:spPr>
          <a:xfrm>
            <a:off x="7783081" y="1994629"/>
            <a:ext cx="2046900" cy="19392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*next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6D59FDD-70AF-4D3A-91F8-F18C9632B9AC}"/>
              </a:ext>
            </a:extLst>
          </p:cNvPr>
          <p:cNvSpPr/>
          <p:nvPr/>
        </p:nvSpPr>
        <p:spPr>
          <a:xfrm>
            <a:off x="6906832" y="2551327"/>
            <a:ext cx="2923150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slab_cache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F125610-11C3-4225-87FE-1549EEA47F7A}"/>
              </a:ext>
            </a:extLst>
          </p:cNvPr>
          <p:cNvSpPr/>
          <p:nvPr/>
        </p:nvSpPr>
        <p:spPr>
          <a:xfrm>
            <a:off x="6906845" y="2761522"/>
            <a:ext cx="292377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(first free object)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0AAA60B-15B2-490E-81A8-6CDE6F0650BC}"/>
              </a:ext>
            </a:extLst>
          </p:cNvPr>
          <p:cNvSpPr/>
          <p:nvPr/>
        </p:nvSpPr>
        <p:spPr>
          <a:xfrm>
            <a:off x="7123358" y="2971495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s_mem</a:t>
            </a:r>
            <a:r>
              <a:rPr lang="en-US" sz="1200" dirty="0">
                <a:solidFill>
                  <a:schemeClr val="tx1"/>
                </a:solidFill>
              </a:rPr>
              <a:t>: first object - SLAB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A05100D-4071-450A-81C4-5F2313ACD136}"/>
              </a:ext>
            </a:extLst>
          </p:cNvPr>
          <p:cNvSpPr/>
          <p:nvPr/>
        </p:nvSpPr>
        <p:spPr>
          <a:xfrm>
            <a:off x="7783081" y="2188815"/>
            <a:ext cx="2046900" cy="19456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pages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BC196D2-D68E-41F8-BF10-C519B7151334}"/>
              </a:ext>
            </a:extLst>
          </p:cNvPr>
          <p:cNvSpPr/>
          <p:nvPr/>
        </p:nvSpPr>
        <p:spPr>
          <a:xfrm>
            <a:off x="7783081" y="2381609"/>
            <a:ext cx="2046900" cy="17102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 </a:t>
            </a:r>
            <a:r>
              <a:rPr lang="en-US" sz="1200" dirty="0" err="1">
                <a:solidFill>
                  <a:schemeClr val="tx1"/>
                </a:solidFill>
              </a:rPr>
              <a:t>pobjects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2AA0B24-41D4-4A2C-A314-0BBBFA64C23D}"/>
              </a:ext>
            </a:extLst>
          </p:cNvPr>
          <p:cNvSpPr/>
          <p:nvPr/>
        </p:nvSpPr>
        <p:spPr>
          <a:xfrm>
            <a:off x="7123346" y="3177032"/>
            <a:ext cx="270726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counters - SLUB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B19410C-08C1-4412-8992-07A95D22B9BB}"/>
              </a:ext>
            </a:extLst>
          </p:cNvPr>
          <p:cNvSpPr/>
          <p:nvPr/>
        </p:nvSpPr>
        <p:spPr>
          <a:xfrm>
            <a:off x="8182526" y="3384313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: 16 = 2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38F40A4-062E-4149-A007-F19B7B5034B7}"/>
              </a:ext>
            </a:extLst>
          </p:cNvPr>
          <p:cNvSpPr/>
          <p:nvPr/>
        </p:nvSpPr>
        <p:spPr>
          <a:xfrm>
            <a:off x="8182526" y="3594286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objects:15 = 64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F985455-AFD8-4029-A35E-89D1976156AE}"/>
              </a:ext>
            </a:extLst>
          </p:cNvPr>
          <p:cNvSpPr/>
          <p:nvPr/>
        </p:nvSpPr>
        <p:spPr>
          <a:xfrm>
            <a:off x="8182514" y="3799823"/>
            <a:ext cx="164808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frozen: 1 = 0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41BFCFA-23A0-4A94-9419-12ED7B7F7474}"/>
              </a:ext>
            </a:extLst>
          </p:cNvPr>
          <p:cNvSpPr/>
          <p:nvPr/>
        </p:nvSpPr>
        <p:spPr>
          <a:xfrm rot="5400000">
            <a:off x="6513895" y="3364446"/>
            <a:ext cx="1038782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BEB8A5D-9494-4583-B209-873DDC93AE1C}"/>
              </a:ext>
            </a:extLst>
          </p:cNvPr>
          <p:cNvSpPr/>
          <p:nvPr/>
        </p:nvSpPr>
        <p:spPr>
          <a:xfrm>
            <a:off x="7159711" y="3384313"/>
            <a:ext cx="1022819" cy="6259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(SLUB)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687B96D-421C-4BCF-8B4B-8096EDB7591D}"/>
              </a:ext>
            </a:extLst>
          </p:cNvPr>
          <p:cNvSpPr/>
          <p:nvPr/>
        </p:nvSpPr>
        <p:spPr>
          <a:xfrm rot="5400000">
            <a:off x="6650289" y="2042622"/>
            <a:ext cx="767148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union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86A983D-210F-4B69-8F53-F85955F9638B}"/>
              </a:ext>
            </a:extLst>
          </p:cNvPr>
          <p:cNvSpPr/>
          <p:nvPr/>
        </p:nvSpPr>
        <p:spPr>
          <a:xfrm>
            <a:off x="7159635" y="1994630"/>
            <a:ext cx="630578" cy="5580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(Partial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Page)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ED201F6-432B-467C-9BB5-35D6E9F24AA1}"/>
              </a:ext>
            </a:extLst>
          </p:cNvPr>
          <p:cNvSpPr/>
          <p:nvPr/>
        </p:nvSpPr>
        <p:spPr>
          <a:xfrm>
            <a:off x="7159635" y="1785484"/>
            <a:ext cx="267096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slab_list</a:t>
            </a:r>
            <a:endParaRPr lang="en-US" sz="1200" dirty="0">
              <a:solidFill>
                <a:schemeClr val="tx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62B75B-E14A-4CC9-ACCA-96F309D63D04}"/>
              </a:ext>
            </a:extLst>
          </p:cNvPr>
          <p:cNvGrpSpPr/>
          <p:nvPr/>
        </p:nvGrpSpPr>
        <p:grpSpPr>
          <a:xfrm>
            <a:off x="6907838" y="4307891"/>
            <a:ext cx="2924383" cy="2458413"/>
            <a:chOff x="7059232" y="1647114"/>
            <a:chExt cx="2924383" cy="2458413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82A48A0-C700-47FB-96A8-C887468B9907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node #1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5A003AA-FDBB-4FC2-A4B6-F3FCE99F7D06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5039891-EFA4-4CE7-A9C9-F61573596A35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D849E95-0F0F-4579-B533-11BF75C5FD18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BA1A864-E3FF-4005-9A55-1FB55789BC3D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E472742-5004-4DE4-A506-2E67178508A4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28B1047-F234-4A68-93B5-47860125DCE2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6AFD800-9ECC-43AC-8BE8-98977F9B281E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BEB763E-DE3F-4CCB-88A6-CD04424E7B58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1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18B1962-C07C-4637-8B1F-5E9396C26E43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64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57D2F4A-05F4-4A49-9347-9FED2C28873A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0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7C91180-2CB8-4DD1-858B-CC563B8F4A0A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680B50E3-B20C-4837-A183-AC145EC0714F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A157A930-9B09-42A6-88DE-9F8F19ACCEE8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D3097E1-156D-4925-8A6E-33008DE50C96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3F7317A-C123-4B03-BBBD-B0A56C981513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78D6EC63-C574-43F4-ACFC-EDC63B00DE7B}"/>
              </a:ext>
            </a:extLst>
          </p:cNvPr>
          <p:cNvCxnSpPr>
            <a:stCxn id="91" idx="3"/>
            <a:endCxn id="99" idx="1"/>
          </p:cNvCxnSpPr>
          <p:nvPr/>
        </p:nvCxnSpPr>
        <p:spPr>
          <a:xfrm flipV="1">
            <a:off x="6310291" y="1673974"/>
            <a:ext cx="597130" cy="223491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4D69D14-C392-4DBE-8730-B8FFD34BD229}"/>
              </a:ext>
            </a:extLst>
          </p:cNvPr>
          <p:cNvSpPr/>
          <p:nvPr/>
        </p:nvSpPr>
        <p:spPr>
          <a:xfrm>
            <a:off x="10241625" y="5121633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AD86A15-A6F3-4072-BE05-8F58BD2C9D05}"/>
              </a:ext>
            </a:extLst>
          </p:cNvPr>
          <p:cNvSpPr/>
          <p:nvPr/>
        </p:nvSpPr>
        <p:spPr>
          <a:xfrm rot="5400000">
            <a:off x="9949382" y="5604518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C5549C3-5615-4956-94E4-9117FBD43844}"/>
              </a:ext>
            </a:extLst>
          </p:cNvPr>
          <p:cNvSpPr/>
          <p:nvPr/>
        </p:nvSpPr>
        <p:spPr>
          <a:xfrm rot="5400000">
            <a:off x="10317815" y="560451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CCB499C-8199-4E73-AA66-02C9F4C1576B}"/>
              </a:ext>
            </a:extLst>
          </p:cNvPr>
          <p:cNvSpPr txBox="1"/>
          <p:nvPr/>
        </p:nvSpPr>
        <p:spPr>
          <a:xfrm>
            <a:off x="10729415" y="5447368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8D39DFA-2C81-4299-BFCA-96B07300AA70}"/>
              </a:ext>
            </a:extLst>
          </p:cNvPr>
          <p:cNvSpPr/>
          <p:nvPr/>
        </p:nvSpPr>
        <p:spPr>
          <a:xfrm rot="5400000">
            <a:off x="10689444" y="5604988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526B2D1-29C4-4C89-BD33-FD63B380A5ED}"/>
              </a:ext>
            </a:extLst>
          </p:cNvPr>
          <p:cNvSpPr txBox="1"/>
          <p:nvPr/>
        </p:nvSpPr>
        <p:spPr>
          <a:xfrm>
            <a:off x="10453931" y="5067014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37280FB-85F1-4C52-B840-F62A81C58A22}"/>
              </a:ext>
            </a:extLst>
          </p:cNvPr>
          <p:cNvSpPr/>
          <p:nvPr/>
        </p:nvSpPr>
        <p:spPr>
          <a:xfrm rot="5400000">
            <a:off x="10134679" y="560451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C0AF30D3-5F9C-47DE-8FDB-4DE71C838810}"/>
              </a:ext>
            </a:extLst>
          </p:cNvPr>
          <p:cNvCxnSpPr>
            <a:stCxn id="110" idx="3"/>
            <a:endCxn id="137" idx="3"/>
          </p:cNvCxnSpPr>
          <p:nvPr/>
        </p:nvCxnSpPr>
        <p:spPr>
          <a:xfrm>
            <a:off x="9831628" y="5622776"/>
            <a:ext cx="687651" cy="458697"/>
          </a:xfrm>
          <a:prstGeom prst="bentConnector4">
            <a:avLst>
              <a:gd name="adj1" fmla="val 22035"/>
              <a:gd name="adj2" fmla="val 14983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37">
            <a:extLst>
              <a:ext uri="{FF2B5EF4-FFF2-40B4-BE49-F238E27FC236}">
                <a16:creationId xmlns:a16="http://schemas.microsoft.com/office/drawing/2014/main" id="{9A155499-F78B-4DD9-A865-54C1A682E327}"/>
              </a:ext>
            </a:extLst>
          </p:cNvPr>
          <p:cNvSpPr/>
          <p:nvPr/>
        </p:nvSpPr>
        <p:spPr>
          <a:xfrm>
            <a:off x="10196759" y="2822880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7203E26-2D8C-4230-9634-9E9119F754D7}"/>
              </a:ext>
            </a:extLst>
          </p:cNvPr>
          <p:cNvSpPr/>
          <p:nvPr/>
        </p:nvSpPr>
        <p:spPr>
          <a:xfrm rot="5400000">
            <a:off x="9904516" y="3305765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B51C701-AD57-4855-BDAF-E81E96513440}"/>
              </a:ext>
            </a:extLst>
          </p:cNvPr>
          <p:cNvSpPr/>
          <p:nvPr/>
        </p:nvSpPr>
        <p:spPr>
          <a:xfrm rot="5400000">
            <a:off x="10272949" y="330576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5B16CA9-5B63-4D2C-BC8C-9193E6C36B53}"/>
              </a:ext>
            </a:extLst>
          </p:cNvPr>
          <p:cNvSpPr txBox="1"/>
          <p:nvPr/>
        </p:nvSpPr>
        <p:spPr>
          <a:xfrm>
            <a:off x="10684549" y="3148615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B7C2B8A-CAEB-4E91-A375-9F50597FA287}"/>
              </a:ext>
            </a:extLst>
          </p:cNvPr>
          <p:cNvSpPr/>
          <p:nvPr/>
        </p:nvSpPr>
        <p:spPr>
          <a:xfrm rot="5400000">
            <a:off x="10644578" y="3306235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3E7D04D-7CCF-4E3F-A399-1AEF5823F712}"/>
              </a:ext>
            </a:extLst>
          </p:cNvPr>
          <p:cNvSpPr txBox="1"/>
          <p:nvPr/>
        </p:nvSpPr>
        <p:spPr>
          <a:xfrm>
            <a:off x="10409065" y="2768261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17F083AC-8617-41DA-800C-93EC6FDD5F36}"/>
              </a:ext>
            </a:extLst>
          </p:cNvPr>
          <p:cNvSpPr/>
          <p:nvPr/>
        </p:nvSpPr>
        <p:spPr>
          <a:xfrm rot="5400000">
            <a:off x="10089813" y="3305766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C6A27EB7-E426-40EC-8AC9-0C28FF09A38F}"/>
              </a:ext>
            </a:extLst>
          </p:cNvPr>
          <p:cNvCxnSpPr>
            <a:cxnSpLocks/>
            <a:endCxn id="142" idx="3"/>
          </p:cNvCxnSpPr>
          <p:nvPr/>
        </p:nvCxnSpPr>
        <p:spPr>
          <a:xfrm>
            <a:off x="9830622" y="2866749"/>
            <a:ext cx="1198088" cy="915972"/>
          </a:xfrm>
          <a:prstGeom prst="bentConnector4">
            <a:avLst>
              <a:gd name="adj1" fmla="val 17274"/>
              <a:gd name="adj2" fmla="val 1249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A5AF3892-C0C8-4B82-AB6A-81E2104CCA3F}"/>
              </a:ext>
            </a:extLst>
          </p:cNvPr>
          <p:cNvSpPr/>
          <p:nvPr/>
        </p:nvSpPr>
        <p:spPr>
          <a:xfrm>
            <a:off x="10877550" y="3790950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CFECFA54-86E1-4541-9E67-530F074FA15C}"/>
              </a:ext>
            </a:extLst>
          </p:cNvPr>
          <p:cNvSpPr/>
          <p:nvPr/>
        </p:nvSpPr>
        <p:spPr>
          <a:xfrm>
            <a:off x="10683228" y="3790202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9A7BD77-DD23-4A1D-BBB2-DE30987B0C66}"/>
              </a:ext>
            </a:extLst>
          </p:cNvPr>
          <p:cNvSpPr txBox="1"/>
          <p:nvPr/>
        </p:nvSpPr>
        <p:spPr>
          <a:xfrm>
            <a:off x="11053068" y="3645158"/>
            <a:ext cx="114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</a:rPr>
              <a:t>freepointers</a:t>
            </a:r>
            <a:r>
              <a:rPr lang="en-US" sz="1400" b="1" dirty="0">
                <a:solidFill>
                  <a:srgbClr val="C00000"/>
                </a:solidFill>
              </a:rPr>
              <a:t>: reverse!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FA5E717B-A83D-4484-8145-5B8869AC04DA}"/>
              </a:ext>
            </a:extLst>
          </p:cNvPr>
          <p:cNvSpPr/>
          <p:nvPr/>
        </p:nvSpPr>
        <p:spPr>
          <a:xfrm>
            <a:off x="6545788" y="4169450"/>
            <a:ext cx="4960411" cy="268855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9014C51-5634-41E7-AB4C-485839CE09F3}"/>
              </a:ext>
            </a:extLst>
          </p:cNvPr>
          <p:cNvSpPr/>
          <p:nvPr/>
        </p:nvSpPr>
        <p:spPr>
          <a:xfrm>
            <a:off x="6076950" y="1106540"/>
            <a:ext cx="717773" cy="3065410"/>
          </a:xfrm>
          <a:custGeom>
            <a:avLst/>
            <a:gdLst>
              <a:gd name="connsiteX0" fmla="*/ 714375 w 717773"/>
              <a:gd name="connsiteY0" fmla="*/ 3065410 h 3065410"/>
              <a:gd name="connsiteX1" fmla="*/ 609600 w 717773"/>
              <a:gd name="connsiteY1" fmla="*/ 341260 h 3065410"/>
              <a:gd name="connsiteX2" fmla="*/ 0 w 717773"/>
              <a:gd name="connsiteY2" fmla="*/ 131710 h 3065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7773" h="3065410">
                <a:moveTo>
                  <a:pt x="714375" y="3065410"/>
                </a:moveTo>
                <a:cubicBezTo>
                  <a:pt x="721518" y="1947810"/>
                  <a:pt x="728662" y="830210"/>
                  <a:pt x="609600" y="341260"/>
                </a:cubicBezTo>
                <a:cubicBezTo>
                  <a:pt x="490538" y="-147690"/>
                  <a:pt x="245269" y="-7990"/>
                  <a:pt x="0" y="13171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9E8F052F-6AA6-47AA-9401-8630420D2F75}"/>
              </a:ext>
            </a:extLst>
          </p:cNvPr>
          <p:cNvSpPr/>
          <p:nvPr/>
        </p:nvSpPr>
        <p:spPr>
          <a:xfrm>
            <a:off x="6353585" y="984965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369EEFE-C276-46EC-932B-3B63C1C3B757}"/>
              </a:ext>
            </a:extLst>
          </p:cNvPr>
          <p:cNvSpPr txBox="1"/>
          <p:nvPr/>
        </p:nvSpPr>
        <p:spPr>
          <a:xfrm>
            <a:off x="6636648" y="850589"/>
            <a:ext cx="2462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Move node’s partial page (slab) to </a:t>
            </a:r>
            <a:r>
              <a:rPr lang="en-US" sz="1600" b="1" dirty="0" err="1">
                <a:solidFill>
                  <a:srgbClr val="C00000"/>
                </a:solidFill>
              </a:rPr>
              <a:t>percpu</a:t>
            </a:r>
            <a:r>
              <a:rPr lang="en-US" sz="1600" b="1" dirty="0">
                <a:solidFill>
                  <a:srgbClr val="C00000"/>
                </a:solidFill>
              </a:rPr>
              <a:t> cache</a:t>
            </a:r>
          </a:p>
        </p:txBody>
      </p:sp>
      <p:sp>
        <p:nvSpPr>
          <p:cNvPr id="168" name="Title 1">
            <a:extLst>
              <a:ext uri="{FF2B5EF4-FFF2-40B4-BE49-F238E27FC236}">
                <a16:creationId xmlns:a16="http://schemas.microsoft.com/office/drawing/2014/main" id="{8378D6FD-9A89-4F56-95A2-58950FAF7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37" y="-76688"/>
            <a:ext cx="12235055" cy="689951"/>
          </a:xfrm>
        </p:spPr>
        <p:txBody>
          <a:bodyPr>
            <a:noAutofit/>
          </a:bodyPr>
          <a:lstStyle/>
          <a:p>
            <a:r>
              <a:rPr lang="en-US" sz="4000" dirty="0" err="1"/>
              <a:t>Slowpath</a:t>
            </a:r>
            <a:r>
              <a:rPr lang="en-US" sz="4000" dirty="0"/>
              <a:t> #1 – Get an object from node’s partial page</a:t>
            </a:r>
          </a:p>
        </p:txBody>
      </p:sp>
    </p:spTree>
    <p:extLst>
      <p:ext uri="{BB962C8B-B14F-4D97-AF65-F5344CB8AC3E}">
        <p14:creationId xmlns:p14="http://schemas.microsoft.com/office/powerpoint/2010/main" val="34391327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1092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1092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1092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1092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95913" y="31169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95913" y="35934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95912" y="38036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95908" y="40136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95911" y="42238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95907" y="33852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95906" y="4431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95911" y="49199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95911" y="53964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95910" y="56066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95906" y="58166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95909" y="60268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95905" y="51881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95904" y="6234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275886" y="64414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95904" y="45363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251423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9EAF3EA-E19C-44D7-BE81-22BCD099C23F}"/>
              </a:ext>
            </a:extLst>
          </p:cNvPr>
          <p:cNvSpPr txBox="1"/>
          <p:nvPr/>
        </p:nvSpPr>
        <p:spPr>
          <a:xfrm>
            <a:off x="40163" y="1667756"/>
            <a:ext cx="1635129" cy="267765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45720" rIns="0" rtlCol="0">
            <a:spAutoFit/>
          </a:bodyPr>
          <a:lstStyle/>
          <a:p>
            <a:r>
              <a:rPr lang="en-US" sz="1400" dirty="0"/>
              <a:t>Allocate a slab object from node #1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78D8C48-75E9-46ED-AED7-E6DAEE0936C1}"/>
              </a:ext>
            </a:extLst>
          </p:cNvPr>
          <p:cNvCxnSpPr>
            <a:cxnSpLocks/>
            <a:stCxn id="62" idx="0"/>
          </p:cNvCxnSpPr>
          <p:nvPr/>
        </p:nvCxnSpPr>
        <p:spPr>
          <a:xfrm rot="5400000" flipH="1" flipV="1">
            <a:off x="943511" y="785647"/>
            <a:ext cx="796326" cy="9678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ADF992C-DB46-4B00-80BD-F007FA553A05}"/>
              </a:ext>
            </a:extLst>
          </p:cNvPr>
          <p:cNvSpPr/>
          <p:nvPr/>
        </p:nvSpPr>
        <p:spPr>
          <a:xfrm>
            <a:off x="241126" y="2895372"/>
            <a:ext cx="1254454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573BA0F-485A-4C57-9E94-E4E14F351F91}"/>
              </a:ext>
            </a:extLst>
          </p:cNvPr>
          <p:cNvSpPr/>
          <p:nvPr/>
        </p:nvSpPr>
        <p:spPr>
          <a:xfrm>
            <a:off x="241126" y="3363347"/>
            <a:ext cx="125445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*node[]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A80CAAF-E06B-4826-806F-C028BCE5995A}"/>
              </a:ext>
            </a:extLst>
          </p:cNvPr>
          <p:cNvSpPr txBox="1"/>
          <p:nvPr/>
        </p:nvSpPr>
        <p:spPr>
          <a:xfrm>
            <a:off x="135123" y="2500997"/>
            <a:ext cx="151616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F60220F-113B-47AE-BE47-FF648045D502}"/>
              </a:ext>
            </a:extLst>
          </p:cNvPr>
          <p:cNvSpPr txBox="1"/>
          <p:nvPr/>
        </p:nvSpPr>
        <p:spPr>
          <a:xfrm>
            <a:off x="127462" y="2238413"/>
            <a:ext cx="1598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AFCC303-202B-4107-A4A6-CB509672C76D}"/>
              </a:ext>
            </a:extLst>
          </p:cNvPr>
          <p:cNvSpPr txBox="1"/>
          <p:nvPr/>
        </p:nvSpPr>
        <p:spPr>
          <a:xfrm>
            <a:off x="101816" y="3524187"/>
            <a:ext cx="1598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slab objects for node[0] &amp; node[1]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node[0]: allocated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node[1]: allocated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30E06A3-EF48-49AF-A3F6-6969AA8F16E0}"/>
              </a:ext>
            </a:extLst>
          </p:cNvPr>
          <p:cNvCxnSpPr>
            <a:stCxn id="149" idx="0"/>
            <a:endCxn id="152" idx="2"/>
          </p:cNvCxnSpPr>
          <p:nvPr/>
        </p:nvCxnSpPr>
        <p:spPr>
          <a:xfrm flipV="1">
            <a:off x="868353" y="2716441"/>
            <a:ext cx="24854" cy="1789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78D6EC63-C574-43F4-ACFC-EDC63B00DE7B}"/>
              </a:ext>
            </a:extLst>
          </p:cNvPr>
          <p:cNvCxnSpPr>
            <a:cxnSpLocks/>
            <a:stCxn id="91" idx="3"/>
            <a:endCxn id="99" idx="1"/>
          </p:cNvCxnSpPr>
          <p:nvPr/>
        </p:nvCxnSpPr>
        <p:spPr>
          <a:xfrm flipV="1">
            <a:off x="6310291" y="3750424"/>
            <a:ext cx="597130" cy="15846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cxnSpLocks/>
          </p:cNvCxnSpPr>
          <p:nvPr/>
        </p:nvCxnSpPr>
        <p:spPr>
          <a:xfrm flipH="1">
            <a:off x="6308476" y="4585683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62B75B-E14A-4CC9-ACCA-96F309D63D04}"/>
              </a:ext>
            </a:extLst>
          </p:cNvPr>
          <p:cNvGrpSpPr/>
          <p:nvPr/>
        </p:nvGrpSpPr>
        <p:grpSpPr>
          <a:xfrm>
            <a:off x="6783009" y="744782"/>
            <a:ext cx="2924383" cy="2458413"/>
            <a:chOff x="7059232" y="1647114"/>
            <a:chExt cx="2924383" cy="2458413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82A48A0-C700-47FB-96A8-C887468B9907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node #1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5A003AA-FDBB-4FC2-A4B6-F3FCE99F7D06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5039891-EFA4-4CE7-A9C9-F61573596A35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D849E95-0F0F-4579-B533-11BF75C5FD18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 = NULL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BA1A864-E3FF-4005-9A55-1FB55789BC3D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E472742-5004-4DE4-A506-2E67178508A4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28B1047-F234-4A68-93B5-47860125DCE2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6AFD800-9ECC-43AC-8BE8-98977F9B281E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BEB763E-DE3F-4CCB-88A6-CD04424E7B58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64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18B1962-C07C-4637-8B1F-5E9396C26E43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64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57D2F4A-05F4-4A49-9347-9FED2C28873A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1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7C91180-2CB8-4DD1-858B-CC563B8F4A0A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680B50E3-B20C-4837-A183-AC145EC0714F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A157A930-9B09-42A6-88DE-9F8F19ACCEE8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D3097E1-156D-4925-8A6E-33008DE50C96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3F7317A-C123-4B03-BBBD-B0A56C981513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r>
                <a:rPr lang="en-US" sz="1200" dirty="0">
                  <a:solidFill>
                    <a:schemeClr val="tx1"/>
                  </a:solidFill>
                </a:rPr>
                <a:t> = invalid</a:t>
              </a:r>
            </a:p>
          </p:txBody>
        </p:sp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4D69D14-C392-4DBE-8730-B8FFD34BD229}"/>
              </a:ext>
            </a:extLst>
          </p:cNvPr>
          <p:cNvSpPr/>
          <p:nvPr/>
        </p:nvSpPr>
        <p:spPr>
          <a:xfrm>
            <a:off x="10116796" y="1558524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AD86A15-A6F3-4072-BE05-8F58BD2C9D05}"/>
              </a:ext>
            </a:extLst>
          </p:cNvPr>
          <p:cNvSpPr/>
          <p:nvPr/>
        </p:nvSpPr>
        <p:spPr>
          <a:xfrm rot="5400000">
            <a:off x="9824553" y="2041409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C5549C3-5615-4956-94E4-9117FBD43844}"/>
              </a:ext>
            </a:extLst>
          </p:cNvPr>
          <p:cNvSpPr/>
          <p:nvPr/>
        </p:nvSpPr>
        <p:spPr>
          <a:xfrm rot="5400000">
            <a:off x="10192986" y="2041410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CCB499C-8199-4E73-AA66-02C9F4C1576B}"/>
              </a:ext>
            </a:extLst>
          </p:cNvPr>
          <p:cNvSpPr txBox="1"/>
          <p:nvPr/>
        </p:nvSpPr>
        <p:spPr>
          <a:xfrm>
            <a:off x="10604586" y="1884259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8D39DFA-2C81-4299-BFCA-96B07300AA70}"/>
              </a:ext>
            </a:extLst>
          </p:cNvPr>
          <p:cNvSpPr/>
          <p:nvPr/>
        </p:nvSpPr>
        <p:spPr>
          <a:xfrm rot="5400000">
            <a:off x="10564615" y="2041879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526B2D1-29C4-4C89-BD33-FD63B380A5ED}"/>
              </a:ext>
            </a:extLst>
          </p:cNvPr>
          <p:cNvSpPr txBox="1"/>
          <p:nvPr/>
        </p:nvSpPr>
        <p:spPr>
          <a:xfrm>
            <a:off x="10329102" y="1503905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37280FB-85F1-4C52-B840-F62A81C58A22}"/>
              </a:ext>
            </a:extLst>
          </p:cNvPr>
          <p:cNvSpPr/>
          <p:nvPr/>
        </p:nvSpPr>
        <p:spPr>
          <a:xfrm rot="5400000">
            <a:off x="10009850" y="2041410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18913D-CD18-430C-882E-7430BB252464}"/>
              </a:ext>
            </a:extLst>
          </p:cNvPr>
          <p:cNvGrpSpPr/>
          <p:nvPr/>
        </p:nvGrpSpPr>
        <p:grpSpPr>
          <a:xfrm>
            <a:off x="6906832" y="3628314"/>
            <a:ext cx="5289554" cy="2616514"/>
            <a:chOff x="6906832" y="3152064"/>
            <a:chExt cx="5289554" cy="2616514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55B634C-9D3B-4BC1-859B-6451500087D8}"/>
                </a:ext>
              </a:extLst>
            </p:cNvPr>
            <p:cNvSpPr/>
            <p:nvPr/>
          </p:nvSpPr>
          <p:spPr>
            <a:xfrm>
              <a:off x="6907421" y="315206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node #0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3B22DA7-0F7F-4B9C-9E2A-12DB4D4B7ACF}"/>
                </a:ext>
              </a:extLst>
            </p:cNvPr>
            <p:cNvSpPr/>
            <p:nvPr/>
          </p:nvSpPr>
          <p:spPr>
            <a:xfrm>
              <a:off x="7783081" y="359482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6D59FDD-70AF-4D3A-91F8-F18C9632B9AC}"/>
                </a:ext>
              </a:extLst>
            </p:cNvPr>
            <p:cNvSpPr/>
            <p:nvPr/>
          </p:nvSpPr>
          <p:spPr>
            <a:xfrm>
              <a:off x="6906832" y="415152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F125610-11C3-4225-87FE-1549EEA47F7A}"/>
                </a:ext>
              </a:extLst>
            </p:cNvPr>
            <p:cNvSpPr/>
            <p:nvPr/>
          </p:nvSpPr>
          <p:spPr>
            <a:xfrm>
              <a:off x="6906845" y="436172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0AAA60B-15B2-490E-81A8-6CDE6F0650BC}"/>
                </a:ext>
              </a:extLst>
            </p:cNvPr>
            <p:cNvSpPr/>
            <p:nvPr/>
          </p:nvSpPr>
          <p:spPr>
            <a:xfrm>
              <a:off x="7123358" y="457169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A05100D-4071-450A-81C4-5F2313ACD136}"/>
                </a:ext>
              </a:extLst>
            </p:cNvPr>
            <p:cNvSpPr/>
            <p:nvPr/>
          </p:nvSpPr>
          <p:spPr>
            <a:xfrm>
              <a:off x="7783081" y="378901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BC196D2-D68E-41F8-BF10-C519B7151334}"/>
                </a:ext>
              </a:extLst>
            </p:cNvPr>
            <p:cNvSpPr/>
            <p:nvPr/>
          </p:nvSpPr>
          <p:spPr>
            <a:xfrm>
              <a:off x="7783081" y="398180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82AA0B24-41D4-4A2C-A314-0BBBFA64C23D}"/>
                </a:ext>
              </a:extLst>
            </p:cNvPr>
            <p:cNvSpPr/>
            <p:nvPr/>
          </p:nvSpPr>
          <p:spPr>
            <a:xfrm>
              <a:off x="7123346" y="477723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BB19410C-08C1-4412-8992-07A95D22B9BB}"/>
                </a:ext>
              </a:extLst>
            </p:cNvPr>
            <p:cNvSpPr/>
            <p:nvPr/>
          </p:nvSpPr>
          <p:spPr>
            <a:xfrm>
              <a:off x="8182526" y="498451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2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A38F40A4-062E-4149-A007-F19B7B5034B7}"/>
                </a:ext>
              </a:extLst>
            </p:cNvPr>
            <p:cNvSpPr/>
            <p:nvPr/>
          </p:nvSpPr>
          <p:spPr>
            <a:xfrm>
              <a:off x="8182526" y="519448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64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F985455-AFD8-4029-A35E-89D1976156AE}"/>
                </a:ext>
              </a:extLst>
            </p:cNvPr>
            <p:cNvSpPr/>
            <p:nvPr/>
          </p:nvSpPr>
          <p:spPr>
            <a:xfrm>
              <a:off x="8182514" y="540002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0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441BFCFA-23A0-4A94-9419-12ED7B7F7474}"/>
                </a:ext>
              </a:extLst>
            </p:cNvPr>
            <p:cNvSpPr/>
            <p:nvPr/>
          </p:nvSpPr>
          <p:spPr>
            <a:xfrm rot="5400000">
              <a:off x="6513895" y="496464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BEB8A5D-9494-4583-B209-873DDC93AE1C}"/>
                </a:ext>
              </a:extLst>
            </p:cNvPr>
            <p:cNvSpPr/>
            <p:nvPr/>
          </p:nvSpPr>
          <p:spPr>
            <a:xfrm>
              <a:off x="7159711" y="498451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C687B96D-421C-4BCF-8B4B-8096EDB7591D}"/>
                </a:ext>
              </a:extLst>
            </p:cNvPr>
            <p:cNvSpPr/>
            <p:nvPr/>
          </p:nvSpPr>
          <p:spPr>
            <a:xfrm rot="5400000">
              <a:off x="6650289" y="364282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86A983D-210F-4B69-8F53-F85955F9638B}"/>
                </a:ext>
              </a:extLst>
            </p:cNvPr>
            <p:cNvSpPr/>
            <p:nvPr/>
          </p:nvSpPr>
          <p:spPr>
            <a:xfrm>
              <a:off x="7159635" y="359483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7ED201F6-432B-467C-9BB5-35D6E9F24AA1}"/>
                </a:ext>
              </a:extLst>
            </p:cNvPr>
            <p:cNvSpPr/>
            <p:nvPr/>
          </p:nvSpPr>
          <p:spPr>
            <a:xfrm>
              <a:off x="7159635" y="338568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A155499-F78B-4DD9-A865-54C1A682E327}"/>
                </a:ext>
              </a:extLst>
            </p:cNvPr>
            <p:cNvSpPr/>
            <p:nvPr/>
          </p:nvSpPr>
          <p:spPr>
            <a:xfrm>
              <a:off x="10196759" y="4423080"/>
              <a:ext cx="924100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7203E26-2D8C-4230-9634-9E9119F754D7}"/>
                </a:ext>
              </a:extLst>
            </p:cNvPr>
            <p:cNvSpPr/>
            <p:nvPr/>
          </p:nvSpPr>
          <p:spPr>
            <a:xfrm rot="5400000">
              <a:off x="9904516" y="4905965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B51C701-AD57-4855-BDAF-E81E96513440}"/>
                </a:ext>
              </a:extLst>
            </p:cNvPr>
            <p:cNvSpPr/>
            <p:nvPr/>
          </p:nvSpPr>
          <p:spPr>
            <a:xfrm rot="5400000">
              <a:off x="10272949" y="4905966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5B16CA9-5B63-4D2C-BC8C-9193E6C36B53}"/>
                </a:ext>
              </a:extLst>
            </p:cNvPr>
            <p:cNvSpPr txBox="1"/>
            <p:nvPr/>
          </p:nvSpPr>
          <p:spPr>
            <a:xfrm>
              <a:off x="10684549" y="4748815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B7C2B8A-CAEB-4E91-A375-9F50597FA287}"/>
                </a:ext>
              </a:extLst>
            </p:cNvPr>
            <p:cNvSpPr/>
            <p:nvPr/>
          </p:nvSpPr>
          <p:spPr>
            <a:xfrm rot="5400000">
              <a:off x="10644578" y="4906435"/>
              <a:ext cx="768265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3E7D04D-7CCF-4E3F-A399-1AEF5823F712}"/>
                </a:ext>
              </a:extLst>
            </p:cNvPr>
            <p:cNvSpPr txBox="1"/>
            <p:nvPr/>
          </p:nvSpPr>
          <p:spPr>
            <a:xfrm>
              <a:off x="10409065" y="436846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7F083AC-8617-41DA-800C-93EC6FDD5F36}"/>
                </a:ext>
              </a:extLst>
            </p:cNvPr>
            <p:cNvSpPr/>
            <p:nvPr/>
          </p:nvSpPr>
          <p:spPr>
            <a:xfrm rot="5400000">
              <a:off x="10089813" y="4905966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cxnSp>
          <p:nvCxnSpPr>
            <p:cNvPr id="145" name="Connector: Elbow 144">
              <a:extLst>
                <a:ext uri="{FF2B5EF4-FFF2-40B4-BE49-F238E27FC236}">
                  <a16:creationId xmlns:a16="http://schemas.microsoft.com/office/drawing/2014/main" id="{C6A27EB7-E426-40EC-8AC9-0C28FF09A38F}"/>
                </a:ext>
              </a:extLst>
            </p:cNvPr>
            <p:cNvCxnSpPr>
              <a:cxnSpLocks/>
              <a:endCxn id="142" idx="3"/>
            </p:cNvCxnSpPr>
            <p:nvPr/>
          </p:nvCxnSpPr>
          <p:spPr>
            <a:xfrm>
              <a:off x="9830622" y="4466949"/>
              <a:ext cx="1198088" cy="915972"/>
            </a:xfrm>
            <a:prstGeom prst="bentConnector4">
              <a:avLst>
                <a:gd name="adj1" fmla="val 15684"/>
                <a:gd name="adj2" fmla="val 12495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A5AF3892-C0C8-4B82-AB6A-81E2104CCA3F}"/>
                </a:ext>
              </a:extLst>
            </p:cNvPr>
            <p:cNvSpPr/>
            <p:nvPr/>
          </p:nvSpPr>
          <p:spPr>
            <a:xfrm>
              <a:off x="10877550" y="5391150"/>
              <a:ext cx="133350" cy="114300"/>
            </a:xfrm>
            <a:custGeom>
              <a:avLst/>
              <a:gdLst>
                <a:gd name="connsiteX0" fmla="*/ 133350 w 133350"/>
                <a:gd name="connsiteY0" fmla="*/ 0 h 114300"/>
                <a:gd name="connsiteX1" fmla="*/ 66675 w 133350"/>
                <a:gd name="connsiteY1" fmla="*/ 114300 h 114300"/>
                <a:gd name="connsiteX2" fmla="*/ 0 w 133350"/>
                <a:gd name="connsiteY2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114300">
                  <a:moveTo>
                    <a:pt x="133350" y="0"/>
                  </a:moveTo>
                  <a:cubicBezTo>
                    <a:pt x="111125" y="57150"/>
                    <a:pt x="88900" y="114300"/>
                    <a:pt x="66675" y="114300"/>
                  </a:cubicBezTo>
                  <a:cubicBezTo>
                    <a:pt x="44450" y="114300"/>
                    <a:pt x="22225" y="57150"/>
                    <a:pt x="0" y="0"/>
                  </a:cubicBezTo>
                </a:path>
              </a:pathLst>
            </a:custGeom>
            <a:noFill/>
            <a:ln w="12700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CFECFA54-86E1-4541-9E67-530F074FA15C}"/>
                </a:ext>
              </a:extLst>
            </p:cNvPr>
            <p:cNvSpPr/>
            <p:nvPr/>
          </p:nvSpPr>
          <p:spPr>
            <a:xfrm>
              <a:off x="10683228" y="5390402"/>
              <a:ext cx="133350" cy="114300"/>
            </a:xfrm>
            <a:custGeom>
              <a:avLst/>
              <a:gdLst>
                <a:gd name="connsiteX0" fmla="*/ 133350 w 133350"/>
                <a:gd name="connsiteY0" fmla="*/ 0 h 114300"/>
                <a:gd name="connsiteX1" fmla="*/ 66675 w 133350"/>
                <a:gd name="connsiteY1" fmla="*/ 114300 h 114300"/>
                <a:gd name="connsiteX2" fmla="*/ 0 w 133350"/>
                <a:gd name="connsiteY2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114300">
                  <a:moveTo>
                    <a:pt x="133350" y="0"/>
                  </a:moveTo>
                  <a:cubicBezTo>
                    <a:pt x="111125" y="57150"/>
                    <a:pt x="88900" y="114300"/>
                    <a:pt x="66675" y="114300"/>
                  </a:cubicBezTo>
                  <a:cubicBezTo>
                    <a:pt x="44450" y="114300"/>
                    <a:pt x="22225" y="57150"/>
                    <a:pt x="0" y="0"/>
                  </a:cubicBezTo>
                </a:path>
              </a:pathLst>
            </a:custGeom>
            <a:noFill/>
            <a:ln w="12700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79A7BD77-DD23-4A1D-BBB2-DE30987B0C66}"/>
                </a:ext>
              </a:extLst>
            </p:cNvPr>
            <p:cNvSpPr txBox="1"/>
            <p:nvPr/>
          </p:nvSpPr>
          <p:spPr>
            <a:xfrm>
              <a:off x="11053068" y="5245358"/>
              <a:ext cx="11433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>
                  <a:solidFill>
                    <a:srgbClr val="C00000"/>
                  </a:solidFill>
                </a:rPr>
                <a:t>freepointers</a:t>
              </a:r>
              <a:r>
                <a:rPr lang="en-US" sz="1400" b="1" dirty="0">
                  <a:solidFill>
                    <a:srgbClr val="C00000"/>
                  </a:solidFill>
                </a:rPr>
                <a:t>: reverse!</a:t>
              </a:r>
            </a:p>
          </p:txBody>
        </p:sp>
      </p:grp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6E42563E-675B-4346-A7F8-C6F16B330E70}"/>
              </a:ext>
            </a:extLst>
          </p:cNvPr>
          <p:cNvCxnSpPr>
            <a:stCxn id="113" idx="3"/>
            <a:endCxn id="107" idx="1"/>
          </p:cNvCxnSpPr>
          <p:nvPr/>
        </p:nvCxnSpPr>
        <p:spPr>
          <a:xfrm flipV="1">
            <a:off x="6055765" y="866892"/>
            <a:ext cx="727833" cy="62222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867F723-A407-4508-9332-8EDCDE9F8F10}"/>
              </a:ext>
            </a:extLst>
          </p:cNvPr>
          <p:cNvCxnSpPr>
            <a:stCxn id="114" idx="3"/>
            <a:endCxn id="131" idx="3"/>
          </p:cNvCxnSpPr>
          <p:nvPr/>
        </p:nvCxnSpPr>
        <p:spPr>
          <a:xfrm>
            <a:off x="6055760" y="1699732"/>
            <a:ext cx="4521826" cy="818632"/>
          </a:xfrm>
          <a:prstGeom prst="bentConnector4">
            <a:avLst>
              <a:gd name="adj1" fmla="val 9727"/>
              <a:gd name="adj2" fmla="val 2093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973FC28A-FD44-4188-82CD-A6F2AFCA77B0}"/>
              </a:ext>
            </a:extLst>
          </p:cNvPr>
          <p:cNvSpPr txBox="1"/>
          <p:nvPr/>
        </p:nvSpPr>
        <p:spPr>
          <a:xfrm>
            <a:off x="10349185" y="810574"/>
            <a:ext cx="1285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Return this object address</a:t>
            </a:r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87082BD9-2553-4BAA-BFFB-1415043C12B8}"/>
              </a:ext>
            </a:extLst>
          </p:cNvPr>
          <p:cNvSpPr/>
          <p:nvPr/>
        </p:nvSpPr>
        <p:spPr>
          <a:xfrm>
            <a:off x="10134998" y="1104851"/>
            <a:ext cx="247713" cy="647700"/>
          </a:xfrm>
          <a:custGeom>
            <a:avLst/>
            <a:gdLst>
              <a:gd name="connsiteX0" fmla="*/ 247713 w 247713"/>
              <a:gd name="connsiteY0" fmla="*/ 647700 h 647700"/>
              <a:gd name="connsiteX1" fmla="*/ 63 w 247713"/>
              <a:gd name="connsiteY1" fmla="*/ 314325 h 647700"/>
              <a:gd name="connsiteX2" fmla="*/ 228663 w 247713"/>
              <a:gd name="connsiteY2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713" h="647700">
                <a:moveTo>
                  <a:pt x="247713" y="647700"/>
                </a:moveTo>
                <a:cubicBezTo>
                  <a:pt x="125475" y="534987"/>
                  <a:pt x="3238" y="422275"/>
                  <a:pt x="63" y="314325"/>
                </a:cubicBezTo>
                <a:cubicBezTo>
                  <a:pt x="-3112" y="206375"/>
                  <a:pt x="112775" y="103187"/>
                  <a:pt x="228663" y="0"/>
                </a:cubicBezTo>
              </a:path>
            </a:pathLst>
          </a:custGeom>
          <a:noFill/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itle 1">
            <a:extLst>
              <a:ext uri="{FF2B5EF4-FFF2-40B4-BE49-F238E27FC236}">
                <a16:creationId xmlns:a16="http://schemas.microsoft.com/office/drawing/2014/main" id="{94009DBC-4A03-4A9A-9C5B-DC370DC3A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37" y="-76688"/>
            <a:ext cx="12235055" cy="689951"/>
          </a:xfrm>
        </p:spPr>
        <p:txBody>
          <a:bodyPr>
            <a:noAutofit/>
          </a:bodyPr>
          <a:lstStyle/>
          <a:p>
            <a:r>
              <a:rPr lang="en-US" sz="4000" dirty="0" err="1"/>
              <a:t>Slowpath</a:t>
            </a:r>
            <a:r>
              <a:rPr lang="en-US" sz="4000" dirty="0"/>
              <a:t> #1 – Get an object from node’s partial page</a:t>
            </a:r>
          </a:p>
        </p:txBody>
      </p:sp>
    </p:spTree>
    <p:extLst>
      <p:ext uri="{BB962C8B-B14F-4D97-AF65-F5344CB8AC3E}">
        <p14:creationId xmlns:p14="http://schemas.microsoft.com/office/powerpoint/2010/main" val="10076699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9129-3B0A-415B-9636-B4561F98D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66187"/>
            <a:ext cx="10515600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kmem_cache_init</a:t>
            </a:r>
            <a:r>
              <a:rPr lang="en-US" dirty="0"/>
              <a:t>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7C83B3-2FC6-4FAD-8A10-72007FDC961D}"/>
              </a:ext>
            </a:extLst>
          </p:cNvPr>
          <p:cNvSpPr/>
          <p:nvPr/>
        </p:nvSpPr>
        <p:spPr>
          <a:xfrm>
            <a:off x="206620" y="930371"/>
            <a:ext cx="102577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start_kernel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EB3BDE-9302-4328-8246-476260A58DC8}"/>
              </a:ext>
            </a:extLst>
          </p:cNvPr>
          <p:cNvSpPr/>
          <p:nvPr/>
        </p:nvSpPr>
        <p:spPr>
          <a:xfrm>
            <a:off x="4702411" y="54471"/>
            <a:ext cx="6235220" cy="9542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marL="342900" indent="-3429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Declare two static variables ‘</a:t>
            </a:r>
            <a:r>
              <a:rPr lang="en-US" sz="1400" dirty="0" err="1">
                <a:solidFill>
                  <a:schemeClr val="tx1"/>
                </a:solidFill>
              </a:rPr>
              <a:t>boot_kmem_cache</a:t>
            </a:r>
            <a:r>
              <a:rPr lang="en-US" sz="1400" dirty="0">
                <a:solidFill>
                  <a:schemeClr val="tx1"/>
                </a:solidFill>
              </a:rPr>
              <a:t>’ and ‘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r>
              <a:rPr lang="en-US" sz="1400" dirty="0">
                <a:solidFill>
                  <a:schemeClr val="tx1"/>
                </a:solidFill>
              </a:rPr>
              <a:t>’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Assign the addresses of two static variables to generic/global variables</a:t>
            </a:r>
          </a:p>
          <a:p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= &amp;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pt-BR" sz="1400" dirty="0">
                <a:solidFill>
                  <a:schemeClr val="tx1"/>
                </a:solidFill>
              </a:rPr>
              <a:t>kmem_cache = &amp;boot_kmem_cache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9AB601-ADC1-4334-A685-E465EC1AE6E0}"/>
              </a:ext>
            </a:extLst>
          </p:cNvPr>
          <p:cNvSpPr/>
          <p:nvPr/>
        </p:nvSpPr>
        <p:spPr>
          <a:xfrm>
            <a:off x="3978525" y="2028837"/>
            <a:ext cx="186250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kmem_cache_create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D7502-B8EF-440A-873F-04C80E3D15F2}"/>
              </a:ext>
            </a:extLst>
          </p:cNvPr>
          <p:cNvSpPr/>
          <p:nvPr/>
        </p:nvSpPr>
        <p:spPr>
          <a:xfrm>
            <a:off x="8055956" y="2091124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init_kmem_cache_nodes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53E19B-ABFB-4C32-BA9B-5CCE60EABD0F}"/>
              </a:ext>
            </a:extLst>
          </p:cNvPr>
          <p:cNvSpPr/>
          <p:nvPr/>
        </p:nvSpPr>
        <p:spPr>
          <a:xfrm>
            <a:off x="8055955" y="1407521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calculate_sizes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676F99-B946-4563-A177-718F682A75DC}"/>
              </a:ext>
            </a:extLst>
          </p:cNvPr>
          <p:cNvSpPr/>
          <p:nvPr/>
        </p:nvSpPr>
        <p:spPr>
          <a:xfrm>
            <a:off x="6096000" y="2027066"/>
            <a:ext cx="158408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kmem_cache_open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9A59B0-4062-4867-9EF7-605F36958571}"/>
              </a:ext>
            </a:extLst>
          </p:cNvPr>
          <p:cNvSpPr/>
          <p:nvPr/>
        </p:nvSpPr>
        <p:spPr>
          <a:xfrm>
            <a:off x="8055956" y="2669952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305E8CF-DB96-421F-BB3A-6CDBAA3E7B4F}"/>
              </a:ext>
            </a:extLst>
          </p:cNvPr>
          <p:cNvCxnSpPr>
            <a:cxnSpLocks/>
            <a:stCxn id="43" idx="3"/>
            <a:endCxn id="11" idx="1"/>
          </p:cNvCxnSpPr>
          <p:nvPr/>
        </p:nvCxnSpPr>
        <p:spPr>
          <a:xfrm flipV="1">
            <a:off x="4242293" y="531620"/>
            <a:ext cx="460118" cy="51964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162B24E-AECB-409F-BE19-3DF80DE7E01C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 flipV="1">
            <a:off x="5841031" y="2147961"/>
            <a:ext cx="254969" cy="177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EEDF4AF-F39D-43A8-8B3D-C4221FE12C88}"/>
              </a:ext>
            </a:extLst>
          </p:cNvPr>
          <p:cNvCxnSpPr>
            <a:stCxn id="21" idx="3"/>
            <a:endCxn id="20" idx="1"/>
          </p:cNvCxnSpPr>
          <p:nvPr/>
        </p:nvCxnSpPr>
        <p:spPr>
          <a:xfrm flipV="1">
            <a:off x="7680083" y="1528416"/>
            <a:ext cx="375872" cy="61954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2717956-0F12-453A-9C93-AA0DB070CC0C}"/>
              </a:ext>
            </a:extLst>
          </p:cNvPr>
          <p:cNvCxnSpPr>
            <a:stCxn id="21" idx="3"/>
            <a:endCxn id="19" idx="1"/>
          </p:cNvCxnSpPr>
          <p:nvPr/>
        </p:nvCxnSpPr>
        <p:spPr>
          <a:xfrm>
            <a:off x="7680083" y="2147961"/>
            <a:ext cx="375873" cy="6405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A1924981-405C-4976-957A-FB010FABD96C}"/>
              </a:ext>
            </a:extLst>
          </p:cNvPr>
          <p:cNvCxnSpPr>
            <a:stCxn id="21" idx="3"/>
            <a:endCxn id="24" idx="1"/>
          </p:cNvCxnSpPr>
          <p:nvPr/>
        </p:nvCxnSpPr>
        <p:spPr>
          <a:xfrm>
            <a:off x="7680083" y="2147961"/>
            <a:ext cx="375873" cy="64288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D242F63-6D2B-4B85-A570-653856869740}"/>
              </a:ext>
            </a:extLst>
          </p:cNvPr>
          <p:cNvSpPr/>
          <p:nvPr/>
        </p:nvSpPr>
        <p:spPr>
          <a:xfrm>
            <a:off x="1511546" y="930371"/>
            <a:ext cx="1069731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mm_init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77ECD6-09F8-4182-9253-6CF84131CBBA}"/>
              </a:ext>
            </a:extLst>
          </p:cNvPr>
          <p:cNvSpPr/>
          <p:nvPr/>
        </p:nvSpPr>
        <p:spPr>
          <a:xfrm>
            <a:off x="2838453" y="930372"/>
            <a:ext cx="140384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kmem_cache_init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EDC6C3-B6B8-4768-BCCE-5AA3B7E14FB5}"/>
              </a:ext>
            </a:extLst>
          </p:cNvPr>
          <p:cNvCxnSpPr>
            <a:cxnSpLocks/>
            <a:stCxn id="4" idx="3"/>
            <a:endCxn id="40" idx="1"/>
          </p:cNvCxnSpPr>
          <p:nvPr/>
        </p:nvCxnSpPr>
        <p:spPr>
          <a:xfrm>
            <a:off x="1232390" y="1051266"/>
            <a:ext cx="27915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F3B7BA-BEB1-4052-BB69-5A5F5BD41D9D}"/>
              </a:ext>
            </a:extLst>
          </p:cNvPr>
          <p:cNvCxnSpPr>
            <a:stCxn id="40" idx="3"/>
            <a:endCxn id="43" idx="1"/>
          </p:cNvCxnSpPr>
          <p:nvPr/>
        </p:nvCxnSpPr>
        <p:spPr>
          <a:xfrm>
            <a:off x="2581277" y="1051266"/>
            <a:ext cx="257176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0496BEC-40B7-437C-9A61-43992FF98990}"/>
              </a:ext>
            </a:extLst>
          </p:cNvPr>
          <p:cNvSpPr/>
          <p:nvPr/>
        </p:nvSpPr>
        <p:spPr>
          <a:xfrm>
            <a:off x="375138" y="1870924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create_boot_cache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2A1F532-67AA-4C1B-B369-CAF5CD59989E}"/>
              </a:ext>
            </a:extLst>
          </p:cNvPr>
          <p:cNvSpPr/>
          <p:nvPr/>
        </p:nvSpPr>
        <p:spPr>
          <a:xfrm>
            <a:off x="375580" y="2268855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create_boot_cache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F75F58AD-F6B5-41AF-A15F-AB736A342F06}"/>
              </a:ext>
            </a:extLst>
          </p:cNvPr>
          <p:cNvCxnSpPr>
            <a:stCxn id="48" idx="3"/>
            <a:endCxn id="18" idx="1"/>
          </p:cNvCxnSpPr>
          <p:nvPr/>
        </p:nvCxnSpPr>
        <p:spPr>
          <a:xfrm>
            <a:off x="3661265" y="1991819"/>
            <a:ext cx="317260" cy="15791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1E8A2B5-F7E4-4113-9C4E-D4854EE7DF64}"/>
              </a:ext>
            </a:extLst>
          </p:cNvPr>
          <p:cNvCxnSpPr>
            <a:stCxn id="50" idx="3"/>
            <a:endCxn id="18" idx="1"/>
          </p:cNvCxnSpPr>
          <p:nvPr/>
        </p:nvCxnSpPr>
        <p:spPr>
          <a:xfrm flipV="1">
            <a:off x="3661707" y="2149732"/>
            <a:ext cx="316818" cy="240018"/>
          </a:xfrm>
          <a:prstGeom prst="bentConnector3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A002389-9290-41A6-A094-CB80FEA2753E}"/>
              </a:ext>
            </a:extLst>
          </p:cNvPr>
          <p:cNvCxnSpPr>
            <a:stCxn id="43" idx="3"/>
            <a:endCxn id="48" idx="1"/>
          </p:cNvCxnSpPr>
          <p:nvPr/>
        </p:nvCxnSpPr>
        <p:spPr>
          <a:xfrm flipH="1">
            <a:off x="375138" y="1051267"/>
            <a:ext cx="3867155" cy="940552"/>
          </a:xfrm>
          <a:prstGeom prst="bentConnector5">
            <a:avLst>
              <a:gd name="adj1" fmla="val -5911"/>
              <a:gd name="adj2" fmla="val 50000"/>
              <a:gd name="adj3" fmla="val 10591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827C8098-E444-40EB-9320-B18870AF0C28}"/>
              </a:ext>
            </a:extLst>
          </p:cNvPr>
          <p:cNvSpPr/>
          <p:nvPr/>
        </p:nvSpPr>
        <p:spPr>
          <a:xfrm>
            <a:off x="392361" y="2666786"/>
            <a:ext cx="3256648" cy="495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= bootstrap(&amp;</a:t>
            </a:r>
            <a:r>
              <a:rPr lang="en-US" sz="1400" dirty="0" err="1">
                <a:solidFill>
                  <a:schemeClr val="tx1"/>
                </a:solidFill>
              </a:rPr>
              <a:t>boot_kmem_cache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AD82F0-5CD0-441A-8135-91102AC2E567}"/>
              </a:ext>
            </a:extLst>
          </p:cNvPr>
          <p:cNvSpPr/>
          <p:nvPr/>
        </p:nvSpPr>
        <p:spPr>
          <a:xfrm>
            <a:off x="375138" y="3304659"/>
            <a:ext cx="3270943" cy="495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= bootstrap(&amp;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C771486-15FA-448C-B2EC-26C8283B72F0}"/>
              </a:ext>
            </a:extLst>
          </p:cNvPr>
          <p:cNvCxnSpPr>
            <a:stCxn id="48" idx="1"/>
            <a:endCxn id="50" idx="1"/>
          </p:cNvCxnSpPr>
          <p:nvPr/>
        </p:nvCxnSpPr>
        <p:spPr>
          <a:xfrm rot="10800000" flipH="1" flipV="1">
            <a:off x="375138" y="1991818"/>
            <a:ext cx="442" cy="397931"/>
          </a:xfrm>
          <a:prstGeom prst="bentConnector3">
            <a:avLst>
              <a:gd name="adj1" fmla="val -517194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B230C99-8A9E-4426-B458-A87B7852DDF3}"/>
              </a:ext>
            </a:extLst>
          </p:cNvPr>
          <p:cNvSpPr/>
          <p:nvPr/>
        </p:nvSpPr>
        <p:spPr>
          <a:xfrm>
            <a:off x="392360" y="3955761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setup_kmalloc_cache_index_table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EE7DD0-912A-4407-8A2A-4E846AF8B90B}"/>
              </a:ext>
            </a:extLst>
          </p:cNvPr>
          <p:cNvSpPr/>
          <p:nvPr/>
        </p:nvSpPr>
        <p:spPr>
          <a:xfrm>
            <a:off x="392360" y="4325650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create_kmalloc_caches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6A98437-2F0B-48B8-BF65-32C00BD508CD}"/>
              </a:ext>
            </a:extLst>
          </p:cNvPr>
          <p:cNvCxnSpPr>
            <a:cxnSpLocks/>
            <a:stCxn id="50" idx="1"/>
            <a:endCxn id="36" idx="1"/>
          </p:cNvCxnSpPr>
          <p:nvPr/>
        </p:nvCxnSpPr>
        <p:spPr>
          <a:xfrm rot="10800000" flipH="1" flipV="1">
            <a:off x="375579" y="2389750"/>
            <a:ext cx="16781" cy="524944"/>
          </a:xfrm>
          <a:prstGeom prst="bentConnector3">
            <a:avLst>
              <a:gd name="adj1" fmla="val -136225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59C1CA3-F70B-40A4-8EE4-5C873A16FF92}"/>
              </a:ext>
            </a:extLst>
          </p:cNvPr>
          <p:cNvCxnSpPr>
            <a:cxnSpLocks/>
            <a:stCxn id="36" idx="1"/>
            <a:endCxn id="37" idx="1"/>
          </p:cNvCxnSpPr>
          <p:nvPr/>
        </p:nvCxnSpPr>
        <p:spPr>
          <a:xfrm rot="10800000" flipV="1">
            <a:off x="375139" y="2914693"/>
            <a:ext cx="17223" cy="637873"/>
          </a:xfrm>
          <a:prstGeom prst="bentConnector3">
            <a:avLst>
              <a:gd name="adj1" fmla="val 142729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48D5F4E5-7144-4196-A708-CA09EED31D47}"/>
              </a:ext>
            </a:extLst>
          </p:cNvPr>
          <p:cNvCxnSpPr>
            <a:stCxn id="37" idx="1"/>
            <a:endCxn id="39" idx="1"/>
          </p:cNvCxnSpPr>
          <p:nvPr/>
        </p:nvCxnSpPr>
        <p:spPr>
          <a:xfrm rot="10800000" flipH="1" flipV="1">
            <a:off x="375138" y="3552566"/>
            <a:ext cx="17222" cy="524089"/>
          </a:xfrm>
          <a:prstGeom prst="bentConnector3">
            <a:avLst>
              <a:gd name="adj1" fmla="val -13273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699C733B-3643-4DDF-92F4-21CAE7063176}"/>
              </a:ext>
            </a:extLst>
          </p:cNvPr>
          <p:cNvCxnSpPr>
            <a:cxnSpLocks/>
            <a:stCxn id="39" idx="1"/>
            <a:endCxn id="41" idx="1"/>
          </p:cNvCxnSpPr>
          <p:nvPr/>
        </p:nvCxnSpPr>
        <p:spPr>
          <a:xfrm rot="10800000" flipV="1">
            <a:off x="392360" y="4076655"/>
            <a:ext cx="12700" cy="369889"/>
          </a:xfrm>
          <a:prstGeom prst="bentConnector3">
            <a:avLst>
              <a:gd name="adj1" fmla="val 20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4594A41-0910-4188-970C-BDF65E6412BD}"/>
              </a:ext>
            </a:extLst>
          </p:cNvPr>
          <p:cNvSpPr/>
          <p:nvPr/>
        </p:nvSpPr>
        <p:spPr>
          <a:xfrm>
            <a:off x="9344025" y="3013585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alloc_percpu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2B6317C-7C53-4FE3-A2EC-140C31AB7E1C}"/>
              </a:ext>
            </a:extLst>
          </p:cNvPr>
          <p:cNvSpPr/>
          <p:nvPr/>
        </p:nvSpPr>
        <p:spPr>
          <a:xfrm>
            <a:off x="9344025" y="3374237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165BCC-C6F8-4E27-8C24-CEE73349A088}"/>
              </a:ext>
            </a:extLst>
          </p:cNvPr>
          <p:cNvSpPr txBox="1"/>
          <p:nvPr/>
        </p:nvSpPr>
        <p:spPr>
          <a:xfrm>
            <a:off x="9344025" y="3616026"/>
            <a:ext cx="2153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Assign </a:t>
            </a:r>
            <a:r>
              <a:rPr lang="en-US" sz="1400" dirty="0" err="1"/>
              <a:t>cpu</a:t>
            </a:r>
            <a:r>
              <a:rPr lang="en-US" sz="1400" dirty="0"/>
              <a:t> id to </a:t>
            </a:r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r>
              <a:rPr lang="en-US" sz="1400" dirty="0">
                <a:solidFill>
                  <a:schemeClr val="tx1"/>
                </a:solidFill>
              </a:rPr>
              <a:t>-&gt;</a:t>
            </a:r>
            <a:r>
              <a:rPr lang="en-US" sz="1400" dirty="0" err="1">
                <a:solidFill>
                  <a:schemeClr val="tx1"/>
                </a:solidFill>
              </a:rPr>
              <a:t>tid</a:t>
            </a:r>
            <a:endParaRPr lang="en-US" sz="1400" dirty="0"/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B3C297E7-C560-4DBE-ADBB-023C0EE300EA}"/>
              </a:ext>
            </a:extLst>
          </p:cNvPr>
          <p:cNvCxnSpPr>
            <a:stCxn id="24" idx="2"/>
            <a:endCxn id="56" idx="1"/>
          </p:cNvCxnSpPr>
          <p:nvPr/>
        </p:nvCxnSpPr>
        <p:spPr>
          <a:xfrm rot="16200000" flipH="1">
            <a:off x="9081175" y="2871629"/>
            <a:ext cx="222739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2984BC18-B187-41E8-BB20-B00C71FC9786}"/>
              </a:ext>
            </a:extLst>
          </p:cNvPr>
          <p:cNvCxnSpPr>
            <a:stCxn id="24" idx="2"/>
            <a:endCxn id="57" idx="1"/>
          </p:cNvCxnSpPr>
          <p:nvPr/>
        </p:nvCxnSpPr>
        <p:spPr>
          <a:xfrm rot="16200000" flipH="1">
            <a:off x="8900849" y="3051955"/>
            <a:ext cx="583391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05CE5BC-27AD-4C51-A645-946D0032801E}"/>
              </a:ext>
            </a:extLst>
          </p:cNvPr>
          <p:cNvSpPr txBox="1"/>
          <p:nvPr/>
        </p:nvSpPr>
        <p:spPr>
          <a:xfrm>
            <a:off x="7952460" y="1697274"/>
            <a:ext cx="242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‘</a:t>
            </a:r>
            <a:r>
              <a:rPr lang="en-US" sz="1200" b="1" dirty="0" err="1"/>
              <a:t>kmem_cache_node</a:t>
            </a:r>
            <a:r>
              <a:rPr lang="en-US" sz="1200" dirty="0"/>
              <a:t>’ structs for all CPU nodes (sockets)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F49BFE-D8D0-437E-89F7-C2F44701122D}"/>
              </a:ext>
            </a:extLst>
          </p:cNvPr>
          <p:cNvSpPr txBox="1"/>
          <p:nvPr/>
        </p:nvSpPr>
        <p:spPr>
          <a:xfrm>
            <a:off x="7820021" y="2412003"/>
            <a:ext cx="2747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a ‘</a:t>
            </a:r>
            <a:r>
              <a:rPr lang="en-US" sz="1200" b="1" dirty="0" err="1"/>
              <a:t>kmem_cache_cpu</a:t>
            </a:r>
            <a:r>
              <a:rPr lang="en-US" sz="1200" dirty="0"/>
              <a:t>’ struct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4A69A19-63CC-4A4D-A95C-23B5959FE02A}"/>
              </a:ext>
            </a:extLst>
          </p:cNvPr>
          <p:cNvSpPr/>
          <p:nvPr/>
        </p:nvSpPr>
        <p:spPr>
          <a:xfrm>
            <a:off x="250748" y="1733508"/>
            <a:ext cx="3472365" cy="86618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矩形 40">
            <a:extLst>
              <a:ext uri="{FF2B5EF4-FFF2-40B4-BE49-F238E27FC236}">
                <a16:creationId xmlns:a16="http://schemas.microsoft.com/office/drawing/2014/main" id="{C240CA67-115B-476A-AD98-2868534FDB64}"/>
              </a:ext>
            </a:extLst>
          </p:cNvPr>
          <p:cNvSpPr/>
          <p:nvPr/>
        </p:nvSpPr>
        <p:spPr>
          <a:xfrm>
            <a:off x="375137" y="5895060"/>
            <a:ext cx="11394500" cy="8626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</a:rPr>
              <a:t>Let’s check data structures about </a:t>
            </a:r>
            <a:r>
              <a:rPr lang="en-US" sz="2800" b="1" dirty="0" err="1">
                <a:solidFill>
                  <a:schemeClr val="tx1"/>
                </a:solidFill>
              </a:rPr>
              <a:t>kmem_cache</a:t>
            </a:r>
            <a:r>
              <a:rPr lang="en-US" sz="2800" b="1" dirty="0">
                <a:solidFill>
                  <a:schemeClr val="tx1"/>
                </a:solidFill>
              </a:rPr>
              <a:t> &amp; </a:t>
            </a:r>
            <a:r>
              <a:rPr lang="en-US" sz="2800" b="1" dirty="0" err="1">
                <a:solidFill>
                  <a:schemeClr val="tx1"/>
                </a:solidFill>
              </a:rPr>
              <a:t>kmem_cache_node</a:t>
            </a:r>
            <a:r>
              <a:rPr lang="en-US" sz="2800" b="1" dirty="0">
                <a:solidFill>
                  <a:schemeClr val="tx1"/>
                </a:solidFill>
              </a:rPr>
              <a:t> after function call “</a:t>
            </a:r>
            <a:r>
              <a:rPr lang="en-US" sz="2800" b="1" dirty="0" err="1">
                <a:solidFill>
                  <a:schemeClr val="tx1"/>
                </a:solidFill>
              </a:rPr>
              <a:t>create_boot_cache</a:t>
            </a:r>
            <a:r>
              <a:rPr lang="en-US" sz="2800" b="1" dirty="0">
                <a:solidFill>
                  <a:schemeClr val="tx1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78136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881BA68-DB0B-419E-B4F4-FD6A7292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-124313"/>
            <a:ext cx="11345008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create_boot_cache</a:t>
            </a:r>
            <a:r>
              <a:rPr lang="en-US" sz="4400" dirty="0">
                <a:solidFill>
                  <a:schemeClr val="tx1"/>
                </a:solidFill>
              </a:rPr>
              <a:t>(): 1/2</a:t>
            </a:r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1092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1092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1092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1092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95913" y="31169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95913" y="35934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95912" y="38036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95908" y="40136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95911" y="42238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95907" y="33852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95906" y="4431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95911" y="49199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95911" y="53964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95910" y="56066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95906" y="58166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95909" y="60268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95905" y="51881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95904" y="6234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275886" y="64414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95904" y="45363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251423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78D6EC63-C574-43F4-ACFC-EDC63B00DE7B}"/>
              </a:ext>
            </a:extLst>
          </p:cNvPr>
          <p:cNvCxnSpPr>
            <a:cxnSpLocks/>
            <a:stCxn id="91" idx="3"/>
            <a:endCxn id="99" idx="1"/>
          </p:cNvCxnSpPr>
          <p:nvPr/>
        </p:nvCxnSpPr>
        <p:spPr>
          <a:xfrm flipV="1">
            <a:off x="6310291" y="3750424"/>
            <a:ext cx="597130" cy="15846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cxnSpLocks/>
          </p:cNvCxnSpPr>
          <p:nvPr/>
        </p:nvCxnSpPr>
        <p:spPr>
          <a:xfrm flipH="1">
            <a:off x="6308476" y="4585683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62B75B-E14A-4CC9-ACCA-96F309D63D04}"/>
              </a:ext>
            </a:extLst>
          </p:cNvPr>
          <p:cNvGrpSpPr/>
          <p:nvPr/>
        </p:nvGrpSpPr>
        <p:grpSpPr>
          <a:xfrm>
            <a:off x="6783009" y="744782"/>
            <a:ext cx="2924383" cy="2458413"/>
            <a:chOff x="7059232" y="1647114"/>
            <a:chExt cx="2924383" cy="2458413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82A48A0-C700-47FB-96A8-C887468B9907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node #1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5A003AA-FDBB-4FC2-A4B6-F3FCE99F7D06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5039891-EFA4-4CE7-A9C9-F61573596A35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D849E95-0F0F-4579-B533-11BF75C5FD18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 = NULL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BA1A864-E3FF-4005-9A55-1FB55789BC3D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E472742-5004-4DE4-A506-2E67178508A4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28B1047-F234-4A68-93B5-47860125DCE2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6AFD800-9ECC-43AC-8BE8-98977F9B281E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BEB763E-DE3F-4CCB-88A6-CD04424E7B58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64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18B1962-C07C-4637-8B1F-5E9396C26E43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64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57D2F4A-05F4-4A49-9347-9FED2C28873A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1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7C91180-2CB8-4DD1-858B-CC563B8F4A0A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680B50E3-B20C-4837-A183-AC145EC0714F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A157A930-9B09-42A6-88DE-9F8F19ACCEE8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D3097E1-156D-4925-8A6E-33008DE50C96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3F7317A-C123-4B03-BBBD-B0A56C981513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r>
                <a:rPr lang="en-US" sz="1200" dirty="0">
                  <a:solidFill>
                    <a:schemeClr val="tx1"/>
                  </a:solidFill>
                </a:rPr>
                <a:t> = invalid</a:t>
              </a:r>
            </a:p>
          </p:txBody>
        </p:sp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4D69D14-C392-4DBE-8730-B8FFD34BD229}"/>
              </a:ext>
            </a:extLst>
          </p:cNvPr>
          <p:cNvSpPr/>
          <p:nvPr/>
        </p:nvSpPr>
        <p:spPr>
          <a:xfrm>
            <a:off x="10116796" y="1558524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AD86A15-A6F3-4072-BE05-8F58BD2C9D05}"/>
              </a:ext>
            </a:extLst>
          </p:cNvPr>
          <p:cNvSpPr/>
          <p:nvPr/>
        </p:nvSpPr>
        <p:spPr>
          <a:xfrm rot="5400000">
            <a:off x="9824553" y="2041409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C5549C3-5615-4956-94E4-9117FBD43844}"/>
              </a:ext>
            </a:extLst>
          </p:cNvPr>
          <p:cNvSpPr/>
          <p:nvPr/>
        </p:nvSpPr>
        <p:spPr>
          <a:xfrm rot="5400000">
            <a:off x="10192986" y="2041410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CCB499C-8199-4E73-AA66-02C9F4C1576B}"/>
              </a:ext>
            </a:extLst>
          </p:cNvPr>
          <p:cNvSpPr txBox="1"/>
          <p:nvPr/>
        </p:nvSpPr>
        <p:spPr>
          <a:xfrm>
            <a:off x="10604586" y="1884259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8D39DFA-2C81-4299-BFCA-96B07300AA70}"/>
              </a:ext>
            </a:extLst>
          </p:cNvPr>
          <p:cNvSpPr/>
          <p:nvPr/>
        </p:nvSpPr>
        <p:spPr>
          <a:xfrm rot="5400000">
            <a:off x="10564615" y="2041879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526B2D1-29C4-4C89-BD33-FD63B380A5ED}"/>
              </a:ext>
            </a:extLst>
          </p:cNvPr>
          <p:cNvSpPr txBox="1"/>
          <p:nvPr/>
        </p:nvSpPr>
        <p:spPr>
          <a:xfrm>
            <a:off x="10329102" y="1503905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37280FB-85F1-4C52-B840-F62A81C58A22}"/>
              </a:ext>
            </a:extLst>
          </p:cNvPr>
          <p:cNvSpPr/>
          <p:nvPr/>
        </p:nvSpPr>
        <p:spPr>
          <a:xfrm rot="5400000">
            <a:off x="10009850" y="2041410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18913D-CD18-430C-882E-7430BB252464}"/>
              </a:ext>
            </a:extLst>
          </p:cNvPr>
          <p:cNvGrpSpPr/>
          <p:nvPr/>
        </p:nvGrpSpPr>
        <p:grpSpPr>
          <a:xfrm>
            <a:off x="6906832" y="3628314"/>
            <a:ext cx="5289554" cy="2616514"/>
            <a:chOff x="6906832" y="3152064"/>
            <a:chExt cx="5289554" cy="2616514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55B634C-9D3B-4BC1-859B-6451500087D8}"/>
                </a:ext>
              </a:extLst>
            </p:cNvPr>
            <p:cNvSpPr/>
            <p:nvPr/>
          </p:nvSpPr>
          <p:spPr>
            <a:xfrm>
              <a:off x="6907421" y="315206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node #0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3B22DA7-0F7F-4B9C-9E2A-12DB4D4B7ACF}"/>
                </a:ext>
              </a:extLst>
            </p:cNvPr>
            <p:cNvSpPr/>
            <p:nvPr/>
          </p:nvSpPr>
          <p:spPr>
            <a:xfrm>
              <a:off x="7783081" y="359482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6D59FDD-70AF-4D3A-91F8-F18C9632B9AC}"/>
                </a:ext>
              </a:extLst>
            </p:cNvPr>
            <p:cNvSpPr/>
            <p:nvPr/>
          </p:nvSpPr>
          <p:spPr>
            <a:xfrm>
              <a:off x="6906832" y="415152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F125610-11C3-4225-87FE-1549EEA47F7A}"/>
                </a:ext>
              </a:extLst>
            </p:cNvPr>
            <p:cNvSpPr/>
            <p:nvPr/>
          </p:nvSpPr>
          <p:spPr>
            <a:xfrm>
              <a:off x="6906845" y="436172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0AAA60B-15B2-490E-81A8-6CDE6F0650BC}"/>
                </a:ext>
              </a:extLst>
            </p:cNvPr>
            <p:cNvSpPr/>
            <p:nvPr/>
          </p:nvSpPr>
          <p:spPr>
            <a:xfrm>
              <a:off x="7123358" y="457169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A05100D-4071-450A-81C4-5F2313ACD136}"/>
                </a:ext>
              </a:extLst>
            </p:cNvPr>
            <p:cNvSpPr/>
            <p:nvPr/>
          </p:nvSpPr>
          <p:spPr>
            <a:xfrm>
              <a:off x="7783081" y="378901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BC196D2-D68E-41F8-BF10-C519B7151334}"/>
                </a:ext>
              </a:extLst>
            </p:cNvPr>
            <p:cNvSpPr/>
            <p:nvPr/>
          </p:nvSpPr>
          <p:spPr>
            <a:xfrm>
              <a:off x="7783081" y="398180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82AA0B24-41D4-4A2C-A314-0BBBFA64C23D}"/>
                </a:ext>
              </a:extLst>
            </p:cNvPr>
            <p:cNvSpPr/>
            <p:nvPr/>
          </p:nvSpPr>
          <p:spPr>
            <a:xfrm>
              <a:off x="7123346" y="477723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BB19410C-08C1-4412-8992-07A95D22B9BB}"/>
                </a:ext>
              </a:extLst>
            </p:cNvPr>
            <p:cNvSpPr/>
            <p:nvPr/>
          </p:nvSpPr>
          <p:spPr>
            <a:xfrm>
              <a:off x="8182526" y="498451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2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A38F40A4-062E-4149-A007-F19B7B5034B7}"/>
                </a:ext>
              </a:extLst>
            </p:cNvPr>
            <p:cNvSpPr/>
            <p:nvPr/>
          </p:nvSpPr>
          <p:spPr>
            <a:xfrm>
              <a:off x="8182526" y="519448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64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F985455-AFD8-4029-A35E-89D1976156AE}"/>
                </a:ext>
              </a:extLst>
            </p:cNvPr>
            <p:cNvSpPr/>
            <p:nvPr/>
          </p:nvSpPr>
          <p:spPr>
            <a:xfrm>
              <a:off x="8182514" y="540002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0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441BFCFA-23A0-4A94-9419-12ED7B7F7474}"/>
                </a:ext>
              </a:extLst>
            </p:cNvPr>
            <p:cNvSpPr/>
            <p:nvPr/>
          </p:nvSpPr>
          <p:spPr>
            <a:xfrm rot="5400000">
              <a:off x="6513895" y="496464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BEB8A5D-9494-4583-B209-873DDC93AE1C}"/>
                </a:ext>
              </a:extLst>
            </p:cNvPr>
            <p:cNvSpPr/>
            <p:nvPr/>
          </p:nvSpPr>
          <p:spPr>
            <a:xfrm>
              <a:off x="7159711" y="498451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C687B96D-421C-4BCF-8B4B-8096EDB7591D}"/>
                </a:ext>
              </a:extLst>
            </p:cNvPr>
            <p:cNvSpPr/>
            <p:nvPr/>
          </p:nvSpPr>
          <p:spPr>
            <a:xfrm rot="5400000">
              <a:off x="6650289" y="364282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86A983D-210F-4B69-8F53-F85955F9638B}"/>
                </a:ext>
              </a:extLst>
            </p:cNvPr>
            <p:cNvSpPr/>
            <p:nvPr/>
          </p:nvSpPr>
          <p:spPr>
            <a:xfrm>
              <a:off x="7159635" y="359483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7ED201F6-432B-467C-9BB5-35D6E9F24AA1}"/>
                </a:ext>
              </a:extLst>
            </p:cNvPr>
            <p:cNvSpPr/>
            <p:nvPr/>
          </p:nvSpPr>
          <p:spPr>
            <a:xfrm>
              <a:off x="7159635" y="338568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A155499-F78B-4DD9-A865-54C1A682E327}"/>
                </a:ext>
              </a:extLst>
            </p:cNvPr>
            <p:cNvSpPr/>
            <p:nvPr/>
          </p:nvSpPr>
          <p:spPr>
            <a:xfrm>
              <a:off x="10196759" y="4423080"/>
              <a:ext cx="924100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7203E26-2D8C-4230-9634-9E9119F754D7}"/>
                </a:ext>
              </a:extLst>
            </p:cNvPr>
            <p:cNvSpPr/>
            <p:nvPr/>
          </p:nvSpPr>
          <p:spPr>
            <a:xfrm rot="5400000">
              <a:off x="9904516" y="4905965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B51C701-AD57-4855-BDAF-E81E96513440}"/>
                </a:ext>
              </a:extLst>
            </p:cNvPr>
            <p:cNvSpPr/>
            <p:nvPr/>
          </p:nvSpPr>
          <p:spPr>
            <a:xfrm rot="5400000">
              <a:off x="10272949" y="4905966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5B16CA9-5B63-4D2C-BC8C-9193E6C36B53}"/>
                </a:ext>
              </a:extLst>
            </p:cNvPr>
            <p:cNvSpPr txBox="1"/>
            <p:nvPr/>
          </p:nvSpPr>
          <p:spPr>
            <a:xfrm>
              <a:off x="10684549" y="4748815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B7C2B8A-CAEB-4E91-A375-9F50597FA287}"/>
                </a:ext>
              </a:extLst>
            </p:cNvPr>
            <p:cNvSpPr/>
            <p:nvPr/>
          </p:nvSpPr>
          <p:spPr>
            <a:xfrm rot="5400000">
              <a:off x="10644578" y="4906435"/>
              <a:ext cx="768265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3E7D04D-7CCF-4E3F-A399-1AEF5823F712}"/>
                </a:ext>
              </a:extLst>
            </p:cNvPr>
            <p:cNvSpPr txBox="1"/>
            <p:nvPr/>
          </p:nvSpPr>
          <p:spPr>
            <a:xfrm>
              <a:off x="10409065" y="436846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7F083AC-8617-41DA-800C-93EC6FDD5F36}"/>
                </a:ext>
              </a:extLst>
            </p:cNvPr>
            <p:cNvSpPr/>
            <p:nvPr/>
          </p:nvSpPr>
          <p:spPr>
            <a:xfrm rot="5400000">
              <a:off x="10089813" y="4905966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cxnSp>
          <p:nvCxnSpPr>
            <p:cNvPr id="145" name="Connector: Elbow 144">
              <a:extLst>
                <a:ext uri="{FF2B5EF4-FFF2-40B4-BE49-F238E27FC236}">
                  <a16:creationId xmlns:a16="http://schemas.microsoft.com/office/drawing/2014/main" id="{C6A27EB7-E426-40EC-8AC9-0C28FF09A38F}"/>
                </a:ext>
              </a:extLst>
            </p:cNvPr>
            <p:cNvCxnSpPr>
              <a:cxnSpLocks/>
              <a:endCxn id="142" idx="3"/>
            </p:cNvCxnSpPr>
            <p:nvPr/>
          </p:nvCxnSpPr>
          <p:spPr>
            <a:xfrm>
              <a:off x="9830622" y="4466949"/>
              <a:ext cx="1198088" cy="915972"/>
            </a:xfrm>
            <a:prstGeom prst="bentConnector4">
              <a:avLst>
                <a:gd name="adj1" fmla="val 15684"/>
                <a:gd name="adj2" fmla="val 12495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A5AF3892-C0C8-4B82-AB6A-81E2104CCA3F}"/>
                </a:ext>
              </a:extLst>
            </p:cNvPr>
            <p:cNvSpPr/>
            <p:nvPr/>
          </p:nvSpPr>
          <p:spPr>
            <a:xfrm>
              <a:off x="10877550" y="5391150"/>
              <a:ext cx="133350" cy="114300"/>
            </a:xfrm>
            <a:custGeom>
              <a:avLst/>
              <a:gdLst>
                <a:gd name="connsiteX0" fmla="*/ 133350 w 133350"/>
                <a:gd name="connsiteY0" fmla="*/ 0 h 114300"/>
                <a:gd name="connsiteX1" fmla="*/ 66675 w 133350"/>
                <a:gd name="connsiteY1" fmla="*/ 114300 h 114300"/>
                <a:gd name="connsiteX2" fmla="*/ 0 w 133350"/>
                <a:gd name="connsiteY2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114300">
                  <a:moveTo>
                    <a:pt x="133350" y="0"/>
                  </a:moveTo>
                  <a:cubicBezTo>
                    <a:pt x="111125" y="57150"/>
                    <a:pt x="88900" y="114300"/>
                    <a:pt x="66675" y="114300"/>
                  </a:cubicBezTo>
                  <a:cubicBezTo>
                    <a:pt x="44450" y="114300"/>
                    <a:pt x="22225" y="57150"/>
                    <a:pt x="0" y="0"/>
                  </a:cubicBezTo>
                </a:path>
              </a:pathLst>
            </a:custGeom>
            <a:noFill/>
            <a:ln w="12700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CFECFA54-86E1-4541-9E67-530F074FA15C}"/>
                </a:ext>
              </a:extLst>
            </p:cNvPr>
            <p:cNvSpPr/>
            <p:nvPr/>
          </p:nvSpPr>
          <p:spPr>
            <a:xfrm>
              <a:off x="10683228" y="5390402"/>
              <a:ext cx="133350" cy="114300"/>
            </a:xfrm>
            <a:custGeom>
              <a:avLst/>
              <a:gdLst>
                <a:gd name="connsiteX0" fmla="*/ 133350 w 133350"/>
                <a:gd name="connsiteY0" fmla="*/ 0 h 114300"/>
                <a:gd name="connsiteX1" fmla="*/ 66675 w 133350"/>
                <a:gd name="connsiteY1" fmla="*/ 114300 h 114300"/>
                <a:gd name="connsiteX2" fmla="*/ 0 w 133350"/>
                <a:gd name="connsiteY2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114300">
                  <a:moveTo>
                    <a:pt x="133350" y="0"/>
                  </a:moveTo>
                  <a:cubicBezTo>
                    <a:pt x="111125" y="57150"/>
                    <a:pt x="88900" y="114300"/>
                    <a:pt x="66675" y="114300"/>
                  </a:cubicBezTo>
                  <a:cubicBezTo>
                    <a:pt x="44450" y="114300"/>
                    <a:pt x="22225" y="57150"/>
                    <a:pt x="0" y="0"/>
                  </a:cubicBezTo>
                </a:path>
              </a:pathLst>
            </a:custGeom>
            <a:noFill/>
            <a:ln w="12700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79A7BD77-DD23-4A1D-BBB2-DE30987B0C66}"/>
                </a:ext>
              </a:extLst>
            </p:cNvPr>
            <p:cNvSpPr txBox="1"/>
            <p:nvPr/>
          </p:nvSpPr>
          <p:spPr>
            <a:xfrm>
              <a:off x="11053068" y="5245358"/>
              <a:ext cx="11433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>
                  <a:solidFill>
                    <a:srgbClr val="C00000"/>
                  </a:solidFill>
                </a:rPr>
                <a:t>freepointers</a:t>
              </a:r>
              <a:r>
                <a:rPr lang="en-US" sz="1400" b="1" dirty="0">
                  <a:solidFill>
                    <a:srgbClr val="C00000"/>
                  </a:solidFill>
                </a:rPr>
                <a:t>: reverse!</a:t>
              </a:r>
            </a:p>
          </p:txBody>
        </p:sp>
      </p:grp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6E42563E-675B-4346-A7F8-C6F16B330E70}"/>
              </a:ext>
            </a:extLst>
          </p:cNvPr>
          <p:cNvCxnSpPr>
            <a:stCxn id="113" idx="3"/>
            <a:endCxn id="107" idx="1"/>
          </p:cNvCxnSpPr>
          <p:nvPr/>
        </p:nvCxnSpPr>
        <p:spPr>
          <a:xfrm flipV="1">
            <a:off x="6055765" y="866892"/>
            <a:ext cx="727833" cy="62222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867F723-A407-4508-9332-8EDCDE9F8F10}"/>
              </a:ext>
            </a:extLst>
          </p:cNvPr>
          <p:cNvCxnSpPr>
            <a:stCxn id="114" idx="3"/>
            <a:endCxn id="131" idx="3"/>
          </p:cNvCxnSpPr>
          <p:nvPr/>
        </p:nvCxnSpPr>
        <p:spPr>
          <a:xfrm>
            <a:off x="6055760" y="1699732"/>
            <a:ext cx="4521826" cy="818632"/>
          </a:xfrm>
          <a:prstGeom prst="bentConnector4">
            <a:avLst>
              <a:gd name="adj1" fmla="val 9727"/>
              <a:gd name="adj2" fmla="val 2093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973FC28A-FD44-4188-82CD-A6F2AFCA77B0}"/>
              </a:ext>
            </a:extLst>
          </p:cNvPr>
          <p:cNvSpPr txBox="1"/>
          <p:nvPr/>
        </p:nvSpPr>
        <p:spPr>
          <a:xfrm>
            <a:off x="10349185" y="810574"/>
            <a:ext cx="1285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Return this object address</a:t>
            </a:r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87082BD9-2553-4BAA-BFFB-1415043C12B8}"/>
              </a:ext>
            </a:extLst>
          </p:cNvPr>
          <p:cNvSpPr/>
          <p:nvPr/>
        </p:nvSpPr>
        <p:spPr>
          <a:xfrm>
            <a:off x="10134998" y="1104851"/>
            <a:ext cx="247713" cy="647700"/>
          </a:xfrm>
          <a:custGeom>
            <a:avLst/>
            <a:gdLst>
              <a:gd name="connsiteX0" fmla="*/ 247713 w 247713"/>
              <a:gd name="connsiteY0" fmla="*/ 647700 h 647700"/>
              <a:gd name="connsiteX1" fmla="*/ 63 w 247713"/>
              <a:gd name="connsiteY1" fmla="*/ 314325 h 647700"/>
              <a:gd name="connsiteX2" fmla="*/ 228663 w 247713"/>
              <a:gd name="connsiteY2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713" h="647700">
                <a:moveTo>
                  <a:pt x="247713" y="647700"/>
                </a:moveTo>
                <a:cubicBezTo>
                  <a:pt x="125475" y="534987"/>
                  <a:pt x="3238" y="422275"/>
                  <a:pt x="63" y="314325"/>
                </a:cubicBezTo>
                <a:cubicBezTo>
                  <a:pt x="-3112" y="206375"/>
                  <a:pt x="112775" y="103187"/>
                  <a:pt x="228663" y="0"/>
                </a:cubicBezTo>
              </a:path>
            </a:pathLst>
          </a:custGeom>
          <a:noFill/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440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256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13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0x10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0x10020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0x10020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881BA68-DB0B-419E-B4F4-FD6A7292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-124313"/>
            <a:ext cx="11345008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create_boot_cache</a:t>
            </a:r>
            <a:r>
              <a:rPr lang="en-US" sz="4400" dirty="0">
                <a:solidFill>
                  <a:schemeClr val="tx1"/>
                </a:solidFill>
              </a:rPr>
              <a:t>(): 2/2</a:t>
            </a:r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112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91053"/>
            <a:ext cx="150539" cy="442004"/>
          </a:xfrm>
          <a:prstGeom prst="bentConnector3">
            <a:avLst>
              <a:gd name="adj1" fmla="val -15185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976165" y="880926"/>
            <a:ext cx="1538569" cy="220253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1092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1092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 = NULL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1092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1092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95913" y="31169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95913" y="35934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95912" y="38036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95908" y="40136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95911" y="42238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95907" y="33852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95906" y="4431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95911" y="49199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95911" y="53964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95910" y="56066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95906" y="58166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95909" y="60268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95905" y="51881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95904" y="6234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275886" y="64414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95904" y="45363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251423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cxnSpLocks/>
          </p:cNvCxnSpPr>
          <p:nvPr/>
        </p:nvCxnSpPr>
        <p:spPr>
          <a:xfrm flipH="1">
            <a:off x="6308476" y="4585683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FF47CBD-D817-4D7D-B11C-F058D6C4C1F6}"/>
              </a:ext>
            </a:extLst>
          </p:cNvPr>
          <p:cNvSpPr/>
          <p:nvPr/>
        </p:nvSpPr>
        <p:spPr>
          <a:xfrm>
            <a:off x="6297738" y="3835664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7D6E129D-4780-4352-8257-796ED0E6F260}"/>
              </a:ext>
            </a:extLst>
          </p:cNvPr>
          <p:cNvSpPr/>
          <p:nvPr/>
        </p:nvSpPr>
        <p:spPr>
          <a:xfrm>
            <a:off x="6298951" y="4463884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65263813-BABB-4425-B772-5F4A9F149295}"/>
              </a:ext>
            </a:extLst>
          </p:cNvPr>
          <p:cNvSpPr/>
          <p:nvPr/>
        </p:nvSpPr>
        <p:spPr>
          <a:xfrm>
            <a:off x="6307263" y="5645414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08B99500-4DFD-42E9-AB2D-C3B2C9998449}"/>
              </a:ext>
            </a:extLst>
          </p:cNvPr>
          <p:cNvSpPr/>
          <p:nvPr/>
        </p:nvSpPr>
        <p:spPr>
          <a:xfrm>
            <a:off x="6307263" y="6283589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180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9129-3B0A-415B-9636-B4561F98D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66187"/>
            <a:ext cx="10515600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kmem_cache_init</a:t>
            </a:r>
            <a:r>
              <a:rPr lang="en-US" dirty="0"/>
              <a:t>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7C83B3-2FC6-4FAD-8A10-72007FDC961D}"/>
              </a:ext>
            </a:extLst>
          </p:cNvPr>
          <p:cNvSpPr/>
          <p:nvPr/>
        </p:nvSpPr>
        <p:spPr>
          <a:xfrm>
            <a:off x="206620" y="930371"/>
            <a:ext cx="102577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start_kernel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EB3BDE-9302-4328-8246-476260A58DC8}"/>
              </a:ext>
            </a:extLst>
          </p:cNvPr>
          <p:cNvSpPr/>
          <p:nvPr/>
        </p:nvSpPr>
        <p:spPr>
          <a:xfrm>
            <a:off x="4702411" y="54471"/>
            <a:ext cx="6235220" cy="9542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marL="342900" indent="-3429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Declare two static variables ‘</a:t>
            </a:r>
            <a:r>
              <a:rPr lang="en-US" sz="1400" dirty="0" err="1">
                <a:solidFill>
                  <a:schemeClr val="tx1"/>
                </a:solidFill>
              </a:rPr>
              <a:t>boot_kmem_cache</a:t>
            </a:r>
            <a:r>
              <a:rPr lang="en-US" sz="1400" dirty="0">
                <a:solidFill>
                  <a:schemeClr val="tx1"/>
                </a:solidFill>
              </a:rPr>
              <a:t>’ and ‘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r>
              <a:rPr lang="en-US" sz="1400" dirty="0">
                <a:solidFill>
                  <a:schemeClr val="tx1"/>
                </a:solidFill>
              </a:rPr>
              <a:t>’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Assign the addresses of two static variables to generic/global variables</a:t>
            </a:r>
          </a:p>
          <a:p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= &amp;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pt-BR" sz="1400" dirty="0">
                <a:solidFill>
                  <a:schemeClr val="tx1"/>
                </a:solidFill>
              </a:rPr>
              <a:t>kmem_cache = &amp;boot_kmem_cache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9AB601-ADC1-4334-A685-E465EC1AE6E0}"/>
              </a:ext>
            </a:extLst>
          </p:cNvPr>
          <p:cNvSpPr/>
          <p:nvPr/>
        </p:nvSpPr>
        <p:spPr>
          <a:xfrm>
            <a:off x="3978525" y="2028837"/>
            <a:ext cx="186250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kmem_cache_create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D7502-B8EF-440A-873F-04C80E3D15F2}"/>
              </a:ext>
            </a:extLst>
          </p:cNvPr>
          <p:cNvSpPr/>
          <p:nvPr/>
        </p:nvSpPr>
        <p:spPr>
          <a:xfrm>
            <a:off x="8055956" y="2091124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init_kmem_cache_nodes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53E19B-ABFB-4C32-BA9B-5CCE60EABD0F}"/>
              </a:ext>
            </a:extLst>
          </p:cNvPr>
          <p:cNvSpPr/>
          <p:nvPr/>
        </p:nvSpPr>
        <p:spPr>
          <a:xfrm>
            <a:off x="8055955" y="1407521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calculate_sizes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676F99-B946-4563-A177-718F682A75DC}"/>
              </a:ext>
            </a:extLst>
          </p:cNvPr>
          <p:cNvSpPr/>
          <p:nvPr/>
        </p:nvSpPr>
        <p:spPr>
          <a:xfrm>
            <a:off x="6096000" y="2027066"/>
            <a:ext cx="158408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kmem_cache_open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9A59B0-4062-4867-9EF7-605F36958571}"/>
              </a:ext>
            </a:extLst>
          </p:cNvPr>
          <p:cNvSpPr/>
          <p:nvPr/>
        </p:nvSpPr>
        <p:spPr>
          <a:xfrm>
            <a:off x="8055956" y="2669952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305E8CF-DB96-421F-BB3A-6CDBAA3E7B4F}"/>
              </a:ext>
            </a:extLst>
          </p:cNvPr>
          <p:cNvCxnSpPr>
            <a:cxnSpLocks/>
            <a:stCxn id="43" idx="3"/>
            <a:endCxn id="11" idx="1"/>
          </p:cNvCxnSpPr>
          <p:nvPr/>
        </p:nvCxnSpPr>
        <p:spPr>
          <a:xfrm flipV="1">
            <a:off x="4242293" y="531620"/>
            <a:ext cx="460118" cy="51964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162B24E-AECB-409F-BE19-3DF80DE7E01C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 flipV="1">
            <a:off x="5841031" y="2147961"/>
            <a:ext cx="254969" cy="177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EEDF4AF-F39D-43A8-8B3D-C4221FE12C88}"/>
              </a:ext>
            </a:extLst>
          </p:cNvPr>
          <p:cNvCxnSpPr>
            <a:stCxn id="21" idx="3"/>
            <a:endCxn id="20" idx="1"/>
          </p:cNvCxnSpPr>
          <p:nvPr/>
        </p:nvCxnSpPr>
        <p:spPr>
          <a:xfrm flipV="1">
            <a:off x="7680083" y="1528416"/>
            <a:ext cx="375872" cy="61954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2717956-0F12-453A-9C93-AA0DB070CC0C}"/>
              </a:ext>
            </a:extLst>
          </p:cNvPr>
          <p:cNvCxnSpPr>
            <a:stCxn id="21" idx="3"/>
            <a:endCxn id="19" idx="1"/>
          </p:cNvCxnSpPr>
          <p:nvPr/>
        </p:nvCxnSpPr>
        <p:spPr>
          <a:xfrm>
            <a:off x="7680083" y="2147961"/>
            <a:ext cx="375873" cy="6405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A1924981-405C-4976-957A-FB010FABD96C}"/>
              </a:ext>
            </a:extLst>
          </p:cNvPr>
          <p:cNvCxnSpPr>
            <a:stCxn id="21" idx="3"/>
            <a:endCxn id="24" idx="1"/>
          </p:cNvCxnSpPr>
          <p:nvPr/>
        </p:nvCxnSpPr>
        <p:spPr>
          <a:xfrm>
            <a:off x="7680083" y="2147961"/>
            <a:ext cx="375873" cy="64288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D242F63-6D2B-4B85-A570-653856869740}"/>
              </a:ext>
            </a:extLst>
          </p:cNvPr>
          <p:cNvSpPr/>
          <p:nvPr/>
        </p:nvSpPr>
        <p:spPr>
          <a:xfrm>
            <a:off x="1511546" y="930371"/>
            <a:ext cx="1069731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mm_init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77ECD6-09F8-4182-9253-6CF84131CBBA}"/>
              </a:ext>
            </a:extLst>
          </p:cNvPr>
          <p:cNvSpPr/>
          <p:nvPr/>
        </p:nvSpPr>
        <p:spPr>
          <a:xfrm>
            <a:off x="2838453" y="930372"/>
            <a:ext cx="140384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kmem_cache_init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EDC6C3-B6B8-4768-BCCE-5AA3B7E14FB5}"/>
              </a:ext>
            </a:extLst>
          </p:cNvPr>
          <p:cNvCxnSpPr>
            <a:cxnSpLocks/>
            <a:stCxn id="4" idx="3"/>
            <a:endCxn id="40" idx="1"/>
          </p:cNvCxnSpPr>
          <p:nvPr/>
        </p:nvCxnSpPr>
        <p:spPr>
          <a:xfrm>
            <a:off x="1232390" y="1051266"/>
            <a:ext cx="27915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F3B7BA-BEB1-4052-BB69-5A5F5BD41D9D}"/>
              </a:ext>
            </a:extLst>
          </p:cNvPr>
          <p:cNvCxnSpPr>
            <a:stCxn id="40" idx="3"/>
            <a:endCxn id="43" idx="1"/>
          </p:cNvCxnSpPr>
          <p:nvPr/>
        </p:nvCxnSpPr>
        <p:spPr>
          <a:xfrm>
            <a:off x="2581277" y="1051266"/>
            <a:ext cx="257176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0496BEC-40B7-437C-9A61-43992FF98990}"/>
              </a:ext>
            </a:extLst>
          </p:cNvPr>
          <p:cNvSpPr/>
          <p:nvPr/>
        </p:nvSpPr>
        <p:spPr>
          <a:xfrm>
            <a:off x="375138" y="1870924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create_boot_cache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2A1F532-67AA-4C1B-B369-CAF5CD59989E}"/>
              </a:ext>
            </a:extLst>
          </p:cNvPr>
          <p:cNvSpPr/>
          <p:nvPr/>
        </p:nvSpPr>
        <p:spPr>
          <a:xfrm>
            <a:off x="375580" y="2268855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create_boot_cache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F75F58AD-F6B5-41AF-A15F-AB736A342F06}"/>
              </a:ext>
            </a:extLst>
          </p:cNvPr>
          <p:cNvCxnSpPr>
            <a:stCxn id="48" idx="3"/>
            <a:endCxn id="18" idx="1"/>
          </p:cNvCxnSpPr>
          <p:nvPr/>
        </p:nvCxnSpPr>
        <p:spPr>
          <a:xfrm>
            <a:off x="3661265" y="1991819"/>
            <a:ext cx="317260" cy="15791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1E8A2B5-F7E4-4113-9C4E-D4854EE7DF64}"/>
              </a:ext>
            </a:extLst>
          </p:cNvPr>
          <p:cNvCxnSpPr>
            <a:stCxn id="50" idx="3"/>
            <a:endCxn id="18" idx="1"/>
          </p:cNvCxnSpPr>
          <p:nvPr/>
        </p:nvCxnSpPr>
        <p:spPr>
          <a:xfrm flipV="1">
            <a:off x="3661707" y="2149732"/>
            <a:ext cx="316818" cy="240018"/>
          </a:xfrm>
          <a:prstGeom prst="bentConnector3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A002389-9290-41A6-A094-CB80FEA2753E}"/>
              </a:ext>
            </a:extLst>
          </p:cNvPr>
          <p:cNvCxnSpPr>
            <a:stCxn id="43" idx="3"/>
            <a:endCxn id="48" idx="1"/>
          </p:cNvCxnSpPr>
          <p:nvPr/>
        </p:nvCxnSpPr>
        <p:spPr>
          <a:xfrm flipH="1">
            <a:off x="375138" y="1051267"/>
            <a:ext cx="3867155" cy="940552"/>
          </a:xfrm>
          <a:prstGeom prst="bentConnector5">
            <a:avLst>
              <a:gd name="adj1" fmla="val -5911"/>
              <a:gd name="adj2" fmla="val 50000"/>
              <a:gd name="adj3" fmla="val 10591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827C8098-E444-40EB-9320-B18870AF0C28}"/>
              </a:ext>
            </a:extLst>
          </p:cNvPr>
          <p:cNvSpPr/>
          <p:nvPr/>
        </p:nvSpPr>
        <p:spPr>
          <a:xfrm>
            <a:off x="392361" y="2666786"/>
            <a:ext cx="3256648" cy="495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= bootstrap(&amp;</a:t>
            </a:r>
            <a:r>
              <a:rPr lang="en-US" sz="1400" dirty="0" err="1">
                <a:solidFill>
                  <a:schemeClr val="tx1"/>
                </a:solidFill>
              </a:rPr>
              <a:t>boot_kmem_cache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AD82F0-5CD0-441A-8135-91102AC2E567}"/>
              </a:ext>
            </a:extLst>
          </p:cNvPr>
          <p:cNvSpPr/>
          <p:nvPr/>
        </p:nvSpPr>
        <p:spPr>
          <a:xfrm>
            <a:off x="375138" y="3304659"/>
            <a:ext cx="3270943" cy="495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= bootstrap(&amp;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C771486-15FA-448C-B2EC-26C8283B72F0}"/>
              </a:ext>
            </a:extLst>
          </p:cNvPr>
          <p:cNvCxnSpPr>
            <a:stCxn id="48" idx="1"/>
            <a:endCxn id="50" idx="1"/>
          </p:cNvCxnSpPr>
          <p:nvPr/>
        </p:nvCxnSpPr>
        <p:spPr>
          <a:xfrm rot="10800000" flipH="1" flipV="1">
            <a:off x="375138" y="1991818"/>
            <a:ext cx="442" cy="397931"/>
          </a:xfrm>
          <a:prstGeom prst="bentConnector3">
            <a:avLst>
              <a:gd name="adj1" fmla="val -517194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B230C99-8A9E-4426-B458-A87B7852DDF3}"/>
              </a:ext>
            </a:extLst>
          </p:cNvPr>
          <p:cNvSpPr/>
          <p:nvPr/>
        </p:nvSpPr>
        <p:spPr>
          <a:xfrm>
            <a:off x="392360" y="3955761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setup_kmalloc_cache_index_table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EE7DD0-912A-4407-8A2A-4E846AF8B90B}"/>
              </a:ext>
            </a:extLst>
          </p:cNvPr>
          <p:cNvSpPr/>
          <p:nvPr/>
        </p:nvSpPr>
        <p:spPr>
          <a:xfrm>
            <a:off x="392360" y="4325650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create_kmalloc_caches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6A98437-2F0B-48B8-BF65-32C00BD508CD}"/>
              </a:ext>
            </a:extLst>
          </p:cNvPr>
          <p:cNvCxnSpPr>
            <a:cxnSpLocks/>
            <a:stCxn id="50" idx="1"/>
            <a:endCxn id="36" idx="1"/>
          </p:cNvCxnSpPr>
          <p:nvPr/>
        </p:nvCxnSpPr>
        <p:spPr>
          <a:xfrm rot="10800000" flipH="1" flipV="1">
            <a:off x="375579" y="2389750"/>
            <a:ext cx="16781" cy="524944"/>
          </a:xfrm>
          <a:prstGeom prst="bentConnector3">
            <a:avLst>
              <a:gd name="adj1" fmla="val -136225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59C1CA3-F70B-40A4-8EE4-5C873A16FF92}"/>
              </a:ext>
            </a:extLst>
          </p:cNvPr>
          <p:cNvCxnSpPr>
            <a:cxnSpLocks/>
            <a:stCxn id="36" idx="1"/>
            <a:endCxn id="37" idx="1"/>
          </p:cNvCxnSpPr>
          <p:nvPr/>
        </p:nvCxnSpPr>
        <p:spPr>
          <a:xfrm rot="10800000" flipV="1">
            <a:off x="375139" y="2914693"/>
            <a:ext cx="17223" cy="637873"/>
          </a:xfrm>
          <a:prstGeom prst="bentConnector3">
            <a:avLst>
              <a:gd name="adj1" fmla="val 142729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48D5F4E5-7144-4196-A708-CA09EED31D47}"/>
              </a:ext>
            </a:extLst>
          </p:cNvPr>
          <p:cNvCxnSpPr>
            <a:stCxn id="37" idx="1"/>
            <a:endCxn id="39" idx="1"/>
          </p:cNvCxnSpPr>
          <p:nvPr/>
        </p:nvCxnSpPr>
        <p:spPr>
          <a:xfrm rot="10800000" flipH="1" flipV="1">
            <a:off x="375138" y="3552566"/>
            <a:ext cx="17222" cy="524089"/>
          </a:xfrm>
          <a:prstGeom prst="bentConnector3">
            <a:avLst>
              <a:gd name="adj1" fmla="val -13273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699C733B-3643-4DDF-92F4-21CAE7063176}"/>
              </a:ext>
            </a:extLst>
          </p:cNvPr>
          <p:cNvCxnSpPr>
            <a:cxnSpLocks/>
            <a:stCxn id="39" idx="1"/>
            <a:endCxn id="41" idx="1"/>
          </p:cNvCxnSpPr>
          <p:nvPr/>
        </p:nvCxnSpPr>
        <p:spPr>
          <a:xfrm rot="10800000" flipV="1">
            <a:off x="392360" y="4076655"/>
            <a:ext cx="12700" cy="369889"/>
          </a:xfrm>
          <a:prstGeom prst="bentConnector3">
            <a:avLst>
              <a:gd name="adj1" fmla="val 20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4594A41-0910-4188-970C-BDF65E6412BD}"/>
              </a:ext>
            </a:extLst>
          </p:cNvPr>
          <p:cNvSpPr/>
          <p:nvPr/>
        </p:nvSpPr>
        <p:spPr>
          <a:xfrm>
            <a:off x="9344025" y="3013585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alloc_percpu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2B6317C-7C53-4FE3-A2EC-140C31AB7E1C}"/>
              </a:ext>
            </a:extLst>
          </p:cNvPr>
          <p:cNvSpPr/>
          <p:nvPr/>
        </p:nvSpPr>
        <p:spPr>
          <a:xfrm>
            <a:off x="9344025" y="3374237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165BCC-C6F8-4E27-8C24-CEE73349A088}"/>
              </a:ext>
            </a:extLst>
          </p:cNvPr>
          <p:cNvSpPr txBox="1"/>
          <p:nvPr/>
        </p:nvSpPr>
        <p:spPr>
          <a:xfrm>
            <a:off x="9344025" y="3616026"/>
            <a:ext cx="2153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Assign </a:t>
            </a:r>
            <a:r>
              <a:rPr lang="en-US" sz="1400" dirty="0" err="1"/>
              <a:t>cpu</a:t>
            </a:r>
            <a:r>
              <a:rPr lang="en-US" sz="1400" dirty="0"/>
              <a:t> id to </a:t>
            </a:r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r>
              <a:rPr lang="en-US" sz="1400" dirty="0">
                <a:solidFill>
                  <a:schemeClr val="tx1"/>
                </a:solidFill>
              </a:rPr>
              <a:t>-&gt;</a:t>
            </a:r>
            <a:r>
              <a:rPr lang="en-US" sz="1400" dirty="0" err="1">
                <a:solidFill>
                  <a:schemeClr val="tx1"/>
                </a:solidFill>
              </a:rPr>
              <a:t>tid</a:t>
            </a:r>
            <a:endParaRPr lang="en-US" sz="1400" dirty="0"/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B3C297E7-C560-4DBE-ADBB-023C0EE300EA}"/>
              </a:ext>
            </a:extLst>
          </p:cNvPr>
          <p:cNvCxnSpPr>
            <a:stCxn id="24" idx="2"/>
            <a:endCxn id="56" idx="1"/>
          </p:cNvCxnSpPr>
          <p:nvPr/>
        </p:nvCxnSpPr>
        <p:spPr>
          <a:xfrm rot="16200000" flipH="1">
            <a:off x="9081175" y="2871629"/>
            <a:ext cx="222739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2984BC18-B187-41E8-BB20-B00C71FC9786}"/>
              </a:ext>
            </a:extLst>
          </p:cNvPr>
          <p:cNvCxnSpPr>
            <a:stCxn id="24" idx="2"/>
            <a:endCxn id="57" idx="1"/>
          </p:cNvCxnSpPr>
          <p:nvPr/>
        </p:nvCxnSpPr>
        <p:spPr>
          <a:xfrm rot="16200000" flipH="1">
            <a:off x="8900849" y="3051955"/>
            <a:ext cx="583391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05CE5BC-27AD-4C51-A645-946D0032801E}"/>
              </a:ext>
            </a:extLst>
          </p:cNvPr>
          <p:cNvSpPr txBox="1"/>
          <p:nvPr/>
        </p:nvSpPr>
        <p:spPr>
          <a:xfrm>
            <a:off x="7952460" y="1697274"/>
            <a:ext cx="242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‘</a:t>
            </a:r>
            <a:r>
              <a:rPr lang="en-US" sz="1200" b="1" dirty="0" err="1"/>
              <a:t>kmem_cache_node</a:t>
            </a:r>
            <a:r>
              <a:rPr lang="en-US" sz="1200" dirty="0"/>
              <a:t>’ structs for all CPU nodes (sockets)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F49BFE-D8D0-437E-89F7-C2F44701122D}"/>
              </a:ext>
            </a:extLst>
          </p:cNvPr>
          <p:cNvSpPr txBox="1"/>
          <p:nvPr/>
        </p:nvSpPr>
        <p:spPr>
          <a:xfrm>
            <a:off x="7820021" y="2412003"/>
            <a:ext cx="2747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a ‘</a:t>
            </a:r>
            <a:r>
              <a:rPr lang="en-US" sz="1200" b="1" dirty="0" err="1"/>
              <a:t>kmem_cache_cpu</a:t>
            </a:r>
            <a:r>
              <a:rPr lang="en-US" sz="1200" dirty="0"/>
              <a:t>’ struct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4A69A19-63CC-4A4D-A95C-23B5959FE02A}"/>
              </a:ext>
            </a:extLst>
          </p:cNvPr>
          <p:cNvSpPr/>
          <p:nvPr/>
        </p:nvSpPr>
        <p:spPr>
          <a:xfrm>
            <a:off x="259240" y="2553781"/>
            <a:ext cx="3472365" cy="65562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132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44FEF1-1591-40C5-BA20-31A45FE4031B}"/>
              </a:ext>
            </a:extLst>
          </p:cNvPr>
          <p:cNvSpPr/>
          <p:nvPr/>
        </p:nvSpPr>
        <p:spPr>
          <a:xfrm>
            <a:off x="2771778" y="819002"/>
            <a:ext cx="1057272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bootstrap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370BE6-3381-4BA1-B480-28D71B8D50F1}"/>
              </a:ext>
            </a:extLst>
          </p:cNvPr>
          <p:cNvSpPr/>
          <p:nvPr/>
        </p:nvSpPr>
        <p:spPr>
          <a:xfrm>
            <a:off x="3518387" y="1273489"/>
            <a:ext cx="423044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 = </a:t>
            </a:r>
            <a:r>
              <a:rPr lang="en-US" sz="1400" dirty="0" err="1">
                <a:solidFill>
                  <a:schemeClr val="tx1"/>
                </a:solidFill>
              </a:rPr>
              <a:t>kmem_cache_zalloc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10223-6E07-4A28-A545-5E6C2BB6E0FC}"/>
              </a:ext>
            </a:extLst>
          </p:cNvPr>
          <p:cNvSpPr txBox="1"/>
          <p:nvPr/>
        </p:nvSpPr>
        <p:spPr>
          <a:xfrm>
            <a:off x="3638930" y="1023649"/>
            <a:ext cx="5396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a </a:t>
            </a:r>
            <a:r>
              <a:rPr lang="en-US" sz="1200" dirty="0" err="1"/>
              <a:t>kmem_cache</a:t>
            </a:r>
            <a:r>
              <a:rPr lang="en-US" sz="1200" dirty="0"/>
              <a:t> struct from global variable ‘</a:t>
            </a:r>
            <a:r>
              <a:rPr lang="en-US" sz="1200" dirty="0" err="1"/>
              <a:t>kmem_cache</a:t>
            </a:r>
            <a:r>
              <a:rPr lang="en-US" sz="1200" dirty="0"/>
              <a:t>’: Generic path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DD5E8B-E991-4BD9-8806-1D425099C808}"/>
              </a:ext>
            </a:extLst>
          </p:cNvPr>
          <p:cNvSpPr/>
          <p:nvPr/>
        </p:nvSpPr>
        <p:spPr>
          <a:xfrm>
            <a:off x="3518387" y="2093368"/>
            <a:ext cx="423044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flush_cpu_slab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C02950-4E40-40B6-B809-A069C95894D0}"/>
              </a:ext>
            </a:extLst>
          </p:cNvPr>
          <p:cNvSpPr/>
          <p:nvPr/>
        </p:nvSpPr>
        <p:spPr>
          <a:xfrm>
            <a:off x="3529007" y="4063134"/>
            <a:ext cx="4214512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list_add</a:t>
            </a:r>
            <a:r>
              <a:rPr lang="en-US" sz="1400" dirty="0">
                <a:solidFill>
                  <a:schemeClr val="tx1"/>
                </a:solidFill>
              </a:rPr>
              <a:t>(&amp;s-&gt;list, &amp;</a:t>
            </a:r>
            <a:r>
              <a:rPr lang="en-US" sz="1400" dirty="0" err="1">
                <a:solidFill>
                  <a:schemeClr val="tx1"/>
                </a:solidFill>
              </a:rPr>
              <a:t>slab_caches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CCFAF0-E881-4EA9-8B26-78398C5FB430}"/>
              </a:ext>
            </a:extLst>
          </p:cNvPr>
          <p:cNvSpPr/>
          <p:nvPr/>
        </p:nvSpPr>
        <p:spPr>
          <a:xfrm>
            <a:off x="3529007" y="2543638"/>
            <a:ext cx="4219826" cy="13105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617E02-C5B2-45E3-9D34-7E162B6F4B8D}"/>
              </a:ext>
            </a:extLst>
          </p:cNvPr>
          <p:cNvSpPr txBox="1"/>
          <p:nvPr/>
        </p:nvSpPr>
        <p:spPr>
          <a:xfrm>
            <a:off x="3518387" y="2503672"/>
            <a:ext cx="3274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for_each_kmem_cache_node(s, node, n)</a:t>
            </a:r>
            <a:endParaRPr lang="en-US" sz="1400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DD7FB05-A2A2-4FF3-8DFE-8A3ABD1F3CB7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rot="16200000" flipH="1">
            <a:off x="3242604" y="1118600"/>
            <a:ext cx="333593" cy="21797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C7B94201-00D4-47D2-AB05-1EC7FABE291E}"/>
              </a:ext>
            </a:extLst>
          </p:cNvPr>
          <p:cNvCxnSpPr>
            <a:cxnSpLocks/>
            <a:stCxn id="4" idx="2"/>
            <a:endCxn id="7" idx="1"/>
          </p:cNvCxnSpPr>
          <p:nvPr/>
        </p:nvCxnSpPr>
        <p:spPr>
          <a:xfrm rot="16200000" flipH="1">
            <a:off x="2832664" y="1528540"/>
            <a:ext cx="1153472" cy="21797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742A56F-A7B0-4E9C-B937-727803EB9FBA}"/>
              </a:ext>
            </a:extLst>
          </p:cNvPr>
          <p:cNvCxnSpPr>
            <a:cxnSpLocks/>
            <a:stCxn id="4" idx="2"/>
            <a:endCxn id="9" idx="1"/>
          </p:cNvCxnSpPr>
          <p:nvPr/>
        </p:nvCxnSpPr>
        <p:spPr>
          <a:xfrm rot="16200000" flipH="1">
            <a:off x="2345642" y="2015562"/>
            <a:ext cx="2138136" cy="22859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755B0B0-3040-47BA-A8E7-9BA00C88C04B}"/>
              </a:ext>
            </a:extLst>
          </p:cNvPr>
          <p:cNvCxnSpPr>
            <a:cxnSpLocks/>
            <a:stCxn id="4" idx="2"/>
            <a:endCxn id="8" idx="1"/>
          </p:cNvCxnSpPr>
          <p:nvPr/>
        </p:nvCxnSpPr>
        <p:spPr>
          <a:xfrm rot="16200000" flipH="1">
            <a:off x="1853091" y="2508113"/>
            <a:ext cx="3123238" cy="22859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9F0EB32A-8E5E-4668-BE5E-D91FB5426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-57638"/>
            <a:ext cx="11345008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kmem_cache</a:t>
            </a:r>
            <a:r>
              <a:rPr lang="en-US" sz="4400" dirty="0">
                <a:solidFill>
                  <a:schemeClr val="tx1"/>
                </a:solidFill>
              </a:rPr>
              <a:t> = bootstrap(&amp;</a:t>
            </a:r>
            <a:r>
              <a:rPr lang="en-US" sz="4400" dirty="0" err="1">
                <a:solidFill>
                  <a:schemeClr val="tx1"/>
                </a:solidFill>
              </a:rPr>
              <a:t>boot_kmem_cache</a:t>
            </a:r>
            <a:r>
              <a:rPr lang="en-US" sz="4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039B95-30F7-4322-9808-5A4908E059ED}"/>
              </a:ext>
            </a:extLst>
          </p:cNvPr>
          <p:cNvSpPr/>
          <p:nvPr/>
        </p:nvSpPr>
        <p:spPr>
          <a:xfrm>
            <a:off x="3513075" y="1694485"/>
            <a:ext cx="423044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memcpy</a:t>
            </a:r>
            <a:r>
              <a:rPr lang="en-US" sz="1400" dirty="0">
                <a:solidFill>
                  <a:schemeClr val="tx1"/>
                </a:solidFill>
              </a:rPr>
              <a:t>(s, </a:t>
            </a:r>
            <a:r>
              <a:rPr lang="en-US" sz="1400" dirty="0" err="1">
                <a:solidFill>
                  <a:schemeClr val="tx1"/>
                </a:solidFill>
              </a:rPr>
              <a:t>static_cache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5AC08118-5761-4586-BAD7-D2F9EBA870AE}"/>
              </a:ext>
            </a:extLst>
          </p:cNvPr>
          <p:cNvCxnSpPr>
            <a:cxnSpLocks/>
            <a:stCxn id="4" idx="2"/>
            <a:endCxn id="29" idx="1"/>
          </p:cNvCxnSpPr>
          <p:nvPr/>
        </p:nvCxnSpPr>
        <p:spPr>
          <a:xfrm rot="16200000" flipH="1">
            <a:off x="3029450" y="1331754"/>
            <a:ext cx="754589" cy="2126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FB55909-8A74-4B07-A651-69706A4792D1}"/>
              </a:ext>
            </a:extLst>
          </p:cNvPr>
          <p:cNvSpPr/>
          <p:nvPr/>
        </p:nvSpPr>
        <p:spPr>
          <a:xfrm>
            <a:off x="3513075" y="4513841"/>
            <a:ext cx="4214512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return s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71DED220-0561-4C68-A83F-8F44638F9823}"/>
              </a:ext>
            </a:extLst>
          </p:cNvPr>
          <p:cNvCxnSpPr>
            <a:cxnSpLocks/>
            <a:stCxn id="4" idx="2"/>
            <a:endCxn id="32" idx="1"/>
          </p:cNvCxnSpPr>
          <p:nvPr/>
        </p:nvCxnSpPr>
        <p:spPr>
          <a:xfrm rot="16200000" flipH="1">
            <a:off x="1619772" y="2741432"/>
            <a:ext cx="3573945" cy="2126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B0D0406-007D-4024-B7EF-8DDCF75BE49F}"/>
              </a:ext>
            </a:extLst>
          </p:cNvPr>
          <p:cNvSpPr/>
          <p:nvPr/>
        </p:nvSpPr>
        <p:spPr>
          <a:xfrm>
            <a:off x="3934427" y="2881884"/>
            <a:ext cx="3589284" cy="9179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A3EAB3-23A1-4270-B856-8E3E93B0E1B7}"/>
              </a:ext>
            </a:extLst>
          </p:cNvPr>
          <p:cNvSpPr txBox="1"/>
          <p:nvPr/>
        </p:nvSpPr>
        <p:spPr>
          <a:xfrm>
            <a:off x="3958971" y="3143789"/>
            <a:ext cx="35364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list_for_each_entry</a:t>
            </a:r>
            <a:r>
              <a:rPr lang="en-US" sz="1400" dirty="0"/>
              <a:t>(p, &amp;n-&gt;partial, </a:t>
            </a:r>
            <a:r>
              <a:rPr lang="en-US" sz="1400" dirty="0" err="1"/>
              <a:t>slab_list</a:t>
            </a:r>
            <a:r>
              <a:rPr lang="en-US" sz="1400" dirty="0"/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1384D8-A560-42CA-A55E-3D66B759D70F}"/>
              </a:ext>
            </a:extLst>
          </p:cNvPr>
          <p:cNvSpPr txBox="1"/>
          <p:nvPr/>
        </p:nvSpPr>
        <p:spPr>
          <a:xfrm>
            <a:off x="3934427" y="2878434"/>
            <a:ext cx="1658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struct page *p;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132F77-55C7-4183-BCBC-6BAD17F17667}"/>
              </a:ext>
            </a:extLst>
          </p:cNvPr>
          <p:cNvSpPr/>
          <p:nvPr/>
        </p:nvSpPr>
        <p:spPr>
          <a:xfrm>
            <a:off x="4452334" y="3495768"/>
            <a:ext cx="1567435" cy="219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p-&gt;</a:t>
            </a:r>
            <a:r>
              <a:rPr lang="en-US" sz="1400" dirty="0" err="1">
                <a:solidFill>
                  <a:schemeClr val="tx1"/>
                </a:solidFill>
              </a:rPr>
              <a:t>slab_cache</a:t>
            </a:r>
            <a:r>
              <a:rPr lang="en-US" sz="1400" dirty="0">
                <a:solidFill>
                  <a:schemeClr val="tx1"/>
                </a:solidFill>
              </a:rPr>
              <a:t> = s</a:t>
            </a:r>
          </a:p>
        </p:txBody>
      </p:sp>
    </p:spTree>
    <p:extLst>
      <p:ext uri="{BB962C8B-B14F-4D97-AF65-F5344CB8AC3E}">
        <p14:creationId xmlns:p14="http://schemas.microsoft.com/office/powerpoint/2010/main" val="36358855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6FB49F4E-D74E-4377-9C13-2109BA053C49}"/>
              </a:ext>
            </a:extLst>
          </p:cNvPr>
          <p:cNvSpPr/>
          <p:nvPr/>
        </p:nvSpPr>
        <p:spPr>
          <a:xfrm>
            <a:off x="3870167" y="2553026"/>
            <a:ext cx="8252318" cy="3849881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0420E-A3FE-4510-A679-D742DCC75454}"/>
              </a:ext>
            </a:extLst>
          </p:cNvPr>
          <p:cNvSpPr/>
          <p:nvPr/>
        </p:nvSpPr>
        <p:spPr>
          <a:xfrm>
            <a:off x="828675" y="4514320"/>
            <a:ext cx="2891889" cy="124830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3B410-682E-4B73-A942-9118C9D895B7}"/>
              </a:ext>
            </a:extLst>
          </p:cNvPr>
          <p:cNvSpPr/>
          <p:nvPr/>
        </p:nvSpPr>
        <p:spPr>
          <a:xfrm>
            <a:off x="1036960" y="4807563"/>
            <a:ext cx="251036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Get a slab object from c-&gt;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3DF1D-7635-4AC4-8987-97B41002E1F9}"/>
              </a:ext>
            </a:extLst>
          </p:cNvPr>
          <p:cNvSpPr/>
          <p:nvPr/>
        </p:nvSpPr>
        <p:spPr>
          <a:xfrm>
            <a:off x="1607087" y="817182"/>
            <a:ext cx="1970215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kmem_cache_alloc_node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00291715-047A-4596-8317-A8C2CB0B6476}"/>
              </a:ext>
            </a:extLst>
          </p:cNvPr>
          <p:cNvSpPr/>
          <p:nvPr/>
        </p:nvSpPr>
        <p:spPr>
          <a:xfrm>
            <a:off x="1180972" y="3533155"/>
            <a:ext cx="2209806" cy="573622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!c-&gt;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or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!c-&gt; page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1DECBE7-96BF-476E-801F-45A37B2B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-76688"/>
            <a:ext cx="11556326" cy="689951"/>
          </a:xfrm>
        </p:spPr>
        <p:txBody>
          <a:bodyPr>
            <a:noAutofit/>
          </a:bodyPr>
          <a:lstStyle/>
          <a:p>
            <a:r>
              <a:rPr lang="en-US" sz="3200" dirty="0" err="1"/>
              <a:t>slab_alloc_node</a:t>
            </a:r>
            <a:r>
              <a:rPr lang="en-US" sz="3200" dirty="0"/>
              <a:t>(): </a:t>
            </a:r>
            <a:r>
              <a:rPr lang="en-US" sz="3200" dirty="0" err="1"/>
              <a:t>slowpath</a:t>
            </a:r>
            <a:r>
              <a:rPr lang="en-US" sz="3200" dirty="0"/>
              <a:t> #2 – Allocate a page from Buddy system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08FCDB-D5DB-4098-BA29-71A6C4D9E9B8}"/>
              </a:ext>
            </a:extLst>
          </p:cNvPr>
          <p:cNvSpPr/>
          <p:nvPr/>
        </p:nvSpPr>
        <p:spPr>
          <a:xfrm>
            <a:off x="4048126" y="3702877"/>
            <a:ext cx="107632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B5BB81-36FE-412E-AD39-57E6F21BF69E}"/>
              </a:ext>
            </a:extLst>
          </p:cNvPr>
          <p:cNvSpPr/>
          <p:nvPr/>
        </p:nvSpPr>
        <p:spPr>
          <a:xfrm>
            <a:off x="161192" y="1338348"/>
            <a:ext cx="159759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936C6D-9003-4D95-86B7-D8AE219AD8C5}"/>
              </a:ext>
            </a:extLst>
          </p:cNvPr>
          <p:cNvSpPr/>
          <p:nvPr/>
        </p:nvSpPr>
        <p:spPr>
          <a:xfrm>
            <a:off x="2095499" y="1341361"/>
            <a:ext cx="87629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048101-74AC-4B64-8974-B28E0DAEE6F7}"/>
              </a:ext>
            </a:extLst>
          </p:cNvPr>
          <p:cNvSpPr/>
          <p:nvPr/>
        </p:nvSpPr>
        <p:spPr>
          <a:xfrm>
            <a:off x="3556872" y="1347873"/>
            <a:ext cx="1310404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slab_alloc_node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4A147-3847-4457-B254-A5ECE1C4C291}"/>
              </a:ext>
            </a:extLst>
          </p:cNvPr>
          <p:cNvSpPr txBox="1"/>
          <p:nvPr/>
        </p:nvSpPr>
        <p:spPr>
          <a:xfrm>
            <a:off x="2818672" y="1552516"/>
            <a:ext cx="14199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NUMA_NO_NODE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7795C0-9A2C-4E2E-82D1-FADDF29C95AD}"/>
              </a:ext>
            </a:extLst>
          </p:cNvPr>
          <p:cNvSpPr/>
          <p:nvPr/>
        </p:nvSpPr>
        <p:spPr>
          <a:xfrm>
            <a:off x="1988108" y="1978068"/>
            <a:ext cx="141995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kmalloc_node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730A8B-4FD3-41E0-BF58-AC6A962757D5}"/>
              </a:ext>
            </a:extLst>
          </p:cNvPr>
          <p:cNvSpPr/>
          <p:nvPr/>
        </p:nvSpPr>
        <p:spPr>
          <a:xfrm>
            <a:off x="312894" y="1981965"/>
            <a:ext cx="129419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kmalloc_node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47D268-BD0A-412B-A7F9-84D1A74DF3E9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2971792" y="1462256"/>
            <a:ext cx="585080" cy="65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EC811E-BF06-4DB1-947A-FC2F6AB3F7EB}"/>
              </a:ext>
            </a:extLst>
          </p:cNvPr>
          <p:cNvCxnSpPr>
            <a:stCxn id="36" idx="3"/>
            <a:endCxn id="35" idx="1"/>
          </p:cNvCxnSpPr>
          <p:nvPr/>
        </p:nvCxnSpPr>
        <p:spPr>
          <a:xfrm flipV="1">
            <a:off x="1607087" y="2098963"/>
            <a:ext cx="381021" cy="38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EB98837-729D-479B-95F0-0BD8C8C951F1}"/>
              </a:ext>
            </a:extLst>
          </p:cNvPr>
          <p:cNvCxnSpPr>
            <a:cxnSpLocks/>
            <a:stCxn id="35" idx="3"/>
            <a:endCxn id="31" idx="2"/>
          </p:cNvCxnSpPr>
          <p:nvPr/>
        </p:nvCxnSpPr>
        <p:spPr>
          <a:xfrm flipV="1">
            <a:off x="3408062" y="1589662"/>
            <a:ext cx="804012" cy="50930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B36931D-7CCD-4E65-AC4E-4CE0B280651C}"/>
              </a:ext>
            </a:extLst>
          </p:cNvPr>
          <p:cNvSpPr txBox="1"/>
          <p:nvPr/>
        </p:nvSpPr>
        <p:spPr>
          <a:xfrm>
            <a:off x="3469863" y="2052771"/>
            <a:ext cx="7326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node_id</a:t>
            </a:r>
            <a:endParaRPr lang="en-US" sz="1200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53FC3DE-70F6-4A01-AB8E-0193BEB5C047}"/>
              </a:ext>
            </a:extLst>
          </p:cNvPr>
          <p:cNvCxnSpPr>
            <a:cxnSpLocks/>
            <a:stCxn id="7" idx="3"/>
            <a:endCxn id="31" idx="0"/>
          </p:cNvCxnSpPr>
          <p:nvPr/>
        </p:nvCxnSpPr>
        <p:spPr>
          <a:xfrm>
            <a:off x="3577302" y="938077"/>
            <a:ext cx="634772" cy="40979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D27C52B-4463-4162-A8FE-DB3BEFA0D5BF}"/>
              </a:ext>
            </a:extLst>
          </p:cNvPr>
          <p:cNvSpPr txBox="1"/>
          <p:nvPr/>
        </p:nvSpPr>
        <p:spPr>
          <a:xfrm>
            <a:off x="3583160" y="657822"/>
            <a:ext cx="7326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node_id</a:t>
            </a:r>
            <a:endParaRPr lang="en-US" sz="12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3E3F6B-C0FF-4614-AB05-735B44C02AC7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>
            <a:off x="1758791" y="1459243"/>
            <a:ext cx="336708" cy="30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C5EA1983-2A9B-40B4-A886-F09CBAD8A930}"/>
              </a:ext>
            </a:extLst>
          </p:cNvPr>
          <p:cNvCxnSpPr>
            <a:stCxn id="31" idx="3"/>
            <a:endCxn id="9" idx="0"/>
          </p:cNvCxnSpPr>
          <p:nvPr/>
        </p:nvCxnSpPr>
        <p:spPr>
          <a:xfrm flipH="1">
            <a:off x="2285875" y="1468768"/>
            <a:ext cx="2581401" cy="2064387"/>
          </a:xfrm>
          <a:prstGeom prst="bentConnector4">
            <a:avLst>
              <a:gd name="adj1" fmla="val -8856"/>
              <a:gd name="adj2" fmla="val 4554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D1A50C08-EDC4-495D-9FD4-8AD10313A1B8}"/>
              </a:ext>
            </a:extLst>
          </p:cNvPr>
          <p:cNvSpPr/>
          <p:nvPr/>
        </p:nvSpPr>
        <p:spPr>
          <a:xfrm>
            <a:off x="5343525" y="3702442"/>
            <a:ext cx="108524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___</a:t>
            </a:r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C6EC661-522D-4D40-B0CF-CFB8179D4E57}"/>
              </a:ext>
            </a:extLst>
          </p:cNvPr>
          <p:cNvSpPr/>
          <p:nvPr/>
        </p:nvSpPr>
        <p:spPr>
          <a:xfrm>
            <a:off x="6683878" y="4917869"/>
            <a:ext cx="153030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new_slab_objects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D9DBAFA-64DD-4330-B4B6-E2B0D7993D88}"/>
              </a:ext>
            </a:extLst>
          </p:cNvPr>
          <p:cNvSpPr/>
          <p:nvPr/>
        </p:nvSpPr>
        <p:spPr>
          <a:xfrm>
            <a:off x="8195323" y="3702442"/>
            <a:ext cx="264852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c-&gt;page = </a:t>
            </a:r>
            <a:r>
              <a:rPr lang="fr-FR" sz="1400" dirty="0" err="1">
                <a:solidFill>
                  <a:schemeClr val="tx1"/>
                </a:solidFill>
              </a:rPr>
              <a:t>slub_percpu_partial</a:t>
            </a:r>
            <a:r>
              <a:rPr lang="fr-FR" sz="1400" dirty="0">
                <a:solidFill>
                  <a:schemeClr val="tx1"/>
                </a:solidFill>
              </a:rPr>
              <a:t>(c)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1D41374-0A45-415C-BCD4-25C6ADECF37D}"/>
              </a:ext>
            </a:extLst>
          </p:cNvPr>
          <p:cNvCxnSpPr>
            <a:stCxn id="9" idx="3"/>
            <a:endCxn id="24" idx="1"/>
          </p:cNvCxnSpPr>
          <p:nvPr/>
        </p:nvCxnSpPr>
        <p:spPr>
          <a:xfrm>
            <a:off x="3390778" y="3819966"/>
            <a:ext cx="657348" cy="38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714F4AC-ADFF-4312-97E3-1585FD30B533}"/>
              </a:ext>
            </a:extLst>
          </p:cNvPr>
          <p:cNvCxnSpPr>
            <a:stCxn id="24" idx="3"/>
            <a:endCxn id="67" idx="1"/>
          </p:cNvCxnSpPr>
          <p:nvPr/>
        </p:nvCxnSpPr>
        <p:spPr>
          <a:xfrm flipV="1">
            <a:off x="5124450" y="3823337"/>
            <a:ext cx="219075" cy="4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4DC20D2-A96E-4DDB-806B-1A44A234F491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6428773" y="3823337"/>
            <a:ext cx="17665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56B399C-50F4-4370-81BC-E770ED0A2EEB}"/>
              </a:ext>
            </a:extLst>
          </p:cNvPr>
          <p:cNvSpPr txBox="1"/>
          <p:nvPr/>
        </p:nvSpPr>
        <p:spPr>
          <a:xfrm>
            <a:off x="5743245" y="2950429"/>
            <a:ext cx="965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c-&gt;page &amp;&amp;</a:t>
            </a:r>
          </a:p>
          <a:p>
            <a:r>
              <a:rPr lang="en-US" sz="1200" dirty="0"/>
              <a:t>!c-&gt;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734A345-7CAD-4CCA-8353-64520F988B5F}"/>
              </a:ext>
            </a:extLst>
          </p:cNvPr>
          <p:cNvSpPr txBox="1"/>
          <p:nvPr/>
        </p:nvSpPr>
        <p:spPr>
          <a:xfrm>
            <a:off x="6591671" y="3564681"/>
            <a:ext cx="17963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!c-&gt;page &amp;&amp; c-&gt;partial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8EF6CAF-FB14-48DA-B041-AA965FF3B54A}"/>
              </a:ext>
            </a:extLst>
          </p:cNvPr>
          <p:cNvSpPr/>
          <p:nvPr/>
        </p:nvSpPr>
        <p:spPr>
          <a:xfrm>
            <a:off x="8501199" y="4684301"/>
            <a:ext cx="103493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get_partial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5E2315A-F4D5-40A9-9F6E-D3DDE474EE49}"/>
              </a:ext>
            </a:extLst>
          </p:cNvPr>
          <p:cNvSpPr txBox="1"/>
          <p:nvPr/>
        </p:nvSpPr>
        <p:spPr>
          <a:xfrm>
            <a:off x="8345720" y="3447622"/>
            <a:ext cx="2476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Get partial page from </a:t>
            </a:r>
            <a:r>
              <a:rPr lang="en-US" sz="1200" dirty="0" err="1"/>
              <a:t>percpu</a:t>
            </a:r>
            <a:r>
              <a:rPr lang="en-US" sz="1200" dirty="0"/>
              <a:t> cache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5BF41FC-89F4-45A0-AE2E-5148AED72954}"/>
              </a:ext>
            </a:extLst>
          </p:cNvPr>
          <p:cNvSpPr/>
          <p:nvPr/>
        </p:nvSpPr>
        <p:spPr>
          <a:xfrm>
            <a:off x="8501198" y="5294587"/>
            <a:ext cx="103493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new_slab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6B2E602-43B1-4CA8-9F02-86E6005D43CF}"/>
              </a:ext>
            </a:extLst>
          </p:cNvPr>
          <p:cNvSpPr/>
          <p:nvPr/>
        </p:nvSpPr>
        <p:spPr>
          <a:xfrm>
            <a:off x="9804550" y="5293573"/>
            <a:ext cx="108538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allocate_slab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E4BC428-C9C9-4EEE-B9C2-67108A9F91D6}"/>
              </a:ext>
            </a:extLst>
          </p:cNvPr>
          <p:cNvSpPr/>
          <p:nvPr/>
        </p:nvSpPr>
        <p:spPr>
          <a:xfrm>
            <a:off x="10531481" y="5688019"/>
            <a:ext cx="1402582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alloc_slab_page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6AB6E616-2812-408B-854A-5BF330885683}"/>
              </a:ext>
            </a:extLst>
          </p:cNvPr>
          <p:cNvCxnSpPr>
            <a:stCxn id="106" idx="3"/>
            <a:endCxn id="107" idx="1"/>
          </p:cNvCxnSpPr>
          <p:nvPr/>
        </p:nvCxnSpPr>
        <p:spPr>
          <a:xfrm flipV="1">
            <a:off x="9536136" y="5414468"/>
            <a:ext cx="268414" cy="10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5C9F34B5-6572-4E67-BF90-73C44FB0F404}"/>
              </a:ext>
            </a:extLst>
          </p:cNvPr>
          <p:cNvCxnSpPr>
            <a:stCxn id="107" idx="3"/>
            <a:endCxn id="108" idx="0"/>
          </p:cNvCxnSpPr>
          <p:nvPr/>
        </p:nvCxnSpPr>
        <p:spPr>
          <a:xfrm>
            <a:off x="10889936" y="5414468"/>
            <a:ext cx="342836" cy="2735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F69B1F1-3CB6-4D50-B0AB-ADE69F5A6BF8}"/>
              </a:ext>
            </a:extLst>
          </p:cNvPr>
          <p:cNvSpPr txBox="1"/>
          <p:nvPr/>
        </p:nvSpPr>
        <p:spPr>
          <a:xfrm>
            <a:off x="10531481" y="5941242"/>
            <a:ext cx="1562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Allocate pages from Buddy system</a:t>
            </a: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3EAB34A4-C504-4AF7-915E-2653E42C4957}"/>
              </a:ext>
            </a:extLst>
          </p:cNvPr>
          <p:cNvCxnSpPr>
            <a:cxnSpLocks/>
            <a:stCxn id="67" idx="3"/>
          </p:cNvCxnSpPr>
          <p:nvPr/>
        </p:nvCxnSpPr>
        <p:spPr>
          <a:xfrm flipV="1">
            <a:off x="6428773" y="3069524"/>
            <a:ext cx="431764" cy="75381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0AE2C3A9-230B-485F-92AB-56A89A6EA4EB}"/>
              </a:ext>
            </a:extLst>
          </p:cNvPr>
          <p:cNvCxnSpPr>
            <a:stCxn id="67" idx="3"/>
            <a:endCxn id="68" idx="1"/>
          </p:cNvCxnSpPr>
          <p:nvPr/>
        </p:nvCxnSpPr>
        <p:spPr>
          <a:xfrm>
            <a:off x="6428773" y="3823337"/>
            <a:ext cx="255105" cy="121542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21B628FC-82B6-4687-8C28-1C5CC91E3193}"/>
              </a:ext>
            </a:extLst>
          </p:cNvPr>
          <p:cNvSpPr txBox="1"/>
          <p:nvPr/>
        </p:nvSpPr>
        <p:spPr>
          <a:xfrm>
            <a:off x="6530940" y="4575669"/>
            <a:ext cx="1696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!c-&gt;page &amp;&amp;  !c-&gt;partial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E5AB9A5-94F2-41B1-AD96-B0CC706D2121}"/>
              </a:ext>
            </a:extLst>
          </p:cNvPr>
          <p:cNvCxnSpPr>
            <a:stCxn id="68" idx="3"/>
            <a:endCxn id="103" idx="1"/>
          </p:cNvCxnSpPr>
          <p:nvPr/>
        </p:nvCxnSpPr>
        <p:spPr>
          <a:xfrm flipV="1">
            <a:off x="8214182" y="4805196"/>
            <a:ext cx="287017" cy="2335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536D68D6-5FCB-4F3D-AFE3-D7E242342A18}"/>
              </a:ext>
            </a:extLst>
          </p:cNvPr>
          <p:cNvCxnSpPr>
            <a:stCxn id="68" idx="3"/>
            <a:endCxn id="106" idx="1"/>
          </p:cNvCxnSpPr>
          <p:nvPr/>
        </p:nvCxnSpPr>
        <p:spPr>
          <a:xfrm>
            <a:off x="8214182" y="5038764"/>
            <a:ext cx="287016" cy="3767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AE25C171-0A1B-443E-BE12-AB2FF66D51C6}"/>
              </a:ext>
            </a:extLst>
          </p:cNvPr>
          <p:cNvSpPr txBox="1"/>
          <p:nvPr/>
        </p:nvSpPr>
        <p:spPr>
          <a:xfrm>
            <a:off x="8367172" y="4228018"/>
            <a:ext cx="2476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Get partial page from node cache (</a:t>
            </a:r>
            <a:r>
              <a:rPr lang="en-US" sz="1200" dirty="0" err="1"/>
              <a:t>kmem_cache_node</a:t>
            </a:r>
            <a:r>
              <a:rPr lang="en-US" sz="1200" dirty="0"/>
              <a:t>)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7215010-5794-4103-80BE-F8A0BE6B7EAA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>
            <a:off x="2285875" y="4106777"/>
            <a:ext cx="6265" cy="7007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C37B8627-B41B-4810-B77C-5302415941C9}"/>
              </a:ext>
            </a:extLst>
          </p:cNvPr>
          <p:cNvSpPr txBox="1"/>
          <p:nvPr/>
        </p:nvSpPr>
        <p:spPr>
          <a:xfrm>
            <a:off x="3394480" y="3612099"/>
            <a:ext cx="28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ADE96F9-428C-4E2D-937D-B119FE0C610E}"/>
              </a:ext>
            </a:extLst>
          </p:cNvPr>
          <p:cNvSpPr txBox="1"/>
          <p:nvPr/>
        </p:nvSpPr>
        <p:spPr>
          <a:xfrm>
            <a:off x="2221876" y="4060926"/>
            <a:ext cx="28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4520EF-43B8-4730-8DA3-BC02DA018C81}"/>
              </a:ext>
            </a:extLst>
          </p:cNvPr>
          <p:cNvSpPr txBox="1"/>
          <p:nvPr/>
        </p:nvSpPr>
        <p:spPr>
          <a:xfrm>
            <a:off x="1866956" y="5412283"/>
            <a:ext cx="837837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fast path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D3EFFD-6097-4DDD-AAD3-09D69B757F75}"/>
              </a:ext>
            </a:extLst>
          </p:cNvPr>
          <p:cNvSpPr txBox="1"/>
          <p:nvPr/>
        </p:nvSpPr>
        <p:spPr>
          <a:xfrm>
            <a:off x="3949503" y="2633008"/>
            <a:ext cx="965414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slow path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16516C-20F5-4795-8EF5-C211431D3389}"/>
              </a:ext>
            </a:extLst>
          </p:cNvPr>
          <p:cNvSpPr txBox="1"/>
          <p:nvPr/>
        </p:nvSpPr>
        <p:spPr>
          <a:xfrm>
            <a:off x="6886320" y="2679807"/>
            <a:ext cx="26485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get_freelist</a:t>
            </a:r>
            <a:r>
              <a:rPr lang="en-US" sz="1200" dirty="0"/>
              <a:t> -&gt; __</a:t>
            </a:r>
            <a:r>
              <a:rPr lang="en-US" sz="1200" dirty="0" err="1"/>
              <a:t>cmpxchg_double_slab</a:t>
            </a:r>
            <a:endParaRPr 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4E8DAC-DC56-4BDD-A714-BA56E1A20A0E}"/>
              </a:ext>
            </a:extLst>
          </p:cNvPr>
          <p:cNvSpPr txBox="1"/>
          <p:nvPr/>
        </p:nvSpPr>
        <p:spPr>
          <a:xfrm>
            <a:off x="1427781" y="5021158"/>
            <a:ext cx="2071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this_cpu_cmpxchg_double</a:t>
            </a:r>
            <a:r>
              <a:rPr lang="en-US" sz="1200" dirty="0"/>
              <a:t>()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812B5A0-14FE-4C61-B826-49E42D40AFFA}"/>
              </a:ext>
            </a:extLst>
          </p:cNvPr>
          <p:cNvSpPr/>
          <p:nvPr/>
        </p:nvSpPr>
        <p:spPr>
          <a:xfrm>
            <a:off x="6591671" y="4893266"/>
            <a:ext cx="5502239" cy="162515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154CAC6-A04C-4251-86FA-598428294104}"/>
              </a:ext>
            </a:extLst>
          </p:cNvPr>
          <p:cNvSpPr/>
          <p:nvPr/>
        </p:nvSpPr>
        <p:spPr>
          <a:xfrm>
            <a:off x="6667628" y="813773"/>
            <a:ext cx="1057272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bootstrap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8A0734-6740-4FA7-A1F0-0A5113F2FEE4}"/>
              </a:ext>
            </a:extLst>
          </p:cNvPr>
          <p:cNvSpPr/>
          <p:nvPr/>
        </p:nvSpPr>
        <p:spPr>
          <a:xfrm>
            <a:off x="7414238" y="1268260"/>
            <a:ext cx="3168162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 = </a:t>
            </a:r>
            <a:r>
              <a:rPr lang="en-US" sz="1400" dirty="0" err="1">
                <a:solidFill>
                  <a:schemeClr val="tx1"/>
                </a:solidFill>
              </a:rPr>
              <a:t>kmem_cache_zalloc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98B047-E159-4B57-96C7-896BD9268A36}"/>
              </a:ext>
            </a:extLst>
          </p:cNvPr>
          <p:cNvSpPr txBox="1"/>
          <p:nvPr/>
        </p:nvSpPr>
        <p:spPr>
          <a:xfrm>
            <a:off x="7385533" y="1028969"/>
            <a:ext cx="4362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a </a:t>
            </a:r>
            <a:r>
              <a:rPr lang="en-US" sz="1200" dirty="0" err="1"/>
              <a:t>kmem_cache</a:t>
            </a:r>
            <a:r>
              <a:rPr lang="en-US" sz="1200" dirty="0"/>
              <a:t> struct from global variable ‘</a:t>
            </a:r>
            <a:r>
              <a:rPr lang="en-US" sz="1200" dirty="0" err="1"/>
              <a:t>kmem_cache</a:t>
            </a:r>
            <a:r>
              <a:rPr lang="en-US" sz="1200" dirty="0"/>
              <a:t>’</a:t>
            </a: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9725214F-544F-45F7-8C71-3E3E2E9E3A13}"/>
              </a:ext>
            </a:extLst>
          </p:cNvPr>
          <p:cNvCxnSpPr>
            <a:stCxn id="54" idx="2"/>
            <a:endCxn id="59" idx="1"/>
          </p:cNvCxnSpPr>
          <p:nvPr/>
        </p:nvCxnSpPr>
        <p:spPr>
          <a:xfrm rot="16200000" flipH="1">
            <a:off x="7138455" y="1113371"/>
            <a:ext cx="333593" cy="21797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F26A4358-34FB-4BB8-BF9D-9AC7A76FA551}"/>
              </a:ext>
            </a:extLst>
          </p:cNvPr>
          <p:cNvSpPr/>
          <p:nvPr/>
        </p:nvSpPr>
        <p:spPr>
          <a:xfrm>
            <a:off x="6507820" y="701333"/>
            <a:ext cx="5134284" cy="88832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FC69F49-2145-4D11-8547-674AFFF0B35D}"/>
              </a:ext>
            </a:extLst>
          </p:cNvPr>
          <p:cNvCxnSpPr>
            <a:cxnSpLocks/>
          </p:cNvCxnSpPr>
          <p:nvPr/>
        </p:nvCxnSpPr>
        <p:spPr>
          <a:xfrm flipH="1" flipV="1">
            <a:off x="3469863" y="1024506"/>
            <a:ext cx="3944375" cy="24178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45764B12-BD2E-4292-97D8-527DA96612C0}"/>
              </a:ext>
            </a:extLst>
          </p:cNvPr>
          <p:cNvSpPr/>
          <p:nvPr/>
        </p:nvSpPr>
        <p:spPr>
          <a:xfrm>
            <a:off x="6860537" y="2948629"/>
            <a:ext cx="283964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Get a slab object from page-&gt;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1991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500517" y="1313627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500517" y="182481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3500516" y="20350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3500512" y="224498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256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3500515" y="245517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3500517" y="286938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13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3500516" y="348502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0x10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3500516" y="369499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3500515" y="390519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3500515" y="4114905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3500514" y="443146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500514" y="463546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3500512" y="3289497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0x10020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3500511" y="3072651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0x10020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3500511" y="266360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112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3701829" y="759693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3500516" y="1130611"/>
            <a:ext cx="150539" cy="442004"/>
          </a:xfrm>
          <a:prstGeom prst="bentConnector3">
            <a:avLst>
              <a:gd name="adj1" fmla="val -15185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3651056" y="1020484"/>
            <a:ext cx="1538569" cy="220253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5784108" y="1097020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5784108" y="152344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 = NULL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5784103" y="173406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5784106" y="194425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5447065" y="1313627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5770804" y="3256463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5770804" y="373302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5770803" y="394322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5770799" y="4153193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5770802" y="436338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5770798" y="352475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5770797" y="4570696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5770802" y="5059460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5770802" y="553602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5770801" y="574621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5770797" y="5956190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5770800" y="616638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5770796" y="532775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5770795" y="6373693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5950777" y="6581001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5770795" y="4675923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5447062" y="3390981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cxnSpLocks/>
          </p:cNvCxnSpPr>
          <p:nvPr/>
        </p:nvCxnSpPr>
        <p:spPr>
          <a:xfrm flipH="1">
            <a:off x="7983367" y="4725241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FF47CBD-D817-4D7D-B11C-F058D6C4C1F6}"/>
              </a:ext>
            </a:extLst>
          </p:cNvPr>
          <p:cNvSpPr/>
          <p:nvPr/>
        </p:nvSpPr>
        <p:spPr>
          <a:xfrm>
            <a:off x="7972629" y="3975222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7D6E129D-4780-4352-8257-796ED0E6F260}"/>
              </a:ext>
            </a:extLst>
          </p:cNvPr>
          <p:cNvSpPr/>
          <p:nvPr/>
        </p:nvSpPr>
        <p:spPr>
          <a:xfrm>
            <a:off x="7973842" y="4603442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65263813-BABB-4425-B772-5F4A9F149295}"/>
              </a:ext>
            </a:extLst>
          </p:cNvPr>
          <p:cNvSpPr/>
          <p:nvPr/>
        </p:nvSpPr>
        <p:spPr>
          <a:xfrm>
            <a:off x="7982154" y="5784972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08B99500-4DFD-42E9-AB2D-C3B2C9998449}"/>
              </a:ext>
            </a:extLst>
          </p:cNvPr>
          <p:cNvSpPr/>
          <p:nvPr/>
        </p:nvSpPr>
        <p:spPr>
          <a:xfrm>
            <a:off x="7982154" y="642314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5974C7F6-1AF5-4A18-BAE1-CA0FD46F0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1" y="-82327"/>
            <a:ext cx="12726133" cy="689951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[</a:t>
            </a:r>
            <a:r>
              <a:rPr lang="en-US" altLang="zh-TW" sz="2800" dirty="0" err="1"/>
              <a:t>slowpath</a:t>
            </a:r>
            <a:r>
              <a:rPr lang="en-US" altLang="zh-TW" sz="2800" dirty="0"/>
              <a:t> #2] </a:t>
            </a:r>
            <a:r>
              <a:rPr lang="en-US" sz="2800" b="1" u="sng" dirty="0">
                <a:solidFill>
                  <a:schemeClr val="tx1"/>
                </a:solidFill>
              </a:rPr>
              <a:t>Before</a:t>
            </a:r>
            <a:r>
              <a:rPr lang="en-US" sz="2800" dirty="0">
                <a:solidFill>
                  <a:schemeClr val="tx1"/>
                </a:solidFill>
              </a:rPr>
              <a:t>: bootstrap(&amp;</a:t>
            </a:r>
            <a:r>
              <a:rPr lang="en-US" sz="2800" dirty="0" err="1">
                <a:solidFill>
                  <a:schemeClr val="tx1"/>
                </a:solidFill>
              </a:rPr>
              <a:t>boot_kmem_cache</a:t>
            </a:r>
            <a:r>
              <a:rPr lang="en-US" sz="2800" dirty="0">
                <a:solidFill>
                  <a:schemeClr val="tx1"/>
                </a:solidFill>
              </a:rPr>
              <a:t>) -&gt; </a:t>
            </a:r>
            <a:r>
              <a:rPr lang="en-US" sz="2800" dirty="0" err="1">
                <a:solidFill>
                  <a:schemeClr val="tx1"/>
                </a:solidFill>
              </a:rPr>
              <a:t>kmem_cache_zalloc</a:t>
            </a:r>
            <a:r>
              <a:rPr lang="en-US" sz="2800" dirty="0">
                <a:solidFill>
                  <a:schemeClr val="tx1"/>
                </a:solidFill>
              </a:rPr>
              <a:t>()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504816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735671" y="1119572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735671" y="163075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735670" y="184095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735666" y="205092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256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735669" y="226112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735671" y="267533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13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735670" y="329096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0x10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735670" y="350094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735669" y="371113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735669" y="3920850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735668" y="423741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735668" y="44414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735666" y="3095442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0x10020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735665" y="2878596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0x10020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735665" y="246955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112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1936983" y="565638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735670" y="936556"/>
            <a:ext cx="150539" cy="442004"/>
          </a:xfrm>
          <a:prstGeom prst="bentConnector3">
            <a:avLst>
              <a:gd name="adj1" fmla="val -15185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86210" y="826429"/>
            <a:ext cx="1538569" cy="220253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019262" y="902965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019262" y="132939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019257" y="153048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019260" y="174067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682219" y="1119572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05958" y="2694763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05958" y="317132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05957" y="338152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05953" y="3591493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05956" y="380168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05952" y="296305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05951" y="4008996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05956" y="4497760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05956" y="497432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05955" y="518451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05951" y="5394490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05954" y="560468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05950" y="476605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05949" y="5811993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185931" y="6019301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05949" y="4114223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682216" y="2829281"/>
            <a:ext cx="323742" cy="171735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cxnSpLocks/>
          </p:cNvCxnSpPr>
          <p:nvPr/>
        </p:nvCxnSpPr>
        <p:spPr>
          <a:xfrm flipH="1">
            <a:off x="6218521" y="4163541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FF47CBD-D817-4D7D-B11C-F058D6C4C1F6}"/>
              </a:ext>
            </a:extLst>
          </p:cNvPr>
          <p:cNvSpPr/>
          <p:nvPr/>
        </p:nvSpPr>
        <p:spPr>
          <a:xfrm>
            <a:off x="6207783" y="3413522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7D6E129D-4780-4352-8257-796ED0E6F260}"/>
              </a:ext>
            </a:extLst>
          </p:cNvPr>
          <p:cNvSpPr/>
          <p:nvPr/>
        </p:nvSpPr>
        <p:spPr>
          <a:xfrm>
            <a:off x="6208996" y="4041742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65263813-BABB-4425-B772-5F4A9F149295}"/>
              </a:ext>
            </a:extLst>
          </p:cNvPr>
          <p:cNvSpPr/>
          <p:nvPr/>
        </p:nvSpPr>
        <p:spPr>
          <a:xfrm>
            <a:off x="6217308" y="5223272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08B99500-4DFD-42E9-AB2D-C3B2C9998449}"/>
              </a:ext>
            </a:extLst>
          </p:cNvPr>
          <p:cNvSpPr/>
          <p:nvPr/>
        </p:nvSpPr>
        <p:spPr>
          <a:xfrm>
            <a:off x="6217308" y="586144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DA9065A-FCD9-4921-BF1F-58E3F9CEC8D8}"/>
              </a:ext>
            </a:extLst>
          </p:cNvPr>
          <p:cNvGrpSpPr/>
          <p:nvPr/>
        </p:nvGrpSpPr>
        <p:grpSpPr>
          <a:xfrm>
            <a:off x="8178954" y="880785"/>
            <a:ext cx="2924383" cy="2458413"/>
            <a:chOff x="7059232" y="1647114"/>
            <a:chExt cx="2924383" cy="2458413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603564A-8A18-49A5-94F1-D7F5B6A0A939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order =1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CB0F6A3-F75A-41AF-A2A2-70B9A662EF79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69D8FDB-468C-45A7-9DCD-1F067DFB413E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0FBCA6F-4585-449D-9639-3C10E88A78CF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 = NULL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926A299-9900-42E4-99F3-D4E53399758F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B9B92BA-9BB1-47BB-95C9-0D4DDF5AA010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F66E1C3-3363-42ED-8572-0C472A429F60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AF42463-10F3-47C2-8A96-24D3FC4B52F4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77AD6FA-24FC-4D18-AB71-D5A2A15263AF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32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6DDCF8E-7BFA-4FFA-8776-2704317DC193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32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94A3FC2-9325-46CF-BF43-97695F364EA3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1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CF69019-64F5-41E0-9C12-D009567F985E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9DB905-8C4B-45E4-915D-B6908E722A90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6823B99-3BE3-48FF-B273-8BFC3F6F9DDE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F5CA74C-779F-4919-819B-13F8EEF6DA32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D1602D1-7FC5-4B4F-8FE6-9112316F3D6B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r>
                <a:rPr lang="en-US" sz="1200" dirty="0">
                  <a:solidFill>
                    <a:schemeClr val="tx1"/>
                  </a:solidFill>
                </a:rPr>
                <a:t> = invalid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A435208-0FD9-4C8D-BBFC-73FB69DF016B}"/>
              </a:ext>
            </a:extLst>
          </p:cNvPr>
          <p:cNvSpPr/>
          <p:nvPr/>
        </p:nvSpPr>
        <p:spPr>
          <a:xfrm>
            <a:off x="6717989" y="1708754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EB16D59-6D59-4FDE-ADF2-EC0E0B3B53F8}"/>
              </a:ext>
            </a:extLst>
          </p:cNvPr>
          <p:cNvSpPr/>
          <p:nvPr/>
        </p:nvSpPr>
        <p:spPr>
          <a:xfrm rot="5400000">
            <a:off x="6425746" y="2191639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80B3FF6-C8EC-400B-90F4-FED95E3B2459}"/>
              </a:ext>
            </a:extLst>
          </p:cNvPr>
          <p:cNvSpPr/>
          <p:nvPr/>
        </p:nvSpPr>
        <p:spPr>
          <a:xfrm rot="5400000">
            <a:off x="6794179" y="2191640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A0D053-B35B-4EB3-8956-415D7E434D9A}"/>
              </a:ext>
            </a:extLst>
          </p:cNvPr>
          <p:cNvSpPr txBox="1"/>
          <p:nvPr/>
        </p:nvSpPr>
        <p:spPr>
          <a:xfrm>
            <a:off x="7205779" y="2034489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F00640A-6CE3-47F0-94CB-B0B6A2FD2067}"/>
              </a:ext>
            </a:extLst>
          </p:cNvPr>
          <p:cNvSpPr/>
          <p:nvPr/>
        </p:nvSpPr>
        <p:spPr>
          <a:xfrm rot="5400000">
            <a:off x="7165808" y="2192109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12564C-6471-41DA-AE02-0473FB592954}"/>
              </a:ext>
            </a:extLst>
          </p:cNvPr>
          <p:cNvSpPr txBox="1"/>
          <p:nvPr/>
        </p:nvSpPr>
        <p:spPr>
          <a:xfrm>
            <a:off x="6730376" y="1653296"/>
            <a:ext cx="993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Slab Page(s)</a:t>
            </a:r>
            <a:endParaRPr lang="en-US" sz="1100" b="1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F498CA7-2D5F-49A5-836D-55815EE06E70}"/>
              </a:ext>
            </a:extLst>
          </p:cNvPr>
          <p:cNvSpPr/>
          <p:nvPr/>
        </p:nvSpPr>
        <p:spPr>
          <a:xfrm rot="5400000">
            <a:off x="6611043" y="2191640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0E14A1A-7B30-4404-A3DB-CB53B83324CE}"/>
              </a:ext>
            </a:extLst>
          </p:cNvPr>
          <p:cNvSpPr txBox="1"/>
          <p:nvPr/>
        </p:nvSpPr>
        <p:spPr>
          <a:xfrm>
            <a:off x="6499377" y="1010095"/>
            <a:ext cx="1285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Return this object address</a:t>
            </a: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8F05EAED-8B02-496F-B19F-D724F52C2586}"/>
              </a:ext>
            </a:extLst>
          </p:cNvPr>
          <p:cNvSpPr/>
          <p:nvPr/>
        </p:nvSpPr>
        <p:spPr>
          <a:xfrm>
            <a:off x="6525397" y="1524998"/>
            <a:ext cx="287057" cy="369470"/>
          </a:xfrm>
          <a:custGeom>
            <a:avLst/>
            <a:gdLst>
              <a:gd name="connsiteX0" fmla="*/ 247713 w 247713"/>
              <a:gd name="connsiteY0" fmla="*/ 647700 h 647700"/>
              <a:gd name="connsiteX1" fmla="*/ 63 w 247713"/>
              <a:gd name="connsiteY1" fmla="*/ 314325 h 647700"/>
              <a:gd name="connsiteX2" fmla="*/ 228663 w 247713"/>
              <a:gd name="connsiteY2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713" h="647700">
                <a:moveTo>
                  <a:pt x="247713" y="647700"/>
                </a:moveTo>
                <a:cubicBezTo>
                  <a:pt x="125475" y="534987"/>
                  <a:pt x="3238" y="422275"/>
                  <a:pt x="63" y="314325"/>
                </a:cubicBezTo>
                <a:cubicBezTo>
                  <a:pt x="-3112" y="206375"/>
                  <a:pt x="112775" y="103187"/>
                  <a:pt x="228663" y="0"/>
                </a:cubicBezTo>
              </a:path>
            </a:pathLst>
          </a:custGeom>
          <a:noFill/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6D64B7-FC86-4B77-B3A8-19A5DF5281DB}"/>
              </a:ext>
            </a:extLst>
          </p:cNvPr>
          <p:cNvGrpSpPr/>
          <p:nvPr/>
        </p:nvGrpSpPr>
        <p:grpSpPr>
          <a:xfrm>
            <a:off x="1657474" y="4809287"/>
            <a:ext cx="2024739" cy="839062"/>
            <a:chOff x="1311465" y="4847499"/>
            <a:chExt cx="2024739" cy="83906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97EE55-AF68-4E21-A0BB-7C100ECA0FF8}"/>
                </a:ext>
              </a:extLst>
            </p:cNvPr>
            <p:cNvSpPr/>
            <p:nvPr/>
          </p:nvSpPr>
          <p:spPr>
            <a:xfrm>
              <a:off x="1311465" y="5140264"/>
              <a:ext cx="793647" cy="3009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Page order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68C0CD4-F6C2-416E-ADAE-94E66BF1249A}"/>
                </a:ext>
              </a:extLst>
            </p:cNvPr>
            <p:cNvSpPr/>
            <p:nvPr/>
          </p:nvSpPr>
          <p:spPr>
            <a:xfrm>
              <a:off x="2105112" y="5140263"/>
              <a:ext cx="1124457" cy="3009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 per slab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7B3A7B-11CE-476A-9720-1F2248A8F9FA}"/>
                </a:ext>
              </a:extLst>
            </p:cNvPr>
            <p:cNvSpPr txBox="1"/>
            <p:nvPr/>
          </p:nvSpPr>
          <p:spPr>
            <a:xfrm>
              <a:off x="3080075" y="5396862"/>
              <a:ext cx="2561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3A681D4-B6FB-41E4-B9B5-0C8401EFFE9C}"/>
                </a:ext>
              </a:extLst>
            </p:cNvPr>
            <p:cNvSpPr txBox="1"/>
            <p:nvPr/>
          </p:nvSpPr>
          <p:spPr>
            <a:xfrm>
              <a:off x="2035489" y="5409562"/>
              <a:ext cx="373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15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ACAC5A3-3944-4049-866F-EE150C799577}"/>
                </a:ext>
              </a:extLst>
            </p:cNvPr>
            <p:cNvSpPr txBox="1"/>
            <p:nvPr/>
          </p:nvSpPr>
          <p:spPr>
            <a:xfrm>
              <a:off x="1854345" y="5409063"/>
              <a:ext cx="373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16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B82A10-1775-43F1-99D6-4EDC49CEB175}"/>
                </a:ext>
              </a:extLst>
            </p:cNvPr>
            <p:cNvSpPr txBox="1"/>
            <p:nvPr/>
          </p:nvSpPr>
          <p:spPr>
            <a:xfrm>
              <a:off x="1537189" y="4847499"/>
              <a:ext cx="15288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oo</a:t>
              </a:r>
              <a:r>
                <a:rPr lang="en-US" sz="1400" b="1" dirty="0"/>
                <a:t> (order objects)</a:t>
              </a:r>
            </a:p>
          </p:txBody>
        </p:sp>
      </p:grp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90146E7-610B-439E-A284-07121CE8847C}"/>
              </a:ext>
            </a:extLst>
          </p:cNvPr>
          <p:cNvCxnSpPr>
            <a:stCxn id="113" idx="3"/>
            <a:endCxn id="49" idx="1"/>
          </p:cNvCxnSpPr>
          <p:nvPr/>
        </p:nvCxnSpPr>
        <p:spPr>
          <a:xfrm flipV="1">
            <a:off x="5965810" y="1002895"/>
            <a:ext cx="2213733" cy="431722"/>
          </a:xfrm>
          <a:prstGeom prst="bentConnector3">
            <a:avLst>
              <a:gd name="adj1" fmla="val 783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C4A1B17-D151-49BA-8A63-4A6B595C55FF}"/>
              </a:ext>
            </a:extLst>
          </p:cNvPr>
          <p:cNvSpPr txBox="1"/>
          <p:nvPr/>
        </p:nvSpPr>
        <p:spPr>
          <a:xfrm>
            <a:off x="40163" y="1667756"/>
            <a:ext cx="1635129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18288" rIns="18288" rtlCol="0">
            <a:spAutoFit/>
          </a:bodyPr>
          <a:lstStyle/>
          <a:p>
            <a:r>
              <a:rPr lang="en-US" sz="1400" dirty="0" err="1">
                <a:solidFill>
                  <a:schemeClr val="tx1"/>
                </a:solidFill>
              </a:rPr>
              <a:t>kmem_cache_zalloc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  <a:endParaRPr lang="en-US" sz="1400" dirty="0"/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D6DAF2EC-2F0F-4A0C-98FE-B1B155B5EBB3}"/>
              </a:ext>
            </a:extLst>
          </p:cNvPr>
          <p:cNvCxnSpPr>
            <a:cxnSpLocks/>
            <a:stCxn id="96" idx="0"/>
          </p:cNvCxnSpPr>
          <p:nvPr/>
        </p:nvCxnSpPr>
        <p:spPr>
          <a:xfrm rot="5400000" flipH="1" flipV="1">
            <a:off x="943512" y="785648"/>
            <a:ext cx="796324" cy="9678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97F5049-E25C-499B-AD22-B7141A885844}"/>
              </a:ext>
            </a:extLst>
          </p:cNvPr>
          <p:cNvCxnSpPr>
            <a:stCxn id="114" idx="3"/>
            <a:endCxn id="75" idx="3"/>
          </p:cNvCxnSpPr>
          <p:nvPr/>
        </p:nvCxnSpPr>
        <p:spPr>
          <a:xfrm>
            <a:off x="5965805" y="1635710"/>
            <a:ext cx="1029838" cy="1032884"/>
          </a:xfrm>
          <a:prstGeom prst="bentConnector4">
            <a:avLst>
              <a:gd name="adj1" fmla="val 31327"/>
              <a:gd name="adj2" fmla="val 11567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C62C3B33-B69E-4860-8A86-63C0435D9E89}"/>
              </a:ext>
            </a:extLst>
          </p:cNvPr>
          <p:cNvSpPr/>
          <p:nvPr/>
        </p:nvSpPr>
        <p:spPr>
          <a:xfrm>
            <a:off x="226206" y="1448861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98724DE-5E72-4C99-B685-31C39298D25A}"/>
              </a:ext>
            </a:extLst>
          </p:cNvPr>
          <p:cNvSpPr/>
          <p:nvPr/>
        </p:nvSpPr>
        <p:spPr>
          <a:xfrm>
            <a:off x="8433568" y="569879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DD875EA-879F-4F17-8EC2-8FC2182A2890}"/>
              </a:ext>
            </a:extLst>
          </p:cNvPr>
          <p:cNvSpPr txBox="1"/>
          <p:nvPr/>
        </p:nvSpPr>
        <p:spPr>
          <a:xfrm>
            <a:off x="8618207" y="579404"/>
            <a:ext cx="2273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Allocate from Buddy system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A452C4A-F23F-4713-AFDA-EBA1ED64CF33}"/>
              </a:ext>
            </a:extLst>
          </p:cNvPr>
          <p:cNvSpPr/>
          <p:nvPr/>
        </p:nvSpPr>
        <p:spPr>
          <a:xfrm>
            <a:off x="6337554" y="1159258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4" name="矩形 40">
            <a:extLst>
              <a:ext uri="{FF2B5EF4-FFF2-40B4-BE49-F238E27FC236}">
                <a16:creationId xmlns:a16="http://schemas.microsoft.com/office/drawing/2014/main" id="{B381204F-0D83-42F9-AFD5-12C931487E5D}"/>
              </a:ext>
            </a:extLst>
          </p:cNvPr>
          <p:cNvSpPr/>
          <p:nvPr/>
        </p:nvSpPr>
        <p:spPr>
          <a:xfrm>
            <a:off x="1034590" y="6365238"/>
            <a:ext cx="10516585" cy="4376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tx1"/>
                </a:solidFill>
              </a:rPr>
              <a:t>slab_alloc_node</a:t>
            </a:r>
            <a:r>
              <a:rPr lang="en-US" sz="2800" b="1" dirty="0">
                <a:solidFill>
                  <a:schemeClr val="tx1"/>
                </a:solidFill>
              </a:rPr>
              <a:t>(): </a:t>
            </a:r>
            <a:r>
              <a:rPr lang="en-US" sz="2800" b="1" dirty="0" err="1">
                <a:solidFill>
                  <a:schemeClr val="tx1"/>
                </a:solidFill>
              </a:rPr>
              <a:t>slowpath</a:t>
            </a:r>
            <a:r>
              <a:rPr lang="en-US" sz="2800" b="1" dirty="0">
                <a:solidFill>
                  <a:schemeClr val="tx1"/>
                </a:solidFill>
              </a:rPr>
              <a:t> #2 – Allocate a page from Buddy system</a:t>
            </a: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A1A1780F-72CB-49FD-96A0-FEE0DE4C3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1" y="-82327"/>
            <a:ext cx="12726133" cy="689951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[</a:t>
            </a:r>
            <a:r>
              <a:rPr lang="en-US" altLang="zh-TW" sz="2800" dirty="0" err="1"/>
              <a:t>slowpath</a:t>
            </a:r>
            <a:r>
              <a:rPr lang="en-US" altLang="zh-TW" sz="2800" dirty="0"/>
              <a:t> #2] </a:t>
            </a:r>
            <a:r>
              <a:rPr lang="en-US" sz="2800" b="1" u="sng" dirty="0">
                <a:solidFill>
                  <a:schemeClr val="tx1"/>
                </a:solidFill>
              </a:rPr>
              <a:t>After</a:t>
            </a:r>
            <a:r>
              <a:rPr lang="en-US" sz="2800" dirty="0">
                <a:solidFill>
                  <a:schemeClr val="tx1"/>
                </a:solidFill>
              </a:rPr>
              <a:t>: bootstrap(&amp;</a:t>
            </a:r>
            <a:r>
              <a:rPr lang="en-US" sz="2800" dirty="0" err="1">
                <a:solidFill>
                  <a:schemeClr val="tx1"/>
                </a:solidFill>
              </a:rPr>
              <a:t>boot_kmem_cache</a:t>
            </a:r>
            <a:r>
              <a:rPr lang="en-US" sz="2800" dirty="0">
                <a:solidFill>
                  <a:schemeClr val="tx1"/>
                </a:solidFill>
              </a:rPr>
              <a:t>) -&gt; </a:t>
            </a:r>
            <a:r>
              <a:rPr lang="en-US" sz="2800" dirty="0" err="1">
                <a:solidFill>
                  <a:schemeClr val="tx1"/>
                </a:solidFill>
              </a:rPr>
              <a:t>kmem_cache_zalloc</a:t>
            </a:r>
            <a:r>
              <a:rPr lang="en-US" sz="2800" dirty="0">
                <a:solidFill>
                  <a:schemeClr val="tx1"/>
                </a:solidFill>
              </a:rPr>
              <a:t>()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022155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735671" y="1119572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735671" y="163075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735670" y="184095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735666" y="205092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256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735669" y="226112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735671" y="267533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13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735670" y="329096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0x10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735670" y="350094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735669" y="371113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735669" y="3920850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735668" y="423741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735668" y="44414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735666" y="3095442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0x10020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735665" y="2878596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0x10020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735665" y="246955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112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1936983" y="565638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735670" y="936556"/>
            <a:ext cx="150539" cy="442004"/>
          </a:xfrm>
          <a:prstGeom prst="bentConnector3">
            <a:avLst>
              <a:gd name="adj1" fmla="val -15185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86210" y="826429"/>
            <a:ext cx="1538569" cy="220253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019262" y="902965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019262" y="132939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019257" y="153048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019260" y="174067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682219" y="1119572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05958" y="3062408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05958" y="353897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05957" y="374916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05953" y="3959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05956" y="4169333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05952" y="3330703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05951" y="4376641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05956" y="4865405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05956" y="534196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05955" y="555216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05951" y="5762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05954" y="5972330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05950" y="5133700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05949" y="6179638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185931" y="6386946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05949" y="4481868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682216" y="3196926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cxnSpLocks/>
          </p:cNvCxnSpPr>
          <p:nvPr/>
        </p:nvCxnSpPr>
        <p:spPr>
          <a:xfrm flipH="1">
            <a:off x="6218521" y="4531186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FF47CBD-D817-4D7D-B11C-F058D6C4C1F6}"/>
              </a:ext>
            </a:extLst>
          </p:cNvPr>
          <p:cNvSpPr/>
          <p:nvPr/>
        </p:nvSpPr>
        <p:spPr>
          <a:xfrm>
            <a:off x="6207783" y="378116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7D6E129D-4780-4352-8257-796ED0E6F260}"/>
              </a:ext>
            </a:extLst>
          </p:cNvPr>
          <p:cNvSpPr/>
          <p:nvPr/>
        </p:nvSpPr>
        <p:spPr>
          <a:xfrm>
            <a:off x="6208996" y="440938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65263813-BABB-4425-B772-5F4A9F149295}"/>
              </a:ext>
            </a:extLst>
          </p:cNvPr>
          <p:cNvSpPr/>
          <p:nvPr/>
        </p:nvSpPr>
        <p:spPr>
          <a:xfrm>
            <a:off x="6217308" y="559091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08B99500-4DFD-42E9-AB2D-C3B2C9998449}"/>
              </a:ext>
            </a:extLst>
          </p:cNvPr>
          <p:cNvSpPr/>
          <p:nvPr/>
        </p:nvSpPr>
        <p:spPr>
          <a:xfrm>
            <a:off x="6217308" y="6229092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DA9065A-FCD9-4921-BF1F-58E3F9CEC8D8}"/>
              </a:ext>
            </a:extLst>
          </p:cNvPr>
          <p:cNvGrpSpPr/>
          <p:nvPr/>
        </p:nvGrpSpPr>
        <p:grpSpPr>
          <a:xfrm>
            <a:off x="8178954" y="880785"/>
            <a:ext cx="2924383" cy="2458413"/>
            <a:chOff x="7059232" y="1647114"/>
            <a:chExt cx="2924383" cy="2458413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603564A-8A18-49A5-94F1-D7F5B6A0A939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order =1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CB0F6A3-F75A-41AF-A2A2-70B9A662EF79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69D8FDB-468C-45A7-9DCD-1F067DFB413E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0FBCA6F-4585-449D-9639-3C10E88A78CF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 = NULL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926A299-9900-42E4-99F3-D4E53399758F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B9B92BA-9BB1-47BB-95C9-0D4DDF5AA010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F66E1C3-3363-42ED-8572-0C472A429F60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AF42463-10F3-47C2-8A96-24D3FC4B52F4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77AD6FA-24FC-4D18-AB71-D5A2A15263AF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32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6DDCF8E-7BFA-4FFA-8776-2704317DC193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32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94A3FC2-9325-46CF-BF43-97695F364EA3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1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CF69019-64F5-41E0-9C12-D009567F985E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9DB905-8C4B-45E4-915D-B6908E722A90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6823B99-3BE3-48FF-B273-8BFC3F6F9DDE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F5CA74C-779F-4919-819B-13F8EEF6DA32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D1602D1-7FC5-4B4F-8FE6-9112316F3D6B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r>
                <a:rPr lang="en-US" sz="1200" dirty="0">
                  <a:solidFill>
                    <a:schemeClr val="tx1"/>
                  </a:solidFill>
                </a:rPr>
                <a:t> = invalid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A435208-0FD9-4C8D-BBFC-73FB69DF016B}"/>
              </a:ext>
            </a:extLst>
          </p:cNvPr>
          <p:cNvSpPr/>
          <p:nvPr/>
        </p:nvSpPr>
        <p:spPr>
          <a:xfrm>
            <a:off x="6717989" y="1708754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EB16D59-6D59-4FDE-ADF2-EC0E0B3B53F8}"/>
              </a:ext>
            </a:extLst>
          </p:cNvPr>
          <p:cNvSpPr/>
          <p:nvPr/>
        </p:nvSpPr>
        <p:spPr>
          <a:xfrm rot="5400000">
            <a:off x="6425746" y="2191639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80B3FF6-C8EC-400B-90F4-FED95E3B2459}"/>
              </a:ext>
            </a:extLst>
          </p:cNvPr>
          <p:cNvSpPr/>
          <p:nvPr/>
        </p:nvSpPr>
        <p:spPr>
          <a:xfrm rot="5400000">
            <a:off x="6794179" y="2191640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A0D053-B35B-4EB3-8956-415D7E434D9A}"/>
              </a:ext>
            </a:extLst>
          </p:cNvPr>
          <p:cNvSpPr txBox="1"/>
          <p:nvPr/>
        </p:nvSpPr>
        <p:spPr>
          <a:xfrm>
            <a:off x="7205779" y="2034489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F00640A-6CE3-47F0-94CB-B0B6A2FD2067}"/>
              </a:ext>
            </a:extLst>
          </p:cNvPr>
          <p:cNvSpPr/>
          <p:nvPr/>
        </p:nvSpPr>
        <p:spPr>
          <a:xfrm rot="5400000">
            <a:off x="7165808" y="2192109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12564C-6471-41DA-AE02-0473FB592954}"/>
              </a:ext>
            </a:extLst>
          </p:cNvPr>
          <p:cNvSpPr txBox="1"/>
          <p:nvPr/>
        </p:nvSpPr>
        <p:spPr>
          <a:xfrm>
            <a:off x="6730376" y="1653296"/>
            <a:ext cx="993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Slab Page(s)</a:t>
            </a:r>
            <a:endParaRPr lang="en-US" sz="1100" b="1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F498CA7-2D5F-49A5-836D-55815EE06E70}"/>
              </a:ext>
            </a:extLst>
          </p:cNvPr>
          <p:cNvSpPr/>
          <p:nvPr/>
        </p:nvSpPr>
        <p:spPr>
          <a:xfrm rot="5400000">
            <a:off x="6611043" y="2191640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0E14A1A-7B30-4404-A3DB-CB53B83324CE}"/>
              </a:ext>
            </a:extLst>
          </p:cNvPr>
          <p:cNvSpPr txBox="1"/>
          <p:nvPr/>
        </p:nvSpPr>
        <p:spPr>
          <a:xfrm>
            <a:off x="6499377" y="1010095"/>
            <a:ext cx="1285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Return this object address</a:t>
            </a: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8F05EAED-8B02-496F-B19F-D724F52C2586}"/>
              </a:ext>
            </a:extLst>
          </p:cNvPr>
          <p:cNvSpPr/>
          <p:nvPr/>
        </p:nvSpPr>
        <p:spPr>
          <a:xfrm>
            <a:off x="6525397" y="1524998"/>
            <a:ext cx="287057" cy="369470"/>
          </a:xfrm>
          <a:custGeom>
            <a:avLst/>
            <a:gdLst>
              <a:gd name="connsiteX0" fmla="*/ 247713 w 247713"/>
              <a:gd name="connsiteY0" fmla="*/ 647700 h 647700"/>
              <a:gd name="connsiteX1" fmla="*/ 63 w 247713"/>
              <a:gd name="connsiteY1" fmla="*/ 314325 h 647700"/>
              <a:gd name="connsiteX2" fmla="*/ 228663 w 247713"/>
              <a:gd name="connsiteY2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713" h="647700">
                <a:moveTo>
                  <a:pt x="247713" y="647700"/>
                </a:moveTo>
                <a:cubicBezTo>
                  <a:pt x="125475" y="534987"/>
                  <a:pt x="3238" y="422275"/>
                  <a:pt x="63" y="314325"/>
                </a:cubicBezTo>
                <a:cubicBezTo>
                  <a:pt x="-3112" y="206375"/>
                  <a:pt x="112775" y="103187"/>
                  <a:pt x="228663" y="0"/>
                </a:cubicBezTo>
              </a:path>
            </a:pathLst>
          </a:custGeom>
          <a:noFill/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6D64B7-FC86-4B77-B3A8-19A5DF5281DB}"/>
              </a:ext>
            </a:extLst>
          </p:cNvPr>
          <p:cNvGrpSpPr/>
          <p:nvPr/>
        </p:nvGrpSpPr>
        <p:grpSpPr>
          <a:xfrm>
            <a:off x="1657474" y="4809287"/>
            <a:ext cx="2024739" cy="839062"/>
            <a:chOff x="1311465" y="4847499"/>
            <a:chExt cx="2024739" cy="83906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97EE55-AF68-4E21-A0BB-7C100ECA0FF8}"/>
                </a:ext>
              </a:extLst>
            </p:cNvPr>
            <p:cNvSpPr/>
            <p:nvPr/>
          </p:nvSpPr>
          <p:spPr>
            <a:xfrm>
              <a:off x="1311465" y="5140264"/>
              <a:ext cx="793647" cy="3009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Page order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68C0CD4-F6C2-416E-ADAE-94E66BF1249A}"/>
                </a:ext>
              </a:extLst>
            </p:cNvPr>
            <p:cNvSpPr/>
            <p:nvPr/>
          </p:nvSpPr>
          <p:spPr>
            <a:xfrm>
              <a:off x="2105112" y="5140263"/>
              <a:ext cx="1124457" cy="3009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 per slab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7B3A7B-11CE-476A-9720-1F2248A8F9FA}"/>
                </a:ext>
              </a:extLst>
            </p:cNvPr>
            <p:cNvSpPr txBox="1"/>
            <p:nvPr/>
          </p:nvSpPr>
          <p:spPr>
            <a:xfrm>
              <a:off x="3080075" y="5396862"/>
              <a:ext cx="2561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3A681D4-B6FB-41E4-B9B5-0C8401EFFE9C}"/>
                </a:ext>
              </a:extLst>
            </p:cNvPr>
            <p:cNvSpPr txBox="1"/>
            <p:nvPr/>
          </p:nvSpPr>
          <p:spPr>
            <a:xfrm>
              <a:off x="2035489" y="5409562"/>
              <a:ext cx="373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15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ACAC5A3-3944-4049-866F-EE150C799577}"/>
                </a:ext>
              </a:extLst>
            </p:cNvPr>
            <p:cNvSpPr txBox="1"/>
            <p:nvPr/>
          </p:nvSpPr>
          <p:spPr>
            <a:xfrm>
              <a:off x="1854345" y="5409063"/>
              <a:ext cx="373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16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B82A10-1775-43F1-99D6-4EDC49CEB175}"/>
                </a:ext>
              </a:extLst>
            </p:cNvPr>
            <p:cNvSpPr txBox="1"/>
            <p:nvPr/>
          </p:nvSpPr>
          <p:spPr>
            <a:xfrm>
              <a:off x="1537189" y="4847499"/>
              <a:ext cx="15288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oo</a:t>
              </a:r>
              <a:r>
                <a:rPr lang="en-US" sz="1400" b="1" dirty="0"/>
                <a:t> (order objects)</a:t>
              </a:r>
            </a:p>
          </p:txBody>
        </p:sp>
      </p:grp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90146E7-610B-439E-A284-07121CE8847C}"/>
              </a:ext>
            </a:extLst>
          </p:cNvPr>
          <p:cNvCxnSpPr>
            <a:stCxn id="113" idx="3"/>
            <a:endCxn id="49" idx="1"/>
          </p:cNvCxnSpPr>
          <p:nvPr/>
        </p:nvCxnSpPr>
        <p:spPr>
          <a:xfrm flipV="1">
            <a:off x="5965810" y="1002895"/>
            <a:ext cx="2213733" cy="431722"/>
          </a:xfrm>
          <a:prstGeom prst="bentConnector3">
            <a:avLst>
              <a:gd name="adj1" fmla="val 783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C4A1B17-D151-49BA-8A63-4A6B595C55FF}"/>
              </a:ext>
            </a:extLst>
          </p:cNvPr>
          <p:cNvSpPr txBox="1"/>
          <p:nvPr/>
        </p:nvSpPr>
        <p:spPr>
          <a:xfrm>
            <a:off x="40163" y="1667756"/>
            <a:ext cx="1635129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18288" rIns="18288" rtlCol="0">
            <a:spAutoFit/>
          </a:bodyPr>
          <a:lstStyle/>
          <a:p>
            <a:r>
              <a:rPr lang="en-US" sz="1400" dirty="0" err="1">
                <a:solidFill>
                  <a:schemeClr val="tx1"/>
                </a:solidFill>
              </a:rPr>
              <a:t>kmem_cache_zalloc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  <a:endParaRPr lang="en-US" sz="1400" dirty="0"/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D6DAF2EC-2F0F-4A0C-98FE-B1B155B5EBB3}"/>
              </a:ext>
            </a:extLst>
          </p:cNvPr>
          <p:cNvCxnSpPr>
            <a:cxnSpLocks/>
            <a:stCxn id="96" idx="0"/>
          </p:cNvCxnSpPr>
          <p:nvPr/>
        </p:nvCxnSpPr>
        <p:spPr>
          <a:xfrm rot="5400000" flipH="1" flipV="1">
            <a:off x="943512" y="785648"/>
            <a:ext cx="796324" cy="9678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97F5049-E25C-499B-AD22-B7141A885844}"/>
              </a:ext>
            </a:extLst>
          </p:cNvPr>
          <p:cNvCxnSpPr>
            <a:stCxn id="114" idx="3"/>
            <a:endCxn id="75" idx="3"/>
          </p:cNvCxnSpPr>
          <p:nvPr/>
        </p:nvCxnSpPr>
        <p:spPr>
          <a:xfrm>
            <a:off x="5965805" y="1635710"/>
            <a:ext cx="1029838" cy="1032884"/>
          </a:xfrm>
          <a:prstGeom prst="bentConnector4">
            <a:avLst>
              <a:gd name="adj1" fmla="val 31327"/>
              <a:gd name="adj2" fmla="val 11567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C62C3B33-B69E-4860-8A86-63C0435D9E89}"/>
              </a:ext>
            </a:extLst>
          </p:cNvPr>
          <p:cNvSpPr/>
          <p:nvPr/>
        </p:nvSpPr>
        <p:spPr>
          <a:xfrm>
            <a:off x="226206" y="1448861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98724DE-5E72-4C99-B685-31C39298D25A}"/>
              </a:ext>
            </a:extLst>
          </p:cNvPr>
          <p:cNvSpPr/>
          <p:nvPr/>
        </p:nvSpPr>
        <p:spPr>
          <a:xfrm>
            <a:off x="8433568" y="569879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DD875EA-879F-4F17-8EC2-8FC2182A2890}"/>
              </a:ext>
            </a:extLst>
          </p:cNvPr>
          <p:cNvSpPr txBox="1"/>
          <p:nvPr/>
        </p:nvSpPr>
        <p:spPr>
          <a:xfrm>
            <a:off x="8618207" y="579404"/>
            <a:ext cx="2273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Allocate from Buddy system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A452C4A-F23F-4713-AFDA-EBA1ED64CF33}"/>
              </a:ext>
            </a:extLst>
          </p:cNvPr>
          <p:cNvSpPr/>
          <p:nvPr/>
        </p:nvSpPr>
        <p:spPr>
          <a:xfrm>
            <a:off x="6337554" y="1159258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C6732053-A82D-4E35-8F7D-13FE2D264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578" y="3409506"/>
            <a:ext cx="7413670" cy="233822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95" name="Title 1">
            <a:extLst>
              <a:ext uri="{FF2B5EF4-FFF2-40B4-BE49-F238E27FC236}">
                <a16:creationId xmlns:a16="http://schemas.microsoft.com/office/drawing/2014/main" id="{CBC81B08-D07B-4367-9D7A-45D353C6B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1" y="-82327"/>
            <a:ext cx="12726133" cy="689951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[</a:t>
            </a:r>
            <a:r>
              <a:rPr lang="en-US" altLang="zh-TW" sz="2800" dirty="0" err="1"/>
              <a:t>slowpath</a:t>
            </a:r>
            <a:r>
              <a:rPr lang="en-US" altLang="zh-TW" sz="2800" dirty="0"/>
              <a:t> #2] </a:t>
            </a:r>
            <a:r>
              <a:rPr lang="en-US" sz="2800" b="1" u="sng" dirty="0">
                <a:solidFill>
                  <a:schemeClr val="tx1"/>
                </a:solidFill>
              </a:rPr>
              <a:t>After</a:t>
            </a:r>
            <a:r>
              <a:rPr lang="en-US" sz="2800" dirty="0">
                <a:solidFill>
                  <a:schemeClr val="tx1"/>
                </a:solidFill>
              </a:rPr>
              <a:t>: bootstrap(&amp;</a:t>
            </a:r>
            <a:r>
              <a:rPr lang="en-US" sz="2800" dirty="0" err="1">
                <a:solidFill>
                  <a:schemeClr val="tx1"/>
                </a:solidFill>
              </a:rPr>
              <a:t>boot_kmem_cache</a:t>
            </a:r>
            <a:r>
              <a:rPr lang="en-US" sz="2800" dirty="0">
                <a:solidFill>
                  <a:schemeClr val="tx1"/>
                </a:solidFill>
              </a:rPr>
              <a:t>) -&gt; </a:t>
            </a:r>
            <a:r>
              <a:rPr lang="en-US" sz="2800" dirty="0" err="1">
                <a:solidFill>
                  <a:schemeClr val="tx1"/>
                </a:solidFill>
              </a:rPr>
              <a:t>kmem_cache_zalloc</a:t>
            </a:r>
            <a:r>
              <a:rPr lang="en-US" sz="2800" dirty="0">
                <a:solidFill>
                  <a:schemeClr val="tx1"/>
                </a:solidFill>
              </a:rPr>
              <a:t>()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527838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735671" y="1119572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735671" y="163075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735670" y="184095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735666" y="205092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256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735669" y="226112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735671" y="267533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13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735670" y="329096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0x10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735670" y="350094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735669" y="371113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735669" y="3920850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735668" y="423741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735668" y="44414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735666" y="3095442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0x10020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735665" y="2878596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0x10020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735665" y="246955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112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1936983" y="565638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735670" y="936556"/>
            <a:ext cx="150539" cy="442004"/>
          </a:xfrm>
          <a:prstGeom prst="bentConnector3">
            <a:avLst>
              <a:gd name="adj1" fmla="val -15185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86210" y="826429"/>
            <a:ext cx="1538569" cy="220253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019262" y="902965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019262" y="132939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 = NULL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019257" y="153048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019260" y="174067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682219" y="1119572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05958" y="3062408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05958" y="353897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05957" y="374916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05953" y="3959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05956" y="4169333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32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05952" y="3330703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05951" y="4376641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05956" y="4865405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05956" y="534196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05955" y="555216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05951" y="5762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05954" y="5972330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05950" y="5133700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05949" y="6179638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185931" y="6386946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05949" y="4481868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682216" y="3196926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cxnSpLocks/>
          </p:cNvCxnSpPr>
          <p:nvPr/>
        </p:nvCxnSpPr>
        <p:spPr>
          <a:xfrm flipH="1">
            <a:off x="6218521" y="4531186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7D6E129D-4780-4352-8257-796ED0E6F260}"/>
              </a:ext>
            </a:extLst>
          </p:cNvPr>
          <p:cNvSpPr/>
          <p:nvPr/>
        </p:nvSpPr>
        <p:spPr>
          <a:xfrm>
            <a:off x="6208996" y="440938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65263813-BABB-4425-B772-5F4A9F149295}"/>
              </a:ext>
            </a:extLst>
          </p:cNvPr>
          <p:cNvSpPr/>
          <p:nvPr/>
        </p:nvSpPr>
        <p:spPr>
          <a:xfrm>
            <a:off x="6217308" y="559091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08B99500-4DFD-42E9-AB2D-C3B2C9998449}"/>
              </a:ext>
            </a:extLst>
          </p:cNvPr>
          <p:cNvSpPr/>
          <p:nvPr/>
        </p:nvSpPr>
        <p:spPr>
          <a:xfrm>
            <a:off x="6217308" y="6229092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DA9065A-FCD9-4921-BF1F-58E3F9CEC8D8}"/>
              </a:ext>
            </a:extLst>
          </p:cNvPr>
          <p:cNvGrpSpPr/>
          <p:nvPr/>
        </p:nvGrpSpPr>
        <p:grpSpPr>
          <a:xfrm>
            <a:off x="8178954" y="880785"/>
            <a:ext cx="2924383" cy="2458413"/>
            <a:chOff x="7059232" y="1647114"/>
            <a:chExt cx="2924383" cy="2458413"/>
          </a:xfrm>
          <a:solidFill>
            <a:schemeClr val="bg2">
              <a:lumMod val="90000"/>
            </a:schemeClr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603564A-8A18-49A5-94F1-D7F5B6A0A939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order =1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CB0F6A3-F75A-41AF-A2A2-70B9A662EF79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69D8FDB-468C-45A7-9DCD-1F067DFB413E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0FBCA6F-4585-449D-9639-3C10E88A78CF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 = NULL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926A299-9900-42E4-99F3-D4E53399758F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B9B92BA-9BB1-47BB-95C9-0D4DDF5AA010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F66E1C3-3363-42ED-8572-0C472A429F60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AF42463-10F3-47C2-8A96-24D3FC4B52F4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77AD6FA-24FC-4D18-AB71-D5A2A15263AF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32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6DDCF8E-7BFA-4FFA-8776-2704317DC193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32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94A3FC2-9325-46CF-BF43-97695F364EA3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1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CF69019-64F5-41E0-9C12-D009567F985E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9DB905-8C4B-45E4-915D-B6908E722A90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6823B99-3BE3-48FF-B273-8BFC3F6F9DDE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F5CA74C-779F-4919-819B-13F8EEF6DA32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D1602D1-7FC5-4B4F-8FE6-9112316F3D6B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r>
                <a:rPr lang="en-US" sz="1200" dirty="0">
                  <a:solidFill>
                    <a:schemeClr val="tx1"/>
                  </a:solidFill>
                </a:rPr>
                <a:t> = invalid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A435208-0FD9-4C8D-BBFC-73FB69DF016B}"/>
              </a:ext>
            </a:extLst>
          </p:cNvPr>
          <p:cNvSpPr/>
          <p:nvPr/>
        </p:nvSpPr>
        <p:spPr>
          <a:xfrm>
            <a:off x="6717989" y="1708754"/>
            <a:ext cx="924100" cy="95984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EB16D59-6D59-4FDE-ADF2-EC0E0B3B53F8}"/>
              </a:ext>
            </a:extLst>
          </p:cNvPr>
          <p:cNvSpPr/>
          <p:nvPr/>
        </p:nvSpPr>
        <p:spPr>
          <a:xfrm rot="5400000">
            <a:off x="6425746" y="2191639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80B3FF6-C8EC-400B-90F4-FED95E3B2459}"/>
              </a:ext>
            </a:extLst>
          </p:cNvPr>
          <p:cNvSpPr/>
          <p:nvPr/>
        </p:nvSpPr>
        <p:spPr>
          <a:xfrm rot="5400000">
            <a:off x="6794179" y="2191640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A0D053-B35B-4EB3-8956-415D7E434D9A}"/>
              </a:ext>
            </a:extLst>
          </p:cNvPr>
          <p:cNvSpPr txBox="1"/>
          <p:nvPr/>
        </p:nvSpPr>
        <p:spPr>
          <a:xfrm>
            <a:off x="7205779" y="2034489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F00640A-6CE3-47F0-94CB-B0B6A2FD2067}"/>
              </a:ext>
            </a:extLst>
          </p:cNvPr>
          <p:cNvSpPr/>
          <p:nvPr/>
        </p:nvSpPr>
        <p:spPr>
          <a:xfrm rot="5400000">
            <a:off x="7165808" y="2192109"/>
            <a:ext cx="768265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12564C-6471-41DA-AE02-0473FB592954}"/>
              </a:ext>
            </a:extLst>
          </p:cNvPr>
          <p:cNvSpPr txBox="1"/>
          <p:nvPr/>
        </p:nvSpPr>
        <p:spPr>
          <a:xfrm>
            <a:off x="6720112" y="1470889"/>
            <a:ext cx="993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Slab Page(s)</a:t>
            </a:r>
            <a:endParaRPr lang="en-US" sz="1100" b="1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F498CA7-2D5F-49A5-836D-55815EE06E70}"/>
              </a:ext>
            </a:extLst>
          </p:cNvPr>
          <p:cNvSpPr/>
          <p:nvPr/>
        </p:nvSpPr>
        <p:spPr>
          <a:xfrm rot="5400000">
            <a:off x="6611043" y="2191640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6D64B7-FC86-4B77-B3A8-19A5DF5281DB}"/>
              </a:ext>
            </a:extLst>
          </p:cNvPr>
          <p:cNvGrpSpPr/>
          <p:nvPr/>
        </p:nvGrpSpPr>
        <p:grpSpPr>
          <a:xfrm>
            <a:off x="1657474" y="4809287"/>
            <a:ext cx="2024739" cy="839062"/>
            <a:chOff x="1311465" y="4847499"/>
            <a:chExt cx="2024739" cy="83906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97EE55-AF68-4E21-A0BB-7C100ECA0FF8}"/>
                </a:ext>
              </a:extLst>
            </p:cNvPr>
            <p:cNvSpPr/>
            <p:nvPr/>
          </p:nvSpPr>
          <p:spPr>
            <a:xfrm>
              <a:off x="1311465" y="5140264"/>
              <a:ext cx="793647" cy="3009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Page order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68C0CD4-F6C2-416E-ADAE-94E66BF1249A}"/>
                </a:ext>
              </a:extLst>
            </p:cNvPr>
            <p:cNvSpPr/>
            <p:nvPr/>
          </p:nvSpPr>
          <p:spPr>
            <a:xfrm>
              <a:off x="2105112" y="5140263"/>
              <a:ext cx="1124457" cy="3009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 per slab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7B3A7B-11CE-476A-9720-1F2248A8F9FA}"/>
                </a:ext>
              </a:extLst>
            </p:cNvPr>
            <p:cNvSpPr txBox="1"/>
            <p:nvPr/>
          </p:nvSpPr>
          <p:spPr>
            <a:xfrm>
              <a:off x="3080075" y="5396862"/>
              <a:ext cx="2561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3A681D4-B6FB-41E4-B9B5-0C8401EFFE9C}"/>
                </a:ext>
              </a:extLst>
            </p:cNvPr>
            <p:cNvSpPr txBox="1"/>
            <p:nvPr/>
          </p:nvSpPr>
          <p:spPr>
            <a:xfrm>
              <a:off x="2035489" y="5409562"/>
              <a:ext cx="373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15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ACAC5A3-3944-4049-866F-EE150C799577}"/>
                </a:ext>
              </a:extLst>
            </p:cNvPr>
            <p:cNvSpPr txBox="1"/>
            <p:nvPr/>
          </p:nvSpPr>
          <p:spPr>
            <a:xfrm>
              <a:off x="1854345" y="5409063"/>
              <a:ext cx="373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16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B82A10-1775-43F1-99D6-4EDC49CEB175}"/>
                </a:ext>
              </a:extLst>
            </p:cNvPr>
            <p:cNvSpPr txBox="1"/>
            <p:nvPr/>
          </p:nvSpPr>
          <p:spPr>
            <a:xfrm>
              <a:off x="1537189" y="4847499"/>
              <a:ext cx="15288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oo</a:t>
              </a:r>
              <a:r>
                <a:rPr lang="en-US" sz="1400" b="1" dirty="0"/>
                <a:t> (order objects)</a:t>
              </a:r>
            </a:p>
          </p:txBody>
        </p:sp>
      </p:grp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90146E7-610B-439E-A284-07121CE8847C}"/>
              </a:ext>
            </a:extLst>
          </p:cNvPr>
          <p:cNvCxnSpPr>
            <a:stCxn id="113" idx="3"/>
            <a:endCxn id="49" idx="1"/>
          </p:cNvCxnSpPr>
          <p:nvPr/>
        </p:nvCxnSpPr>
        <p:spPr>
          <a:xfrm flipV="1">
            <a:off x="5965810" y="1002895"/>
            <a:ext cx="2213733" cy="431722"/>
          </a:xfrm>
          <a:prstGeom prst="bentConnector3">
            <a:avLst>
              <a:gd name="adj1" fmla="val 783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C4A1B17-D151-49BA-8A63-4A6B595C55FF}"/>
              </a:ext>
            </a:extLst>
          </p:cNvPr>
          <p:cNvSpPr txBox="1"/>
          <p:nvPr/>
        </p:nvSpPr>
        <p:spPr>
          <a:xfrm>
            <a:off x="40163" y="1667756"/>
            <a:ext cx="1635129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18288" rIns="18288" rtlCol="0">
            <a:spAutoFit/>
          </a:bodyPr>
          <a:lstStyle/>
          <a:p>
            <a:r>
              <a:rPr lang="en-US" sz="1400" dirty="0" err="1">
                <a:solidFill>
                  <a:schemeClr val="tx1"/>
                </a:solidFill>
              </a:rPr>
              <a:t>kmem_cache_zalloc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  <a:endParaRPr lang="en-US" sz="1400" dirty="0"/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D6DAF2EC-2F0F-4A0C-98FE-B1B155B5EBB3}"/>
              </a:ext>
            </a:extLst>
          </p:cNvPr>
          <p:cNvCxnSpPr>
            <a:cxnSpLocks/>
            <a:stCxn id="96" idx="0"/>
          </p:cNvCxnSpPr>
          <p:nvPr/>
        </p:nvCxnSpPr>
        <p:spPr>
          <a:xfrm rot="5400000" flipH="1" flipV="1">
            <a:off x="943512" y="785648"/>
            <a:ext cx="796324" cy="9678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97F5049-E25C-499B-AD22-B7141A885844}"/>
              </a:ext>
            </a:extLst>
          </p:cNvPr>
          <p:cNvCxnSpPr>
            <a:cxnSpLocks/>
            <a:stCxn id="114" idx="3"/>
            <a:endCxn id="75" idx="3"/>
          </p:cNvCxnSpPr>
          <p:nvPr/>
        </p:nvCxnSpPr>
        <p:spPr>
          <a:xfrm>
            <a:off x="5965805" y="1635710"/>
            <a:ext cx="1029838" cy="1032884"/>
          </a:xfrm>
          <a:prstGeom prst="bentConnector4">
            <a:avLst>
              <a:gd name="adj1" fmla="val 31327"/>
              <a:gd name="adj2" fmla="val 11567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8BE34B4-58EA-449F-BB8E-7B52748673A4}"/>
              </a:ext>
            </a:extLst>
          </p:cNvPr>
          <p:cNvSpPr txBox="1"/>
          <p:nvPr/>
        </p:nvSpPr>
        <p:spPr>
          <a:xfrm>
            <a:off x="6124456" y="1853458"/>
            <a:ext cx="427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X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6AC8343-9AA0-4E3D-88AE-4B58B80B7CD2}"/>
              </a:ext>
            </a:extLst>
          </p:cNvPr>
          <p:cNvSpPr txBox="1"/>
          <p:nvPr/>
        </p:nvSpPr>
        <p:spPr>
          <a:xfrm>
            <a:off x="6799984" y="768934"/>
            <a:ext cx="427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X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CB55780-A741-4BC5-AF7E-FBC37CB44101}"/>
              </a:ext>
            </a:extLst>
          </p:cNvPr>
          <p:cNvGrpSpPr/>
          <p:nvPr/>
        </p:nvGrpSpPr>
        <p:grpSpPr>
          <a:xfrm>
            <a:off x="6762721" y="4076868"/>
            <a:ext cx="2924383" cy="2458413"/>
            <a:chOff x="7059232" y="1647114"/>
            <a:chExt cx="2924383" cy="2458413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B2BE45E-3111-46A3-8170-E6A48E4DE22E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order =1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787973F-4DA9-44FA-BE7E-850F4DB5F0AD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5AC8DCC1-D999-46A8-9FFA-2293541E8597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DB10873-AC34-4DDD-8422-88DC2D73A81F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 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FB1DFBA-C16B-4523-B789-361F93C03418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51191B9-BA0A-44A2-952B-E9F2FFAF27D1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FBB3E8A-7EC2-4A0B-A1CC-3110CA47DCE6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02815289-86D4-4714-9C5B-D004B514A589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6C0054F-83FC-428D-A42C-EE916E53AF6C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1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B8A9AA3-1BCA-4B6E-AF19-E2F3AA956C30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32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2F66806-CE59-4ABA-8AA0-4E768E043694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0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C2B05FD8-AC58-4D17-9B5D-5650D07D2002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811FF0D-A9CE-4E36-85B0-714F59F0907E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1A24105-8072-4B9D-BB9D-59721D176D11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96F93F6-F671-4CDE-B397-AADE185CEC6B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54968F1-2AB0-4B87-BBD2-DFEA9410F223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059A3DA-B22D-4751-928B-AFE3DA15A516}"/>
              </a:ext>
            </a:extLst>
          </p:cNvPr>
          <p:cNvSpPr/>
          <p:nvPr/>
        </p:nvSpPr>
        <p:spPr>
          <a:xfrm>
            <a:off x="9818156" y="4178700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822224D-CE27-4088-96BE-66494C3825D7}"/>
              </a:ext>
            </a:extLst>
          </p:cNvPr>
          <p:cNvSpPr/>
          <p:nvPr/>
        </p:nvSpPr>
        <p:spPr>
          <a:xfrm rot="5400000">
            <a:off x="9525913" y="4661585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F9ECCF1-0395-48E7-ADF9-0A9D2DD5B54E}"/>
              </a:ext>
            </a:extLst>
          </p:cNvPr>
          <p:cNvSpPr/>
          <p:nvPr/>
        </p:nvSpPr>
        <p:spPr>
          <a:xfrm rot="5400000">
            <a:off x="9894346" y="466158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1F9F5E2-D7BC-450A-B4E0-97A69A15E18D}"/>
              </a:ext>
            </a:extLst>
          </p:cNvPr>
          <p:cNvSpPr txBox="1"/>
          <p:nvPr/>
        </p:nvSpPr>
        <p:spPr>
          <a:xfrm>
            <a:off x="10305946" y="4504435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916E0277-3996-4563-9900-A4D9D0B52878}"/>
              </a:ext>
            </a:extLst>
          </p:cNvPr>
          <p:cNvSpPr/>
          <p:nvPr/>
        </p:nvSpPr>
        <p:spPr>
          <a:xfrm rot="5400000">
            <a:off x="10265975" y="4662055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72A7235-47AE-4E4B-B2F8-9AA945AFE234}"/>
              </a:ext>
            </a:extLst>
          </p:cNvPr>
          <p:cNvSpPr txBox="1"/>
          <p:nvPr/>
        </p:nvSpPr>
        <p:spPr>
          <a:xfrm>
            <a:off x="9830543" y="4123242"/>
            <a:ext cx="993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Slab Page(s)</a:t>
            </a:r>
            <a:endParaRPr lang="en-US" sz="1100" b="1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5776E19-19F3-471D-AEF5-9F108A5B4325}"/>
              </a:ext>
            </a:extLst>
          </p:cNvPr>
          <p:cNvSpPr/>
          <p:nvPr/>
        </p:nvSpPr>
        <p:spPr>
          <a:xfrm rot="5400000">
            <a:off x="9711210" y="466158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0498BEDD-BCDC-4964-8F3E-2EB431781703}"/>
              </a:ext>
            </a:extLst>
          </p:cNvPr>
          <p:cNvCxnSpPr>
            <a:stCxn id="91" idx="3"/>
            <a:endCxn id="108" idx="1"/>
          </p:cNvCxnSpPr>
          <p:nvPr/>
        </p:nvCxnSpPr>
        <p:spPr>
          <a:xfrm>
            <a:off x="6220336" y="3854392"/>
            <a:ext cx="542974" cy="344586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2898D8EE-BD26-4895-8700-132D5CC1AC11}"/>
              </a:ext>
            </a:extLst>
          </p:cNvPr>
          <p:cNvCxnSpPr>
            <a:stCxn id="111" idx="3"/>
            <a:endCxn id="142" idx="3"/>
          </p:cNvCxnSpPr>
          <p:nvPr/>
        </p:nvCxnSpPr>
        <p:spPr>
          <a:xfrm flipV="1">
            <a:off x="9686511" y="5138541"/>
            <a:ext cx="963596" cy="25321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9CFEF19C-1FB4-47CB-BE74-EFAD9CA97F7F}"/>
              </a:ext>
            </a:extLst>
          </p:cNvPr>
          <p:cNvSpPr/>
          <p:nvPr/>
        </p:nvSpPr>
        <p:spPr>
          <a:xfrm>
            <a:off x="10481555" y="5123122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02B4557F-E8E8-40C7-A4C0-292AB6654DBC}"/>
              </a:ext>
            </a:extLst>
          </p:cNvPr>
          <p:cNvSpPr/>
          <p:nvPr/>
        </p:nvSpPr>
        <p:spPr>
          <a:xfrm>
            <a:off x="10297842" y="5123578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2245261-2B67-4F9A-A1BD-401B279CAD2E}"/>
              </a:ext>
            </a:extLst>
          </p:cNvPr>
          <p:cNvSpPr txBox="1"/>
          <p:nvPr/>
        </p:nvSpPr>
        <p:spPr>
          <a:xfrm>
            <a:off x="10696722" y="5057181"/>
            <a:ext cx="114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freepointers</a:t>
            </a:r>
            <a:r>
              <a:rPr lang="en-US" sz="1400" b="1" dirty="0"/>
              <a:t>: reverse!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2EC9A0D-A1A1-4732-9C05-A68A158C2392}"/>
              </a:ext>
            </a:extLst>
          </p:cNvPr>
          <p:cNvSpPr txBox="1"/>
          <p:nvPr/>
        </p:nvSpPr>
        <p:spPr>
          <a:xfrm>
            <a:off x="8088805" y="3484352"/>
            <a:ext cx="3523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C00000"/>
                </a:solidFill>
              </a:rPr>
              <a:t>deactivate_slab</a:t>
            </a:r>
            <a:r>
              <a:rPr lang="en-US" sz="1600" b="1" dirty="0">
                <a:solidFill>
                  <a:srgbClr val="C00000"/>
                </a:solidFill>
              </a:rPr>
              <a:t>(): Remove </a:t>
            </a:r>
            <a:r>
              <a:rPr lang="en-US" sz="1600" b="1" dirty="0" err="1">
                <a:solidFill>
                  <a:srgbClr val="C00000"/>
                </a:solidFill>
              </a:rPr>
              <a:t>percpu</a:t>
            </a:r>
            <a:r>
              <a:rPr lang="en-US" sz="1600" b="1" dirty="0">
                <a:solidFill>
                  <a:srgbClr val="C00000"/>
                </a:solidFill>
              </a:rPr>
              <a:t> slab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B4A647DC-A7C5-41E3-A836-6B4FC161AFDE}"/>
              </a:ext>
            </a:extLst>
          </p:cNvPr>
          <p:cNvSpPr/>
          <p:nvPr/>
        </p:nvSpPr>
        <p:spPr>
          <a:xfrm>
            <a:off x="6544065" y="741644"/>
            <a:ext cx="5069499" cy="2690608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739D8BE-695B-4CF2-BDC0-E66D0CD65D1B}"/>
              </a:ext>
            </a:extLst>
          </p:cNvPr>
          <p:cNvSpPr/>
          <p:nvPr/>
        </p:nvSpPr>
        <p:spPr>
          <a:xfrm>
            <a:off x="6557591" y="3941334"/>
            <a:ext cx="5282450" cy="2690608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8E2AF3-68EC-4406-A4DB-14591CACEB09}"/>
              </a:ext>
            </a:extLst>
          </p:cNvPr>
          <p:cNvCxnSpPr>
            <a:cxnSpLocks/>
          </p:cNvCxnSpPr>
          <p:nvPr/>
        </p:nvCxnSpPr>
        <p:spPr>
          <a:xfrm>
            <a:off x="8057453" y="3481295"/>
            <a:ext cx="11009" cy="39194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itle 1">
            <a:extLst>
              <a:ext uri="{FF2B5EF4-FFF2-40B4-BE49-F238E27FC236}">
                <a16:creationId xmlns:a16="http://schemas.microsoft.com/office/drawing/2014/main" id="{4152915F-A00D-48A9-B19D-A71B643F1372}"/>
              </a:ext>
            </a:extLst>
          </p:cNvPr>
          <p:cNvSpPr txBox="1">
            <a:spLocks/>
          </p:cNvSpPr>
          <p:nvPr/>
        </p:nvSpPr>
        <p:spPr>
          <a:xfrm>
            <a:off x="-97922" y="-118539"/>
            <a:ext cx="12726133" cy="6899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[</a:t>
            </a:r>
            <a:r>
              <a:rPr lang="en-US" altLang="zh-TW" sz="3200" dirty="0" err="1"/>
              <a:t>slowpath</a:t>
            </a:r>
            <a:r>
              <a:rPr lang="en-US" altLang="zh-TW" sz="3200" dirty="0"/>
              <a:t> #2] </a:t>
            </a:r>
            <a:r>
              <a:rPr lang="en-US" sz="3200" b="1" u="sng" dirty="0"/>
              <a:t>After</a:t>
            </a:r>
            <a:r>
              <a:rPr lang="en-US" sz="3200" dirty="0"/>
              <a:t>: bootstrap(&amp;</a:t>
            </a:r>
            <a:r>
              <a:rPr lang="en-US" sz="3200" dirty="0" err="1"/>
              <a:t>boot_kmem_cache</a:t>
            </a:r>
            <a:r>
              <a:rPr lang="en-US" sz="3200" dirty="0"/>
              <a:t>) -&gt; </a:t>
            </a:r>
            <a:r>
              <a:rPr lang="en-US" altLang="zh-TW" sz="3200" dirty="0">
                <a:solidFill>
                  <a:schemeClr val="tx1"/>
                </a:solidFill>
              </a:rPr>
              <a:t>__</a:t>
            </a:r>
            <a:r>
              <a:rPr lang="en-US" altLang="zh-TW" sz="3200" dirty="0" err="1">
                <a:solidFill>
                  <a:schemeClr val="tx1"/>
                </a:solidFill>
              </a:rPr>
              <a:t>flush_cpu_slab</a:t>
            </a:r>
            <a:r>
              <a:rPr lang="en-US" altLang="zh-TW" sz="3200" dirty="0">
                <a:solidFill>
                  <a:schemeClr val="tx1"/>
                </a:solidFill>
              </a:rPr>
              <a:t>()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30955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735671" y="1119572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735671" y="163075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735670" y="184095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735666" y="205092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256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735669" y="226112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735671" y="267533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13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735670" y="329096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0x10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735670" y="350094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735669" y="371113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735669" y="3920850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735668" y="423741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735668" y="44414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735666" y="3095442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0x10020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735665" y="2878596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0x10020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735665" y="246955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112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019262" y="902965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019262" y="132939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 = NULL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019257" y="153048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019260" y="174067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682219" y="1119572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05958" y="3062408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05958" y="353897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05957" y="374916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05953" y="3959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05956" y="4169333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32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05952" y="3330703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05951" y="4376641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05956" y="4865405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05956" y="534196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05955" y="555216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05951" y="5762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05954" y="5972330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05950" y="5133700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05949" y="6179638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185931" y="6386946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05949" y="4481868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682216" y="3196926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cxnSpLocks/>
          </p:cNvCxnSpPr>
          <p:nvPr/>
        </p:nvCxnSpPr>
        <p:spPr>
          <a:xfrm flipH="1">
            <a:off x="6218521" y="4531186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7D6E129D-4780-4352-8257-796ED0E6F260}"/>
              </a:ext>
            </a:extLst>
          </p:cNvPr>
          <p:cNvSpPr/>
          <p:nvPr/>
        </p:nvSpPr>
        <p:spPr>
          <a:xfrm>
            <a:off x="6208996" y="440938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65263813-BABB-4425-B772-5F4A9F149295}"/>
              </a:ext>
            </a:extLst>
          </p:cNvPr>
          <p:cNvSpPr/>
          <p:nvPr/>
        </p:nvSpPr>
        <p:spPr>
          <a:xfrm>
            <a:off x="6217308" y="559091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08B99500-4DFD-42E9-AB2D-C3B2C9998449}"/>
              </a:ext>
            </a:extLst>
          </p:cNvPr>
          <p:cNvSpPr/>
          <p:nvPr/>
        </p:nvSpPr>
        <p:spPr>
          <a:xfrm>
            <a:off x="6217308" y="6229092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6D64B7-FC86-4B77-B3A8-19A5DF5281DB}"/>
              </a:ext>
            </a:extLst>
          </p:cNvPr>
          <p:cNvGrpSpPr/>
          <p:nvPr/>
        </p:nvGrpSpPr>
        <p:grpSpPr>
          <a:xfrm>
            <a:off x="1657474" y="4809287"/>
            <a:ext cx="2024739" cy="839062"/>
            <a:chOff x="1311465" y="4847499"/>
            <a:chExt cx="2024739" cy="83906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97EE55-AF68-4E21-A0BB-7C100ECA0FF8}"/>
                </a:ext>
              </a:extLst>
            </p:cNvPr>
            <p:cNvSpPr/>
            <p:nvPr/>
          </p:nvSpPr>
          <p:spPr>
            <a:xfrm>
              <a:off x="1311465" y="5140264"/>
              <a:ext cx="793647" cy="3009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Page order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68C0CD4-F6C2-416E-ADAE-94E66BF1249A}"/>
                </a:ext>
              </a:extLst>
            </p:cNvPr>
            <p:cNvSpPr/>
            <p:nvPr/>
          </p:nvSpPr>
          <p:spPr>
            <a:xfrm>
              <a:off x="2105112" y="5140263"/>
              <a:ext cx="1124457" cy="3009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 per slab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7B3A7B-11CE-476A-9720-1F2248A8F9FA}"/>
                </a:ext>
              </a:extLst>
            </p:cNvPr>
            <p:cNvSpPr txBox="1"/>
            <p:nvPr/>
          </p:nvSpPr>
          <p:spPr>
            <a:xfrm>
              <a:off x="3080075" y="5396862"/>
              <a:ext cx="2561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3A681D4-B6FB-41E4-B9B5-0C8401EFFE9C}"/>
                </a:ext>
              </a:extLst>
            </p:cNvPr>
            <p:cNvSpPr txBox="1"/>
            <p:nvPr/>
          </p:nvSpPr>
          <p:spPr>
            <a:xfrm>
              <a:off x="2035489" y="5409562"/>
              <a:ext cx="373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15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ACAC5A3-3944-4049-866F-EE150C799577}"/>
                </a:ext>
              </a:extLst>
            </p:cNvPr>
            <p:cNvSpPr txBox="1"/>
            <p:nvPr/>
          </p:nvSpPr>
          <p:spPr>
            <a:xfrm>
              <a:off x="1854345" y="5409063"/>
              <a:ext cx="373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16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B82A10-1775-43F1-99D6-4EDC49CEB175}"/>
                </a:ext>
              </a:extLst>
            </p:cNvPr>
            <p:cNvSpPr txBox="1"/>
            <p:nvPr/>
          </p:nvSpPr>
          <p:spPr>
            <a:xfrm>
              <a:off x="1537189" y="4847499"/>
              <a:ext cx="15288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oo</a:t>
              </a:r>
              <a:r>
                <a:rPr lang="en-US" sz="1400" b="1" dirty="0"/>
                <a:t> (order objects)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CB55780-A741-4BC5-AF7E-FBC37CB44101}"/>
              </a:ext>
            </a:extLst>
          </p:cNvPr>
          <p:cNvGrpSpPr/>
          <p:nvPr/>
        </p:nvGrpSpPr>
        <p:grpSpPr>
          <a:xfrm>
            <a:off x="6762721" y="4076868"/>
            <a:ext cx="2924383" cy="2458413"/>
            <a:chOff x="7059232" y="1647114"/>
            <a:chExt cx="2924383" cy="2458413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B2BE45E-3111-46A3-8170-E6A48E4DE22E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order =1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787973F-4DA9-44FA-BE7E-850F4DB5F0AD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5AC8DCC1-D999-46A8-9FFA-2293541E8597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DB10873-AC34-4DDD-8422-88DC2D73A81F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 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FB1DFBA-C16B-4523-B789-361F93C03418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51191B9-BA0A-44A2-952B-E9F2FFAF27D1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FBB3E8A-7EC2-4A0B-A1CC-3110CA47DCE6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02815289-86D4-4714-9C5B-D004B514A589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6C0054F-83FC-428D-A42C-EE916E53AF6C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1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B8A9AA3-1BCA-4B6E-AF19-E2F3AA956C30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32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2F66806-CE59-4ABA-8AA0-4E768E043694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0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C2B05FD8-AC58-4D17-9B5D-5650D07D2002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811FF0D-A9CE-4E36-85B0-714F59F0907E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1A24105-8072-4B9D-BB9D-59721D176D11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96F93F6-F671-4CDE-B397-AADE185CEC6B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54968F1-2AB0-4B87-BBD2-DFEA9410F223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059A3DA-B22D-4751-928B-AFE3DA15A516}"/>
              </a:ext>
            </a:extLst>
          </p:cNvPr>
          <p:cNvSpPr/>
          <p:nvPr/>
        </p:nvSpPr>
        <p:spPr>
          <a:xfrm>
            <a:off x="9818156" y="4178700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822224D-CE27-4088-96BE-66494C3825D7}"/>
              </a:ext>
            </a:extLst>
          </p:cNvPr>
          <p:cNvSpPr/>
          <p:nvPr/>
        </p:nvSpPr>
        <p:spPr>
          <a:xfrm rot="5400000">
            <a:off x="9525913" y="4661585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F9ECCF1-0395-48E7-ADF9-0A9D2DD5B54E}"/>
              </a:ext>
            </a:extLst>
          </p:cNvPr>
          <p:cNvSpPr/>
          <p:nvPr/>
        </p:nvSpPr>
        <p:spPr>
          <a:xfrm rot="5400000">
            <a:off x="9894346" y="466158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1F9F5E2-D7BC-450A-B4E0-97A69A15E18D}"/>
              </a:ext>
            </a:extLst>
          </p:cNvPr>
          <p:cNvSpPr txBox="1"/>
          <p:nvPr/>
        </p:nvSpPr>
        <p:spPr>
          <a:xfrm>
            <a:off x="10305946" y="4504435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916E0277-3996-4563-9900-A4D9D0B52878}"/>
              </a:ext>
            </a:extLst>
          </p:cNvPr>
          <p:cNvSpPr/>
          <p:nvPr/>
        </p:nvSpPr>
        <p:spPr>
          <a:xfrm rot="5400000">
            <a:off x="10265975" y="4662055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72A7235-47AE-4E4B-B2F8-9AA945AFE234}"/>
              </a:ext>
            </a:extLst>
          </p:cNvPr>
          <p:cNvSpPr txBox="1"/>
          <p:nvPr/>
        </p:nvSpPr>
        <p:spPr>
          <a:xfrm>
            <a:off x="9830543" y="4123242"/>
            <a:ext cx="993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Slab Page(s)</a:t>
            </a:r>
            <a:endParaRPr lang="en-US" sz="1100" b="1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5776E19-19F3-471D-AEF5-9F108A5B4325}"/>
              </a:ext>
            </a:extLst>
          </p:cNvPr>
          <p:cNvSpPr/>
          <p:nvPr/>
        </p:nvSpPr>
        <p:spPr>
          <a:xfrm rot="5400000">
            <a:off x="9711210" y="466158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0498BEDD-BCDC-4964-8F3E-2EB431781703}"/>
              </a:ext>
            </a:extLst>
          </p:cNvPr>
          <p:cNvCxnSpPr>
            <a:cxnSpLocks/>
            <a:stCxn id="91" idx="3"/>
            <a:endCxn id="108" idx="1"/>
          </p:cNvCxnSpPr>
          <p:nvPr/>
        </p:nvCxnSpPr>
        <p:spPr>
          <a:xfrm>
            <a:off x="6220336" y="3854392"/>
            <a:ext cx="542974" cy="344586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2898D8EE-BD26-4895-8700-132D5CC1AC11}"/>
              </a:ext>
            </a:extLst>
          </p:cNvPr>
          <p:cNvCxnSpPr>
            <a:stCxn id="111" idx="3"/>
            <a:endCxn id="142" idx="3"/>
          </p:cNvCxnSpPr>
          <p:nvPr/>
        </p:nvCxnSpPr>
        <p:spPr>
          <a:xfrm flipV="1">
            <a:off x="9686511" y="5138541"/>
            <a:ext cx="963596" cy="25321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9CFEF19C-1FB4-47CB-BE74-EFAD9CA97F7F}"/>
              </a:ext>
            </a:extLst>
          </p:cNvPr>
          <p:cNvSpPr/>
          <p:nvPr/>
        </p:nvSpPr>
        <p:spPr>
          <a:xfrm>
            <a:off x="10481555" y="5123122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02B4557F-E8E8-40C7-A4C0-292AB6654DBC}"/>
              </a:ext>
            </a:extLst>
          </p:cNvPr>
          <p:cNvSpPr/>
          <p:nvPr/>
        </p:nvSpPr>
        <p:spPr>
          <a:xfrm>
            <a:off x="10297842" y="5123578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2245261-2B67-4F9A-A1BD-401B279CAD2E}"/>
              </a:ext>
            </a:extLst>
          </p:cNvPr>
          <p:cNvSpPr txBox="1"/>
          <p:nvPr/>
        </p:nvSpPr>
        <p:spPr>
          <a:xfrm>
            <a:off x="10696722" y="5057181"/>
            <a:ext cx="114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freepointers</a:t>
            </a:r>
            <a:r>
              <a:rPr lang="en-US" sz="1400" b="1" dirty="0"/>
              <a:t>: reverse!</a:t>
            </a:r>
          </a:p>
        </p:txBody>
      </p:sp>
      <p:sp>
        <p:nvSpPr>
          <p:cNvPr id="130" name="Title 1">
            <a:extLst>
              <a:ext uri="{FF2B5EF4-FFF2-40B4-BE49-F238E27FC236}">
                <a16:creationId xmlns:a16="http://schemas.microsoft.com/office/drawing/2014/main" id="{B2B16BF3-F01E-4B02-B180-C20A26D85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7408" y="-114788"/>
            <a:ext cx="12030808" cy="689951"/>
          </a:xfrm>
        </p:spPr>
        <p:txBody>
          <a:bodyPr>
            <a:noAutofit/>
          </a:bodyPr>
          <a:lstStyle/>
          <a:p>
            <a:r>
              <a:rPr lang="en-US" sz="3200" dirty="0" err="1">
                <a:solidFill>
                  <a:schemeClr val="tx1"/>
                </a:solidFill>
              </a:rPr>
              <a:t>kmem_cache</a:t>
            </a:r>
            <a:r>
              <a:rPr lang="en-US" sz="3200" dirty="0">
                <a:solidFill>
                  <a:schemeClr val="tx1"/>
                </a:solidFill>
              </a:rPr>
              <a:t> = bootstrap(&amp;</a:t>
            </a:r>
            <a:r>
              <a:rPr lang="en-US" sz="3200" dirty="0" err="1">
                <a:solidFill>
                  <a:schemeClr val="tx1"/>
                </a:solidFill>
              </a:rPr>
              <a:t>boot_kmem_cache</a:t>
            </a:r>
            <a:r>
              <a:rPr lang="en-US" sz="3200" dirty="0">
                <a:solidFill>
                  <a:schemeClr val="tx1"/>
                </a:solidFill>
              </a:rPr>
              <a:t>): after function returns</a:t>
            </a:r>
            <a:endParaRPr lang="en-US" sz="3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36368FE-0546-40BD-B3D6-585A62DF792E}"/>
              </a:ext>
            </a:extLst>
          </p:cNvPr>
          <p:cNvSpPr txBox="1"/>
          <p:nvPr/>
        </p:nvSpPr>
        <p:spPr>
          <a:xfrm>
            <a:off x="2138400" y="443042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891D99D-5CA3-4D21-A41B-521D7A231377}"/>
              </a:ext>
            </a:extLst>
          </p:cNvPr>
          <p:cNvSpPr txBox="1"/>
          <p:nvPr/>
        </p:nvSpPr>
        <p:spPr>
          <a:xfrm>
            <a:off x="2140325" y="702423"/>
            <a:ext cx="1538569" cy="220253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5366DDE-897F-476C-9A5F-CEB9A648F660}"/>
              </a:ext>
            </a:extLst>
          </p:cNvPr>
          <p:cNvSpPr txBox="1"/>
          <p:nvPr/>
        </p:nvSpPr>
        <p:spPr>
          <a:xfrm>
            <a:off x="655535" y="882039"/>
            <a:ext cx="108222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4CB280C-3821-4BE6-B072-4EA977FF5BBB}"/>
              </a:ext>
            </a:extLst>
          </p:cNvPr>
          <p:cNvSpPr txBox="1"/>
          <p:nvPr/>
        </p:nvSpPr>
        <p:spPr>
          <a:xfrm>
            <a:off x="575665" y="626096"/>
            <a:ext cx="1298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global variable</a:t>
            </a:r>
          </a:p>
        </p:txBody>
      </p: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D3256DA3-74C2-4EB5-A192-07BD565060E1}"/>
              </a:ext>
            </a:extLst>
          </p:cNvPr>
          <p:cNvCxnSpPr>
            <a:cxnSpLocks/>
            <a:stCxn id="23" idx="1"/>
            <a:endCxn id="134" idx="2"/>
          </p:cNvCxnSpPr>
          <p:nvPr/>
        </p:nvCxnSpPr>
        <p:spPr>
          <a:xfrm rot="10800000">
            <a:off x="1196649" y="1097484"/>
            <a:ext cx="539022" cy="28107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798675E2-BF48-408E-A0D7-9A13E9977D27}"/>
              </a:ext>
            </a:extLst>
          </p:cNvPr>
          <p:cNvCxnSpPr>
            <a:stCxn id="134" idx="3"/>
            <a:endCxn id="132" idx="1"/>
          </p:cNvCxnSpPr>
          <p:nvPr/>
        </p:nvCxnSpPr>
        <p:spPr>
          <a:xfrm flipV="1">
            <a:off x="1737763" y="812550"/>
            <a:ext cx="402562" cy="17721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BF72EBEF-2C75-4DA4-BAC6-3F72C5E66E01}"/>
              </a:ext>
            </a:extLst>
          </p:cNvPr>
          <p:cNvSpPr txBox="1"/>
          <p:nvPr/>
        </p:nvSpPr>
        <p:spPr>
          <a:xfrm>
            <a:off x="1688752" y="816913"/>
            <a:ext cx="481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X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E2DB7F-F09D-4451-A0E4-915FCC93EA82}"/>
              </a:ext>
            </a:extLst>
          </p:cNvPr>
          <p:cNvSpPr/>
          <p:nvPr/>
        </p:nvSpPr>
        <p:spPr>
          <a:xfrm>
            <a:off x="1514475" y="1095375"/>
            <a:ext cx="8353425" cy="3238500"/>
          </a:xfrm>
          <a:custGeom>
            <a:avLst/>
            <a:gdLst>
              <a:gd name="connsiteX0" fmla="*/ 0 w 8353425"/>
              <a:gd name="connsiteY0" fmla="*/ 0 h 3238500"/>
              <a:gd name="connsiteX1" fmla="*/ 5857875 w 8353425"/>
              <a:gd name="connsiteY1" fmla="*/ 752475 h 3238500"/>
              <a:gd name="connsiteX2" fmla="*/ 7543800 w 8353425"/>
              <a:gd name="connsiteY2" fmla="*/ 1438275 h 3238500"/>
              <a:gd name="connsiteX3" fmla="*/ 8353425 w 8353425"/>
              <a:gd name="connsiteY3" fmla="*/ 3238500 h 323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53425" h="3238500">
                <a:moveTo>
                  <a:pt x="0" y="0"/>
                </a:moveTo>
                <a:cubicBezTo>
                  <a:pt x="2300287" y="256381"/>
                  <a:pt x="4600575" y="512763"/>
                  <a:pt x="5857875" y="752475"/>
                </a:cubicBezTo>
                <a:cubicBezTo>
                  <a:pt x="7115175" y="992188"/>
                  <a:pt x="7127875" y="1023938"/>
                  <a:pt x="7543800" y="1438275"/>
                </a:cubicBezTo>
                <a:cubicBezTo>
                  <a:pt x="7959725" y="1852613"/>
                  <a:pt x="8156575" y="2545556"/>
                  <a:pt x="8353425" y="323850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3139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735671" y="1119572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735671" y="163075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735670" y="184095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735666" y="205092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256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735669" y="226112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735671" y="267533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13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735670" y="329096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0x10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735670" y="350094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735669" y="371113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735669" y="3920850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735668" y="423741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735668" y="44414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735666" y="3095442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0x10020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735665" y="2878596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0x10020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735665" y="246955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112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019262" y="902965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019262" y="132939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 = NULL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019257" y="153048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019260" y="174067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682219" y="1119572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05958" y="3062408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05958" y="353897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05957" y="374916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05953" y="3959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05956" y="4169333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32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05952" y="3330703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05951" y="4376641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05956" y="4865405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05956" y="534196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05955" y="555216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05951" y="5762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05954" y="5972330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05950" y="5133700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05949" y="6179638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185931" y="6386946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05949" y="4481868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682216" y="3196926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cxnSpLocks/>
          </p:cNvCxnSpPr>
          <p:nvPr/>
        </p:nvCxnSpPr>
        <p:spPr>
          <a:xfrm flipH="1">
            <a:off x="6218521" y="4531186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7D6E129D-4780-4352-8257-796ED0E6F260}"/>
              </a:ext>
            </a:extLst>
          </p:cNvPr>
          <p:cNvSpPr/>
          <p:nvPr/>
        </p:nvSpPr>
        <p:spPr>
          <a:xfrm>
            <a:off x="6208996" y="440938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65263813-BABB-4425-B772-5F4A9F149295}"/>
              </a:ext>
            </a:extLst>
          </p:cNvPr>
          <p:cNvSpPr/>
          <p:nvPr/>
        </p:nvSpPr>
        <p:spPr>
          <a:xfrm>
            <a:off x="6217308" y="559091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08B99500-4DFD-42E9-AB2D-C3B2C9998449}"/>
              </a:ext>
            </a:extLst>
          </p:cNvPr>
          <p:cNvSpPr/>
          <p:nvPr/>
        </p:nvSpPr>
        <p:spPr>
          <a:xfrm>
            <a:off x="6217308" y="6229092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6D64B7-FC86-4B77-B3A8-19A5DF5281DB}"/>
              </a:ext>
            </a:extLst>
          </p:cNvPr>
          <p:cNvGrpSpPr/>
          <p:nvPr/>
        </p:nvGrpSpPr>
        <p:grpSpPr>
          <a:xfrm>
            <a:off x="1657474" y="4809287"/>
            <a:ext cx="2024739" cy="839062"/>
            <a:chOff x="1311465" y="4847499"/>
            <a:chExt cx="2024739" cy="83906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97EE55-AF68-4E21-A0BB-7C100ECA0FF8}"/>
                </a:ext>
              </a:extLst>
            </p:cNvPr>
            <p:cNvSpPr/>
            <p:nvPr/>
          </p:nvSpPr>
          <p:spPr>
            <a:xfrm>
              <a:off x="1311465" y="5140264"/>
              <a:ext cx="793647" cy="3009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Page order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68C0CD4-F6C2-416E-ADAE-94E66BF1249A}"/>
                </a:ext>
              </a:extLst>
            </p:cNvPr>
            <p:cNvSpPr/>
            <p:nvPr/>
          </p:nvSpPr>
          <p:spPr>
            <a:xfrm>
              <a:off x="2105112" y="5140263"/>
              <a:ext cx="1124457" cy="3009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 per slab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7B3A7B-11CE-476A-9720-1F2248A8F9FA}"/>
                </a:ext>
              </a:extLst>
            </p:cNvPr>
            <p:cNvSpPr txBox="1"/>
            <p:nvPr/>
          </p:nvSpPr>
          <p:spPr>
            <a:xfrm>
              <a:off x="3080075" y="5396862"/>
              <a:ext cx="2561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3A681D4-B6FB-41E4-B9B5-0C8401EFFE9C}"/>
                </a:ext>
              </a:extLst>
            </p:cNvPr>
            <p:cNvSpPr txBox="1"/>
            <p:nvPr/>
          </p:nvSpPr>
          <p:spPr>
            <a:xfrm>
              <a:off x="2035489" y="5409562"/>
              <a:ext cx="373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15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ACAC5A3-3944-4049-866F-EE150C799577}"/>
                </a:ext>
              </a:extLst>
            </p:cNvPr>
            <p:cNvSpPr txBox="1"/>
            <p:nvPr/>
          </p:nvSpPr>
          <p:spPr>
            <a:xfrm>
              <a:off x="1854345" y="5409063"/>
              <a:ext cx="373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16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B82A10-1775-43F1-99D6-4EDC49CEB175}"/>
                </a:ext>
              </a:extLst>
            </p:cNvPr>
            <p:cNvSpPr txBox="1"/>
            <p:nvPr/>
          </p:nvSpPr>
          <p:spPr>
            <a:xfrm>
              <a:off x="1537189" y="4847499"/>
              <a:ext cx="15288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oo</a:t>
              </a:r>
              <a:r>
                <a:rPr lang="en-US" sz="1400" b="1" dirty="0"/>
                <a:t> (order objects)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CB55780-A741-4BC5-AF7E-FBC37CB44101}"/>
              </a:ext>
            </a:extLst>
          </p:cNvPr>
          <p:cNvGrpSpPr/>
          <p:nvPr/>
        </p:nvGrpSpPr>
        <p:grpSpPr>
          <a:xfrm>
            <a:off x="6762721" y="4076868"/>
            <a:ext cx="2924383" cy="2458413"/>
            <a:chOff x="7059232" y="1647114"/>
            <a:chExt cx="2924383" cy="2458413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B2BE45E-3111-46A3-8170-E6A48E4DE22E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order =1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787973F-4DA9-44FA-BE7E-850F4DB5F0AD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5AC8DCC1-D999-46A8-9FFA-2293541E8597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DB10873-AC34-4DDD-8422-88DC2D73A81F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 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FB1DFBA-C16B-4523-B789-361F93C03418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51191B9-BA0A-44A2-952B-E9F2FFAF27D1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FBB3E8A-7EC2-4A0B-A1CC-3110CA47DCE6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02815289-86D4-4714-9C5B-D004B514A589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6C0054F-83FC-428D-A42C-EE916E53AF6C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1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B8A9AA3-1BCA-4B6E-AF19-E2F3AA956C30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32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2F66806-CE59-4ABA-8AA0-4E768E043694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0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C2B05FD8-AC58-4D17-9B5D-5650D07D2002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811FF0D-A9CE-4E36-85B0-714F59F0907E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1A24105-8072-4B9D-BB9D-59721D176D11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96F93F6-F671-4CDE-B397-AADE185CEC6B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54968F1-2AB0-4B87-BBD2-DFEA9410F223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059A3DA-B22D-4751-928B-AFE3DA15A516}"/>
              </a:ext>
            </a:extLst>
          </p:cNvPr>
          <p:cNvSpPr/>
          <p:nvPr/>
        </p:nvSpPr>
        <p:spPr>
          <a:xfrm>
            <a:off x="9818156" y="4178700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822224D-CE27-4088-96BE-66494C3825D7}"/>
              </a:ext>
            </a:extLst>
          </p:cNvPr>
          <p:cNvSpPr/>
          <p:nvPr/>
        </p:nvSpPr>
        <p:spPr>
          <a:xfrm rot="5400000">
            <a:off x="9525913" y="4661585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F9ECCF1-0395-48E7-ADF9-0A9D2DD5B54E}"/>
              </a:ext>
            </a:extLst>
          </p:cNvPr>
          <p:cNvSpPr/>
          <p:nvPr/>
        </p:nvSpPr>
        <p:spPr>
          <a:xfrm rot="5400000">
            <a:off x="9894346" y="466158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1F9F5E2-D7BC-450A-B4E0-97A69A15E18D}"/>
              </a:ext>
            </a:extLst>
          </p:cNvPr>
          <p:cNvSpPr txBox="1"/>
          <p:nvPr/>
        </p:nvSpPr>
        <p:spPr>
          <a:xfrm>
            <a:off x="10305946" y="4504435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916E0277-3996-4563-9900-A4D9D0B52878}"/>
              </a:ext>
            </a:extLst>
          </p:cNvPr>
          <p:cNvSpPr/>
          <p:nvPr/>
        </p:nvSpPr>
        <p:spPr>
          <a:xfrm rot="5400000">
            <a:off x="10265975" y="4662055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72A7235-47AE-4E4B-B2F8-9AA945AFE234}"/>
              </a:ext>
            </a:extLst>
          </p:cNvPr>
          <p:cNvSpPr txBox="1"/>
          <p:nvPr/>
        </p:nvSpPr>
        <p:spPr>
          <a:xfrm>
            <a:off x="9830543" y="4123242"/>
            <a:ext cx="993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Slab Page(s)</a:t>
            </a:r>
            <a:endParaRPr lang="en-US" sz="1100" b="1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5776E19-19F3-471D-AEF5-9F108A5B4325}"/>
              </a:ext>
            </a:extLst>
          </p:cNvPr>
          <p:cNvSpPr/>
          <p:nvPr/>
        </p:nvSpPr>
        <p:spPr>
          <a:xfrm rot="5400000">
            <a:off x="9711210" y="466158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0498BEDD-BCDC-4964-8F3E-2EB431781703}"/>
              </a:ext>
            </a:extLst>
          </p:cNvPr>
          <p:cNvCxnSpPr>
            <a:cxnSpLocks/>
            <a:stCxn id="91" idx="3"/>
            <a:endCxn id="108" idx="1"/>
          </p:cNvCxnSpPr>
          <p:nvPr/>
        </p:nvCxnSpPr>
        <p:spPr>
          <a:xfrm>
            <a:off x="6220336" y="3854392"/>
            <a:ext cx="542974" cy="344586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2898D8EE-BD26-4895-8700-132D5CC1AC11}"/>
              </a:ext>
            </a:extLst>
          </p:cNvPr>
          <p:cNvCxnSpPr>
            <a:stCxn id="111" idx="3"/>
            <a:endCxn id="142" idx="3"/>
          </p:cNvCxnSpPr>
          <p:nvPr/>
        </p:nvCxnSpPr>
        <p:spPr>
          <a:xfrm flipV="1">
            <a:off x="9686511" y="5138541"/>
            <a:ext cx="963596" cy="25321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9CFEF19C-1FB4-47CB-BE74-EFAD9CA97F7F}"/>
              </a:ext>
            </a:extLst>
          </p:cNvPr>
          <p:cNvSpPr/>
          <p:nvPr/>
        </p:nvSpPr>
        <p:spPr>
          <a:xfrm>
            <a:off x="10481555" y="5123122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02B4557F-E8E8-40C7-A4C0-292AB6654DBC}"/>
              </a:ext>
            </a:extLst>
          </p:cNvPr>
          <p:cNvSpPr/>
          <p:nvPr/>
        </p:nvSpPr>
        <p:spPr>
          <a:xfrm>
            <a:off x="10297842" y="5123578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2245261-2B67-4F9A-A1BD-401B279CAD2E}"/>
              </a:ext>
            </a:extLst>
          </p:cNvPr>
          <p:cNvSpPr txBox="1"/>
          <p:nvPr/>
        </p:nvSpPr>
        <p:spPr>
          <a:xfrm>
            <a:off x="10696722" y="5057181"/>
            <a:ext cx="114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freepointers</a:t>
            </a:r>
            <a:r>
              <a:rPr lang="en-US" sz="1400" b="1" dirty="0"/>
              <a:t>: reverse!</a:t>
            </a:r>
          </a:p>
        </p:txBody>
      </p:sp>
      <p:sp>
        <p:nvSpPr>
          <p:cNvPr id="130" name="Title 1">
            <a:extLst>
              <a:ext uri="{FF2B5EF4-FFF2-40B4-BE49-F238E27FC236}">
                <a16:creationId xmlns:a16="http://schemas.microsoft.com/office/drawing/2014/main" id="{B2B16BF3-F01E-4B02-B180-C20A26D85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7408" y="-114788"/>
            <a:ext cx="12030808" cy="689951"/>
          </a:xfrm>
        </p:spPr>
        <p:txBody>
          <a:bodyPr>
            <a:noAutofit/>
          </a:bodyPr>
          <a:lstStyle/>
          <a:p>
            <a:r>
              <a:rPr lang="en-US" sz="3200" dirty="0" err="1">
                <a:solidFill>
                  <a:schemeClr val="tx1"/>
                </a:solidFill>
              </a:rPr>
              <a:t>kmem_cache</a:t>
            </a:r>
            <a:r>
              <a:rPr lang="en-US" sz="3200" dirty="0">
                <a:solidFill>
                  <a:schemeClr val="tx1"/>
                </a:solidFill>
              </a:rPr>
              <a:t> = bootstrap(&amp;</a:t>
            </a:r>
            <a:r>
              <a:rPr lang="en-US" sz="3200" dirty="0" err="1">
                <a:solidFill>
                  <a:schemeClr val="tx1"/>
                </a:solidFill>
              </a:rPr>
              <a:t>boot_kmem_cache</a:t>
            </a:r>
            <a:r>
              <a:rPr lang="en-US" sz="3200" dirty="0">
                <a:solidFill>
                  <a:schemeClr val="tx1"/>
                </a:solidFill>
              </a:rPr>
              <a:t>): after function returns</a:t>
            </a:r>
            <a:endParaRPr lang="en-US" sz="3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36368FE-0546-40BD-B3D6-585A62DF792E}"/>
              </a:ext>
            </a:extLst>
          </p:cNvPr>
          <p:cNvSpPr txBox="1"/>
          <p:nvPr/>
        </p:nvSpPr>
        <p:spPr>
          <a:xfrm>
            <a:off x="2138400" y="443042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891D99D-5CA3-4D21-A41B-521D7A231377}"/>
              </a:ext>
            </a:extLst>
          </p:cNvPr>
          <p:cNvSpPr txBox="1"/>
          <p:nvPr/>
        </p:nvSpPr>
        <p:spPr>
          <a:xfrm>
            <a:off x="2140325" y="702423"/>
            <a:ext cx="1538569" cy="220253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5366DDE-897F-476C-9A5F-CEB9A648F660}"/>
              </a:ext>
            </a:extLst>
          </p:cNvPr>
          <p:cNvSpPr txBox="1"/>
          <p:nvPr/>
        </p:nvSpPr>
        <p:spPr>
          <a:xfrm>
            <a:off x="655535" y="882039"/>
            <a:ext cx="108222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4CB280C-3821-4BE6-B072-4EA977FF5BBB}"/>
              </a:ext>
            </a:extLst>
          </p:cNvPr>
          <p:cNvSpPr txBox="1"/>
          <p:nvPr/>
        </p:nvSpPr>
        <p:spPr>
          <a:xfrm>
            <a:off x="575665" y="626096"/>
            <a:ext cx="1298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global variable</a:t>
            </a:r>
          </a:p>
        </p:txBody>
      </p: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D3256DA3-74C2-4EB5-A192-07BD565060E1}"/>
              </a:ext>
            </a:extLst>
          </p:cNvPr>
          <p:cNvCxnSpPr>
            <a:cxnSpLocks/>
            <a:stCxn id="23" idx="1"/>
            <a:endCxn id="134" idx="2"/>
          </p:cNvCxnSpPr>
          <p:nvPr/>
        </p:nvCxnSpPr>
        <p:spPr>
          <a:xfrm rot="10800000">
            <a:off x="1196649" y="1097484"/>
            <a:ext cx="539022" cy="28107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798675E2-BF48-408E-A0D7-9A13E9977D27}"/>
              </a:ext>
            </a:extLst>
          </p:cNvPr>
          <p:cNvCxnSpPr>
            <a:stCxn id="134" idx="3"/>
            <a:endCxn id="132" idx="1"/>
          </p:cNvCxnSpPr>
          <p:nvPr/>
        </p:nvCxnSpPr>
        <p:spPr>
          <a:xfrm flipV="1">
            <a:off x="1737763" y="812550"/>
            <a:ext cx="402562" cy="17721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BF72EBEF-2C75-4DA4-BAC6-3F72C5E66E01}"/>
              </a:ext>
            </a:extLst>
          </p:cNvPr>
          <p:cNvSpPr txBox="1"/>
          <p:nvPr/>
        </p:nvSpPr>
        <p:spPr>
          <a:xfrm>
            <a:off x="1688752" y="816913"/>
            <a:ext cx="481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X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E3A33D-B99A-4AB5-8DC9-74A5BEFB6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28" y="3958179"/>
            <a:ext cx="7611537" cy="237205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6400729C-55C9-4376-9F4B-82B5DE7B8851}"/>
              </a:ext>
            </a:extLst>
          </p:cNvPr>
          <p:cNvSpPr/>
          <p:nvPr/>
        </p:nvSpPr>
        <p:spPr>
          <a:xfrm>
            <a:off x="1514475" y="1095375"/>
            <a:ext cx="8353425" cy="3238500"/>
          </a:xfrm>
          <a:custGeom>
            <a:avLst/>
            <a:gdLst>
              <a:gd name="connsiteX0" fmla="*/ 0 w 8353425"/>
              <a:gd name="connsiteY0" fmla="*/ 0 h 3238500"/>
              <a:gd name="connsiteX1" fmla="*/ 5857875 w 8353425"/>
              <a:gd name="connsiteY1" fmla="*/ 752475 h 3238500"/>
              <a:gd name="connsiteX2" fmla="*/ 7543800 w 8353425"/>
              <a:gd name="connsiteY2" fmla="*/ 1438275 h 3238500"/>
              <a:gd name="connsiteX3" fmla="*/ 8353425 w 8353425"/>
              <a:gd name="connsiteY3" fmla="*/ 3238500 h 323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53425" h="3238500">
                <a:moveTo>
                  <a:pt x="0" y="0"/>
                </a:moveTo>
                <a:cubicBezTo>
                  <a:pt x="2300287" y="256381"/>
                  <a:pt x="4600575" y="512763"/>
                  <a:pt x="5857875" y="752475"/>
                </a:cubicBezTo>
                <a:cubicBezTo>
                  <a:pt x="7115175" y="992188"/>
                  <a:pt x="7127875" y="1023938"/>
                  <a:pt x="7543800" y="1438275"/>
                </a:cubicBezTo>
                <a:cubicBezTo>
                  <a:pt x="7959725" y="1852613"/>
                  <a:pt x="8156575" y="2545556"/>
                  <a:pt x="8353425" y="323850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154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9129-3B0A-415B-9636-B4561F98D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66187"/>
            <a:ext cx="10515600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kmem_cache_init</a:t>
            </a:r>
            <a:r>
              <a:rPr lang="en-US" dirty="0"/>
              <a:t>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7C83B3-2FC6-4FAD-8A10-72007FDC961D}"/>
              </a:ext>
            </a:extLst>
          </p:cNvPr>
          <p:cNvSpPr/>
          <p:nvPr/>
        </p:nvSpPr>
        <p:spPr>
          <a:xfrm>
            <a:off x="206620" y="930371"/>
            <a:ext cx="102577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start_kernel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EB3BDE-9302-4328-8246-476260A58DC8}"/>
              </a:ext>
            </a:extLst>
          </p:cNvPr>
          <p:cNvSpPr/>
          <p:nvPr/>
        </p:nvSpPr>
        <p:spPr>
          <a:xfrm>
            <a:off x="4702411" y="54471"/>
            <a:ext cx="6235220" cy="9542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marL="342900" indent="-3429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Declare two static variables ‘</a:t>
            </a:r>
            <a:r>
              <a:rPr lang="en-US" sz="1400" dirty="0" err="1">
                <a:solidFill>
                  <a:schemeClr val="tx1"/>
                </a:solidFill>
              </a:rPr>
              <a:t>boot_kmem_cache</a:t>
            </a:r>
            <a:r>
              <a:rPr lang="en-US" sz="1400" dirty="0">
                <a:solidFill>
                  <a:schemeClr val="tx1"/>
                </a:solidFill>
              </a:rPr>
              <a:t>’ and ‘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r>
              <a:rPr lang="en-US" sz="1400" dirty="0">
                <a:solidFill>
                  <a:schemeClr val="tx1"/>
                </a:solidFill>
              </a:rPr>
              <a:t>’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Assign the addresses of two static variables to generic/global variables</a:t>
            </a:r>
          </a:p>
          <a:p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= &amp;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pt-BR" sz="1400" dirty="0">
                <a:solidFill>
                  <a:schemeClr val="tx1"/>
                </a:solidFill>
              </a:rPr>
              <a:t>kmem_cache = &amp;boot_kmem_cache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9AB601-ADC1-4334-A685-E465EC1AE6E0}"/>
              </a:ext>
            </a:extLst>
          </p:cNvPr>
          <p:cNvSpPr/>
          <p:nvPr/>
        </p:nvSpPr>
        <p:spPr>
          <a:xfrm>
            <a:off x="3978525" y="2028837"/>
            <a:ext cx="186250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kmem_cache_create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D7502-B8EF-440A-873F-04C80E3D15F2}"/>
              </a:ext>
            </a:extLst>
          </p:cNvPr>
          <p:cNvSpPr/>
          <p:nvPr/>
        </p:nvSpPr>
        <p:spPr>
          <a:xfrm>
            <a:off x="8055956" y="2091124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init_kmem_cache_nodes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53E19B-ABFB-4C32-BA9B-5CCE60EABD0F}"/>
              </a:ext>
            </a:extLst>
          </p:cNvPr>
          <p:cNvSpPr/>
          <p:nvPr/>
        </p:nvSpPr>
        <p:spPr>
          <a:xfrm>
            <a:off x="8055955" y="1407521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calculate_sizes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676F99-B946-4563-A177-718F682A75DC}"/>
              </a:ext>
            </a:extLst>
          </p:cNvPr>
          <p:cNvSpPr/>
          <p:nvPr/>
        </p:nvSpPr>
        <p:spPr>
          <a:xfrm>
            <a:off x="6096000" y="2027066"/>
            <a:ext cx="158408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kmem_cache_open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9A59B0-4062-4867-9EF7-605F36958571}"/>
              </a:ext>
            </a:extLst>
          </p:cNvPr>
          <p:cNvSpPr/>
          <p:nvPr/>
        </p:nvSpPr>
        <p:spPr>
          <a:xfrm>
            <a:off x="8055956" y="2669952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305E8CF-DB96-421F-BB3A-6CDBAA3E7B4F}"/>
              </a:ext>
            </a:extLst>
          </p:cNvPr>
          <p:cNvCxnSpPr>
            <a:cxnSpLocks/>
            <a:stCxn id="43" idx="3"/>
            <a:endCxn id="11" idx="1"/>
          </p:cNvCxnSpPr>
          <p:nvPr/>
        </p:nvCxnSpPr>
        <p:spPr>
          <a:xfrm flipV="1">
            <a:off x="4242293" y="531620"/>
            <a:ext cx="460118" cy="51964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162B24E-AECB-409F-BE19-3DF80DE7E01C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 flipV="1">
            <a:off x="5841031" y="2147961"/>
            <a:ext cx="254969" cy="177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EEDF4AF-F39D-43A8-8B3D-C4221FE12C88}"/>
              </a:ext>
            </a:extLst>
          </p:cNvPr>
          <p:cNvCxnSpPr>
            <a:stCxn id="21" idx="3"/>
            <a:endCxn id="20" idx="1"/>
          </p:cNvCxnSpPr>
          <p:nvPr/>
        </p:nvCxnSpPr>
        <p:spPr>
          <a:xfrm flipV="1">
            <a:off x="7680083" y="1528416"/>
            <a:ext cx="375872" cy="61954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2717956-0F12-453A-9C93-AA0DB070CC0C}"/>
              </a:ext>
            </a:extLst>
          </p:cNvPr>
          <p:cNvCxnSpPr>
            <a:stCxn id="21" idx="3"/>
            <a:endCxn id="19" idx="1"/>
          </p:cNvCxnSpPr>
          <p:nvPr/>
        </p:nvCxnSpPr>
        <p:spPr>
          <a:xfrm>
            <a:off x="7680083" y="2147961"/>
            <a:ext cx="375873" cy="6405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A1924981-405C-4976-957A-FB010FABD96C}"/>
              </a:ext>
            </a:extLst>
          </p:cNvPr>
          <p:cNvCxnSpPr>
            <a:stCxn id="21" idx="3"/>
            <a:endCxn id="24" idx="1"/>
          </p:cNvCxnSpPr>
          <p:nvPr/>
        </p:nvCxnSpPr>
        <p:spPr>
          <a:xfrm>
            <a:off x="7680083" y="2147961"/>
            <a:ext cx="375873" cy="64288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D242F63-6D2B-4B85-A570-653856869740}"/>
              </a:ext>
            </a:extLst>
          </p:cNvPr>
          <p:cNvSpPr/>
          <p:nvPr/>
        </p:nvSpPr>
        <p:spPr>
          <a:xfrm>
            <a:off x="1511546" y="930371"/>
            <a:ext cx="1069731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mm_init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77ECD6-09F8-4182-9253-6CF84131CBBA}"/>
              </a:ext>
            </a:extLst>
          </p:cNvPr>
          <p:cNvSpPr/>
          <p:nvPr/>
        </p:nvSpPr>
        <p:spPr>
          <a:xfrm>
            <a:off x="2838453" y="930372"/>
            <a:ext cx="140384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kmem_cache_init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EDC6C3-B6B8-4768-BCCE-5AA3B7E14FB5}"/>
              </a:ext>
            </a:extLst>
          </p:cNvPr>
          <p:cNvCxnSpPr>
            <a:cxnSpLocks/>
            <a:stCxn id="4" idx="3"/>
            <a:endCxn id="40" idx="1"/>
          </p:cNvCxnSpPr>
          <p:nvPr/>
        </p:nvCxnSpPr>
        <p:spPr>
          <a:xfrm>
            <a:off x="1232390" y="1051266"/>
            <a:ext cx="27915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F3B7BA-BEB1-4052-BB69-5A5F5BD41D9D}"/>
              </a:ext>
            </a:extLst>
          </p:cNvPr>
          <p:cNvCxnSpPr>
            <a:stCxn id="40" idx="3"/>
            <a:endCxn id="43" idx="1"/>
          </p:cNvCxnSpPr>
          <p:nvPr/>
        </p:nvCxnSpPr>
        <p:spPr>
          <a:xfrm>
            <a:off x="2581277" y="1051266"/>
            <a:ext cx="257176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0496BEC-40B7-437C-9A61-43992FF98990}"/>
              </a:ext>
            </a:extLst>
          </p:cNvPr>
          <p:cNvSpPr/>
          <p:nvPr/>
        </p:nvSpPr>
        <p:spPr>
          <a:xfrm>
            <a:off x="375138" y="1870924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create_boot_cache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2A1F532-67AA-4C1B-B369-CAF5CD59989E}"/>
              </a:ext>
            </a:extLst>
          </p:cNvPr>
          <p:cNvSpPr/>
          <p:nvPr/>
        </p:nvSpPr>
        <p:spPr>
          <a:xfrm>
            <a:off x="375580" y="2268855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create_boot_cache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F75F58AD-F6B5-41AF-A15F-AB736A342F06}"/>
              </a:ext>
            </a:extLst>
          </p:cNvPr>
          <p:cNvCxnSpPr>
            <a:stCxn id="48" idx="3"/>
            <a:endCxn id="18" idx="1"/>
          </p:cNvCxnSpPr>
          <p:nvPr/>
        </p:nvCxnSpPr>
        <p:spPr>
          <a:xfrm>
            <a:off x="3661265" y="1991819"/>
            <a:ext cx="317260" cy="15791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1E8A2B5-F7E4-4113-9C4E-D4854EE7DF64}"/>
              </a:ext>
            </a:extLst>
          </p:cNvPr>
          <p:cNvCxnSpPr>
            <a:stCxn id="50" idx="3"/>
            <a:endCxn id="18" idx="1"/>
          </p:cNvCxnSpPr>
          <p:nvPr/>
        </p:nvCxnSpPr>
        <p:spPr>
          <a:xfrm flipV="1">
            <a:off x="3661707" y="2149732"/>
            <a:ext cx="316818" cy="240018"/>
          </a:xfrm>
          <a:prstGeom prst="bentConnector3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A002389-9290-41A6-A094-CB80FEA2753E}"/>
              </a:ext>
            </a:extLst>
          </p:cNvPr>
          <p:cNvCxnSpPr>
            <a:stCxn id="43" idx="3"/>
            <a:endCxn id="48" idx="1"/>
          </p:cNvCxnSpPr>
          <p:nvPr/>
        </p:nvCxnSpPr>
        <p:spPr>
          <a:xfrm flipH="1">
            <a:off x="375138" y="1051267"/>
            <a:ext cx="3867155" cy="940552"/>
          </a:xfrm>
          <a:prstGeom prst="bentConnector5">
            <a:avLst>
              <a:gd name="adj1" fmla="val -5911"/>
              <a:gd name="adj2" fmla="val 50000"/>
              <a:gd name="adj3" fmla="val 10591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827C8098-E444-40EB-9320-B18870AF0C28}"/>
              </a:ext>
            </a:extLst>
          </p:cNvPr>
          <p:cNvSpPr/>
          <p:nvPr/>
        </p:nvSpPr>
        <p:spPr>
          <a:xfrm>
            <a:off x="392361" y="2666786"/>
            <a:ext cx="3256648" cy="495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= bootstrap(&amp;</a:t>
            </a:r>
            <a:r>
              <a:rPr lang="en-US" sz="1400" dirty="0" err="1">
                <a:solidFill>
                  <a:schemeClr val="tx1"/>
                </a:solidFill>
              </a:rPr>
              <a:t>boot_kmem_cache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AD82F0-5CD0-441A-8135-91102AC2E567}"/>
              </a:ext>
            </a:extLst>
          </p:cNvPr>
          <p:cNvSpPr/>
          <p:nvPr/>
        </p:nvSpPr>
        <p:spPr>
          <a:xfrm>
            <a:off x="375138" y="3304659"/>
            <a:ext cx="3270943" cy="495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= bootstrap(&amp;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C771486-15FA-448C-B2EC-26C8283B72F0}"/>
              </a:ext>
            </a:extLst>
          </p:cNvPr>
          <p:cNvCxnSpPr>
            <a:stCxn id="48" idx="1"/>
            <a:endCxn id="50" idx="1"/>
          </p:cNvCxnSpPr>
          <p:nvPr/>
        </p:nvCxnSpPr>
        <p:spPr>
          <a:xfrm rot="10800000" flipH="1" flipV="1">
            <a:off x="375138" y="1991818"/>
            <a:ext cx="442" cy="397931"/>
          </a:xfrm>
          <a:prstGeom prst="bentConnector3">
            <a:avLst>
              <a:gd name="adj1" fmla="val -517194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B230C99-8A9E-4426-B458-A87B7852DDF3}"/>
              </a:ext>
            </a:extLst>
          </p:cNvPr>
          <p:cNvSpPr/>
          <p:nvPr/>
        </p:nvSpPr>
        <p:spPr>
          <a:xfrm>
            <a:off x="392360" y="3955761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setup_kmalloc_cache_index_table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EE7DD0-912A-4407-8A2A-4E846AF8B90B}"/>
              </a:ext>
            </a:extLst>
          </p:cNvPr>
          <p:cNvSpPr/>
          <p:nvPr/>
        </p:nvSpPr>
        <p:spPr>
          <a:xfrm>
            <a:off x="392360" y="4325650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create_kmalloc_caches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6A98437-2F0B-48B8-BF65-32C00BD508CD}"/>
              </a:ext>
            </a:extLst>
          </p:cNvPr>
          <p:cNvCxnSpPr>
            <a:cxnSpLocks/>
            <a:stCxn id="50" idx="1"/>
            <a:endCxn id="36" idx="1"/>
          </p:cNvCxnSpPr>
          <p:nvPr/>
        </p:nvCxnSpPr>
        <p:spPr>
          <a:xfrm rot="10800000" flipH="1" flipV="1">
            <a:off x="375579" y="2389750"/>
            <a:ext cx="16781" cy="524944"/>
          </a:xfrm>
          <a:prstGeom prst="bentConnector3">
            <a:avLst>
              <a:gd name="adj1" fmla="val -136225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59C1CA3-F70B-40A4-8EE4-5C873A16FF92}"/>
              </a:ext>
            </a:extLst>
          </p:cNvPr>
          <p:cNvCxnSpPr>
            <a:cxnSpLocks/>
            <a:stCxn id="36" idx="1"/>
            <a:endCxn id="37" idx="1"/>
          </p:cNvCxnSpPr>
          <p:nvPr/>
        </p:nvCxnSpPr>
        <p:spPr>
          <a:xfrm rot="10800000" flipV="1">
            <a:off x="375139" y="2914693"/>
            <a:ext cx="17223" cy="637873"/>
          </a:xfrm>
          <a:prstGeom prst="bentConnector3">
            <a:avLst>
              <a:gd name="adj1" fmla="val 142729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48D5F4E5-7144-4196-A708-CA09EED31D47}"/>
              </a:ext>
            </a:extLst>
          </p:cNvPr>
          <p:cNvCxnSpPr>
            <a:stCxn id="37" idx="1"/>
            <a:endCxn id="39" idx="1"/>
          </p:cNvCxnSpPr>
          <p:nvPr/>
        </p:nvCxnSpPr>
        <p:spPr>
          <a:xfrm rot="10800000" flipH="1" flipV="1">
            <a:off x="375138" y="3552566"/>
            <a:ext cx="17222" cy="524089"/>
          </a:xfrm>
          <a:prstGeom prst="bentConnector3">
            <a:avLst>
              <a:gd name="adj1" fmla="val -13273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699C733B-3643-4DDF-92F4-21CAE7063176}"/>
              </a:ext>
            </a:extLst>
          </p:cNvPr>
          <p:cNvCxnSpPr>
            <a:cxnSpLocks/>
            <a:stCxn id="39" idx="1"/>
            <a:endCxn id="41" idx="1"/>
          </p:cNvCxnSpPr>
          <p:nvPr/>
        </p:nvCxnSpPr>
        <p:spPr>
          <a:xfrm rot="10800000" flipV="1">
            <a:off x="392360" y="4076655"/>
            <a:ext cx="12700" cy="369889"/>
          </a:xfrm>
          <a:prstGeom prst="bentConnector3">
            <a:avLst>
              <a:gd name="adj1" fmla="val 20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4594A41-0910-4188-970C-BDF65E6412BD}"/>
              </a:ext>
            </a:extLst>
          </p:cNvPr>
          <p:cNvSpPr/>
          <p:nvPr/>
        </p:nvSpPr>
        <p:spPr>
          <a:xfrm>
            <a:off x="9344025" y="3013585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alloc_percpu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2B6317C-7C53-4FE3-A2EC-140C31AB7E1C}"/>
              </a:ext>
            </a:extLst>
          </p:cNvPr>
          <p:cNvSpPr/>
          <p:nvPr/>
        </p:nvSpPr>
        <p:spPr>
          <a:xfrm>
            <a:off x="9344025" y="3374237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165BCC-C6F8-4E27-8C24-CEE73349A088}"/>
              </a:ext>
            </a:extLst>
          </p:cNvPr>
          <p:cNvSpPr txBox="1"/>
          <p:nvPr/>
        </p:nvSpPr>
        <p:spPr>
          <a:xfrm>
            <a:off x="9344025" y="3616026"/>
            <a:ext cx="2153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Assign </a:t>
            </a:r>
            <a:r>
              <a:rPr lang="en-US" sz="1400" dirty="0" err="1"/>
              <a:t>cpu</a:t>
            </a:r>
            <a:r>
              <a:rPr lang="en-US" sz="1400" dirty="0"/>
              <a:t> id to </a:t>
            </a:r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r>
              <a:rPr lang="en-US" sz="1400" dirty="0">
                <a:solidFill>
                  <a:schemeClr val="tx1"/>
                </a:solidFill>
              </a:rPr>
              <a:t>-&gt;</a:t>
            </a:r>
            <a:r>
              <a:rPr lang="en-US" sz="1400" dirty="0" err="1">
                <a:solidFill>
                  <a:schemeClr val="tx1"/>
                </a:solidFill>
              </a:rPr>
              <a:t>tid</a:t>
            </a:r>
            <a:endParaRPr lang="en-US" sz="1400" dirty="0"/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B3C297E7-C560-4DBE-ADBB-023C0EE300EA}"/>
              </a:ext>
            </a:extLst>
          </p:cNvPr>
          <p:cNvCxnSpPr>
            <a:stCxn id="24" idx="2"/>
            <a:endCxn id="56" idx="1"/>
          </p:cNvCxnSpPr>
          <p:nvPr/>
        </p:nvCxnSpPr>
        <p:spPr>
          <a:xfrm rot="16200000" flipH="1">
            <a:off x="9081175" y="2871629"/>
            <a:ext cx="222739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2984BC18-B187-41E8-BB20-B00C71FC9786}"/>
              </a:ext>
            </a:extLst>
          </p:cNvPr>
          <p:cNvCxnSpPr>
            <a:stCxn id="24" idx="2"/>
            <a:endCxn id="57" idx="1"/>
          </p:cNvCxnSpPr>
          <p:nvPr/>
        </p:nvCxnSpPr>
        <p:spPr>
          <a:xfrm rot="16200000" flipH="1">
            <a:off x="8900849" y="3051955"/>
            <a:ext cx="583391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05CE5BC-27AD-4C51-A645-946D0032801E}"/>
              </a:ext>
            </a:extLst>
          </p:cNvPr>
          <p:cNvSpPr txBox="1"/>
          <p:nvPr/>
        </p:nvSpPr>
        <p:spPr>
          <a:xfrm>
            <a:off x="7952460" y="1697274"/>
            <a:ext cx="242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‘</a:t>
            </a:r>
            <a:r>
              <a:rPr lang="en-US" sz="1200" b="1" dirty="0" err="1"/>
              <a:t>kmem_cache_node</a:t>
            </a:r>
            <a:r>
              <a:rPr lang="en-US" sz="1200" dirty="0"/>
              <a:t>’ structs for all CPU nodes (sockets)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F49BFE-D8D0-437E-89F7-C2F44701122D}"/>
              </a:ext>
            </a:extLst>
          </p:cNvPr>
          <p:cNvSpPr txBox="1"/>
          <p:nvPr/>
        </p:nvSpPr>
        <p:spPr>
          <a:xfrm>
            <a:off x="7820021" y="2412003"/>
            <a:ext cx="2747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a ‘</a:t>
            </a:r>
            <a:r>
              <a:rPr lang="en-US" sz="1200" b="1" dirty="0" err="1"/>
              <a:t>kmem_cache_cpu</a:t>
            </a:r>
            <a:r>
              <a:rPr lang="en-US" sz="1200" dirty="0"/>
              <a:t>’ struct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4A69A19-63CC-4A4D-A95C-23B5959FE02A}"/>
              </a:ext>
            </a:extLst>
          </p:cNvPr>
          <p:cNvSpPr/>
          <p:nvPr/>
        </p:nvSpPr>
        <p:spPr>
          <a:xfrm>
            <a:off x="224868" y="3219959"/>
            <a:ext cx="3472365" cy="65562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70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6FB49F4E-D74E-4377-9C13-2109BA053C49}"/>
              </a:ext>
            </a:extLst>
          </p:cNvPr>
          <p:cNvSpPr/>
          <p:nvPr/>
        </p:nvSpPr>
        <p:spPr>
          <a:xfrm>
            <a:off x="3870167" y="2553026"/>
            <a:ext cx="8252318" cy="3849881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0420E-A3FE-4510-A679-D742DCC75454}"/>
              </a:ext>
            </a:extLst>
          </p:cNvPr>
          <p:cNvSpPr/>
          <p:nvPr/>
        </p:nvSpPr>
        <p:spPr>
          <a:xfrm>
            <a:off x="828675" y="4514320"/>
            <a:ext cx="2891889" cy="124830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3B410-682E-4B73-A942-9118C9D895B7}"/>
              </a:ext>
            </a:extLst>
          </p:cNvPr>
          <p:cNvSpPr/>
          <p:nvPr/>
        </p:nvSpPr>
        <p:spPr>
          <a:xfrm>
            <a:off x="1036960" y="4807563"/>
            <a:ext cx="251036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Get a slab object from c-&gt;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3DF1D-7635-4AC4-8987-97B41002E1F9}"/>
              </a:ext>
            </a:extLst>
          </p:cNvPr>
          <p:cNvSpPr/>
          <p:nvPr/>
        </p:nvSpPr>
        <p:spPr>
          <a:xfrm>
            <a:off x="1607087" y="817182"/>
            <a:ext cx="1970215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kmem_cache_alloc_node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00291715-047A-4596-8317-A8C2CB0B6476}"/>
              </a:ext>
            </a:extLst>
          </p:cNvPr>
          <p:cNvSpPr/>
          <p:nvPr/>
        </p:nvSpPr>
        <p:spPr>
          <a:xfrm>
            <a:off x="1180972" y="3533155"/>
            <a:ext cx="2209806" cy="573622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!c-&gt;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or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!c-&gt; page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1DECBE7-96BF-476E-801F-45A37B2B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7517" y="-104234"/>
            <a:ext cx="12307033" cy="689951"/>
          </a:xfrm>
        </p:spPr>
        <p:txBody>
          <a:bodyPr>
            <a:noAutofit/>
          </a:bodyPr>
          <a:lstStyle/>
          <a:p>
            <a:r>
              <a:rPr lang="en-US" sz="3200" dirty="0" err="1"/>
              <a:t>slab_alloc_node</a:t>
            </a:r>
            <a:r>
              <a:rPr lang="en-US" sz="3200" dirty="0"/>
              <a:t>(): </a:t>
            </a:r>
            <a:r>
              <a:rPr lang="en-US" sz="3200" dirty="0" err="1"/>
              <a:t>slowpath</a:t>
            </a:r>
            <a:r>
              <a:rPr lang="en-US" sz="3200" dirty="0"/>
              <a:t> #1 – Get an object from node’s partial page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08FCDB-D5DB-4098-BA29-71A6C4D9E9B8}"/>
              </a:ext>
            </a:extLst>
          </p:cNvPr>
          <p:cNvSpPr/>
          <p:nvPr/>
        </p:nvSpPr>
        <p:spPr>
          <a:xfrm>
            <a:off x="4048126" y="3702877"/>
            <a:ext cx="107632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B5BB81-36FE-412E-AD39-57E6F21BF69E}"/>
              </a:ext>
            </a:extLst>
          </p:cNvPr>
          <p:cNvSpPr/>
          <p:nvPr/>
        </p:nvSpPr>
        <p:spPr>
          <a:xfrm>
            <a:off x="161192" y="1338348"/>
            <a:ext cx="159759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936C6D-9003-4D95-86B7-D8AE219AD8C5}"/>
              </a:ext>
            </a:extLst>
          </p:cNvPr>
          <p:cNvSpPr/>
          <p:nvPr/>
        </p:nvSpPr>
        <p:spPr>
          <a:xfrm>
            <a:off x="2095499" y="1341361"/>
            <a:ext cx="87629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048101-74AC-4B64-8974-B28E0DAEE6F7}"/>
              </a:ext>
            </a:extLst>
          </p:cNvPr>
          <p:cNvSpPr/>
          <p:nvPr/>
        </p:nvSpPr>
        <p:spPr>
          <a:xfrm>
            <a:off x="3556872" y="1347873"/>
            <a:ext cx="1310404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slab_alloc_node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4A147-3847-4457-B254-A5ECE1C4C291}"/>
              </a:ext>
            </a:extLst>
          </p:cNvPr>
          <p:cNvSpPr txBox="1"/>
          <p:nvPr/>
        </p:nvSpPr>
        <p:spPr>
          <a:xfrm>
            <a:off x="2818672" y="1552516"/>
            <a:ext cx="14199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NUMA_NO_NODE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7795C0-9A2C-4E2E-82D1-FADDF29C95AD}"/>
              </a:ext>
            </a:extLst>
          </p:cNvPr>
          <p:cNvSpPr/>
          <p:nvPr/>
        </p:nvSpPr>
        <p:spPr>
          <a:xfrm>
            <a:off x="1988108" y="1978068"/>
            <a:ext cx="141995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kmalloc_node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730A8B-4FD3-41E0-BF58-AC6A962757D5}"/>
              </a:ext>
            </a:extLst>
          </p:cNvPr>
          <p:cNvSpPr/>
          <p:nvPr/>
        </p:nvSpPr>
        <p:spPr>
          <a:xfrm>
            <a:off x="312894" y="1981965"/>
            <a:ext cx="129419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kmalloc_node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47D268-BD0A-412B-A7F9-84D1A74DF3E9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2971792" y="1462256"/>
            <a:ext cx="585080" cy="65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EC811E-BF06-4DB1-947A-FC2F6AB3F7EB}"/>
              </a:ext>
            </a:extLst>
          </p:cNvPr>
          <p:cNvCxnSpPr>
            <a:stCxn id="36" idx="3"/>
            <a:endCxn id="35" idx="1"/>
          </p:cNvCxnSpPr>
          <p:nvPr/>
        </p:nvCxnSpPr>
        <p:spPr>
          <a:xfrm flipV="1">
            <a:off x="1607087" y="2098963"/>
            <a:ext cx="381021" cy="38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EB98837-729D-479B-95F0-0BD8C8C951F1}"/>
              </a:ext>
            </a:extLst>
          </p:cNvPr>
          <p:cNvCxnSpPr>
            <a:cxnSpLocks/>
            <a:stCxn id="35" idx="3"/>
            <a:endCxn id="31" idx="2"/>
          </p:cNvCxnSpPr>
          <p:nvPr/>
        </p:nvCxnSpPr>
        <p:spPr>
          <a:xfrm flipV="1">
            <a:off x="3408062" y="1589662"/>
            <a:ext cx="804012" cy="50930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B36931D-7CCD-4E65-AC4E-4CE0B280651C}"/>
              </a:ext>
            </a:extLst>
          </p:cNvPr>
          <p:cNvSpPr txBox="1"/>
          <p:nvPr/>
        </p:nvSpPr>
        <p:spPr>
          <a:xfrm>
            <a:off x="3469863" y="2052771"/>
            <a:ext cx="7326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node_id</a:t>
            </a:r>
            <a:endParaRPr lang="en-US" sz="1200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53FC3DE-70F6-4A01-AB8E-0193BEB5C047}"/>
              </a:ext>
            </a:extLst>
          </p:cNvPr>
          <p:cNvCxnSpPr>
            <a:cxnSpLocks/>
            <a:stCxn id="7" idx="3"/>
            <a:endCxn id="31" idx="0"/>
          </p:cNvCxnSpPr>
          <p:nvPr/>
        </p:nvCxnSpPr>
        <p:spPr>
          <a:xfrm>
            <a:off x="3577302" y="938077"/>
            <a:ext cx="634772" cy="40979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D27C52B-4463-4162-A8FE-DB3BEFA0D5BF}"/>
              </a:ext>
            </a:extLst>
          </p:cNvPr>
          <p:cNvSpPr txBox="1"/>
          <p:nvPr/>
        </p:nvSpPr>
        <p:spPr>
          <a:xfrm>
            <a:off x="3583160" y="657822"/>
            <a:ext cx="7326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node_id</a:t>
            </a:r>
            <a:endParaRPr lang="en-US" sz="12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3E3F6B-C0FF-4614-AB05-735B44C02AC7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>
            <a:off x="1758791" y="1459243"/>
            <a:ext cx="336708" cy="30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C5EA1983-2A9B-40B4-A886-F09CBAD8A930}"/>
              </a:ext>
            </a:extLst>
          </p:cNvPr>
          <p:cNvCxnSpPr>
            <a:stCxn id="31" idx="3"/>
            <a:endCxn id="9" idx="0"/>
          </p:cNvCxnSpPr>
          <p:nvPr/>
        </p:nvCxnSpPr>
        <p:spPr>
          <a:xfrm flipH="1">
            <a:off x="2285875" y="1468768"/>
            <a:ext cx="2581401" cy="2064387"/>
          </a:xfrm>
          <a:prstGeom prst="bentConnector4">
            <a:avLst>
              <a:gd name="adj1" fmla="val -8856"/>
              <a:gd name="adj2" fmla="val 4554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D1A50C08-EDC4-495D-9FD4-8AD10313A1B8}"/>
              </a:ext>
            </a:extLst>
          </p:cNvPr>
          <p:cNvSpPr/>
          <p:nvPr/>
        </p:nvSpPr>
        <p:spPr>
          <a:xfrm>
            <a:off x="5343525" y="3702442"/>
            <a:ext cx="108524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___</a:t>
            </a:r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C6EC661-522D-4D40-B0CF-CFB8179D4E57}"/>
              </a:ext>
            </a:extLst>
          </p:cNvPr>
          <p:cNvSpPr/>
          <p:nvPr/>
        </p:nvSpPr>
        <p:spPr>
          <a:xfrm>
            <a:off x="6683878" y="4917869"/>
            <a:ext cx="153030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new_slab_objects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D9DBAFA-64DD-4330-B4B6-E2B0D7993D88}"/>
              </a:ext>
            </a:extLst>
          </p:cNvPr>
          <p:cNvSpPr/>
          <p:nvPr/>
        </p:nvSpPr>
        <p:spPr>
          <a:xfrm>
            <a:off x="8195323" y="3702442"/>
            <a:ext cx="264852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c-&gt;page = </a:t>
            </a:r>
            <a:r>
              <a:rPr lang="fr-FR" sz="1400" dirty="0" err="1">
                <a:solidFill>
                  <a:schemeClr val="tx1"/>
                </a:solidFill>
              </a:rPr>
              <a:t>slub_percpu_partial</a:t>
            </a:r>
            <a:r>
              <a:rPr lang="fr-FR" sz="1400" dirty="0">
                <a:solidFill>
                  <a:schemeClr val="tx1"/>
                </a:solidFill>
              </a:rPr>
              <a:t>(c)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1D41374-0A45-415C-BCD4-25C6ADECF37D}"/>
              </a:ext>
            </a:extLst>
          </p:cNvPr>
          <p:cNvCxnSpPr>
            <a:stCxn id="9" idx="3"/>
            <a:endCxn id="24" idx="1"/>
          </p:cNvCxnSpPr>
          <p:nvPr/>
        </p:nvCxnSpPr>
        <p:spPr>
          <a:xfrm>
            <a:off x="3390778" y="3819966"/>
            <a:ext cx="657348" cy="38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714F4AC-ADFF-4312-97E3-1585FD30B533}"/>
              </a:ext>
            </a:extLst>
          </p:cNvPr>
          <p:cNvCxnSpPr>
            <a:stCxn id="24" idx="3"/>
            <a:endCxn id="67" idx="1"/>
          </p:cNvCxnSpPr>
          <p:nvPr/>
        </p:nvCxnSpPr>
        <p:spPr>
          <a:xfrm flipV="1">
            <a:off x="5124450" y="3823337"/>
            <a:ext cx="219075" cy="4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4DC20D2-A96E-4DDB-806B-1A44A234F491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6428773" y="3823337"/>
            <a:ext cx="17665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56B399C-50F4-4370-81BC-E770ED0A2EEB}"/>
              </a:ext>
            </a:extLst>
          </p:cNvPr>
          <p:cNvSpPr txBox="1"/>
          <p:nvPr/>
        </p:nvSpPr>
        <p:spPr>
          <a:xfrm>
            <a:off x="5743245" y="2950429"/>
            <a:ext cx="965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c-&gt;page &amp;&amp;</a:t>
            </a:r>
          </a:p>
          <a:p>
            <a:r>
              <a:rPr lang="en-US" sz="1200" dirty="0"/>
              <a:t>!c-&gt;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734A345-7CAD-4CCA-8353-64520F988B5F}"/>
              </a:ext>
            </a:extLst>
          </p:cNvPr>
          <p:cNvSpPr txBox="1"/>
          <p:nvPr/>
        </p:nvSpPr>
        <p:spPr>
          <a:xfrm>
            <a:off x="6591671" y="3564681"/>
            <a:ext cx="17963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!c-&gt;page &amp;&amp; c-&gt;partial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8EF6CAF-FB14-48DA-B041-AA965FF3B54A}"/>
              </a:ext>
            </a:extLst>
          </p:cNvPr>
          <p:cNvSpPr/>
          <p:nvPr/>
        </p:nvSpPr>
        <p:spPr>
          <a:xfrm>
            <a:off x="8501199" y="4684301"/>
            <a:ext cx="103493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get_partial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5E2315A-F4D5-40A9-9F6E-D3DDE474EE49}"/>
              </a:ext>
            </a:extLst>
          </p:cNvPr>
          <p:cNvSpPr txBox="1"/>
          <p:nvPr/>
        </p:nvSpPr>
        <p:spPr>
          <a:xfrm>
            <a:off x="8345720" y="3447622"/>
            <a:ext cx="2476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Get partial page from </a:t>
            </a:r>
            <a:r>
              <a:rPr lang="en-US" sz="1200" dirty="0" err="1"/>
              <a:t>percpu</a:t>
            </a:r>
            <a:r>
              <a:rPr lang="en-US" sz="1200" dirty="0"/>
              <a:t> cache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5BF41FC-89F4-45A0-AE2E-5148AED72954}"/>
              </a:ext>
            </a:extLst>
          </p:cNvPr>
          <p:cNvSpPr/>
          <p:nvPr/>
        </p:nvSpPr>
        <p:spPr>
          <a:xfrm>
            <a:off x="8501198" y="5294587"/>
            <a:ext cx="103493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new_slab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6B2E602-43B1-4CA8-9F02-86E6005D43CF}"/>
              </a:ext>
            </a:extLst>
          </p:cNvPr>
          <p:cNvSpPr/>
          <p:nvPr/>
        </p:nvSpPr>
        <p:spPr>
          <a:xfrm>
            <a:off x="9804550" y="5293573"/>
            <a:ext cx="108538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allocate_slab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E4BC428-C9C9-4EEE-B9C2-67108A9F91D6}"/>
              </a:ext>
            </a:extLst>
          </p:cNvPr>
          <p:cNvSpPr/>
          <p:nvPr/>
        </p:nvSpPr>
        <p:spPr>
          <a:xfrm>
            <a:off x="10531481" y="5688019"/>
            <a:ext cx="1402582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alloc_slab_page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6AB6E616-2812-408B-854A-5BF330885683}"/>
              </a:ext>
            </a:extLst>
          </p:cNvPr>
          <p:cNvCxnSpPr>
            <a:stCxn id="106" idx="3"/>
            <a:endCxn id="107" idx="1"/>
          </p:cNvCxnSpPr>
          <p:nvPr/>
        </p:nvCxnSpPr>
        <p:spPr>
          <a:xfrm flipV="1">
            <a:off x="9536136" y="5414468"/>
            <a:ext cx="268414" cy="10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5C9F34B5-6572-4E67-BF90-73C44FB0F404}"/>
              </a:ext>
            </a:extLst>
          </p:cNvPr>
          <p:cNvCxnSpPr>
            <a:stCxn id="107" idx="3"/>
            <a:endCxn id="108" idx="0"/>
          </p:cNvCxnSpPr>
          <p:nvPr/>
        </p:nvCxnSpPr>
        <p:spPr>
          <a:xfrm>
            <a:off x="10889936" y="5414468"/>
            <a:ext cx="342836" cy="2735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F69B1F1-3CB6-4D50-B0AB-ADE69F5A6BF8}"/>
              </a:ext>
            </a:extLst>
          </p:cNvPr>
          <p:cNvSpPr txBox="1"/>
          <p:nvPr/>
        </p:nvSpPr>
        <p:spPr>
          <a:xfrm>
            <a:off x="10531481" y="5941242"/>
            <a:ext cx="1562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Allocate pages from Buddy system</a:t>
            </a: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3EAB34A4-C504-4AF7-915E-2653E42C4957}"/>
              </a:ext>
            </a:extLst>
          </p:cNvPr>
          <p:cNvCxnSpPr>
            <a:cxnSpLocks/>
            <a:stCxn id="67" idx="3"/>
          </p:cNvCxnSpPr>
          <p:nvPr/>
        </p:nvCxnSpPr>
        <p:spPr>
          <a:xfrm flipV="1">
            <a:off x="6428773" y="3069524"/>
            <a:ext cx="431764" cy="75381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0AE2C3A9-230B-485F-92AB-56A89A6EA4EB}"/>
              </a:ext>
            </a:extLst>
          </p:cNvPr>
          <p:cNvCxnSpPr>
            <a:stCxn id="67" idx="3"/>
            <a:endCxn id="68" idx="1"/>
          </p:cNvCxnSpPr>
          <p:nvPr/>
        </p:nvCxnSpPr>
        <p:spPr>
          <a:xfrm>
            <a:off x="6428773" y="3823337"/>
            <a:ext cx="255105" cy="121542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21B628FC-82B6-4687-8C28-1C5CC91E3193}"/>
              </a:ext>
            </a:extLst>
          </p:cNvPr>
          <p:cNvSpPr txBox="1"/>
          <p:nvPr/>
        </p:nvSpPr>
        <p:spPr>
          <a:xfrm>
            <a:off x="6530940" y="4575669"/>
            <a:ext cx="1696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!c-&gt;page &amp;&amp;  !c-&gt;partial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E5AB9A5-94F2-41B1-AD96-B0CC706D2121}"/>
              </a:ext>
            </a:extLst>
          </p:cNvPr>
          <p:cNvCxnSpPr>
            <a:stCxn id="68" idx="3"/>
            <a:endCxn id="103" idx="1"/>
          </p:cNvCxnSpPr>
          <p:nvPr/>
        </p:nvCxnSpPr>
        <p:spPr>
          <a:xfrm flipV="1">
            <a:off x="8214182" y="4805196"/>
            <a:ext cx="287017" cy="2335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536D68D6-5FCB-4F3D-AFE3-D7E242342A18}"/>
              </a:ext>
            </a:extLst>
          </p:cNvPr>
          <p:cNvCxnSpPr>
            <a:stCxn id="68" idx="3"/>
            <a:endCxn id="106" idx="1"/>
          </p:cNvCxnSpPr>
          <p:nvPr/>
        </p:nvCxnSpPr>
        <p:spPr>
          <a:xfrm>
            <a:off x="8214182" y="5038764"/>
            <a:ext cx="287016" cy="3767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AE25C171-0A1B-443E-BE12-AB2FF66D51C6}"/>
              </a:ext>
            </a:extLst>
          </p:cNvPr>
          <p:cNvSpPr txBox="1"/>
          <p:nvPr/>
        </p:nvSpPr>
        <p:spPr>
          <a:xfrm>
            <a:off x="8367172" y="4228018"/>
            <a:ext cx="2476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Get partial page from node cache (</a:t>
            </a:r>
            <a:r>
              <a:rPr lang="en-US" sz="1200" dirty="0" err="1"/>
              <a:t>kmem_cache_node</a:t>
            </a:r>
            <a:r>
              <a:rPr lang="en-US" sz="1200" dirty="0"/>
              <a:t>)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7215010-5794-4103-80BE-F8A0BE6B7EAA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>
            <a:off x="2285875" y="4106777"/>
            <a:ext cx="6265" cy="7007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C37B8627-B41B-4810-B77C-5302415941C9}"/>
              </a:ext>
            </a:extLst>
          </p:cNvPr>
          <p:cNvSpPr txBox="1"/>
          <p:nvPr/>
        </p:nvSpPr>
        <p:spPr>
          <a:xfrm>
            <a:off x="3394480" y="3612099"/>
            <a:ext cx="28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ADE96F9-428C-4E2D-937D-B119FE0C610E}"/>
              </a:ext>
            </a:extLst>
          </p:cNvPr>
          <p:cNvSpPr txBox="1"/>
          <p:nvPr/>
        </p:nvSpPr>
        <p:spPr>
          <a:xfrm>
            <a:off x="2221876" y="4060926"/>
            <a:ext cx="28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4520EF-43B8-4730-8DA3-BC02DA018C81}"/>
              </a:ext>
            </a:extLst>
          </p:cNvPr>
          <p:cNvSpPr txBox="1"/>
          <p:nvPr/>
        </p:nvSpPr>
        <p:spPr>
          <a:xfrm>
            <a:off x="1866956" y="5412283"/>
            <a:ext cx="837837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fast path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D3EFFD-6097-4DDD-AAD3-09D69B757F75}"/>
              </a:ext>
            </a:extLst>
          </p:cNvPr>
          <p:cNvSpPr txBox="1"/>
          <p:nvPr/>
        </p:nvSpPr>
        <p:spPr>
          <a:xfrm>
            <a:off x="3949503" y="2633008"/>
            <a:ext cx="965414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slow path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16516C-20F5-4795-8EF5-C211431D3389}"/>
              </a:ext>
            </a:extLst>
          </p:cNvPr>
          <p:cNvSpPr txBox="1"/>
          <p:nvPr/>
        </p:nvSpPr>
        <p:spPr>
          <a:xfrm>
            <a:off x="6886320" y="2679807"/>
            <a:ext cx="26485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get_freelist</a:t>
            </a:r>
            <a:r>
              <a:rPr lang="en-US" sz="1200" dirty="0"/>
              <a:t> -&gt; __</a:t>
            </a:r>
            <a:r>
              <a:rPr lang="en-US" sz="1200" dirty="0" err="1"/>
              <a:t>cmpxchg_double_slab</a:t>
            </a:r>
            <a:endParaRPr 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4E8DAC-DC56-4BDD-A714-BA56E1A20A0E}"/>
              </a:ext>
            </a:extLst>
          </p:cNvPr>
          <p:cNvSpPr txBox="1"/>
          <p:nvPr/>
        </p:nvSpPr>
        <p:spPr>
          <a:xfrm>
            <a:off x="1427781" y="5021158"/>
            <a:ext cx="2071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this_cpu_cmpxchg_double</a:t>
            </a:r>
            <a:r>
              <a:rPr lang="en-US" sz="1200" dirty="0"/>
              <a:t>()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812B5A0-14FE-4C61-B826-49E42D40AFFA}"/>
              </a:ext>
            </a:extLst>
          </p:cNvPr>
          <p:cNvSpPr/>
          <p:nvPr/>
        </p:nvSpPr>
        <p:spPr>
          <a:xfrm>
            <a:off x="6507820" y="4186643"/>
            <a:ext cx="4074580" cy="103821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154CAC6-A04C-4251-86FA-598428294104}"/>
              </a:ext>
            </a:extLst>
          </p:cNvPr>
          <p:cNvSpPr/>
          <p:nvPr/>
        </p:nvSpPr>
        <p:spPr>
          <a:xfrm>
            <a:off x="6667628" y="1032848"/>
            <a:ext cx="1057272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bootstrap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8A0734-6740-4FA7-A1F0-0A5113F2FEE4}"/>
              </a:ext>
            </a:extLst>
          </p:cNvPr>
          <p:cNvSpPr/>
          <p:nvPr/>
        </p:nvSpPr>
        <p:spPr>
          <a:xfrm>
            <a:off x="7414238" y="1487335"/>
            <a:ext cx="3168162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 = </a:t>
            </a:r>
            <a:r>
              <a:rPr lang="en-US" sz="1400" dirty="0" err="1">
                <a:solidFill>
                  <a:schemeClr val="tx1"/>
                </a:solidFill>
              </a:rPr>
              <a:t>kmem_cache_zalloc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98B047-E159-4B57-96C7-896BD9268A36}"/>
              </a:ext>
            </a:extLst>
          </p:cNvPr>
          <p:cNvSpPr txBox="1"/>
          <p:nvPr/>
        </p:nvSpPr>
        <p:spPr>
          <a:xfrm>
            <a:off x="7385533" y="1248044"/>
            <a:ext cx="4362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 a </a:t>
            </a:r>
            <a:r>
              <a:rPr lang="en-US" sz="1200" dirty="0" err="1"/>
              <a:t>kmem_cache</a:t>
            </a:r>
            <a:r>
              <a:rPr lang="en-US" sz="1200" dirty="0"/>
              <a:t> struct from global variable ‘</a:t>
            </a:r>
            <a:r>
              <a:rPr lang="en-US" sz="1200" dirty="0" err="1"/>
              <a:t>kmem_cache</a:t>
            </a:r>
            <a:r>
              <a:rPr lang="en-US" sz="1200" dirty="0"/>
              <a:t>’</a:t>
            </a: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9725214F-544F-45F7-8C71-3E3E2E9E3A13}"/>
              </a:ext>
            </a:extLst>
          </p:cNvPr>
          <p:cNvCxnSpPr>
            <a:stCxn id="54" idx="2"/>
            <a:endCxn id="59" idx="1"/>
          </p:cNvCxnSpPr>
          <p:nvPr/>
        </p:nvCxnSpPr>
        <p:spPr>
          <a:xfrm rot="16200000" flipH="1">
            <a:off x="7138455" y="1332446"/>
            <a:ext cx="333593" cy="21797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F26A4358-34FB-4BB8-BF9D-9AC7A76FA551}"/>
              </a:ext>
            </a:extLst>
          </p:cNvPr>
          <p:cNvSpPr/>
          <p:nvPr/>
        </p:nvSpPr>
        <p:spPr>
          <a:xfrm>
            <a:off x="6507820" y="674168"/>
            <a:ext cx="5134284" cy="113456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FC69F49-2145-4D11-8547-674AFFF0B35D}"/>
              </a:ext>
            </a:extLst>
          </p:cNvPr>
          <p:cNvCxnSpPr>
            <a:cxnSpLocks/>
          </p:cNvCxnSpPr>
          <p:nvPr/>
        </p:nvCxnSpPr>
        <p:spPr>
          <a:xfrm flipH="1" flipV="1">
            <a:off x="3469864" y="1024507"/>
            <a:ext cx="3944374" cy="51526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978B40A-14AE-4A65-A3FD-FD16C036BDC3}"/>
              </a:ext>
            </a:extLst>
          </p:cNvPr>
          <p:cNvSpPr txBox="1"/>
          <p:nvPr/>
        </p:nvSpPr>
        <p:spPr>
          <a:xfrm>
            <a:off x="6582272" y="647848"/>
            <a:ext cx="4943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kmem_cache_node</a:t>
            </a:r>
            <a:r>
              <a:rPr lang="en-US" sz="1400" b="1" dirty="0">
                <a:solidFill>
                  <a:schemeClr val="tx1"/>
                </a:solidFill>
              </a:rPr>
              <a:t> = bootstrap(&amp;</a:t>
            </a:r>
            <a:r>
              <a:rPr lang="en-US" sz="1400" b="1" dirty="0" err="1">
                <a:solidFill>
                  <a:schemeClr val="tx1"/>
                </a:solidFill>
              </a:rPr>
              <a:t>boot_kmem_cache_node</a:t>
            </a:r>
            <a:r>
              <a:rPr lang="en-US" sz="14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0FB51A5-DFB2-4100-B967-82AD286F70F9}"/>
              </a:ext>
            </a:extLst>
          </p:cNvPr>
          <p:cNvSpPr/>
          <p:nvPr/>
        </p:nvSpPr>
        <p:spPr>
          <a:xfrm>
            <a:off x="6860537" y="2948629"/>
            <a:ext cx="283964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Get a slab object from page-&gt;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1013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cxnSpLocks/>
          </p:cNvCxnSpPr>
          <p:nvPr/>
        </p:nvCxnSpPr>
        <p:spPr>
          <a:xfrm flipH="1">
            <a:off x="6218521" y="4531186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735671" y="1119572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735671" y="163075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735670" y="184095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735666" y="205092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256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735669" y="226112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735671" y="267533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13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735670" y="329096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0x10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735670" y="350094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735669" y="371113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735669" y="3920850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735668" y="423741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735668" y="44414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735666" y="3095442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0x10020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735665" y="2878596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0x10020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735665" y="246955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112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019262" y="902965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019262" y="132939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 = </a:t>
            </a:r>
            <a:r>
              <a:rPr lang="en-US" sz="1200" strike="sngStrike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019257" y="153048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</a:t>
            </a:r>
            <a:r>
              <a:rPr lang="en-US" sz="1200" strike="sngStrike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019260" y="174067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682219" y="1119572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05958" y="3062408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05958" y="353897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05957" y="374916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05953" y="3959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05956" y="4169333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32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05952" y="3330703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05951" y="4376641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05956" y="4865405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05956" y="534196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05955" y="555216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05951" y="5762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05954" y="5972330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05950" y="5133700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05949" y="6179638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185931" y="6386946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05949" y="4481868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682216" y="3196926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7D6E129D-4780-4352-8257-796ED0E6F260}"/>
              </a:ext>
            </a:extLst>
          </p:cNvPr>
          <p:cNvSpPr/>
          <p:nvPr/>
        </p:nvSpPr>
        <p:spPr>
          <a:xfrm>
            <a:off x="6208996" y="440938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65263813-BABB-4425-B772-5F4A9F149295}"/>
              </a:ext>
            </a:extLst>
          </p:cNvPr>
          <p:cNvSpPr/>
          <p:nvPr/>
        </p:nvSpPr>
        <p:spPr>
          <a:xfrm>
            <a:off x="6217308" y="559091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08B99500-4DFD-42E9-AB2D-C3B2C9998449}"/>
              </a:ext>
            </a:extLst>
          </p:cNvPr>
          <p:cNvSpPr/>
          <p:nvPr/>
        </p:nvSpPr>
        <p:spPr>
          <a:xfrm>
            <a:off x="6217308" y="6229092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6D64B7-FC86-4B77-B3A8-19A5DF5281DB}"/>
              </a:ext>
            </a:extLst>
          </p:cNvPr>
          <p:cNvGrpSpPr/>
          <p:nvPr/>
        </p:nvGrpSpPr>
        <p:grpSpPr>
          <a:xfrm>
            <a:off x="1657474" y="4809287"/>
            <a:ext cx="2024739" cy="839062"/>
            <a:chOff x="1311465" y="4847499"/>
            <a:chExt cx="2024739" cy="83906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97EE55-AF68-4E21-A0BB-7C100ECA0FF8}"/>
                </a:ext>
              </a:extLst>
            </p:cNvPr>
            <p:cNvSpPr/>
            <p:nvPr/>
          </p:nvSpPr>
          <p:spPr>
            <a:xfrm>
              <a:off x="1311465" y="5140264"/>
              <a:ext cx="793647" cy="3009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Page order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68C0CD4-F6C2-416E-ADAE-94E66BF1249A}"/>
                </a:ext>
              </a:extLst>
            </p:cNvPr>
            <p:cNvSpPr/>
            <p:nvPr/>
          </p:nvSpPr>
          <p:spPr>
            <a:xfrm>
              <a:off x="2105112" y="5140263"/>
              <a:ext cx="1124457" cy="3009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 per slab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7B3A7B-11CE-476A-9720-1F2248A8F9FA}"/>
                </a:ext>
              </a:extLst>
            </p:cNvPr>
            <p:cNvSpPr txBox="1"/>
            <p:nvPr/>
          </p:nvSpPr>
          <p:spPr>
            <a:xfrm>
              <a:off x="3080075" y="5396862"/>
              <a:ext cx="2561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3A681D4-B6FB-41E4-B9B5-0C8401EFFE9C}"/>
                </a:ext>
              </a:extLst>
            </p:cNvPr>
            <p:cNvSpPr txBox="1"/>
            <p:nvPr/>
          </p:nvSpPr>
          <p:spPr>
            <a:xfrm>
              <a:off x="2035489" y="5409562"/>
              <a:ext cx="373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15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ACAC5A3-3944-4049-866F-EE150C799577}"/>
                </a:ext>
              </a:extLst>
            </p:cNvPr>
            <p:cNvSpPr txBox="1"/>
            <p:nvPr/>
          </p:nvSpPr>
          <p:spPr>
            <a:xfrm>
              <a:off x="1854345" y="5409063"/>
              <a:ext cx="373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16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B82A10-1775-43F1-99D6-4EDC49CEB175}"/>
                </a:ext>
              </a:extLst>
            </p:cNvPr>
            <p:cNvSpPr txBox="1"/>
            <p:nvPr/>
          </p:nvSpPr>
          <p:spPr>
            <a:xfrm>
              <a:off x="1537189" y="4847499"/>
              <a:ext cx="15288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oo</a:t>
              </a:r>
              <a:r>
                <a:rPr lang="en-US" sz="1400" b="1" dirty="0"/>
                <a:t> (order objects)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CB55780-A741-4BC5-AF7E-FBC37CB44101}"/>
              </a:ext>
            </a:extLst>
          </p:cNvPr>
          <p:cNvGrpSpPr/>
          <p:nvPr/>
        </p:nvGrpSpPr>
        <p:grpSpPr>
          <a:xfrm>
            <a:off x="6762721" y="4076868"/>
            <a:ext cx="2924383" cy="2458413"/>
            <a:chOff x="7059232" y="1647114"/>
            <a:chExt cx="2924383" cy="2458413"/>
          </a:xfrm>
          <a:solidFill>
            <a:schemeClr val="bg2">
              <a:lumMod val="90000"/>
            </a:schemeClr>
          </a:solidFill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B2BE45E-3111-46A3-8170-E6A48E4DE22E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order =1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787973F-4DA9-44FA-BE7E-850F4DB5F0AD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5AC8DCC1-D999-46A8-9FFA-2293541E8597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DB10873-AC34-4DDD-8422-88DC2D73A81F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 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FB1DFBA-C16B-4523-B789-361F93C03418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51191B9-BA0A-44A2-952B-E9F2FFAF27D1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FBB3E8A-7EC2-4A0B-A1CC-3110CA47DCE6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02815289-86D4-4714-9C5B-D004B514A589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6C0054F-83FC-428D-A42C-EE916E53AF6C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1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B8A9AA3-1BCA-4B6E-AF19-E2F3AA956C30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32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2F66806-CE59-4ABA-8AA0-4E768E043694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0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C2B05FD8-AC58-4D17-9B5D-5650D07D2002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811FF0D-A9CE-4E36-85B0-714F59F0907E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1A24105-8072-4B9D-BB9D-59721D176D11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96F93F6-F671-4CDE-B397-AADE185CEC6B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54968F1-2AB0-4B87-BBD2-DFEA9410F223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059A3DA-B22D-4751-928B-AFE3DA15A516}"/>
              </a:ext>
            </a:extLst>
          </p:cNvPr>
          <p:cNvSpPr/>
          <p:nvPr/>
        </p:nvSpPr>
        <p:spPr>
          <a:xfrm>
            <a:off x="9818156" y="4178700"/>
            <a:ext cx="924100" cy="95984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822224D-CE27-4088-96BE-66494C3825D7}"/>
              </a:ext>
            </a:extLst>
          </p:cNvPr>
          <p:cNvSpPr/>
          <p:nvPr/>
        </p:nvSpPr>
        <p:spPr>
          <a:xfrm rot="5400000">
            <a:off x="9525913" y="4661585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F9ECCF1-0395-48E7-ADF9-0A9D2DD5B54E}"/>
              </a:ext>
            </a:extLst>
          </p:cNvPr>
          <p:cNvSpPr/>
          <p:nvPr/>
        </p:nvSpPr>
        <p:spPr>
          <a:xfrm rot="5400000">
            <a:off x="9894346" y="4661586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1F9F5E2-D7BC-450A-B4E0-97A69A15E18D}"/>
              </a:ext>
            </a:extLst>
          </p:cNvPr>
          <p:cNvSpPr txBox="1"/>
          <p:nvPr/>
        </p:nvSpPr>
        <p:spPr>
          <a:xfrm>
            <a:off x="10305946" y="4504435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916E0277-3996-4563-9900-A4D9D0B52878}"/>
              </a:ext>
            </a:extLst>
          </p:cNvPr>
          <p:cNvSpPr/>
          <p:nvPr/>
        </p:nvSpPr>
        <p:spPr>
          <a:xfrm rot="5400000">
            <a:off x="10265975" y="4662055"/>
            <a:ext cx="768265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72A7235-47AE-4E4B-B2F8-9AA945AFE234}"/>
              </a:ext>
            </a:extLst>
          </p:cNvPr>
          <p:cNvSpPr txBox="1"/>
          <p:nvPr/>
        </p:nvSpPr>
        <p:spPr>
          <a:xfrm>
            <a:off x="9830543" y="4123242"/>
            <a:ext cx="993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Slab Page(s)</a:t>
            </a:r>
            <a:endParaRPr lang="en-US" sz="1100" b="1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5776E19-19F3-471D-AEF5-9F108A5B4325}"/>
              </a:ext>
            </a:extLst>
          </p:cNvPr>
          <p:cNvSpPr/>
          <p:nvPr/>
        </p:nvSpPr>
        <p:spPr>
          <a:xfrm rot="5400000">
            <a:off x="9711210" y="4661586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2898D8EE-BD26-4895-8700-132D5CC1AC11}"/>
              </a:ext>
            </a:extLst>
          </p:cNvPr>
          <p:cNvCxnSpPr>
            <a:stCxn id="111" idx="3"/>
            <a:endCxn id="142" idx="3"/>
          </p:cNvCxnSpPr>
          <p:nvPr/>
        </p:nvCxnSpPr>
        <p:spPr>
          <a:xfrm flipV="1">
            <a:off x="9686511" y="5138541"/>
            <a:ext cx="963596" cy="25321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9CFEF19C-1FB4-47CB-BE74-EFAD9CA97F7F}"/>
              </a:ext>
            </a:extLst>
          </p:cNvPr>
          <p:cNvSpPr/>
          <p:nvPr/>
        </p:nvSpPr>
        <p:spPr>
          <a:xfrm>
            <a:off x="10481555" y="5123122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02B4557F-E8E8-40C7-A4C0-292AB6654DBC}"/>
              </a:ext>
            </a:extLst>
          </p:cNvPr>
          <p:cNvSpPr/>
          <p:nvPr/>
        </p:nvSpPr>
        <p:spPr>
          <a:xfrm>
            <a:off x="10297842" y="5123578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2245261-2B67-4F9A-A1BD-401B279CAD2E}"/>
              </a:ext>
            </a:extLst>
          </p:cNvPr>
          <p:cNvSpPr txBox="1"/>
          <p:nvPr/>
        </p:nvSpPr>
        <p:spPr>
          <a:xfrm>
            <a:off x="10696722" y="5057181"/>
            <a:ext cx="114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freepointers</a:t>
            </a:r>
            <a:r>
              <a:rPr lang="en-US" sz="1400" b="1" dirty="0"/>
              <a:t>: reverse!</a:t>
            </a:r>
          </a:p>
        </p:txBody>
      </p:sp>
      <p:sp>
        <p:nvSpPr>
          <p:cNvPr id="130" name="Title 1">
            <a:extLst>
              <a:ext uri="{FF2B5EF4-FFF2-40B4-BE49-F238E27FC236}">
                <a16:creationId xmlns:a16="http://schemas.microsoft.com/office/drawing/2014/main" id="{B2B16BF3-F01E-4B02-B180-C20A26D85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7408" y="-114788"/>
            <a:ext cx="12259408" cy="689951"/>
          </a:xfrm>
        </p:spPr>
        <p:txBody>
          <a:bodyPr>
            <a:noAutofit/>
          </a:bodyPr>
          <a:lstStyle/>
          <a:p>
            <a:r>
              <a:rPr lang="en-US" sz="2400" dirty="0" err="1">
                <a:solidFill>
                  <a:schemeClr val="tx1"/>
                </a:solidFill>
              </a:rPr>
              <a:t>kmem_cache_node</a:t>
            </a:r>
            <a:r>
              <a:rPr lang="en-US" sz="2400" dirty="0">
                <a:solidFill>
                  <a:schemeClr val="tx1"/>
                </a:solidFill>
              </a:rPr>
              <a:t> = bootstrap(&amp;</a:t>
            </a:r>
            <a:r>
              <a:rPr lang="en-US" sz="2400" dirty="0" err="1">
                <a:solidFill>
                  <a:schemeClr val="tx1"/>
                </a:solidFill>
              </a:rPr>
              <a:t>boot_kmem_cache_node</a:t>
            </a:r>
            <a:r>
              <a:rPr lang="en-US" sz="2400" dirty="0">
                <a:solidFill>
                  <a:schemeClr val="tx1"/>
                </a:solidFill>
              </a:rPr>
              <a:t>) -&gt; </a:t>
            </a:r>
            <a:r>
              <a:rPr lang="en-US" sz="2400" dirty="0" err="1">
                <a:solidFill>
                  <a:schemeClr val="tx1"/>
                </a:solidFill>
              </a:rPr>
              <a:t>kmem_cache_zalloc</a:t>
            </a:r>
            <a:r>
              <a:rPr lang="en-US" sz="2400" dirty="0">
                <a:solidFill>
                  <a:schemeClr val="tx1"/>
                </a:solidFill>
              </a:rPr>
              <a:t>(…)</a:t>
            </a:r>
            <a:endParaRPr lang="en-US" sz="24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5366DDE-897F-476C-9A5F-CEB9A648F660}"/>
              </a:ext>
            </a:extLst>
          </p:cNvPr>
          <p:cNvSpPr txBox="1"/>
          <p:nvPr/>
        </p:nvSpPr>
        <p:spPr>
          <a:xfrm>
            <a:off x="2036980" y="733401"/>
            <a:ext cx="108222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4CB280C-3821-4BE6-B072-4EA977FF5BBB}"/>
              </a:ext>
            </a:extLst>
          </p:cNvPr>
          <p:cNvSpPr txBox="1"/>
          <p:nvPr/>
        </p:nvSpPr>
        <p:spPr>
          <a:xfrm>
            <a:off x="1957110" y="477458"/>
            <a:ext cx="1298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global variable</a:t>
            </a:r>
          </a:p>
        </p:txBody>
      </p: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D3256DA3-74C2-4EB5-A192-07BD565060E1}"/>
              </a:ext>
            </a:extLst>
          </p:cNvPr>
          <p:cNvCxnSpPr>
            <a:cxnSpLocks/>
            <a:stCxn id="23" idx="1"/>
            <a:endCxn id="134" idx="1"/>
          </p:cNvCxnSpPr>
          <p:nvPr/>
        </p:nvCxnSpPr>
        <p:spPr>
          <a:xfrm rot="10800000" flipH="1">
            <a:off x="1735670" y="841124"/>
            <a:ext cx="301309" cy="537437"/>
          </a:xfrm>
          <a:prstGeom prst="bentConnector3">
            <a:avLst>
              <a:gd name="adj1" fmla="val -7586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2402D673-6669-4404-9D80-E5C70E572A36}"/>
              </a:ext>
            </a:extLst>
          </p:cNvPr>
          <p:cNvSpPr/>
          <p:nvPr/>
        </p:nvSpPr>
        <p:spPr>
          <a:xfrm>
            <a:off x="6207476" y="3783352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34DC93B-34A3-4D83-B0F4-FBA9CFE34C83}"/>
              </a:ext>
            </a:extLst>
          </p:cNvPr>
          <p:cNvGrpSpPr/>
          <p:nvPr/>
        </p:nvGrpSpPr>
        <p:grpSpPr>
          <a:xfrm>
            <a:off x="7702556" y="679357"/>
            <a:ext cx="2924383" cy="2458413"/>
            <a:chOff x="7059232" y="1647114"/>
            <a:chExt cx="2924383" cy="2458413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51CEBEAC-C939-4384-83D3-214D48A23FE5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order =1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D9D8756-C9BE-46F5-A862-5F02EA705462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FA2B3BE-7B08-4478-B751-ED35A96705E8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4DCB9C9-54AE-4FC5-8AC0-82BA022AFB03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  = NULL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0814D5D-FE4F-4D97-912D-47C765294961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2151F124-CFEB-4283-B452-C875E98E5104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41B8FA3-0A1F-4404-AF11-50DE11504140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726FC92F-D4F5-4705-95B0-0BBDC95646A8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8234E8FB-9442-4A42-997B-9EA2CD2ECB69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32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13475DE1-AF93-4643-8F16-6108F9E16371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32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AC4185E4-CAAD-4B8C-8F79-597DEA67A353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1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FAE376BB-AFD8-4EDE-BB69-73A787FFF85B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4D8B2859-DA89-4339-BF59-A1A4E30E8967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E34C0C09-26D5-43F3-A08D-18E172B24431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5164E8F7-7B95-4CE3-91F6-F985856284A1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0ADABFAE-D620-4EC2-9074-759B22A5F373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r>
                <a:rPr lang="en-US" sz="1200" dirty="0">
                  <a:solidFill>
                    <a:schemeClr val="tx1"/>
                  </a:solidFill>
                </a:rPr>
                <a:t> = invalid</a:t>
              </a:r>
            </a:p>
          </p:txBody>
        </p:sp>
      </p:grpSp>
      <p:sp>
        <p:nvSpPr>
          <p:cNvPr id="160" name="Rectangle 159">
            <a:extLst>
              <a:ext uri="{FF2B5EF4-FFF2-40B4-BE49-F238E27FC236}">
                <a16:creationId xmlns:a16="http://schemas.microsoft.com/office/drawing/2014/main" id="{AA03E540-88B3-488C-8AF3-2E9908A48828}"/>
              </a:ext>
            </a:extLst>
          </p:cNvPr>
          <p:cNvSpPr/>
          <p:nvPr/>
        </p:nvSpPr>
        <p:spPr>
          <a:xfrm>
            <a:off x="6385174" y="1522453"/>
            <a:ext cx="1112839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7B32FFEF-5897-4936-A70C-C7164EE50EBB}"/>
              </a:ext>
            </a:extLst>
          </p:cNvPr>
          <p:cNvSpPr/>
          <p:nvPr/>
        </p:nvSpPr>
        <p:spPr>
          <a:xfrm rot="5400000">
            <a:off x="6092932" y="2005338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2D21070-6180-468E-8ADB-A44332495BB6}"/>
              </a:ext>
            </a:extLst>
          </p:cNvPr>
          <p:cNvSpPr/>
          <p:nvPr/>
        </p:nvSpPr>
        <p:spPr>
          <a:xfrm rot="5400000">
            <a:off x="6461365" y="200533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34E0A91-0CE8-4AC3-87D6-86E6EE9C6816}"/>
              </a:ext>
            </a:extLst>
          </p:cNvPr>
          <p:cNvSpPr txBox="1"/>
          <p:nvPr/>
        </p:nvSpPr>
        <p:spPr>
          <a:xfrm>
            <a:off x="6872965" y="1848188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A4E7CE7F-CD8D-4E9D-9E2F-501F57D596B6}"/>
              </a:ext>
            </a:extLst>
          </p:cNvPr>
          <p:cNvSpPr/>
          <p:nvPr/>
        </p:nvSpPr>
        <p:spPr>
          <a:xfrm rot="5400000">
            <a:off x="6839344" y="2005808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FBCBE41-B82E-4E93-B904-74861084C478}"/>
              </a:ext>
            </a:extLst>
          </p:cNvPr>
          <p:cNvSpPr txBox="1"/>
          <p:nvPr/>
        </p:nvSpPr>
        <p:spPr>
          <a:xfrm>
            <a:off x="6397562" y="1466995"/>
            <a:ext cx="993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Slab Page(s)</a:t>
            </a:r>
            <a:endParaRPr lang="en-US" sz="1100" b="1" dirty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CAD9CF98-D768-4726-A194-3656006FF57D}"/>
              </a:ext>
            </a:extLst>
          </p:cNvPr>
          <p:cNvSpPr/>
          <p:nvPr/>
        </p:nvSpPr>
        <p:spPr>
          <a:xfrm rot="5400000">
            <a:off x="6278229" y="200533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A63284C3-CF32-4861-A970-3B2663FF3525}"/>
              </a:ext>
            </a:extLst>
          </p:cNvPr>
          <p:cNvSpPr/>
          <p:nvPr/>
        </p:nvSpPr>
        <p:spPr>
          <a:xfrm>
            <a:off x="7048574" y="2466875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D53BA2C9-61B2-45E0-92E6-D81985CD6DC7}"/>
              </a:ext>
            </a:extLst>
          </p:cNvPr>
          <p:cNvSpPr/>
          <p:nvPr/>
        </p:nvSpPr>
        <p:spPr>
          <a:xfrm>
            <a:off x="6864861" y="2467331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297B8E6-FB12-47F4-BE1A-108F1062B766}"/>
              </a:ext>
            </a:extLst>
          </p:cNvPr>
          <p:cNvSpPr/>
          <p:nvPr/>
        </p:nvSpPr>
        <p:spPr>
          <a:xfrm rot="5400000">
            <a:off x="7021527" y="2005806"/>
            <a:ext cx="768265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50432BC-D512-4E78-9BE5-A45545A039BE}"/>
              </a:ext>
            </a:extLst>
          </p:cNvPr>
          <p:cNvCxnSpPr>
            <a:stCxn id="114" idx="3"/>
            <a:endCxn id="164" idx="3"/>
          </p:cNvCxnSpPr>
          <p:nvPr/>
        </p:nvCxnSpPr>
        <p:spPr>
          <a:xfrm>
            <a:off x="5965805" y="1635710"/>
            <a:ext cx="1257671" cy="846584"/>
          </a:xfrm>
          <a:prstGeom prst="bentConnector4">
            <a:avLst>
              <a:gd name="adj1" fmla="val 19581"/>
              <a:gd name="adj2" fmla="val 12700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9ECF147C-D6E5-4C99-8865-5D424FFE66E6}"/>
              </a:ext>
            </a:extLst>
          </p:cNvPr>
          <p:cNvSpPr/>
          <p:nvPr/>
        </p:nvSpPr>
        <p:spPr>
          <a:xfrm>
            <a:off x="7270396" y="2467443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8F16BB4-D20C-43D9-9703-FA7352452325}"/>
              </a:ext>
            </a:extLst>
          </p:cNvPr>
          <p:cNvCxnSpPr>
            <a:stCxn id="113" idx="3"/>
            <a:endCxn id="97" idx="1"/>
          </p:cNvCxnSpPr>
          <p:nvPr/>
        </p:nvCxnSpPr>
        <p:spPr>
          <a:xfrm flipV="1">
            <a:off x="5965810" y="801467"/>
            <a:ext cx="1737335" cy="633150"/>
          </a:xfrm>
          <a:prstGeom prst="bentConnector3">
            <a:avLst>
              <a:gd name="adj1" fmla="val 1856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46803017-A01D-420B-B0F0-008D5D891860}"/>
              </a:ext>
            </a:extLst>
          </p:cNvPr>
          <p:cNvSpPr txBox="1"/>
          <p:nvPr/>
        </p:nvSpPr>
        <p:spPr>
          <a:xfrm>
            <a:off x="6415896" y="826963"/>
            <a:ext cx="1285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Return this object address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F2687E4-A860-4FDC-BFDD-539755C83A2C}"/>
              </a:ext>
            </a:extLst>
          </p:cNvPr>
          <p:cNvSpPr/>
          <p:nvPr/>
        </p:nvSpPr>
        <p:spPr>
          <a:xfrm>
            <a:off x="7267575" y="1285875"/>
            <a:ext cx="187954" cy="428625"/>
          </a:xfrm>
          <a:custGeom>
            <a:avLst/>
            <a:gdLst>
              <a:gd name="connsiteX0" fmla="*/ 133350 w 187954"/>
              <a:gd name="connsiteY0" fmla="*/ 428625 h 428625"/>
              <a:gd name="connsiteX1" fmla="*/ 180975 w 187954"/>
              <a:gd name="connsiteY1" fmla="*/ 142875 h 428625"/>
              <a:gd name="connsiteX2" fmla="*/ 0 w 187954"/>
              <a:gd name="connsiteY2" fmla="*/ 0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954" h="428625">
                <a:moveTo>
                  <a:pt x="133350" y="428625"/>
                </a:moveTo>
                <a:cubicBezTo>
                  <a:pt x="168275" y="321468"/>
                  <a:pt x="203200" y="214312"/>
                  <a:pt x="180975" y="142875"/>
                </a:cubicBezTo>
                <a:cubicBezTo>
                  <a:pt x="158750" y="71437"/>
                  <a:pt x="79375" y="35718"/>
                  <a:pt x="0" y="0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1A70E46C-DB64-4E77-8332-B5F5CF2BC3DE}"/>
              </a:ext>
            </a:extLst>
          </p:cNvPr>
          <p:cNvSpPr/>
          <p:nvPr/>
        </p:nvSpPr>
        <p:spPr>
          <a:xfrm>
            <a:off x="6594640" y="3941222"/>
            <a:ext cx="5330660" cy="2690608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A7F5BC7-CDD7-4B84-B9F8-3698EF8D653F}"/>
              </a:ext>
            </a:extLst>
          </p:cNvPr>
          <p:cNvSpPr/>
          <p:nvPr/>
        </p:nvSpPr>
        <p:spPr>
          <a:xfrm>
            <a:off x="6136315" y="530917"/>
            <a:ext cx="4760285" cy="2669419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8EBFD9B-0AAD-4310-A43B-8280DB94953B}"/>
              </a:ext>
            </a:extLst>
          </p:cNvPr>
          <p:cNvSpPr txBox="1"/>
          <p:nvPr/>
        </p:nvSpPr>
        <p:spPr>
          <a:xfrm>
            <a:off x="7943459" y="3359263"/>
            <a:ext cx="3523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C00000"/>
                </a:solidFill>
              </a:rPr>
              <a:t>get_partial_node</a:t>
            </a:r>
            <a:r>
              <a:rPr lang="en-US" sz="1600" b="1" dirty="0">
                <a:solidFill>
                  <a:srgbClr val="C00000"/>
                </a:solidFill>
              </a:rPr>
              <a:t>() -&gt; </a:t>
            </a:r>
            <a:r>
              <a:rPr lang="en-US" sz="1600" b="1" dirty="0" err="1">
                <a:solidFill>
                  <a:srgbClr val="C00000"/>
                </a:solidFill>
              </a:rPr>
              <a:t>acquire_slab</a:t>
            </a:r>
            <a:r>
              <a:rPr lang="en-US" sz="1600" b="1" dirty="0">
                <a:solidFill>
                  <a:srgbClr val="C00000"/>
                </a:solidFill>
              </a:rPr>
              <a:t>()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CA3716ED-7D8F-4DC1-B8A6-C8AB3DAB586C}"/>
              </a:ext>
            </a:extLst>
          </p:cNvPr>
          <p:cNvCxnSpPr>
            <a:cxnSpLocks/>
          </p:cNvCxnSpPr>
          <p:nvPr/>
        </p:nvCxnSpPr>
        <p:spPr>
          <a:xfrm>
            <a:off x="7790370" y="3279312"/>
            <a:ext cx="298429" cy="613701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D089474B-15FA-4DD6-8B62-B4D9C695ECA0}"/>
              </a:ext>
            </a:extLst>
          </p:cNvPr>
          <p:cNvSpPr txBox="1"/>
          <p:nvPr/>
        </p:nvSpPr>
        <p:spPr>
          <a:xfrm>
            <a:off x="40163" y="1667756"/>
            <a:ext cx="1635129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18288" rIns="18288" rtlCol="0">
            <a:spAutoFit/>
          </a:bodyPr>
          <a:lstStyle/>
          <a:p>
            <a:r>
              <a:rPr lang="en-US" sz="1400" dirty="0" err="1">
                <a:solidFill>
                  <a:schemeClr val="tx1"/>
                </a:solidFill>
              </a:rPr>
              <a:t>kmem_cache_zalloc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  <a:endParaRPr lang="en-US" sz="1400" dirty="0"/>
          </a:p>
        </p:txBody>
      </p: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1A686E0E-03CE-44AF-8683-E6B204700A1A}"/>
              </a:ext>
            </a:extLst>
          </p:cNvPr>
          <p:cNvCxnSpPr>
            <a:cxnSpLocks/>
            <a:stCxn id="179" idx="0"/>
          </p:cNvCxnSpPr>
          <p:nvPr/>
        </p:nvCxnSpPr>
        <p:spPr>
          <a:xfrm rot="5400000" flipH="1" flipV="1">
            <a:off x="940242" y="650886"/>
            <a:ext cx="934356" cy="109938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 40">
            <a:extLst>
              <a:ext uri="{FF2B5EF4-FFF2-40B4-BE49-F238E27FC236}">
                <a16:creationId xmlns:a16="http://schemas.microsoft.com/office/drawing/2014/main" id="{9ED2D3AE-0E62-4287-B6DA-325525C67948}"/>
              </a:ext>
            </a:extLst>
          </p:cNvPr>
          <p:cNvSpPr/>
          <p:nvPr/>
        </p:nvSpPr>
        <p:spPr>
          <a:xfrm>
            <a:off x="657230" y="6365238"/>
            <a:ext cx="10893945" cy="4376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tx1"/>
                </a:solidFill>
              </a:rPr>
              <a:t>slab_alloc_node</a:t>
            </a:r>
            <a:r>
              <a:rPr lang="en-US" sz="2800" b="1" dirty="0">
                <a:solidFill>
                  <a:schemeClr val="tx1"/>
                </a:solidFill>
              </a:rPr>
              <a:t>(): </a:t>
            </a:r>
            <a:r>
              <a:rPr lang="en-US" sz="2800" b="1" dirty="0" err="1">
                <a:solidFill>
                  <a:schemeClr val="tx1"/>
                </a:solidFill>
              </a:rPr>
              <a:t>slowpath</a:t>
            </a:r>
            <a:r>
              <a:rPr lang="en-US" sz="2800" b="1" dirty="0">
                <a:solidFill>
                  <a:schemeClr val="tx1"/>
                </a:solidFill>
              </a:rPr>
              <a:t> #1 – Get an object from node’s partial page</a:t>
            </a:r>
          </a:p>
        </p:txBody>
      </p:sp>
    </p:spTree>
    <p:extLst>
      <p:ext uri="{BB962C8B-B14F-4D97-AF65-F5344CB8AC3E}">
        <p14:creationId xmlns:p14="http://schemas.microsoft.com/office/powerpoint/2010/main" val="31004595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735671" y="1119572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735671" y="163075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735670" y="184095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735666" y="205092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256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735669" y="226112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735671" y="267533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13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735670" y="329096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0x10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735670" y="350094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216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735669" y="371113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735669" y="3920850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735668" y="423741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735668" y="44414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735666" y="3095442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0x10020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735665" y="2878596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0x10020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735665" y="246955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112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019262" y="902965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019262" y="132939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019257" y="153048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019260" y="174067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682219" y="1119572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05958" y="3062408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05958" y="353897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05957" y="374916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05953" y="3959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05956" y="4169333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32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05952" y="3330703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05951" y="4376641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05956" y="4865405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05956" y="534196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05955" y="555216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05951" y="5762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05954" y="5972330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05950" y="5133700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05949" y="6179638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185931" y="6386946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05949" y="4481868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682216" y="3196926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cxnSpLocks/>
          </p:cNvCxnSpPr>
          <p:nvPr/>
        </p:nvCxnSpPr>
        <p:spPr>
          <a:xfrm flipH="1">
            <a:off x="6218521" y="4531186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7D6E129D-4780-4352-8257-796ED0E6F260}"/>
              </a:ext>
            </a:extLst>
          </p:cNvPr>
          <p:cNvSpPr/>
          <p:nvPr/>
        </p:nvSpPr>
        <p:spPr>
          <a:xfrm>
            <a:off x="6208996" y="440938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65263813-BABB-4425-B772-5F4A9F149295}"/>
              </a:ext>
            </a:extLst>
          </p:cNvPr>
          <p:cNvSpPr/>
          <p:nvPr/>
        </p:nvSpPr>
        <p:spPr>
          <a:xfrm>
            <a:off x="6217308" y="5590917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08B99500-4DFD-42E9-AB2D-C3B2C9998449}"/>
              </a:ext>
            </a:extLst>
          </p:cNvPr>
          <p:cNvSpPr/>
          <p:nvPr/>
        </p:nvSpPr>
        <p:spPr>
          <a:xfrm>
            <a:off x="6217308" y="6229092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6D64B7-FC86-4B77-B3A8-19A5DF5281DB}"/>
              </a:ext>
            </a:extLst>
          </p:cNvPr>
          <p:cNvGrpSpPr/>
          <p:nvPr/>
        </p:nvGrpSpPr>
        <p:grpSpPr>
          <a:xfrm>
            <a:off x="1657474" y="4809287"/>
            <a:ext cx="2024739" cy="839062"/>
            <a:chOff x="1311465" y="4847499"/>
            <a:chExt cx="2024739" cy="83906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97EE55-AF68-4E21-A0BB-7C100ECA0FF8}"/>
                </a:ext>
              </a:extLst>
            </p:cNvPr>
            <p:cNvSpPr/>
            <p:nvPr/>
          </p:nvSpPr>
          <p:spPr>
            <a:xfrm>
              <a:off x="1311465" y="5140264"/>
              <a:ext cx="793647" cy="3009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Page order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68C0CD4-F6C2-416E-ADAE-94E66BF1249A}"/>
                </a:ext>
              </a:extLst>
            </p:cNvPr>
            <p:cNvSpPr/>
            <p:nvPr/>
          </p:nvSpPr>
          <p:spPr>
            <a:xfrm>
              <a:off x="2105112" y="5140263"/>
              <a:ext cx="1124457" cy="3009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18288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 per slab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7B3A7B-11CE-476A-9720-1F2248A8F9FA}"/>
                </a:ext>
              </a:extLst>
            </p:cNvPr>
            <p:cNvSpPr txBox="1"/>
            <p:nvPr/>
          </p:nvSpPr>
          <p:spPr>
            <a:xfrm>
              <a:off x="3080075" y="5396862"/>
              <a:ext cx="2561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3A681D4-B6FB-41E4-B9B5-0C8401EFFE9C}"/>
                </a:ext>
              </a:extLst>
            </p:cNvPr>
            <p:cNvSpPr txBox="1"/>
            <p:nvPr/>
          </p:nvSpPr>
          <p:spPr>
            <a:xfrm>
              <a:off x="2035489" y="5409562"/>
              <a:ext cx="373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15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ACAC5A3-3944-4049-866F-EE150C799577}"/>
                </a:ext>
              </a:extLst>
            </p:cNvPr>
            <p:cNvSpPr txBox="1"/>
            <p:nvPr/>
          </p:nvSpPr>
          <p:spPr>
            <a:xfrm>
              <a:off x="1854345" y="5409063"/>
              <a:ext cx="373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16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B82A10-1775-43F1-99D6-4EDC49CEB175}"/>
                </a:ext>
              </a:extLst>
            </p:cNvPr>
            <p:cNvSpPr txBox="1"/>
            <p:nvPr/>
          </p:nvSpPr>
          <p:spPr>
            <a:xfrm>
              <a:off x="1537189" y="4847499"/>
              <a:ext cx="15288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oo</a:t>
              </a:r>
              <a:r>
                <a:rPr lang="en-US" sz="1400" b="1" dirty="0"/>
                <a:t> (order objects)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CB55780-A741-4BC5-AF7E-FBC37CB44101}"/>
              </a:ext>
            </a:extLst>
          </p:cNvPr>
          <p:cNvGrpSpPr/>
          <p:nvPr/>
        </p:nvGrpSpPr>
        <p:grpSpPr>
          <a:xfrm>
            <a:off x="6762721" y="4076868"/>
            <a:ext cx="2924383" cy="2458413"/>
            <a:chOff x="7059232" y="1647114"/>
            <a:chExt cx="2924383" cy="2458413"/>
          </a:xfrm>
          <a:solidFill>
            <a:schemeClr val="bg2">
              <a:lumMod val="90000"/>
            </a:schemeClr>
          </a:solidFill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B2BE45E-3111-46A3-8170-E6A48E4DE22E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order =1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787973F-4DA9-44FA-BE7E-850F4DB5F0AD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5AC8DCC1-D999-46A8-9FFA-2293541E8597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DB10873-AC34-4DDD-8422-88DC2D73A81F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 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FB1DFBA-C16B-4523-B789-361F93C03418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51191B9-BA0A-44A2-952B-E9F2FFAF27D1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FBB3E8A-7EC2-4A0B-A1CC-3110CA47DCE6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02815289-86D4-4714-9C5B-D004B514A589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6C0054F-83FC-428D-A42C-EE916E53AF6C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1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B8A9AA3-1BCA-4B6E-AF19-E2F3AA956C30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32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2F66806-CE59-4ABA-8AA0-4E768E043694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0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C2B05FD8-AC58-4D17-9B5D-5650D07D2002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811FF0D-A9CE-4E36-85B0-714F59F0907E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1A24105-8072-4B9D-BB9D-59721D176D11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96F93F6-F671-4CDE-B397-AADE185CEC6B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54968F1-2AB0-4B87-BBD2-DFEA9410F223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059A3DA-B22D-4751-928B-AFE3DA15A516}"/>
              </a:ext>
            </a:extLst>
          </p:cNvPr>
          <p:cNvSpPr/>
          <p:nvPr/>
        </p:nvSpPr>
        <p:spPr>
          <a:xfrm>
            <a:off x="9818156" y="4178700"/>
            <a:ext cx="924100" cy="95984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822224D-CE27-4088-96BE-66494C3825D7}"/>
              </a:ext>
            </a:extLst>
          </p:cNvPr>
          <p:cNvSpPr/>
          <p:nvPr/>
        </p:nvSpPr>
        <p:spPr>
          <a:xfrm rot="5400000">
            <a:off x="9525913" y="4661585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F9ECCF1-0395-48E7-ADF9-0A9D2DD5B54E}"/>
              </a:ext>
            </a:extLst>
          </p:cNvPr>
          <p:cNvSpPr/>
          <p:nvPr/>
        </p:nvSpPr>
        <p:spPr>
          <a:xfrm rot="5400000">
            <a:off x="9894346" y="4661586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1F9F5E2-D7BC-450A-B4E0-97A69A15E18D}"/>
              </a:ext>
            </a:extLst>
          </p:cNvPr>
          <p:cNvSpPr txBox="1"/>
          <p:nvPr/>
        </p:nvSpPr>
        <p:spPr>
          <a:xfrm>
            <a:off x="10305946" y="4504435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916E0277-3996-4563-9900-A4D9D0B52878}"/>
              </a:ext>
            </a:extLst>
          </p:cNvPr>
          <p:cNvSpPr/>
          <p:nvPr/>
        </p:nvSpPr>
        <p:spPr>
          <a:xfrm rot="5400000">
            <a:off x="10265975" y="4662055"/>
            <a:ext cx="768265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72A7235-47AE-4E4B-B2F8-9AA945AFE234}"/>
              </a:ext>
            </a:extLst>
          </p:cNvPr>
          <p:cNvSpPr txBox="1"/>
          <p:nvPr/>
        </p:nvSpPr>
        <p:spPr>
          <a:xfrm>
            <a:off x="9830543" y="4123242"/>
            <a:ext cx="993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Slab Page(s)</a:t>
            </a:r>
            <a:endParaRPr lang="en-US" sz="1100" b="1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5776E19-19F3-471D-AEF5-9F108A5B4325}"/>
              </a:ext>
            </a:extLst>
          </p:cNvPr>
          <p:cNvSpPr/>
          <p:nvPr/>
        </p:nvSpPr>
        <p:spPr>
          <a:xfrm rot="5400000">
            <a:off x="9711210" y="4661586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2898D8EE-BD26-4895-8700-132D5CC1AC11}"/>
              </a:ext>
            </a:extLst>
          </p:cNvPr>
          <p:cNvCxnSpPr>
            <a:stCxn id="111" idx="3"/>
            <a:endCxn id="142" idx="3"/>
          </p:cNvCxnSpPr>
          <p:nvPr/>
        </p:nvCxnSpPr>
        <p:spPr>
          <a:xfrm flipV="1">
            <a:off x="9686511" y="5138541"/>
            <a:ext cx="963596" cy="25321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9CFEF19C-1FB4-47CB-BE74-EFAD9CA97F7F}"/>
              </a:ext>
            </a:extLst>
          </p:cNvPr>
          <p:cNvSpPr/>
          <p:nvPr/>
        </p:nvSpPr>
        <p:spPr>
          <a:xfrm>
            <a:off x="10481555" y="5123122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02B4557F-E8E8-40C7-A4C0-292AB6654DBC}"/>
              </a:ext>
            </a:extLst>
          </p:cNvPr>
          <p:cNvSpPr/>
          <p:nvPr/>
        </p:nvSpPr>
        <p:spPr>
          <a:xfrm>
            <a:off x="10297842" y="5123578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2245261-2B67-4F9A-A1BD-401B279CAD2E}"/>
              </a:ext>
            </a:extLst>
          </p:cNvPr>
          <p:cNvSpPr txBox="1"/>
          <p:nvPr/>
        </p:nvSpPr>
        <p:spPr>
          <a:xfrm>
            <a:off x="10696722" y="5057181"/>
            <a:ext cx="114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freepointers</a:t>
            </a:r>
            <a:r>
              <a:rPr lang="en-US" sz="1400" b="1" dirty="0"/>
              <a:t>: reverse!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5366DDE-897F-476C-9A5F-CEB9A648F660}"/>
              </a:ext>
            </a:extLst>
          </p:cNvPr>
          <p:cNvSpPr txBox="1"/>
          <p:nvPr/>
        </p:nvSpPr>
        <p:spPr>
          <a:xfrm>
            <a:off x="2036980" y="733401"/>
            <a:ext cx="1082228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4CB280C-3821-4BE6-B072-4EA977FF5BBB}"/>
              </a:ext>
            </a:extLst>
          </p:cNvPr>
          <p:cNvSpPr txBox="1"/>
          <p:nvPr/>
        </p:nvSpPr>
        <p:spPr>
          <a:xfrm>
            <a:off x="1957110" y="477458"/>
            <a:ext cx="1298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global variable</a:t>
            </a:r>
          </a:p>
        </p:txBody>
      </p: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D3256DA3-74C2-4EB5-A192-07BD565060E1}"/>
              </a:ext>
            </a:extLst>
          </p:cNvPr>
          <p:cNvCxnSpPr>
            <a:cxnSpLocks/>
            <a:stCxn id="23" idx="1"/>
            <a:endCxn id="134" idx="1"/>
          </p:cNvCxnSpPr>
          <p:nvPr/>
        </p:nvCxnSpPr>
        <p:spPr>
          <a:xfrm rot="10800000" flipH="1">
            <a:off x="1735670" y="841124"/>
            <a:ext cx="301309" cy="537437"/>
          </a:xfrm>
          <a:prstGeom prst="bentConnector3">
            <a:avLst>
              <a:gd name="adj1" fmla="val -7586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2402D673-6669-4404-9D80-E5C70E572A36}"/>
              </a:ext>
            </a:extLst>
          </p:cNvPr>
          <p:cNvSpPr/>
          <p:nvPr/>
        </p:nvSpPr>
        <p:spPr>
          <a:xfrm>
            <a:off x="6207476" y="3783352"/>
            <a:ext cx="170201" cy="114864"/>
          </a:xfrm>
          <a:custGeom>
            <a:avLst/>
            <a:gdLst>
              <a:gd name="connsiteX0" fmla="*/ 0 w 170201"/>
              <a:gd name="connsiteY0" fmla="*/ 114864 h 114864"/>
              <a:gd name="connsiteX1" fmla="*/ 161925 w 170201"/>
              <a:gd name="connsiteY1" fmla="*/ 76764 h 114864"/>
              <a:gd name="connsiteX2" fmla="*/ 133350 w 170201"/>
              <a:gd name="connsiteY2" fmla="*/ 564 h 114864"/>
              <a:gd name="connsiteX3" fmla="*/ 19050 w 170201"/>
              <a:gd name="connsiteY3" fmla="*/ 48189 h 11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201" h="114864">
                <a:moveTo>
                  <a:pt x="0" y="114864"/>
                </a:moveTo>
                <a:cubicBezTo>
                  <a:pt x="53975" y="102164"/>
                  <a:pt x="139700" y="95814"/>
                  <a:pt x="161925" y="76764"/>
                </a:cubicBezTo>
                <a:cubicBezTo>
                  <a:pt x="184150" y="57714"/>
                  <a:pt x="157162" y="5326"/>
                  <a:pt x="133350" y="564"/>
                </a:cubicBezTo>
                <a:cubicBezTo>
                  <a:pt x="109538" y="-4198"/>
                  <a:pt x="64294" y="21995"/>
                  <a:pt x="19050" y="4818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34DC93B-34A3-4D83-B0F4-FBA9CFE34C83}"/>
              </a:ext>
            </a:extLst>
          </p:cNvPr>
          <p:cNvGrpSpPr/>
          <p:nvPr/>
        </p:nvGrpSpPr>
        <p:grpSpPr>
          <a:xfrm>
            <a:off x="7702556" y="679357"/>
            <a:ext cx="2924383" cy="2458413"/>
            <a:chOff x="7059232" y="1647114"/>
            <a:chExt cx="2924383" cy="2458413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51CEBEAC-C939-4384-83D3-214D48A23FE5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order =1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D9D8756-C9BE-46F5-A862-5F02EA705462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FA2B3BE-7B08-4478-B751-ED35A96705E8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4DCB9C9-54AE-4FC5-8AC0-82BA022AFB03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  = NULL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0814D5D-FE4F-4D97-912D-47C765294961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2151F124-CFEB-4283-B452-C875E98E5104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41B8FA3-0A1F-4404-AF11-50DE11504140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726FC92F-D4F5-4705-95B0-0BBDC95646A8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8234E8FB-9442-4A42-997B-9EA2CD2ECB69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32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13475DE1-AF93-4643-8F16-6108F9E16371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32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AC4185E4-CAAD-4B8C-8F79-597DEA67A353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1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FAE376BB-AFD8-4EDE-BB69-73A787FFF85B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4D8B2859-DA89-4339-BF59-A1A4E30E8967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E34C0C09-26D5-43F3-A08D-18E172B24431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5164E8F7-7B95-4CE3-91F6-F985856284A1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0ADABFAE-D620-4EC2-9074-759B22A5F373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r>
                <a:rPr lang="en-US" sz="1200" dirty="0">
                  <a:solidFill>
                    <a:schemeClr val="tx1"/>
                  </a:solidFill>
                </a:rPr>
                <a:t> = invalid</a:t>
              </a:r>
            </a:p>
          </p:txBody>
        </p:sp>
      </p:grpSp>
      <p:sp>
        <p:nvSpPr>
          <p:cNvPr id="160" name="Rectangle 159">
            <a:extLst>
              <a:ext uri="{FF2B5EF4-FFF2-40B4-BE49-F238E27FC236}">
                <a16:creationId xmlns:a16="http://schemas.microsoft.com/office/drawing/2014/main" id="{AA03E540-88B3-488C-8AF3-2E9908A48828}"/>
              </a:ext>
            </a:extLst>
          </p:cNvPr>
          <p:cNvSpPr/>
          <p:nvPr/>
        </p:nvSpPr>
        <p:spPr>
          <a:xfrm>
            <a:off x="6385174" y="1522453"/>
            <a:ext cx="1112839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7B32FFEF-5897-4936-A70C-C7164EE50EBB}"/>
              </a:ext>
            </a:extLst>
          </p:cNvPr>
          <p:cNvSpPr/>
          <p:nvPr/>
        </p:nvSpPr>
        <p:spPr>
          <a:xfrm rot="5400000">
            <a:off x="6092932" y="2005338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2D21070-6180-468E-8ADB-A44332495BB6}"/>
              </a:ext>
            </a:extLst>
          </p:cNvPr>
          <p:cNvSpPr/>
          <p:nvPr/>
        </p:nvSpPr>
        <p:spPr>
          <a:xfrm rot="5400000">
            <a:off x="6461365" y="200533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34E0A91-0CE8-4AC3-87D6-86E6EE9C6816}"/>
              </a:ext>
            </a:extLst>
          </p:cNvPr>
          <p:cNvSpPr txBox="1"/>
          <p:nvPr/>
        </p:nvSpPr>
        <p:spPr>
          <a:xfrm>
            <a:off x="6872965" y="1848188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A4E7CE7F-CD8D-4E9D-9E2F-501F57D596B6}"/>
              </a:ext>
            </a:extLst>
          </p:cNvPr>
          <p:cNvSpPr/>
          <p:nvPr/>
        </p:nvSpPr>
        <p:spPr>
          <a:xfrm rot="5400000">
            <a:off x="6839344" y="2005808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FBCBE41-B82E-4E93-B904-74861084C478}"/>
              </a:ext>
            </a:extLst>
          </p:cNvPr>
          <p:cNvSpPr txBox="1"/>
          <p:nvPr/>
        </p:nvSpPr>
        <p:spPr>
          <a:xfrm>
            <a:off x="6397562" y="1466995"/>
            <a:ext cx="993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Slab Page(s)</a:t>
            </a:r>
            <a:endParaRPr lang="en-US" sz="1100" b="1" dirty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CAD9CF98-D768-4726-A194-3656006FF57D}"/>
              </a:ext>
            </a:extLst>
          </p:cNvPr>
          <p:cNvSpPr/>
          <p:nvPr/>
        </p:nvSpPr>
        <p:spPr>
          <a:xfrm rot="5400000">
            <a:off x="6278229" y="200533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A63284C3-CF32-4861-A970-3B2663FF3525}"/>
              </a:ext>
            </a:extLst>
          </p:cNvPr>
          <p:cNvSpPr/>
          <p:nvPr/>
        </p:nvSpPr>
        <p:spPr>
          <a:xfrm>
            <a:off x="7048574" y="2466875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D53BA2C9-61B2-45E0-92E6-D81985CD6DC7}"/>
              </a:ext>
            </a:extLst>
          </p:cNvPr>
          <p:cNvSpPr/>
          <p:nvPr/>
        </p:nvSpPr>
        <p:spPr>
          <a:xfrm>
            <a:off x="6864861" y="2467331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297B8E6-FB12-47F4-BE1A-108F1062B766}"/>
              </a:ext>
            </a:extLst>
          </p:cNvPr>
          <p:cNvSpPr/>
          <p:nvPr/>
        </p:nvSpPr>
        <p:spPr>
          <a:xfrm rot="5400000">
            <a:off x="7021527" y="2005806"/>
            <a:ext cx="768265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50432BC-D512-4E78-9BE5-A45545A039BE}"/>
              </a:ext>
            </a:extLst>
          </p:cNvPr>
          <p:cNvCxnSpPr>
            <a:stCxn id="114" idx="3"/>
            <a:endCxn id="164" idx="3"/>
          </p:cNvCxnSpPr>
          <p:nvPr/>
        </p:nvCxnSpPr>
        <p:spPr>
          <a:xfrm>
            <a:off x="5965805" y="1635710"/>
            <a:ext cx="1257671" cy="846584"/>
          </a:xfrm>
          <a:prstGeom prst="bentConnector4">
            <a:avLst>
              <a:gd name="adj1" fmla="val 19581"/>
              <a:gd name="adj2" fmla="val 12700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9ECF147C-D6E5-4C99-8865-5D424FFE66E6}"/>
              </a:ext>
            </a:extLst>
          </p:cNvPr>
          <p:cNvSpPr/>
          <p:nvPr/>
        </p:nvSpPr>
        <p:spPr>
          <a:xfrm>
            <a:off x="7270396" y="2467443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8F16BB4-D20C-43D9-9703-FA7352452325}"/>
              </a:ext>
            </a:extLst>
          </p:cNvPr>
          <p:cNvCxnSpPr>
            <a:stCxn id="113" idx="3"/>
            <a:endCxn id="97" idx="1"/>
          </p:cNvCxnSpPr>
          <p:nvPr/>
        </p:nvCxnSpPr>
        <p:spPr>
          <a:xfrm flipV="1">
            <a:off x="5965810" y="801467"/>
            <a:ext cx="1737335" cy="633150"/>
          </a:xfrm>
          <a:prstGeom prst="bentConnector3">
            <a:avLst>
              <a:gd name="adj1" fmla="val 1856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46803017-A01D-420B-B0F0-008D5D891860}"/>
              </a:ext>
            </a:extLst>
          </p:cNvPr>
          <p:cNvSpPr txBox="1"/>
          <p:nvPr/>
        </p:nvSpPr>
        <p:spPr>
          <a:xfrm>
            <a:off x="6415896" y="826963"/>
            <a:ext cx="1285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Return this object address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F2687E4-A860-4FDC-BFDD-539755C83A2C}"/>
              </a:ext>
            </a:extLst>
          </p:cNvPr>
          <p:cNvSpPr/>
          <p:nvPr/>
        </p:nvSpPr>
        <p:spPr>
          <a:xfrm>
            <a:off x="7267575" y="1285875"/>
            <a:ext cx="187954" cy="428625"/>
          </a:xfrm>
          <a:custGeom>
            <a:avLst/>
            <a:gdLst>
              <a:gd name="connsiteX0" fmla="*/ 133350 w 187954"/>
              <a:gd name="connsiteY0" fmla="*/ 428625 h 428625"/>
              <a:gd name="connsiteX1" fmla="*/ 180975 w 187954"/>
              <a:gd name="connsiteY1" fmla="*/ 142875 h 428625"/>
              <a:gd name="connsiteX2" fmla="*/ 0 w 187954"/>
              <a:gd name="connsiteY2" fmla="*/ 0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954" h="428625">
                <a:moveTo>
                  <a:pt x="133350" y="428625"/>
                </a:moveTo>
                <a:cubicBezTo>
                  <a:pt x="168275" y="321468"/>
                  <a:pt x="203200" y="214312"/>
                  <a:pt x="180975" y="142875"/>
                </a:cubicBezTo>
                <a:cubicBezTo>
                  <a:pt x="158750" y="71437"/>
                  <a:pt x="79375" y="35718"/>
                  <a:pt x="0" y="0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1A70E46C-DB64-4E77-8332-B5F5CF2BC3DE}"/>
              </a:ext>
            </a:extLst>
          </p:cNvPr>
          <p:cNvSpPr/>
          <p:nvPr/>
        </p:nvSpPr>
        <p:spPr>
          <a:xfrm>
            <a:off x="6594640" y="3941222"/>
            <a:ext cx="5330660" cy="2690608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A7F5BC7-CDD7-4B84-B9F8-3698EF8D653F}"/>
              </a:ext>
            </a:extLst>
          </p:cNvPr>
          <p:cNvSpPr/>
          <p:nvPr/>
        </p:nvSpPr>
        <p:spPr>
          <a:xfrm>
            <a:off x="6136315" y="530917"/>
            <a:ext cx="4760285" cy="2669419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8EBFD9B-0AAD-4310-A43B-8280DB94953B}"/>
              </a:ext>
            </a:extLst>
          </p:cNvPr>
          <p:cNvSpPr txBox="1"/>
          <p:nvPr/>
        </p:nvSpPr>
        <p:spPr>
          <a:xfrm>
            <a:off x="7943459" y="3359263"/>
            <a:ext cx="3523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C00000"/>
                </a:solidFill>
              </a:rPr>
              <a:t>get_partial_node</a:t>
            </a:r>
            <a:r>
              <a:rPr lang="en-US" sz="1600" b="1" dirty="0">
                <a:solidFill>
                  <a:srgbClr val="C00000"/>
                </a:solidFill>
              </a:rPr>
              <a:t>() -&gt; </a:t>
            </a:r>
            <a:r>
              <a:rPr lang="en-US" sz="1600" b="1" dirty="0" err="1">
                <a:solidFill>
                  <a:srgbClr val="C00000"/>
                </a:solidFill>
              </a:rPr>
              <a:t>acquire_slab</a:t>
            </a:r>
            <a:r>
              <a:rPr lang="en-US" sz="1600" b="1" dirty="0">
                <a:solidFill>
                  <a:srgbClr val="C00000"/>
                </a:solidFill>
              </a:rPr>
              <a:t>()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CA3716ED-7D8F-4DC1-B8A6-C8AB3DAB586C}"/>
              </a:ext>
            </a:extLst>
          </p:cNvPr>
          <p:cNvCxnSpPr>
            <a:cxnSpLocks/>
          </p:cNvCxnSpPr>
          <p:nvPr/>
        </p:nvCxnSpPr>
        <p:spPr>
          <a:xfrm>
            <a:off x="7790370" y="3279312"/>
            <a:ext cx="298429" cy="613701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673A844-A193-43E2-94AF-11FBA4163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97" y="3068391"/>
            <a:ext cx="6696154" cy="361075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131" name="Title 1">
            <a:extLst>
              <a:ext uri="{FF2B5EF4-FFF2-40B4-BE49-F238E27FC236}">
                <a16:creationId xmlns:a16="http://schemas.microsoft.com/office/drawing/2014/main" id="{7C4491FF-E671-4BAA-8D3F-B044EBBAD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7408" y="-114788"/>
            <a:ext cx="12259408" cy="689951"/>
          </a:xfrm>
        </p:spPr>
        <p:txBody>
          <a:bodyPr>
            <a:noAutofit/>
          </a:bodyPr>
          <a:lstStyle/>
          <a:p>
            <a:r>
              <a:rPr lang="en-US" sz="2400" dirty="0" err="1">
                <a:solidFill>
                  <a:schemeClr val="tx1"/>
                </a:solidFill>
              </a:rPr>
              <a:t>kmem_cache_node</a:t>
            </a:r>
            <a:r>
              <a:rPr lang="en-US" sz="2400" dirty="0">
                <a:solidFill>
                  <a:schemeClr val="tx1"/>
                </a:solidFill>
              </a:rPr>
              <a:t> = bootstrap(&amp;</a:t>
            </a:r>
            <a:r>
              <a:rPr lang="en-US" sz="2400" dirty="0" err="1">
                <a:solidFill>
                  <a:schemeClr val="tx1"/>
                </a:solidFill>
              </a:rPr>
              <a:t>boot_kmem_cache_node</a:t>
            </a:r>
            <a:r>
              <a:rPr lang="en-US" sz="2400" dirty="0">
                <a:solidFill>
                  <a:schemeClr val="tx1"/>
                </a:solidFill>
              </a:rPr>
              <a:t>) -&gt; </a:t>
            </a:r>
            <a:r>
              <a:rPr lang="en-US" sz="2400" dirty="0" err="1">
                <a:solidFill>
                  <a:schemeClr val="tx1"/>
                </a:solidFill>
              </a:rPr>
              <a:t>kmem_cache_zalloc</a:t>
            </a:r>
            <a:r>
              <a:rPr lang="en-US" sz="2400" dirty="0">
                <a:solidFill>
                  <a:schemeClr val="tx1"/>
                </a:solidFill>
              </a:rPr>
              <a:t>(…)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44092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cxnSpLocks/>
          </p:cNvCxnSpPr>
          <p:nvPr/>
        </p:nvCxnSpPr>
        <p:spPr>
          <a:xfrm flipH="1">
            <a:off x="6308476" y="4585683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1092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1092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1092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1092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95913" y="31169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95913" y="35934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95912" y="38036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95908" y="40136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95911" y="42238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95907" y="33852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95906" y="4431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95911" y="49199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95911" y="53964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95910" y="56066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95906" y="58166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95909" y="60268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95905" y="51881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95904" y="6234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275886" y="64414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95904" y="45363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251423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78D6EC63-C574-43F4-ACFC-EDC63B00DE7B}"/>
              </a:ext>
            </a:extLst>
          </p:cNvPr>
          <p:cNvCxnSpPr>
            <a:cxnSpLocks/>
            <a:stCxn id="91" idx="3"/>
            <a:endCxn id="99" idx="1"/>
          </p:cNvCxnSpPr>
          <p:nvPr/>
        </p:nvCxnSpPr>
        <p:spPr>
          <a:xfrm flipV="1">
            <a:off x="6310291" y="3750424"/>
            <a:ext cx="597130" cy="15846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62B75B-E14A-4CC9-ACCA-96F309D63D04}"/>
              </a:ext>
            </a:extLst>
          </p:cNvPr>
          <p:cNvGrpSpPr/>
          <p:nvPr/>
        </p:nvGrpSpPr>
        <p:grpSpPr>
          <a:xfrm>
            <a:off x="6783009" y="744782"/>
            <a:ext cx="2924383" cy="2458413"/>
            <a:chOff x="7059232" y="1647114"/>
            <a:chExt cx="2924383" cy="2458413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82A48A0-C700-47FB-96A8-C887468B9907}"/>
                </a:ext>
              </a:extLst>
            </p:cNvPr>
            <p:cNvSpPr/>
            <p:nvPr/>
          </p:nvSpPr>
          <p:spPr>
            <a:xfrm>
              <a:off x="7059821" y="164711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node #1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5A003AA-FDBB-4FC2-A4B6-F3FCE99F7D06}"/>
                </a:ext>
              </a:extLst>
            </p:cNvPr>
            <p:cNvSpPr/>
            <p:nvPr/>
          </p:nvSpPr>
          <p:spPr>
            <a:xfrm>
              <a:off x="7935481" y="208987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5039891-EFA4-4CE7-A9C9-F61573596A35}"/>
                </a:ext>
              </a:extLst>
            </p:cNvPr>
            <p:cNvSpPr/>
            <p:nvPr/>
          </p:nvSpPr>
          <p:spPr>
            <a:xfrm>
              <a:off x="7059232" y="264657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D849E95-0F0F-4579-B533-11BF75C5FD18}"/>
                </a:ext>
              </a:extLst>
            </p:cNvPr>
            <p:cNvSpPr/>
            <p:nvPr/>
          </p:nvSpPr>
          <p:spPr>
            <a:xfrm>
              <a:off x="7059245" y="285677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 = NULL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BA1A864-E3FF-4005-9A55-1FB55789BC3D}"/>
                </a:ext>
              </a:extLst>
            </p:cNvPr>
            <p:cNvSpPr/>
            <p:nvPr/>
          </p:nvSpPr>
          <p:spPr>
            <a:xfrm>
              <a:off x="7275758" y="306674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E472742-5004-4DE4-A506-2E67178508A4}"/>
                </a:ext>
              </a:extLst>
            </p:cNvPr>
            <p:cNvSpPr/>
            <p:nvPr/>
          </p:nvSpPr>
          <p:spPr>
            <a:xfrm>
              <a:off x="7935481" y="228406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28B1047-F234-4A68-93B5-47860125DCE2}"/>
                </a:ext>
              </a:extLst>
            </p:cNvPr>
            <p:cNvSpPr/>
            <p:nvPr/>
          </p:nvSpPr>
          <p:spPr>
            <a:xfrm>
              <a:off x="7935481" y="247685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6AFD800-9ECC-43AC-8BE8-98977F9B281E}"/>
                </a:ext>
              </a:extLst>
            </p:cNvPr>
            <p:cNvSpPr/>
            <p:nvPr/>
          </p:nvSpPr>
          <p:spPr>
            <a:xfrm>
              <a:off x="7275746" y="327228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BEB763E-DE3F-4CCB-88A6-CD04424E7B58}"/>
                </a:ext>
              </a:extLst>
            </p:cNvPr>
            <p:cNvSpPr/>
            <p:nvPr/>
          </p:nvSpPr>
          <p:spPr>
            <a:xfrm>
              <a:off x="8334926" y="347956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64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18B1962-C07C-4637-8B1F-5E9396C26E43}"/>
                </a:ext>
              </a:extLst>
            </p:cNvPr>
            <p:cNvSpPr/>
            <p:nvPr/>
          </p:nvSpPr>
          <p:spPr>
            <a:xfrm>
              <a:off x="8334926" y="368953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64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57D2F4A-05F4-4A49-9347-9FED2C28873A}"/>
                </a:ext>
              </a:extLst>
            </p:cNvPr>
            <p:cNvSpPr/>
            <p:nvPr/>
          </p:nvSpPr>
          <p:spPr>
            <a:xfrm>
              <a:off x="8334914" y="389507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1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7C91180-2CB8-4DD1-858B-CC563B8F4A0A}"/>
                </a:ext>
              </a:extLst>
            </p:cNvPr>
            <p:cNvSpPr/>
            <p:nvPr/>
          </p:nvSpPr>
          <p:spPr>
            <a:xfrm rot="5400000">
              <a:off x="6666295" y="345969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680B50E3-B20C-4837-A183-AC145EC0714F}"/>
                </a:ext>
              </a:extLst>
            </p:cNvPr>
            <p:cNvSpPr/>
            <p:nvPr/>
          </p:nvSpPr>
          <p:spPr>
            <a:xfrm>
              <a:off x="7312111" y="347956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A157A930-9B09-42A6-88DE-9F8F19ACCEE8}"/>
                </a:ext>
              </a:extLst>
            </p:cNvPr>
            <p:cNvSpPr/>
            <p:nvPr/>
          </p:nvSpPr>
          <p:spPr>
            <a:xfrm rot="5400000">
              <a:off x="6802689" y="213787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D3097E1-156D-4925-8A6E-33008DE50C96}"/>
                </a:ext>
              </a:extLst>
            </p:cNvPr>
            <p:cNvSpPr/>
            <p:nvPr/>
          </p:nvSpPr>
          <p:spPr>
            <a:xfrm>
              <a:off x="7312035" y="208988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3F7317A-C123-4B03-BBBD-B0A56C981513}"/>
                </a:ext>
              </a:extLst>
            </p:cNvPr>
            <p:cNvSpPr/>
            <p:nvPr/>
          </p:nvSpPr>
          <p:spPr>
            <a:xfrm>
              <a:off x="7312035" y="188073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r>
                <a:rPr lang="en-US" sz="1200" dirty="0">
                  <a:solidFill>
                    <a:schemeClr val="tx1"/>
                  </a:solidFill>
                </a:rPr>
                <a:t> = invalid</a:t>
              </a:r>
            </a:p>
          </p:txBody>
        </p:sp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4D69D14-C392-4DBE-8730-B8FFD34BD229}"/>
              </a:ext>
            </a:extLst>
          </p:cNvPr>
          <p:cNvSpPr/>
          <p:nvPr/>
        </p:nvSpPr>
        <p:spPr>
          <a:xfrm>
            <a:off x="10116796" y="1558524"/>
            <a:ext cx="9241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AD86A15-A6F3-4072-BE05-8F58BD2C9D05}"/>
              </a:ext>
            </a:extLst>
          </p:cNvPr>
          <p:cNvSpPr/>
          <p:nvPr/>
        </p:nvSpPr>
        <p:spPr>
          <a:xfrm rot="5400000">
            <a:off x="9824553" y="2041409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C5549C3-5615-4956-94E4-9117FBD43844}"/>
              </a:ext>
            </a:extLst>
          </p:cNvPr>
          <p:cNvSpPr/>
          <p:nvPr/>
        </p:nvSpPr>
        <p:spPr>
          <a:xfrm rot="5400000">
            <a:off x="10192986" y="2041410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CCB499C-8199-4E73-AA66-02C9F4C1576B}"/>
              </a:ext>
            </a:extLst>
          </p:cNvPr>
          <p:cNvSpPr txBox="1"/>
          <p:nvPr/>
        </p:nvSpPr>
        <p:spPr>
          <a:xfrm>
            <a:off x="10604586" y="1884259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8D39DFA-2C81-4299-BFCA-96B07300AA70}"/>
              </a:ext>
            </a:extLst>
          </p:cNvPr>
          <p:cNvSpPr/>
          <p:nvPr/>
        </p:nvSpPr>
        <p:spPr>
          <a:xfrm rot="5400000">
            <a:off x="10564615" y="2041879"/>
            <a:ext cx="768265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526B2D1-29C4-4C89-BD33-FD63B380A5ED}"/>
              </a:ext>
            </a:extLst>
          </p:cNvPr>
          <p:cNvSpPr txBox="1"/>
          <p:nvPr/>
        </p:nvSpPr>
        <p:spPr>
          <a:xfrm>
            <a:off x="10329102" y="1503905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37280FB-85F1-4C52-B840-F62A81C58A22}"/>
              </a:ext>
            </a:extLst>
          </p:cNvPr>
          <p:cNvSpPr/>
          <p:nvPr/>
        </p:nvSpPr>
        <p:spPr>
          <a:xfrm rot="5400000">
            <a:off x="10009850" y="2041410"/>
            <a:ext cx="769200" cy="18470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18913D-CD18-430C-882E-7430BB252464}"/>
              </a:ext>
            </a:extLst>
          </p:cNvPr>
          <p:cNvGrpSpPr/>
          <p:nvPr/>
        </p:nvGrpSpPr>
        <p:grpSpPr>
          <a:xfrm>
            <a:off x="6906832" y="3628314"/>
            <a:ext cx="5289554" cy="2616514"/>
            <a:chOff x="6906832" y="3152064"/>
            <a:chExt cx="5289554" cy="2616514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55B634C-9D3B-4BC1-859B-6451500087D8}"/>
                </a:ext>
              </a:extLst>
            </p:cNvPr>
            <p:cNvSpPr/>
            <p:nvPr/>
          </p:nvSpPr>
          <p:spPr>
            <a:xfrm>
              <a:off x="6907421" y="315206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node #0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3B22DA7-0F7F-4B9C-9E2A-12DB4D4B7ACF}"/>
                </a:ext>
              </a:extLst>
            </p:cNvPr>
            <p:cNvSpPr/>
            <p:nvPr/>
          </p:nvSpPr>
          <p:spPr>
            <a:xfrm>
              <a:off x="7783081" y="359482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6D59FDD-70AF-4D3A-91F8-F18C9632B9AC}"/>
                </a:ext>
              </a:extLst>
            </p:cNvPr>
            <p:cNvSpPr/>
            <p:nvPr/>
          </p:nvSpPr>
          <p:spPr>
            <a:xfrm>
              <a:off x="6906832" y="415152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F125610-11C3-4225-87FE-1549EEA47F7A}"/>
                </a:ext>
              </a:extLst>
            </p:cNvPr>
            <p:cNvSpPr/>
            <p:nvPr/>
          </p:nvSpPr>
          <p:spPr>
            <a:xfrm>
              <a:off x="6906845" y="436172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0AAA60B-15B2-490E-81A8-6CDE6F0650BC}"/>
                </a:ext>
              </a:extLst>
            </p:cNvPr>
            <p:cNvSpPr/>
            <p:nvPr/>
          </p:nvSpPr>
          <p:spPr>
            <a:xfrm>
              <a:off x="7123358" y="457169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A05100D-4071-450A-81C4-5F2313ACD136}"/>
                </a:ext>
              </a:extLst>
            </p:cNvPr>
            <p:cNvSpPr/>
            <p:nvPr/>
          </p:nvSpPr>
          <p:spPr>
            <a:xfrm>
              <a:off x="7783081" y="378901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BC196D2-D68E-41F8-BF10-C519B7151334}"/>
                </a:ext>
              </a:extLst>
            </p:cNvPr>
            <p:cNvSpPr/>
            <p:nvPr/>
          </p:nvSpPr>
          <p:spPr>
            <a:xfrm>
              <a:off x="7783081" y="398180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82AA0B24-41D4-4A2C-A314-0BBBFA64C23D}"/>
                </a:ext>
              </a:extLst>
            </p:cNvPr>
            <p:cNvSpPr/>
            <p:nvPr/>
          </p:nvSpPr>
          <p:spPr>
            <a:xfrm>
              <a:off x="7123346" y="477723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BB19410C-08C1-4412-8992-07A95D22B9BB}"/>
                </a:ext>
              </a:extLst>
            </p:cNvPr>
            <p:cNvSpPr/>
            <p:nvPr/>
          </p:nvSpPr>
          <p:spPr>
            <a:xfrm>
              <a:off x="8182526" y="498451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2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A38F40A4-062E-4149-A007-F19B7B5034B7}"/>
                </a:ext>
              </a:extLst>
            </p:cNvPr>
            <p:cNvSpPr/>
            <p:nvPr/>
          </p:nvSpPr>
          <p:spPr>
            <a:xfrm>
              <a:off x="8182526" y="519448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64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F985455-AFD8-4029-A35E-89D1976156AE}"/>
                </a:ext>
              </a:extLst>
            </p:cNvPr>
            <p:cNvSpPr/>
            <p:nvPr/>
          </p:nvSpPr>
          <p:spPr>
            <a:xfrm>
              <a:off x="8182514" y="540002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0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441BFCFA-23A0-4A94-9419-12ED7B7F7474}"/>
                </a:ext>
              </a:extLst>
            </p:cNvPr>
            <p:cNvSpPr/>
            <p:nvPr/>
          </p:nvSpPr>
          <p:spPr>
            <a:xfrm rot="5400000">
              <a:off x="6513895" y="496464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BEB8A5D-9494-4583-B209-873DDC93AE1C}"/>
                </a:ext>
              </a:extLst>
            </p:cNvPr>
            <p:cNvSpPr/>
            <p:nvPr/>
          </p:nvSpPr>
          <p:spPr>
            <a:xfrm>
              <a:off x="7159711" y="498451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C687B96D-421C-4BCF-8B4B-8096EDB7591D}"/>
                </a:ext>
              </a:extLst>
            </p:cNvPr>
            <p:cNvSpPr/>
            <p:nvPr/>
          </p:nvSpPr>
          <p:spPr>
            <a:xfrm rot="5400000">
              <a:off x="6650289" y="364282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86A983D-210F-4B69-8F53-F85955F9638B}"/>
                </a:ext>
              </a:extLst>
            </p:cNvPr>
            <p:cNvSpPr/>
            <p:nvPr/>
          </p:nvSpPr>
          <p:spPr>
            <a:xfrm>
              <a:off x="7159635" y="359483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7ED201F6-432B-467C-9BB5-35D6E9F24AA1}"/>
                </a:ext>
              </a:extLst>
            </p:cNvPr>
            <p:cNvSpPr/>
            <p:nvPr/>
          </p:nvSpPr>
          <p:spPr>
            <a:xfrm>
              <a:off x="7159635" y="338568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A155499-F78B-4DD9-A865-54C1A682E327}"/>
                </a:ext>
              </a:extLst>
            </p:cNvPr>
            <p:cNvSpPr/>
            <p:nvPr/>
          </p:nvSpPr>
          <p:spPr>
            <a:xfrm>
              <a:off x="10196759" y="4423080"/>
              <a:ext cx="924100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7203E26-2D8C-4230-9634-9E9119F754D7}"/>
                </a:ext>
              </a:extLst>
            </p:cNvPr>
            <p:cNvSpPr/>
            <p:nvPr/>
          </p:nvSpPr>
          <p:spPr>
            <a:xfrm rot="5400000">
              <a:off x="9904516" y="4905965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B51C701-AD57-4855-BDAF-E81E96513440}"/>
                </a:ext>
              </a:extLst>
            </p:cNvPr>
            <p:cNvSpPr/>
            <p:nvPr/>
          </p:nvSpPr>
          <p:spPr>
            <a:xfrm rot="5400000">
              <a:off x="10272949" y="4905966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5B16CA9-5B63-4D2C-BC8C-9193E6C36B53}"/>
                </a:ext>
              </a:extLst>
            </p:cNvPr>
            <p:cNvSpPr txBox="1"/>
            <p:nvPr/>
          </p:nvSpPr>
          <p:spPr>
            <a:xfrm>
              <a:off x="10684549" y="4748815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B7C2B8A-CAEB-4E91-A375-9F50597FA287}"/>
                </a:ext>
              </a:extLst>
            </p:cNvPr>
            <p:cNvSpPr/>
            <p:nvPr/>
          </p:nvSpPr>
          <p:spPr>
            <a:xfrm rot="5400000">
              <a:off x="10644578" y="4906435"/>
              <a:ext cx="768265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3E7D04D-7CCF-4E3F-A399-1AEF5823F712}"/>
                </a:ext>
              </a:extLst>
            </p:cNvPr>
            <p:cNvSpPr txBox="1"/>
            <p:nvPr/>
          </p:nvSpPr>
          <p:spPr>
            <a:xfrm>
              <a:off x="10409065" y="436846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7F083AC-8617-41DA-800C-93EC6FDD5F36}"/>
                </a:ext>
              </a:extLst>
            </p:cNvPr>
            <p:cNvSpPr/>
            <p:nvPr/>
          </p:nvSpPr>
          <p:spPr>
            <a:xfrm rot="5400000">
              <a:off x="10089813" y="4905966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cxnSp>
          <p:nvCxnSpPr>
            <p:cNvPr id="145" name="Connector: Elbow 144">
              <a:extLst>
                <a:ext uri="{FF2B5EF4-FFF2-40B4-BE49-F238E27FC236}">
                  <a16:creationId xmlns:a16="http://schemas.microsoft.com/office/drawing/2014/main" id="{C6A27EB7-E426-40EC-8AC9-0C28FF09A38F}"/>
                </a:ext>
              </a:extLst>
            </p:cNvPr>
            <p:cNvCxnSpPr>
              <a:cxnSpLocks/>
              <a:endCxn id="142" idx="3"/>
            </p:cNvCxnSpPr>
            <p:nvPr/>
          </p:nvCxnSpPr>
          <p:spPr>
            <a:xfrm>
              <a:off x="9830622" y="4466949"/>
              <a:ext cx="1198088" cy="915972"/>
            </a:xfrm>
            <a:prstGeom prst="bentConnector4">
              <a:avLst>
                <a:gd name="adj1" fmla="val 15684"/>
                <a:gd name="adj2" fmla="val 12495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A5AF3892-C0C8-4B82-AB6A-81E2104CCA3F}"/>
                </a:ext>
              </a:extLst>
            </p:cNvPr>
            <p:cNvSpPr/>
            <p:nvPr/>
          </p:nvSpPr>
          <p:spPr>
            <a:xfrm>
              <a:off x="10877550" y="5391150"/>
              <a:ext cx="133350" cy="114300"/>
            </a:xfrm>
            <a:custGeom>
              <a:avLst/>
              <a:gdLst>
                <a:gd name="connsiteX0" fmla="*/ 133350 w 133350"/>
                <a:gd name="connsiteY0" fmla="*/ 0 h 114300"/>
                <a:gd name="connsiteX1" fmla="*/ 66675 w 133350"/>
                <a:gd name="connsiteY1" fmla="*/ 114300 h 114300"/>
                <a:gd name="connsiteX2" fmla="*/ 0 w 133350"/>
                <a:gd name="connsiteY2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114300">
                  <a:moveTo>
                    <a:pt x="133350" y="0"/>
                  </a:moveTo>
                  <a:cubicBezTo>
                    <a:pt x="111125" y="57150"/>
                    <a:pt x="88900" y="114300"/>
                    <a:pt x="66675" y="114300"/>
                  </a:cubicBezTo>
                  <a:cubicBezTo>
                    <a:pt x="44450" y="114300"/>
                    <a:pt x="22225" y="57150"/>
                    <a:pt x="0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CFECFA54-86E1-4541-9E67-530F074FA15C}"/>
                </a:ext>
              </a:extLst>
            </p:cNvPr>
            <p:cNvSpPr/>
            <p:nvPr/>
          </p:nvSpPr>
          <p:spPr>
            <a:xfrm>
              <a:off x="10683228" y="5390402"/>
              <a:ext cx="133350" cy="114300"/>
            </a:xfrm>
            <a:custGeom>
              <a:avLst/>
              <a:gdLst>
                <a:gd name="connsiteX0" fmla="*/ 133350 w 133350"/>
                <a:gd name="connsiteY0" fmla="*/ 0 h 114300"/>
                <a:gd name="connsiteX1" fmla="*/ 66675 w 133350"/>
                <a:gd name="connsiteY1" fmla="*/ 114300 h 114300"/>
                <a:gd name="connsiteX2" fmla="*/ 0 w 133350"/>
                <a:gd name="connsiteY2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114300">
                  <a:moveTo>
                    <a:pt x="133350" y="0"/>
                  </a:moveTo>
                  <a:cubicBezTo>
                    <a:pt x="111125" y="57150"/>
                    <a:pt x="88900" y="114300"/>
                    <a:pt x="66675" y="114300"/>
                  </a:cubicBezTo>
                  <a:cubicBezTo>
                    <a:pt x="44450" y="114300"/>
                    <a:pt x="22225" y="57150"/>
                    <a:pt x="0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79A7BD77-DD23-4A1D-BBB2-DE30987B0C66}"/>
                </a:ext>
              </a:extLst>
            </p:cNvPr>
            <p:cNvSpPr txBox="1"/>
            <p:nvPr/>
          </p:nvSpPr>
          <p:spPr>
            <a:xfrm>
              <a:off x="11053068" y="5245358"/>
              <a:ext cx="11433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freepointers</a:t>
              </a:r>
              <a:r>
                <a:rPr lang="en-US" sz="1400" b="1" dirty="0"/>
                <a:t>: reverse!</a:t>
              </a:r>
            </a:p>
          </p:txBody>
        </p:sp>
      </p:grp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6E42563E-675B-4346-A7F8-C6F16B330E70}"/>
              </a:ext>
            </a:extLst>
          </p:cNvPr>
          <p:cNvCxnSpPr>
            <a:stCxn id="113" idx="3"/>
            <a:endCxn id="107" idx="1"/>
          </p:cNvCxnSpPr>
          <p:nvPr/>
        </p:nvCxnSpPr>
        <p:spPr>
          <a:xfrm flipV="1">
            <a:off x="6055765" y="866892"/>
            <a:ext cx="727833" cy="62222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867F723-A407-4508-9332-8EDCDE9F8F10}"/>
              </a:ext>
            </a:extLst>
          </p:cNvPr>
          <p:cNvCxnSpPr>
            <a:stCxn id="114" idx="3"/>
            <a:endCxn id="131" idx="3"/>
          </p:cNvCxnSpPr>
          <p:nvPr/>
        </p:nvCxnSpPr>
        <p:spPr>
          <a:xfrm>
            <a:off x="6055760" y="1699732"/>
            <a:ext cx="4521826" cy="818632"/>
          </a:xfrm>
          <a:prstGeom prst="bentConnector4">
            <a:avLst>
              <a:gd name="adj1" fmla="val 9727"/>
              <a:gd name="adj2" fmla="val 2093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7408" y="-114788"/>
            <a:ext cx="12259408" cy="689951"/>
          </a:xfrm>
        </p:spPr>
        <p:txBody>
          <a:bodyPr>
            <a:noAutofit/>
          </a:bodyPr>
          <a:lstStyle/>
          <a:p>
            <a:r>
              <a:rPr lang="en-US" sz="2400" dirty="0" err="1">
                <a:solidFill>
                  <a:schemeClr val="tx1"/>
                </a:solidFill>
              </a:rPr>
              <a:t>kmem_cache_node</a:t>
            </a:r>
            <a:r>
              <a:rPr lang="en-US" sz="2400" dirty="0">
                <a:solidFill>
                  <a:schemeClr val="tx1"/>
                </a:solidFill>
              </a:rPr>
              <a:t> = bootstrap(&amp;</a:t>
            </a:r>
            <a:r>
              <a:rPr lang="en-US" sz="2400" dirty="0" err="1">
                <a:solidFill>
                  <a:schemeClr val="tx1"/>
                </a:solidFill>
              </a:rPr>
              <a:t>boot_kmem_cache_node</a:t>
            </a:r>
            <a:r>
              <a:rPr lang="en-US" sz="2400" dirty="0">
                <a:solidFill>
                  <a:schemeClr val="tx1"/>
                </a:solidFill>
              </a:rPr>
              <a:t>) -&gt; __</a:t>
            </a:r>
            <a:r>
              <a:rPr lang="en-US" sz="2400" dirty="0" err="1">
                <a:solidFill>
                  <a:schemeClr val="tx1"/>
                </a:solidFill>
              </a:rPr>
              <a:t>flush_cpu_slab</a:t>
            </a:r>
            <a:r>
              <a:rPr lang="en-US" sz="2400" dirty="0">
                <a:solidFill>
                  <a:schemeClr val="tx1"/>
                </a:solidFill>
              </a:rPr>
              <a:t>()</a:t>
            </a:r>
            <a:endParaRPr lang="en-US" sz="2400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FF8D15E-0C94-4AAA-AC5F-13313E6FE03C}"/>
              </a:ext>
            </a:extLst>
          </p:cNvPr>
          <p:cNvSpPr/>
          <p:nvPr/>
        </p:nvSpPr>
        <p:spPr>
          <a:xfrm>
            <a:off x="6242622" y="620135"/>
            <a:ext cx="5263577" cy="264439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D963651-638D-4833-BF94-1B5A719E8424}"/>
              </a:ext>
            </a:extLst>
          </p:cNvPr>
          <p:cNvSpPr txBox="1"/>
          <p:nvPr/>
        </p:nvSpPr>
        <p:spPr>
          <a:xfrm>
            <a:off x="7354639" y="3302849"/>
            <a:ext cx="3523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C00000"/>
                </a:solidFill>
              </a:rPr>
              <a:t>deactivate_slab</a:t>
            </a:r>
            <a:r>
              <a:rPr lang="en-US" sz="1600" b="1" dirty="0">
                <a:solidFill>
                  <a:srgbClr val="C00000"/>
                </a:solidFill>
              </a:rPr>
              <a:t>(): Remove </a:t>
            </a:r>
            <a:r>
              <a:rPr lang="en-US" sz="1600" b="1" dirty="0" err="1">
                <a:solidFill>
                  <a:srgbClr val="C00000"/>
                </a:solidFill>
              </a:rPr>
              <a:t>percpu</a:t>
            </a:r>
            <a:r>
              <a:rPr lang="en-US" sz="1600" b="1" dirty="0">
                <a:solidFill>
                  <a:srgbClr val="C00000"/>
                </a:solidFill>
              </a:rPr>
              <a:t> slab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389CBBA-B2FD-4BB3-ABA7-EF42F3C4FA61}"/>
              </a:ext>
            </a:extLst>
          </p:cNvPr>
          <p:cNvSpPr/>
          <p:nvPr/>
        </p:nvSpPr>
        <p:spPr>
          <a:xfrm>
            <a:off x="6296025" y="3267075"/>
            <a:ext cx="1123950" cy="1811292"/>
          </a:xfrm>
          <a:custGeom>
            <a:avLst/>
            <a:gdLst>
              <a:gd name="connsiteX0" fmla="*/ 1123950 w 1123950"/>
              <a:gd name="connsiteY0" fmla="*/ 0 h 1811292"/>
              <a:gd name="connsiteX1" fmla="*/ 819150 w 1123950"/>
              <a:gd name="connsiteY1" fmla="*/ 1543050 h 1811292"/>
              <a:gd name="connsiteX2" fmla="*/ 0 w 1123950"/>
              <a:gd name="connsiteY2" fmla="*/ 1800225 h 1811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3950" h="1811292">
                <a:moveTo>
                  <a:pt x="1123950" y="0"/>
                </a:moveTo>
                <a:cubicBezTo>
                  <a:pt x="1065212" y="621506"/>
                  <a:pt x="1006475" y="1243012"/>
                  <a:pt x="819150" y="1543050"/>
                </a:cubicBezTo>
                <a:cubicBezTo>
                  <a:pt x="631825" y="1843088"/>
                  <a:pt x="315912" y="1821656"/>
                  <a:pt x="0" y="1800225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2B06DA-D41D-4F74-ADE6-F9BF36577014}"/>
              </a:ext>
            </a:extLst>
          </p:cNvPr>
          <p:cNvSpPr txBox="1"/>
          <p:nvPr/>
        </p:nvSpPr>
        <p:spPr>
          <a:xfrm>
            <a:off x="117695" y="6339362"/>
            <a:ext cx="2851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u="sng" dirty="0"/>
              <a:t>Reference from page #49</a:t>
            </a:r>
            <a:endParaRPr lang="zh-TW" altLang="en-US" b="1" u="sng" dirty="0"/>
          </a:p>
        </p:txBody>
      </p:sp>
    </p:spTree>
    <p:extLst>
      <p:ext uri="{BB962C8B-B14F-4D97-AF65-F5344CB8AC3E}">
        <p14:creationId xmlns:p14="http://schemas.microsoft.com/office/powerpoint/2010/main" val="1831100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cxnSpLocks/>
          </p:cNvCxnSpPr>
          <p:nvPr/>
        </p:nvCxnSpPr>
        <p:spPr>
          <a:xfrm flipH="1">
            <a:off x="6308476" y="4585683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1092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1092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=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NULL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1092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=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NULL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1092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95913" y="31169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95913" y="35934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95912" y="38036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95908" y="40136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95911" y="42238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95907" y="33852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95906" y="4431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95911" y="49199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95911" y="53964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95910" y="56066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95906" y="58166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95909" y="60268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95905" y="51881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95904" y="6234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275886" y="64414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95904" y="45363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251423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78D6EC63-C574-43F4-ACFC-EDC63B00DE7B}"/>
              </a:ext>
            </a:extLst>
          </p:cNvPr>
          <p:cNvCxnSpPr>
            <a:cxnSpLocks/>
            <a:stCxn id="91" idx="3"/>
            <a:endCxn id="99" idx="1"/>
          </p:cNvCxnSpPr>
          <p:nvPr/>
        </p:nvCxnSpPr>
        <p:spPr>
          <a:xfrm flipV="1">
            <a:off x="6310291" y="1296178"/>
            <a:ext cx="482830" cy="261271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2F00405-EB60-4F29-82E3-87EBF9723E00}"/>
              </a:ext>
            </a:extLst>
          </p:cNvPr>
          <p:cNvGrpSpPr/>
          <p:nvPr/>
        </p:nvGrpSpPr>
        <p:grpSpPr>
          <a:xfrm>
            <a:off x="6918986" y="4078575"/>
            <a:ext cx="4258092" cy="2458413"/>
            <a:chOff x="6783009" y="744782"/>
            <a:chExt cx="4258092" cy="2458413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362B75B-E14A-4CC9-ACCA-96F309D63D04}"/>
                </a:ext>
              </a:extLst>
            </p:cNvPr>
            <p:cNvGrpSpPr/>
            <p:nvPr/>
          </p:nvGrpSpPr>
          <p:grpSpPr>
            <a:xfrm>
              <a:off x="6783009" y="744782"/>
              <a:ext cx="2924383" cy="2458413"/>
              <a:chOff x="7059232" y="1647114"/>
              <a:chExt cx="2924383" cy="2458413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182A48A0-C700-47FB-96A8-C887468B9907}"/>
                  </a:ext>
                </a:extLst>
              </p:cNvPr>
              <p:cNvSpPr/>
              <p:nvPr/>
            </p:nvSpPr>
            <p:spPr>
              <a:xfrm>
                <a:off x="7059821" y="1647114"/>
                <a:ext cx="2923794" cy="24422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page struct (slab, slob or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slub</a:t>
                </a:r>
                <a:r>
                  <a:rPr lang="en-US" sz="1400" dirty="0">
                    <a:solidFill>
                      <a:schemeClr val="tx1"/>
                    </a:solidFill>
                  </a:rPr>
                  <a:t>): node #1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25A003AA-FDBB-4FC2-A4B6-F3FCE99F7D06}"/>
                  </a:ext>
                </a:extLst>
              </p:cNvPr>
              <p:cNvSpPr/>
              <p:nvPr/>
            </p:nvSpPr>
            <p:spPr>
              <a:xfrm>
                <a:off x="7935481" y="2089879"/>
                <a:ext cx="2046900" cy="193927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struct page *next</a:t>
                </a: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B5039891-EFA4-4CE7-A9C9-F61573596A35}"/>
                  </a:ext>
                </a:extLst>
              </p:cNvPr>
              <p:cNvSpPr/>
              <p:nvPr/>
            </p:nvSpPr>
            <p:spPr>
              <a:xfrm>
                <a:off x="7059232" y="2646577"/>
                <a:ext cx="2923150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struct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kmem_cache</a:t>
                </a:r>
                <a:r>
                  <a:rPr lang="en-US" sz="1200" dirty="0">
                    <a:solidFill>
                      <a:schemeClr val="tx1"/>
                    </a:solidFill>
                  </a:rPr>
                  <a:t> *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slab_cache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BD849E95-0F0F-4579-B533-11BF75C5FD18}"/>
                  </a:ext>
                </a:extLst>
              </p:cNvPr>
              <p:cNvSpPr/>
              <p:nvPr/>
            </p:nvSpPr>
            <p:spPr>
              <a:xfrm>
                <a:off x="7059245" y="2856772"/>
                <a:ext cx="2923777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void *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freelist</a:t>
                </a:r>
                <a:r>
                  <a:rPr lang="en-US" sz="1200" dirty="0">
                    <a:solidFill>
                      <a:schemeClr val="tx1"/>
                    </a:solidFill>
                  </a:rPr>
                  <a:t> (first free object)</a:t>
                </a: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BBA1A864-E3FF-4005-9A55-1FB55789BC3D}"/>
                  </a:ext>
                </a:extLst>
              </p:cNvPr>
              <p:cNvSpPr/>
              <p:nvPr/>
            </p:nvSpPr>
            <p:spPr>
              <a:xfrm>
                <a:off x="7275758" y="3066745"/>
                <a:ext cx="2707264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s_mem</a:t>
                </a:r>
                <a:r>
                  <a:rPr lang="en-US" sz="1200" dirty="0">
                    <a:solidFill>
                      <a:schemeClr val="tx1"/>
                    </a:solidFill>
                  </a:rPr>
                  <a:t>: first object - SLAB</a:t>
                </a: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9E472742-5004-4DE4-A506-2E67178508A4}"/>
                  </a:ext>
                </a:extLst>
              </p:cNvPr>
              <p:cNvSpPr/>
              <p:nvPr/>
            </p:nvSpPr>
            <p:spPr>
              <a:xfrm>
                <a:off x="7935481" y="2284065"/>
                <a:ext cx="2046900" cy="194568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int pages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28B1047-F234-4A68-93B5-47860125DCE2}"/>
                  </a:ext>
                </a:extLst>
              </p:cNvPr>
              <p:cNvSpPr/>
              <p:nvPr/>
            </p:nvSpPr>
            <p:spPr>
              <a:xfrm>
                <a:off x="7935481" y="2476859"/>
                <a:ext cx="2046900" cy="17102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int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pobjects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66AFD800-9ECC-43AC-8BE8-98977F9B281E}"/>
                  </a:ext>
                </a:extLst>
              </p:cNvPr>
              <p:cNvSpPr/>
              <p:nvPr/>
            </p:nvSpPr>
            <p:spPr>
              <a:xfrm>
                <a:off x="7275746" y="3272282"/>
                <a:ext cx="2707264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counters - SLUB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3BEB763E-DE3F-4CCB-88A6-CD04424E7B58}"/>
                  </a:ext>
                </a:extLst>
              </p:cNvPr>
              <p:cNvSpPr/>
              <p:nvPr/>
            </p:nvSpPr>
            <p:spPr>
              <a:xfrm>
                <a:off x="8334926" y="3479563"/>
                <a:ext cx="1648084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inuse</a:t>
                </a:r>
                <a:r>
                  <a:rPr lang="en-US" sz="1200" dirty="0">
                    <a:solidFill>
                      <a:schemeClr val="tx1"/>
                    </a:solidFill>
                  </a:rPr>
                  <a:t>: 16 = 2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D18B1962-C07C-4637-8B1F-5E9396C26E43}"/>
                  </a:ext>
                </a:extLst>
              </p:cNvPr>
              <p:cNvSpPr/>
              <p:nvPr/>
            </p:nvSpPr>
            <p:spPr>
              <a:xfrm>
                <a:off x="8334926" y="3689536"/>
                <a:ext cx="1648084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objects:15 = 64</a:t>
                </a: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C57D2F4A-05F4-4A49-9347-9FED2C28873A}"/>
                  </a:ext>
                </a:extLst>
              </p:cNvPr>
              <p:cNvSpPr/>
              <p:nvPr/>
            </p:nvSpPr>
            <p:spPr>
              <a:xfrm>
                <a:off x="8334914" y="3895073"/>
                <a:ext cx="1648084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frozen: 1 = 0</a:t>
                </a: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57C91180-2CB8-4DD1-858B-CC563B8F4A0A}"/>
                  </a:ext>
                </a:extLst>
              </p:cNvPr>
              <p:cNvSpPr/>
              <p:nvPr/>
            </p:nvSpPr>
            <p:spPr>
              <a:xfrm rot="5400000">
                <a:off x="6666295" y="3459696"/>
                <a:ext cx="1038782" cy="2528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union</a:t>
                </a: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680B50E3-B20C-4837-A183-AC145EC0714F}"/>
                  </a:ext>
                </a:extLst>
              </p:cNvPr>
              <p:cNvSpPr/>
              <p:nvPr/>
            </p:nvSpPr>
            <p:spPr>
              <a:xfrm>
                <a:off x="7312111" y="3479563"/>
                <a:ext cx="1022819" cy="62596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struct</a:t>
                </a:r>
                <a:br>
                  <a:rPr lang="en-US" sz="1200" b="1" dirty="0">
                    <a:solidFill>
                      <a:schemeClr val="tx1"/>
                    </a:solidFill>
                  </a:rPr>
                </a:br>
                <a:r>
                  <a:rPr lang="en-US" sz="1200" b="1" dirty="0">
                    <a:solidFill>
                      <a:schemeClr val="tx1"/>
                    </a:solidFill>
                  </a:rPr>
                  <a:t>(SLUB)</a:t>
                </a: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A157A930-9B09-42A6-88DE-9F8F19ACCEE8}"/>
                  </a:ext>
                </a:extLst>
              </p:cNvPr>
              <p:cNvSpPr/>
              <p:nvPr/>
            </p:nvSpPr>
            <p:spPr>
              <a:xfrm rot="5400000">
                <a:off x="6802689" y="2137872"/>
                <a:ext cx="767148" cy="2528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union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BD3097E1-156D-4925-8A6E-33008DE50C96}"/>
                  </a:ext>
                </a:extLst>
              </p:cNvPr>
              <p:cNvSpPr/>
              <p:nvPr/>
            </p:nvSpPr>
            <p:spPr>
              <a:xfrm>
                <a:off x="7312035" y="2089880"/>
                <a:ext cx="630578" cy="55800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struct</a:t>
                </a:r>
                <a:br>
                  <a:rPr lang="en-US" sz="1200" b="1" dirty="0">
                    <a:solidFill>
                      <a:schemeClr val="tx1"/>
                    </a:solidFill>
                  </a:rPr>
                </a:br>
                <a:r>
                  <a:rPr lang="en-US" sz="1200" b="1" dirty="0">
                    <a:solidFill>
                      <a:schemeClr val="tx1"/>
                    </a:solidFill>
                  </a:rPr>
                  <a:t>(Partial</a:t>
                </a:r>
                <a:br>
                  <a:rPr lang="en-US" sz="1200" b="1" dirty="0">
                    <a:solidFill>
                      <a:schemeClr val="tx1"/>
                    </a:solidFill>
                  </a:rPr>
                </a:br>
                <a:r>
                  <a:rPr lang="en-US" sz="1200" b="1" dirty="0">
                    <a:solidFill>
                      <a:schemeClr val="tx1"/>
                    </a:solidFill>
                  </a:rPr>
                  <a:t>Page)</a:t>
                </a: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13F7317A-C123-4B03-BBBD-B0A56C981513}"/>
                  </a:ext>
                </a:extLst>
              </p:cNvPr>
              <p:cNvSpPr/>
              <p:nvPr/>
            </p:nvSpPr>
            <p:spPr>
              <a:xfrm>
                <a:off x="7312035" y="1880734"/>
                <a:ext cx="2670963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struct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list_head</a:t>
                </a:r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slab_list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C4D69D14-C392-4DBE-8730-B8FFD34BD229}"/>
                </a:ext>
              </a:extLst>
            </p:cNvPr>
            <p:cNvSpPr/>
            <p:nvPr/>
          </p:nvSpPr>
          <p:spPr>
            <a:xfrm>
              <a:off x="10116796" y="1558524"/>
              <a:ext cx="924100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AD86A15-A6F3-4072-BE05-8F58BD2C9D05}"/>
                </a:ext>
              </a:extLst>
            </p:cNvPr>
            <p:cNvSpPr/>
            <p:nvPr/>
          </p:nvSpPr>
          <p:spPr>
            <a:xfrm rot="5400000">
              <a:off x="9824553" y="2041409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C5549C3-5615-4956-94E4-9117FBD43844}"/>
                </a:ext>
              </a:extLst>
            </p:cNvPr>
            <p:cNvSpPr/>
            <p:nvPr/>
          </p:nvSpPr>
          <p:spPr>
            <a:xfrm rot="5400000">
              <a:off x="10192986" y="2041410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CCB499C-8199-4E73-AA66-02C9F4C1576B}"/>
                </a:ext>
              </a:extLst>
            </p:cNvPr>
            <p:cNvSpPr txBox="1"/>
            <p:nvPr/>
          </p:nvSpPr>
          <p:spPr>
            <a:xfrm>
              <a:off x="10604586" y="1884259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8D39DFA-2C81-4299-BFCA-96B07300AA70}"/>
                </a:ext>
              </a:extLst>
            </p:cNvPr>
            <p:cNvSpPr/>
            <p:nvPr/>
          </p:nvSpPr>
          <p:spPr>
            <a:xfrm rot="5400000">
              <a:off x="10564615" y="2041879"/>
              <a:ext cx="768265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E526B2D1-29C4-4C89-BD33-FD63B380A5ED}"/>
                </a:ext>
              </a:extLst>
            </p:cNvPr>
            <p:cNvSpPr txBox="1"/>
            <p:nvPr/>
          </p:nvSpPr>
          <p:spPr>
            <a:xfrm>
              <a:off x="10329102" y="1503905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C37280FB-85F1-4C52-B840-F62A81C58A22}"/>
                </a:ext>
              </a:extLst>
            </p:cNvPr>
            <p:cNvSpPr/>
            <p:nvPr/>
          </p:nvSpPr>
          <p:spPr>
            <a:xfrm rot="5400000">
              <a:off x="10009850" y="2041410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D18913D-CD18-430C-882E-7430BB252464}"/>
              </a:ext>
            </a:extLst>
          </p:cNvPr>
          <p:cNvGrpSpPr/>
          <p:nvPr/>
        </p:nvGrpSpPr>
        <p:grpSpPr>
          <a:xfrm>
            <a:off x="6792532" y="1174068"/>
            <a:ext cx="5289554" cy="2616514"/>
            <a:chOff x="6906832" y="3152064"/>
            <a:chExt cx="5289554" cy="2616514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55B634C-9D3B-4BC1-859B-6451500087D8}"/>
                </a:ext>
              </a:extLst>
            </p:cNvPr>
            <p:cNvSpPr/>
            <p:nvPr/>
          </p:nvSpPr>
          <p:spPr>
            <a:xfrm>
              <a:off x="6907421" y="315206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node #0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3B22DA7-0F7F-4B9C-9E2A-12DB4D4B7ACF}"/>
                </a:ext>
              </a:extLst>
            </p:cNvPr>
            <p:cNvSpPr/>
            <p:nvPr/>
          </p:nvSpPr>
          <p:spPr>
            <a:xfrm>
              <a:off x="7783081" y="359482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6D59FDD-70AF-4D3A-91F8-F18C9632B9AC}"/>
                </a:ext>
              </a:extLst>
            </p:cNvPr>
            <p:cNvSpPr/>
            <p:nvPr/>
          </p:nvSpPr>
          <p:spPr>
            <a:xfrm>
              <a:off x="6906832" y="415152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F125610-11C3-4225-87FE-1549EEA47F7A}"/>
                </a:ext>
              </a:extLst>
            </p:cNvPr>
            <p:cNvSpPr/>
            <p:nvPr/>
          </p:nvSpPr>
          <p:spPr>
            <a:xfrm>
              <a:off x="6906845" y="436172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0AAA60B-15B2-490E-81A8-6CDE6F0650BC}"/>
                </a:ext>
              </a:extLst>
            </p:cNvPr>
            <p:cNvSpPr/>
            <p:nvPr/>
          </p:nvSpPr>
          <p:spPr>
            <a:xfrm>
              <a:off x="7123358" y="457169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A05100D-4071-450A-81C4-5F2313ACD136}"/>
                </a:ext>
              </a:extLst>
            </p:cNvPr>
            <p:cNvSpPr/>
            <p:nvPr/>
          </p:nvSpPr>
          <p:spPr>
            <a:xfrm>
              <a:off x="7783081" y="378901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BC196D2-D68E-41F8-BF10-C519B7151334}"/>
                </a:ext>
              </a:extLst>
            </p:cNvPr>
            <p:cNvSpPr/>
            <p:nvPr/>
          </p:nvSpPr>
          <p:spPr>
            <a:xfrm>
              <a:off x="7783081" y="398180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82AA0B24-41D4-4A2C-A314-0BBBFA64C23D}"/>
                </a:ext>
              </a:extLst>
            </p:cNvPr>
            <p:cNvSpPr/>
            <p:nvPr/>
          </p:nvSpPr>
          <p:spPr>
            <a:xfrm>
              <a:off x="7123346" y="477723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BB19410C-08C1-4412-8992-07A95D22B9BB}"/>
                </a:ext>
              </a:extLst>
            </p:cNvPr>
            <p:cNvSpPr/>
            <p:nvPr/>
          </p:nvSpPr>
          <p:spPr>
            <a:xfrm>
              <a:off x="8182526" y="498451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2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A38F40A4-062E-4149-A007-F19B7B5034B7}"/>
                </a:ext>
              </a:extLst>
            </p:cNvPr>
            <p:cNvSpPr/>
            <p:nvPr/>
          </p:nvSpPr>
          <p:spPr>
            <a:xfrm>
              <a:off x="8182526" y="519448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64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F985455-AFD8-4029-A35E-89D1976156AE}"/>
                </a:ext>
              </a:extLst>
            </p:cNvPr>
            <p:cNvSpPr/>
            <p:nvPr/>
          </p:nvSpPr>
          <p:spPr>
            <a:xfrm>
              <a:off x="8182514" y="540002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0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441BFCFA-23A0-4A94-9419-12ED7B7F7474}"/>
                </a:ext>
              </a:extLst>
            </p:cNvPr>
            <p:cNvSpPr/>
            <p:nvPr/>
          </p:nvSpPr>
          <p:spPr>
            <a:xfrm rot="5400000">
              <a:off x="6513895" y="496464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BEB8A5D-9494-4583-B209-873DDC93AE1C}"/>
                </a:ext>
              </a:extLst>
            </p:cNvPr>
            <p:cNvSpPr/>
            <p:nvPr/>
          </p:nvSpPr>
          <p:spPr>
            <a:xfrm>
              <a:off x="7159711" y="498451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C687B96D-421C-4BCF-8B4B-8096EDB7591D}"/>
                </a:ext>
              </a:extLst>
            </p:cNvPr>
            <p:cNvSpPr/>
            <p:nvPr/>
          </p:nvSpPr>
          <p:spPr>
            <a:xfrm rot="5400000">
              <a:off x="6650289" y="364282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86A983D-210F-4B69-8F53-F85955F9638B}"/>
                </a:ext>
              </a:extLst>
            </p:cNvPr>
            <p:cNvSpPr/>
            <p:nvPr/>
          </p:nvSpPr>
          <p:spPr>
            <a:xfrm>
              <a:off x="7159635" y="359483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7ED201F6-432B-467C-9BB5-35D6E9F24AA1}"/>
                </a:ext>
              </a:extLst>
            </p:cNvPr>
            <p:cNvSpPr/>
            <p:nvPr/>
          </p:nvSpPr>
          <p:spPr>
            <a:xfrm>
              <a:off x="7159635" y="338568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A155499-F78B-4DD9-A865-54C1A682E327}"/>
                </a:ext>
              </a:extLst>
            </p:cNvPr>
            <p:cNvSpPr/>
            <p:nvPr/>
          </p:nvSpPr>
          <p:spPr>
            <a:xfrm>
              <a:off x="10196759" y="4423080"/>
              <a:ext cx="924100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7203E26-2D8C-4230-9634-9E9119F754D7}"/>
                </a:ext>
              </a:extLst>
            </p:cNvPr>
            <p:cNvSpPr/>
            <p:nvPr/>
          </p:nvSpPr>
          <p:spPr>
            <a:xfrm rot="5400000">
              <a:off x="9904516" y="4905965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B51C701-AD57-4855-BDAF-E81E96513440}"/>
                </a:ext>
              </a:extLst>
            </p:cNvPr>
            <p:cNvSpPr/>
            <p:nvPr/>
          </p:nvSpPr>
          <p:spPr>
            <a:xfrm rot="5400000">
              <a:off x="10272949" y="4905966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5B16CA9-5B63-4D2C-BC8C-9193E6C36B53}"/>
                </a:ext>
              </a:extLst>
            </p:cNvPr>
            <p:cNvSpPr txBox="1"/>
            <p:nvPr/>
          </p:nvSpPr>
          <p:spPr>
            <a:xfrm>
              <a:off x="10684549" y="4748815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B7C2B8A-CAEB-4E91-A375-9F50597FA287}"/>
                </a:ext>
              </a:extLst>
            </p:cNvPr>
            <p:cNvSpPr/>
            <p:nvPr/>
          </p:nvSpPr>
          <p:spPr>
            <a:xfrm rot="5400000">
              <a:off x="10644578" y="4906435"/>
              <a:ext cx="768265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3E7D04D-7CCF-4E3F-A399-1AEF5823F712}"/>
                </a:ext>
              </a:extLst>
            </p:cNvPr>
            <p:cNvSpPr txBox="1"/>
            <p:nvPr/>
          </p:nvSpPr>
          <p:spPr>
            <a:xfrm>
              <a:off x="10409065" y="436846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7F083AC-8617-41DA-800C-93EC6FDD5F36}"/>
                </a:ext>
              </a:extLst>
            </p:cNvPr>
            <p:cNvSpPr/>
            <p:nvPr/>
          </p:nvSpPr>
          <p:spPr>
            <a:xfrm rot="5400000">
              <a:off x="10089813" y="4905966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cxnSp>
          <p:nvCxnSpPr>
            <p:cNvPr id="145" name="Connector: Elbow 144">
              <a:extLst>
                <a:ext uri="{FF2B5EF4-FFF2-40B4-BE49-F238E27FC236}">
                  <a16:creationId xmlns:a16="http://schemas.microsoft.com/office/drawing/2014/main" id="{C6A27EB7-E426-40EC-8AC9-0C28FF09A38F}"/>
                </a:ext>
              </a:extLst>
            </p:cNvPr>
            <p:cNvCxnSpPr>
              <a:cxnSpLocks/>
              <a:endCxn id="142" idx="3"/>
            </p:cNvCxnSpPr>
            <p:nvPr/>
          </p:nvCxnSpPr>
          <p:spPr>
            <a:xfrm>
              <a:off x="9830622" y="4466949"/>
              <a:ext cx="1198088" cy="915972"/>
            </a:xfrm>
            <a:prstGeom prst="bentConnector4">
              <a:avLst>
                <a:gd name="adj1" fmla="val 15684"/>
                <a:gd name="adj2" fmla="val 12495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A5AF3892-C0C8-4B82-AB6A-81E2104CCA3F}"/>
                </a:ext>
              </a:extLst>
            </p:cNvPr>
            <p:cNvSpPr/>
            <p:nvPr/>
          </p:nvSpPr>
          <p:spPr>
            <a:xfrm>
              <a:off x="10877550" y="5391150"/>
              <a:ext cx="133350" cy="114300"/>
            </a:xfrm>
            <a:custGeom>
              <a:avLst/>
              <a:gdLst>
                <a:gd name="connsiteX0" fmla="*/ 133350 w 133350"/>
                <a:gd name="connsiteY0" fmla="*/ 0 h 114300"/>
                <a:gd name="connsiteX1" fmla="*/ 66675 w 133350"/>
                <a:gd name="connsiteY1" fmla="*/ 114300 h 114300"/>
                <a:gd name="connsiteX2" fmla="*/ 0 w 133350"/>
                <a:gd name="connsiteY2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114300">
                  <a:moveTo>
                    <a:pt x="133350" y="0"/>
                  </a:moveTo>
                  <a:cubicBezTo>
                    <a:pt x="111125" y="57150"/>
                    <a:pt x="88900" y="114300"/>
                    <a:pt x="66675" y="114300"/>
                  </a:cubicBezTo>
                  <a:cubicBezTo>
                    <a:pt x="44450" y="114300"/>
                    <a:pt x="22225" y="57150"/>
                    <a:pt x="0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CFECFA54-86E1-4541-9E67-530F074FA15C}"/>
                </a:ext>
              </a:extLst>
            </p:cNvPr>
            <p:cNvSpPr/>
            <p:nvPr/>
          </p:nvSpPr>
          <p:spPr>
            <a:xfrm>
              <a:off x="10683228" y="5390402"/>
              <a:ext cx="133350" cy="114300"/>
            </a:xfrm>
            <a:custGeom>
              <a:avLst/>
              <a:gdLst>
                <a:gd name="connsiteX0" fmla="*/ 133350 w 133350"/>
                <a:gd name="connsiteY0" fmla="*/ 0 h 114300"/>
                <a:gd name="connsiteX1" fmla="*/ 66675 w 133350"/>
                <a:gd name="connsiteY1" fmla="*/ 114300 h 114300"/>
                <a:gd name="connsiteX2" fmla="*/ 0 w 133350"/>
                <a:gd name="connsiteY2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114300">
                  <a:moveTo>
                    <a:pt x="133350" y="0"/>
                  </a:moveTo>
                  <a:cubicBezTo>
                    <a:pt x="111125" y="57150"/>
                    <a:pt x="88900" y="114300"/>
                    <a:pt x="66675" y="114300"/>
                  </a:cubicBezTo>
                  <a:cubicBezTo>
                    <a:pt x="44450" y="114300"/>
                    <a:pt x="22225" y="57150"/>
                    <a:pt x="0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79A7BD77-DD23-4A1D-BBB2-DE30987B0C66}"/>
                </a:ext>
              </a:extLst>
            </p:cNvPr>
            <p:cNvSpPr txBox="1"/>
            <p:nvPr/>
          </p:nvSpPr>
          <p:spPr>
            <a:xfrm>
              <a:off x="11053068" y="5245358"/>
              <a:ext cx="11433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freepointers</a:t>
              </a:r>
              <a:r>
                <a:rPr lang="en-US" sz="1400" b="1" dirty="0"/>
                <a:t>: reverse!</a:t>
              </a:r>
            </a:p>
          </p:txBody>
        </p:sp>
      </p:grp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7408" y="-114788"/>
            <a:ext cx="12259408" cy="689951"/>
          </a:xfrm>
        </p:spPr>
        <p:txBody>
          <a:bodyPr>
            <a:noAutofit/>
          </a:bodyPr>
          <a:lstStyle/>
          <a:p>
            <a:r>
              <a:rPr lang="en-US" sz="2400" dirty="0" err="1">
                <a:solidFill>
                  <a:schemeClr val="tx1"/>
                </a:solidFill>
              </a:rPr>
              <a:t>kmem_cache_node</a:t>
            </a:r>
            <a:r>
              <a:rPr lang="en-US" sz="2400" dirty="0">
                <a:solidFill>
                  <a:schemeClr val="tx1"/>
                </a:solidFill>
              </a:rPr>
              <a:t> = bootstrap(&amp;</a:t>
            </a:r>
            <a:r>
              <a:rPr lang="en-US" sz="2400" dirty="0" err="1">
                <a:solidFill>
                  <a:schemeClr val="tx1"/>
                </a:solidFill>
              </a:rPr>
              <a:t>boot_kmem_cache_node</a:t>
            </a:r>
            <a:r>
              <a:rPr lang="en-US" sz="2400" dirty="0">
                <a:solidFill>
                  <a:schemeClr val="tx1"/>
                </a:solidFill>
              </a:rPr>
              <a:t>) -&gt; __</a:t>
            </a:r>
            <a:r>
              <a:rPr lang="en-US" sz="2400" dirty="0" err="1">
                <a:solidFill>
                  <a:schemeClr val="tx1"/>
                </a:solidFill>
              </a:rPr>
              <a:t>flush_cpu_slab</a:t>
            </a:r>
            <a:r>
              <a:rPr lang="en-US" sz="2400" dirty="0">
                <a:solidFill>
                  <a:schemeClr val="tx1"/>
                </a:solidFill>
              </a:rPr>
              <a:t>()</a:t>
            </a:r>
            <a:endParaRPr lang="en-US" sz="2400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D1B0DE1A-0EF0-4EC2-8B78-5D1F94EF0593}"/>
              </a:ext>
            </a:extLst>
          </p:cNvPr>
          <p:cNvCxnSpPr>
            <a:stCxn id="82" idx="3"/>
            <a:endCxn id="107" idx="1"/>
          </p:cNvCxnSpPr>
          <p:nvPr/>
        </p:nvCxnSpPr>
        <p:spPr>
          <a:xfrm flipV="1">
            <a:off x="6310283" y="4200685"/>
            <a:ext cx="609292" cy="151120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6178D859-304B-4CBD-B3FF-19C52CDB2241}"/>
              </a:ext>
            </a:extLst>
          </p:cNvPr>
          <p:cNvSpPr/>
          <p:nvPr/>
        </p:nvSpPr>
        <p:spPr>
          <a:xfrm>
            <a:off x="10896600" y="5849976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58727272-21C2-47A3-8931-BD4FB5400807}"/>
              </a:ext>
            </a:extLst>
          </p:cNvPr>
          <p:cNvSpPr/>
          <p:nvPr/>
        </p:nvSpPr>
        <p:spPr>
          <a:xfrm>
            <a:off x="10740378" y="5849228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A7EA764-0135-42B4-962A-5D5C033DA6AE}"/>
              </a:ext>
            </a:extLst>
          </p:cNvPr>
          <p:cNvSpPr txBox="1"/>
          <p:nvPr/>
        </p:nvSpPr>
        <p:spPr>
          <a:xfrm>
            <a:off x="11110218" y="5704184"/>
            <a:ext cx="114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freepointers</a:t>
            </a:r>
            <a:r>
              <a:rPr lang="en-US" sz="1400" b="1" dirty="0"/>
              <a:t>: reverse!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645CCAC-9B1C-4C19-89B9-860DC9692B6F}"/>
              </a:ext>
            </a:extLst>
          </p:cNvPr>
          <p:cNvCxnSpPr>
            <a:stCxn id="110" idx="3"/>
            <a:endCxn id="135" idx="3"/>
          </p:cNvCxnSpPr>
          <p:nvPr/>
        </p:nvCxnSpPr>
        <p:spPr>
          <a:xfrm>
            <a:off x="9842776" y="5393460"/>
            <a:ext cx="1241948" cy="458698"/>
          </a:xfrm>
          <a:prstGeom prst="bentConnector4">
            <a:avLst>
              <a:gd name="adj1" fmla="val 22264"/>
              <a:gd name="adj2" fmla="val 14983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2387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cxnSpLocks/>
          </p:cNvCxnSpPr>
          <p:nvPr/>
        </p:nvCxnSpPr>
        <p:spPr>
          <a:xfrm flipH="1">
            <a:off x="6308476" y="4585683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(global variable: </a:t>
            </a:r>
            <a:r>
              <a:rPr lang="en-US" sz="1000" dirty="0" err="1">
                <a:solidFill>
                  <a:schemeClr val="tx1"/>
                </a:solidFill>
              </a:rPr>
              <a:t>kmem_cache_node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BC5054-546E-4C3F-8511-BC16CA194FD5}"/>
              </a:ext>
            </a:extLst>
          </p:cNvPr>
          <p:cNvSpPr txBox="1"/>
          <p:nvPr/>
        </p:nvSpPr>
        <p:spPr>
          <a:xfrm>
            <a:off x="2026938" y="620135"/>
            <a:ext cx="1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static local variable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9150B9B-C213-460E-9ECD-E97EFE519652}"/>
              </a:ext>
            </a:extLst>
          </p:cNvPr>
          <p:cNvCxnSpPr>
            <a:cxnSpLocks/>
            <a:stCxn id="23" idx="1"/>
            <a:endCxn id="72" idx="1"/>
          </p:cNvCxnSpPr>
          <p:nvPr/>
        </p:nvCxnSpPr>
        <p:spPr>
          <a:xfrm rot="10800000" flipH="1">
            <a:off x="1825625" y="979125"/>
            <a:ext cx="17189" cy="453933"/>
          </a:xfrm>
          <a:prstGeom prst="bentConnector3">
            <a:avLst>
              <a:gd name="adj1" fmla="val -13299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2815" y="871402"/>
            <a:ext cx="198306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boot_kmem_cache_node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1092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1092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=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NULL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1092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=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NULL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1092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95913" y="31169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95913" y="35934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95912" y="38036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95908" y="40136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95911" y="42238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95907" y="33852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95906" y="4431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95911" y="49199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95911" y="53964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95910" y="56066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95906" y="58166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95909" y="60268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95905" y="51881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95904" y="6234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275886" y="64414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95904" y="45363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251423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78D6EC63-C574-43F4-ACFC-EDC63B00DE7B}"/>
              </a:ext>
            </a:extLst>
          </p:cNvPr>
          <p:cNvCxnSpPr>
            <a:cxnSpLocks/>
            <a:stCxn id="91" idx="3"/>
            <a:endCxn id="99" idx="1"/>
          </p:cNvCxnSpPr>
          <p:nvPr/>
        </p:nvCxnSpPr>
        <p:spPr>
          <a:xfrm flipV="1">
            <a:off x="6310291" y="1296178"/>
            <a:ext cx="482830" cy="261271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2F00405-EB60-4F29-82E3-87EBF9723E00}"/>
              </a:ext>
            </a:extLst>
          </p:cNvPr>
          <p:cNvGrpSpPr/>
          <p:nvPr/>
        </p:nvGrpSpPr>
        <p:grpSpPr>
          <a:xfrm>
            <a:off x="6918986" y="4078575"/>
            <a:ext cx="4258092" cy="2458413"/>
            <a:chOff x="6783009" y="744782"/>
            <a:chExt cx="4258092" cy="2458413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362B75B-E14A-4CC9-ACCA-96F309D63D04}"/>
                </a:ext>
              </a:extLst>
            </p:cNvPr>
            <p:cNvGrpSpPr/>
            <p:nvPr/>
          </p:nvGrpSpPr>
          <p:grpSpPr>
            <a:xfrm>
              <a:off x="6783009" y="744782"/>
              <a:ext cx="2924383" cy="2458413"/>
              <a:chOff x="7059232" y="1647114"/>
              <a:chExt cx="2924383" cy="2458413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182A48A0-C700-47FB-96A8-C887468B9907}"/>
                  </a:ext>
                </a:extLst>
              </p:cNvPr>
              <p:cNvSpPr/>
              <p:nvPr/>
            </p:nvSpPr>
            <p:spPr>
              <a:xfrm>
                <a:off x="7059821" y="1647114"/>
                <a:ext cx="2923794" cy="24422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page struct (slab, slob or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slub</a:t>
                </a:r>
                <a:r>
                  <a:rPr lang="en-US" sz="1400" dirty="0">
                    <a:solidFill>
                      <a:schemeClr val="tx1"/>
                    </a:solidFill>
                  </a:rPr>
                  <a:t>): node #1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25A003AA-FDBB-4FC2-A4B6-F3FCE99F7D06}"/>
                  </a:ext>
                </a:extLst>
              </p:cNvPr>
              <p:cNvSpPr/>
              <p:nvPr/>
            </p:nvSpPr>
            <p:spPr>
              <a:xfrm>
                <a:off x="7935481" y="2089879"/>
                <a:ext cx="2046900" cy="193927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struct page *next</a:t>
                </a: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B5039891-EFA4-4CE7-A9C9-F61573596A35}"/>
                  </a:ext>
                </a:extLst>
              </p:cNvPr>
              <p:cNvSpPr/>
              <p:nvPr/>
            </p:nvSpPr>
            <p:spPr>
              <a:xfrm>
                <a:off x="7059232" y="2646577"/>
                <a:ext cx="2923150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struct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kmem_cache</a:t>
                </a:r>
                <a:r>
                  <a:rPr lang="en-US" sz="1200" dirty="0">
                    <a:solidFill>
                      <a:schemeClr val="tx1"/>
                    </a:solidFill>
                  </a:rPr>
                  <a:t> *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slab_cache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BD849E95-0F0F-4579-B533-11BF75C5FD18}"/>
                  </a:ext>
                </a:extLst>
              </p:cNvPr>
              <p:cNvSpPr/>
              <p:nvPr/>
            </p:nvSpPr>
            <p:spPr>
              <a:xfrm>
                <a:off x="7059245" y="2856772"/>
                <a:ext cx="2923777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void *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freelist</a:t>
                </a:r>
                <a:r>
                  <a:rPr lang="en-US" sz="1200" dirty="0">
                    <a:solidFill>
                      <a:schemeClr val="tx1"/>
                    </a:solidFill>
                  </a:rPr>
                  <a:t> (first free object)</a:t>
                </a: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BBA1A864-E3FF-4005-9A55-1FB55789BC3D}"/>
                  </a:ext>
                </a:extLst>
              </p:cNvPr>
              <p:cNvSpPr/>
              <p:nvPr/>
            </p:nvSpPr>
            <p:spPr>
              <a:xfrm>
                <a:off x="7275758" y="3066745"/>
                <a:ext cx="2707264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s_mem</a:t>
                </a:r>
                <a:r>
                  <a:rPr lang="en-US" sz="1200" dirty="0">
                    <a:solidFill>
                      <a:schemeClr val="tx1"/>
                    </a:solidFill>
                  </a:rPr>
                  <a:t>: first object - SLAB</a:t>
                </a: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9E472742-5004-4DE4-A506-2E67178508A4}"/>
                  </a:ext>
                </a:extLst>
              </p:cNvPr>
              <p:cNvSpPr/>
              <p:nvPr/>
            </p:nvSpPr>
            <p:spPr>
              <a:xfrm>
                <a:off x="7935481" y="2284065"/>
                <a:ext cx="2046900" cy="194568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int pages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28B1047-F234-4A68-93B5-47860125DCE2}"/>
                  </a:ext>
                </a:extLst>
              </p:cNvPr>
              <p:cNvSpPr/>
              <p:nvPr/>
            </p:nvSpPr>
            <p:spPr>
              <a:xfrm>
                <a:off x="7935481" y="2476859"/>
                <a:ext cx="2046900" cy="17102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int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pobjects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66AFD800-9ECC-43AC-8BE8-98977F9B281E}"/>
                  </a:ext>
                </a:extLst>
              </p:cNvPr>
              <p:cNvSpPr/>
              <p:nvPr/>
            </p:nvSpPr>
            <p:spPr>
              <a:xfrm>
                <a:off x="7275746" y="3272282"/>
                <a:ext cx="2707264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counters - SLUB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3BEB763E-DE3F-4CCB-88A6-CD04424E7B58}"/>
                  </a:ext>
                </a:extLst>
              </p:cNvPr>
              <p:cNvSpPr/>
              <p:nvPr/>
            </p:nvSpPr>
            <p:spPr>
              <a:xfrm>
                <a:off x="8334926" y="3479563"/>
                <a:ext cx="1648084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inuse</a:t>
                </a:r>
                <a:r>
                  <a:rPr lang="en-US" sz="1200" dirty="0">
                    <a:solidFill>
                      <a:schemeClr val="tx1"/>
                    </a:solidFill>
                  </a:rPr>
                  <a:t>: 16 = 2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D18B1962-C07C-4637-8B1F-5E9396C26E43}"/>
                  </a:ext>
                </a:extLst>
              </p:cNvPr>
              <p:cNvSpPr/>
              <p:nvPr/>
            </p:nvSpPr>
            <p:spPr>
              <a:xfrm>
                <a:off x="8334926" y="3689536"/>
                <a:ext cx="1648084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objects:15 = 64</a:t>
                </a: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C57D2F4A-05F4-4A49-9347-9FED2C28873A}"/>
                  </a:ext>
                </a:extLst>
              </p:cNvPr>
              <p:cNvSpPr/>
              <p:nvPr/>
            </p:nvSpPr>
            <p:spPr>
              <a:xfrm>
                <a:off x="8334914" y="3895073"/>
                <a:ext cx="1648084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frozen: 1 = 0</a:t>
                </a: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57C91180-2CB8-4DD1-858B-CC563B8F4A0A}"/>
                  </a:ext>
                </a:extLst>
              </p:cNvPr>
              <p:cNvSpPr/>
              <p:nvPr/>
            </p:nvSpPr>
            <p:spPr>
              <a:xfrm rot="5400000">
                <a:off x="6666295" y="3459696"/>
                <a:ext cx="1038782" cy="2528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union</a:t>
                </a: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680B50E3-B20C-4837-A183-AC145EC0714F}"/>
                  </a:ext>
                </a:extLst>
              </p:cNvPr>
              <p:cNvSpPr/>
              <p:nvPr/>
            </p:nvSpPr>
            <p:spPr>
              <a:xfrm>
                <a:off x="7312111" y="3479563"/>
                <a:ext cx="1022819" cy="62596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struct</a:t>
                </a:r>
                <a:br>
                  <a:rPr lang="en-US" sz="1200" b="1" dirty="0">
                    <a:solidFill>
                      <a:schemeClr val="tx1"/>
                    </a:solidFill>
                  </a:rPr>
                </a:br>
                <a:r>
                  <a:rPr lang="en-US" sz="1200" b="1" dirty="0">
                    <a:solidFill>
                      <a:schemeClr val="tx1"/>
                    </a:solidFill>
                  </a:rPr>
                  <a:t>(SLUB)</a:t>
                </a: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A157A930-9B09-42A6-88DE-9F8F19ACCEE8}"/>
                  </a:ext>
                </a:extLst>
              </p:cNvPr>
              <p:cNvSpPr/>
              <p:nvPr/>
            </p:nvSpPr>
            <p:spPr>
              <a:xfrm rot="5400000">
                <a:off x="6802689" y="2137872"/>
                <a:ext cx="767148" cy="2528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union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BD3097E1-156D-4925-8A6E-33008DE50C96}"/>
                  </a:ext>
                </a:extLst>
              </p:cNvPr>
              <p:cNvSpPr/>
              <p:nvPr/>
            </p:nvSpPr>
            <p:spPr>
              <a:xfrm>
                <a:off x="7312035" y="2089880"/>
                <a:ext cx="630578" cy="55800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struct</a:t>
                </a:r>
                <a:br>
                  <a:rPr lang="en-US" sz="1200" b="1" dirty="0">
                    <a:solidFill>
                      <a:schemeClr val="tx1"/>
                    </a:solidFill>
                  </a:rPr>
                </a:br>
                <a:r>
                  <a:rPr lang="en-US" sz="1200" b="1" dirty="0">
                    <a:solidFill>
                      <a:schemeClr val="tx1"/>
                    </a:solidFill>
                  </a:rPr>
                  <a:t>(Partial</a:t>
                </a:r>
                <a:br>
                  <a:rPr lang="en-US" sz="1200" b="1" dirty="0">
                    <a:solidFill>
                      <a:schemeClr val="tx1"/>
                    </a:solidFill>
                  </a:rPr>
                </a:br>
                <a:r>
                  <a:rPr lang="en-US" sz="1200" b="1" dirty="0">
                    <a:solidFill>
                      <a:schemeClr val="tx1"/>
                    </a:solidFill>
                  </a:rPr>
                  <a:t>Page)</a:t>
                </a: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13F7317A-C123-4B03-BBBD-B0A56C981513}"/>
                  </a:ext>
                </a:extLst>
              </p:cNvPr>
              <p:cNvSpPr/>
              <p:nvPr/>
            </p:nvSpPr>
            <p:spPr>
              <a:xfrm>
                <a:off x="7312035" y="1880734"/>
                <a:ext cx="2670963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struct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list_head</a:t>
                </a:r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slab_list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C4D69D14-C392-4DBE-8730-B8FFD34BD229}"/>
                </a:ext>
              </a:extLst>
            </p:cNvPr>
            <p:cNvSpPr/>
            <p:nvPr/>
          </p:nvSpPr>
          <p:spPr>
            <a:xfrm>
              <a:off x="10116796" y="1558524"/>
              <a:ext cx="924100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AD86A15-A6F3-4072-BE05-8F58BD2C9D05}"/>
                </a:ext>
              </a:extLst>
            </p:cNvPr>
            <p:cNvSpPr/>
            <p:nvPr/>
          </p:nvSpPr>
          <p:spPr>
            <a:xfrm rot="5400000">
              <a:off x="9824553" y="2041409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C5549C3-5615-4956-94E4-9117FBD43844}"/>
                </a:ext>
              </a:extLst>
            </p:cNvPr>
            <p:cNvSpPr/>
            <p:nvPr/>
          </p:nvSpPr>
          <p:spPr>
            <a:xfrm rot="5400000">
              <a:off x="10192986" y="2041410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CCB499C-8199-4E73-AA66-02C9F4C1576B}"/>
                </a:ext>
              </a:extLst>
            </p:cNvPr>
            <p:cNvSpPr txBox="1"/>
            <p:nvPr/>
          </p:nvSpPr>
          <p:spPr>
            <a:xfrm>
              <a:off x="10604586" y="1884259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8D39DFA-2C81-4299-BFCA-96B07300AA70}"/>
                </a:ext>
              </a:extLst>
            </p:cNvPr>
            <p:cNvSpPr/>
            <p:nvPr/>
          </p:nvSpPr>
          <p:spPr>
            <a:xfrm rot="5400000">
              <a:off x="10564615" y="2041879"/>
              <a:ext cx="768265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E526B2D1-29C4-4C89-BD33-FD63B380A5ED}"/>
                </a:ext>
              </a:extLst>
            </p:cNvPr>
            <p:cNvSpPr txBox="1"/>
            <p:nvPr/>
          </p:nvSpPr>
          <p:spPr>
            <a:xfrm>
              <a:off x="10329102" y="1503905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C37280FB-85F1-4C52-B840-F62A81C58A22}"/>
                </a:ext>
              </a:extLst>
            </p:cNvPr>
            <p:cNvSpPr/>
            <p:nvPr/>
          </p:nvSpPr>
          <p:spPr>
            <a:xfrm rot="5400000">
              <a:off x="10009850" y="2041410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D18913D-CD18-430C-882E-7430BB252464}"/>
              </a:ext>
            </a:extLst>
          </p:cNvPr>
          <p:cNvGrpSpPr/>
          <p:nvPr/>
        </p:nvGrpSpPr>
        <p:grpSpPr>
          <a:xfrm>
            <a:off x="6792532" y="1174068"/>
            <a:ext cx="5289554" cy="2616514"/>
            <a:chOff x="6906832" y="3152064"/>
            <a:chExt cx="5289554" cy="2616514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55B634C-9D3B-4BC1-859B-6451500087D8}"/>
                </a:ext>
              </a:extLst>
            </p:cNvPr>
            <p:cNvSpPr/>
            <p:nvPr/>
          </p:nvSpPr>
          <p:spPr>
            <a:xfrm>
              <a:off x="6907421" y="315206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node #0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3B22DA7-0F7F-4B9C-9E2A-12DB4D4B7ACF}"/>
                </a:ext>
              </a:extLst>
            </p:cNvPr>
            <p:cNvSpPr/>
            <p:nvPr/>
          </p:nvSpPr>
          <p:spPr>
            <a:xfrm>
              <a:off x="7783081" y="359482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6D59FDD-70AF-4D3A-91F8-F18C9632B9AC}"/>
                </a:ext>
              </a:extLst>
            </p:cNvPr>
            <p:cNvSpPr/>
            <p:nvPr/>
          </p:nvSpPr>
          <p:spPr>
            <a:xfrm>
              <a:off x="6906832" y="415152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F125610-11C3-4225-87FE-1549EEA47F7A}"/>
                </a:ext>
              </a:extLst>
            </p:cNvPr>
            <p:cNvSpPr/>
            <p:nvPr/>
          </p:nvSpPr>
          <p:spPr>
            <a:xfrm>
              <a:off x="6906845" y="436172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0AAA60B-15B2-490E-81A8-6CDE6F0650BC}"/>
                </a:ext>
              </a:extLst>
            </p:cNvPr>
            <p:cNvSpPr/>
            <p:nvPr/>
          </p:nvSpPr>
          <p:spPr>
            <a:xfrm>
              <a:off x="7123358" y="457169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A05100D-4071-450A-81C4-5F2313ACD136}"/>
                </a:ext>
              </a:extLst>
            </p:cNvPr>
            <p:cNvSpPr/>
            <p:nvPr/>
          </p:nvSpPr>
          <p:spPr>
            <a:xfrm>
              <a:off x="7783081" y="378901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BC196D2-D68E-41F8-BF10-C519B7151334}"/>
                </a:ext>
              </a:extLst>
            </p:cNvPr>
            <p:cNvSpPr/>
            <p:nvPr/>
          </p:nvSpPr>
          <p:spPr>
            <a:xfrm>
              <a:off x="7783081" y="398180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82AA0B24-41D4-4A2C-A314-0BBBFA64C23D}"/>
                </a:ext>
              </a:extLst>
            </p:cNvPr>
            <p:cNvSpPr/>
            <p:nvPr/>
          </p:nvSpPr>
          <p:spPr>
            <a:xfrm>
              <a:off x="7123346" y="477723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BB19410C-08C1-4412-8992-07A95D22B9BB}"/>
                </a:ext>
              </a:extLst>
            </p:cNvPr>
            <p:cNvSpPr/>
            <p:nvPr/>
          </p:nvSpPr>
          <p:spPr>
            <a:xfrm>
              <a:off x="8182526" y="498451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2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A38F40A4-062E-4149-A007-F19B7B5034B7}"/>
                </a:ext>
              </a:extLst>
            </p:cNvPr>
            <p:cNvSpPr/>
            <p:nvPr/>
          </p:nvSpPr>
          <p:spPr>
            <a:xfrm>
              <a:off x="8182526" y="519448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64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F985455-AFD8-4029-A35E-89D1976156AE}"/>
                </a:ext>
              </a:extLst>
            </p:cNvPr>
            <p:cNvSpPr/>
            <p:nvPr/>
          </p:nvSpPr>
          <p:spPr>
            <a:xfrm>
              <a:off x="8182514" y="540002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0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441BFCFA-23A0-4A94-9419-12ED7B7F7474}"/>
                </a:ext>
              </a:extLst>
            </p:cNvPr>
            <p:cNvSpPr/>
            <p:nvPr/>
          </p:nvSpPr>
          <p:spPr>
            <a:xfrm rot="5400000">
              <a:off x="6513895" y="496464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BEB8A5D-9494-4583-B209-873DDC93AE1C}"/>
                </a:ext>
              </a:extLst>
            </p:cNvPr>
            <p:cNvSpPr/>
            <p:nvPr/>
          </p:nvSpPr>
          <p:spPr>
            <a:xfrm>
              <a:off x="7159711" y="498451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C687B96D-421C-4BCF-8B4B-8096EDB7591D}"/>
                </a:ext>
              </a:extLst>
            </p:cNvPr>
            <p:cNvSpPr/>
            <p:nvPr/>
          </p:nvSpPr>
          <p:spPr>
            <a:xfrm rot="5400000">
              <a:off x="6650289" y="364282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86A983D-210F-4B69-8F53-F85955F9638B}"/>
                </a:ext>
              </a:extLst>
            </p:cNvPr>
            <p:cNvSpPr/>
            <p:nvPr/>
          </p:nvSpPr>
          <p:spPr>
            <a:xfrm>
              <a:off x="7159635" y="359483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7ED201F6-432B-467C-9BB5-35D6E9F24AA1}"/>
                </a:ext>
              </a:extLst>
            </p:cNvPr>
            <p:cNvSpPr/>
            <p:nvPr/>
          </p:nvSpPr>
          <p:spPr>
            <a:xfrm>
              <a:off x="7159635" y="338568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A155499-F78B-4DD9-A865-54C1A682E327}"/>
                </a:ext>
              </a:extLst>
            </p:cNvPr>
            <p:cNvSpPr/>
            <p:nvPr/>
          </p:nvSpPr>
          <p:spPr>
            <a:xfrm>
              <a:off x="10196759" y="4423080"/>
              <a:ext cx="924100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7203E26-2D8C-4230-9634-9E9119F754D7}"/>
                </a:ext>
              </a:extLst>
            </p:cNvPr>
            <p:cNvSpPr/>
            <p:nvPr/>
          </p:nvSpPr>
          <p:spPr>
            <a:xfrm rot="5400000">
              <a:off x="9904516" y="4905965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B51C701-AD57-4855-BDAF-E81E96513440}"/>
                </a:ext>
              </a:extLst>
            </p:cNvPr>
            <p:cNvSpPr/>
            <p:nvPr/>
          </p:nvSpPr>
          <p:spPr>
            <a:xfrm rot="5400000">
              <a:off x="10272949" y="4905966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5B16CA9-5B63-4D2C-BC8C-9193E6C36B53}"/>
                </a:ext>
              </a:extLst>
            </p:cNvPr>
            <p:cNvSpPr txBox="1"/>
            <p:nvPr/>
          </p:nvSpPr>
          <p:spPr>
            <a:xfrm>
              <a:off x="10684549" y="4748815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B7C2B8A-CAEB-4E91-A375-9F50597FA287}"/>
                </a:ext>
              </a:extLst>
            </p:cNvPr>
            <p:cNvSpPr/>
            <p:nvPr/>
          </p:nvSpPr>
          <p:spPr>
            <a:xfrm rot="5400000">
              <a:off x="10644578" y="4906435"/>
              <a:ext cx="768265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3E7D04D-7CCF-4E3F-A399-1AEF5823F712}"/>
                </a:ext>
              </a:extLst>
            </p:cNvPr>
            <p:cNvSpPr txBox="1"/>
            <p:nvPr/>
          </p:nvSpPr>
          <p:spPr>
            <a:xfrm>
              <a:off x="10409065" y="436846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7F083AC-8617-41DA-800C-93EC6FDD5F36}"/>
                </a:ext>
              </a:extLst>
            </p:cNvPr>
            <p:cNvSpPr/>
            <p:nvPr/>
          </p:nvSpPr>
          <p:spPr>
            <a:xfrm rot="5400000">
              <a:off x="10089813" y="4905966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cxnSp>
          <p:nvCxnSpPr>
            <p:cNvPr id="145" name="Connector: Elbow 144">
              <a:extLst>
                <a:ext uri="{FF2B5EF4-FFF2-40B4-BE49-F238E27FC236}">
                  <a16:creationId xmlns:a16="http://schemas.microsoft.com/office/drawing/2014/main" id="{C6A27EB7-E426-40EC-8AC9-0C28FF09A38F}"/>
                </a:ext>
              </a:extLst>
            </p:cNvPr>
            <p:cNvCxnSpPr>
              <a:cxnSpLocks/>
              <a:endCxn id="142" idx="3"/>
            </p:cNvCxnSpPr>
            <p:nvPr/>
          </p:nvCxnSpPr>
          <p:spPr>
            <a:xfrm>
              <a:off x="9830622" y="4466949"/>
              <a:ext cx="1198088" cy="915972"/>
            </a:xfrm>
            <a:prstGeom prst="bentConnector4">
              <a:avLst>
                <a:gd name="adj1" fmla="val 15684"/>
                <a:gd name="adj2" fmla="val 12495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A5AF3892-C0C8-4B82-AB6A-81E2104CCA3F}"/>
                </a:ext>
              </a:extLst>
            </p:cNvPr>
            <p:cNvSpPr/>
            <p:nvPr/>
          </p:nvSpPr>
          <p:spPr>
            <a:xfrm>
              <a:off x="10877550" y="5391150"/>
              <a:ext cx="133350" cy="114300"/>
            </a:xfrm>
            <a:custGeom>
              <a:avLst/>
              <a:gdLst>
                <a:gd name="connsiteX0" fmla="*/ 133350 w 133350"/>
                <a:gd name="connsiteY0" fmla="*/ 0 h 114300"/>
                <a:gd name="connsiteX1" fmla="*/ 66675 w 133350"/>
                <a:gd name="connsiteY1" fmla="*/ 114300 h 114300"/>
                <a:gd name="connsiteX2" fmla="*/ 0 w 133350"/>
                <a:gd name="connsiteY2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114300">
                  <a:moveTo>
                    <a:pt x="133350" y="0"/>
                  </a:moveTo>
                  <a:cubicBezTo>
                    <a:pt x="111125" y="57150"/>
                    <a:pt x="88900" y="114300"/>
                    <a:pt x="66675" y="114300"/>
                  </a:cubicBezTo>
                  <a:cubicBezTo>
                    <a:pt x="44450" y="114300"/>
                    <a:pt x="22225" y="57150"/>
                    <a:pt x="0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CFECFA54-86E1-4541-9E67-530F074FA15C}"/>
                </a:ext>
              </a:extLst>
            </p:cNvPr>
            <p:cNvSpPr/>
            <p:nvPr/>
          </p:nvSpPr>
          <p:spPr>
            <a:xfrm>
              <a:off x="10683228" y="5390402"/>
              <a:ext cx="133350" cy="114300"/>
            </a:xfrm>
            <a:custGeom>
              <a:avLst/>
              <a:gdLst>
                <a:gd name="connsiteX0" fmla="*/ 133350 w 133350"/>
                <a:gd name="connsiteY0" fmla="*/ 0 h 114300"/>
                <a:gd name="connsiteX1" fmla="*/ 66675 w 133350"/>
                <a:gd name="connsiteY1" fmla="*/ 114300 h 114300"/>
                <a:gd name="connsiteX2" fmla="*/ 0 w 133350"/>
                <a:gd name="connsiteY2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114300">
                  <a:moveTo>
                    <a:pt x="133350" y="0"/>
                  </a:moveTo>
                  <a:cubicBezTo>
                    <a:pt x="111125" y="57150"/>
                    <a:pt x="88900" y="114300"/>
                    <a:pt x="66675" y="114300"/>
                  </a:cubicBezTo>
                  <a:cubicBezTo>
                    <a:pt x="44450" y="114300"/>
                    <a:pt x="22225" y="57150"/>
                    <a:pt x="0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79A7BD77-DD23-4A1D-BBB2-DE30987B0C66}"/>
                </a:ext>
              </a:extLst>
            </p:cNvPr>
            <p:cNvSpPr txBox="1"/>
            <p:nvPr/>
          </p:nvSpPr>
          <p:spPr>
            <a:xfrm>
              <a:off x="11053068" y="5245358"/>
              <a:ext cx="11433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freepointers</a:t>
              </a:r>
              <a:r>
                <a:rPr lang="en-US" sz="1400" b="1" dirty="0"/>
                <a:t>: reverse!</a:t>
              </a:r>
            </a:p>
          </p:txBody>
        </p:sp>
      </p:grp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7408" y="-114788"/>
            <a:ext cx="12259408" cy="689951"/>
          </a:xfrm>
        </p:spPr>
        <p:txBody>
          <a:bodyPr>
            <a:noAutofit/>
          </a:bodyPr>
          <a:lstStyle/>
          <a:p>
            <a:r>
              <a:rPr lang="en-US" sz="2400" dirty="0" err="1">
                <a:solidFill>
                  <a:schemeClr val="tx1"/>
                </a:solidFill>
              </a:rPr>
              <a:t>kmem_cache_node</a:t>
            </a:r>
            <a:r>
              <a:rPr lang="en-US" sz="2400" dirty="0">
                <a:solidFill>
                  <a:schemeClr val="tx1"/>
                </a:solidFill>
              </a:rPr>
              <a:t> = bootstrap(&amp;</a:t>
            </a:r>
            <a:r>
              <a:rPr lang="en-US" sz="2400" dirty="0" err="1">
                <a:solidFill>
                  <a:schemeClr val="tx1"/>
                </a:solidFill>
              </a:rPr>
              <a:t>boot_kmem_cache_node</a:t>
            </a:r>
            <a:r>
              <a:rPr lang="en-US" sz="2400" dirty="0">
                <a:solidFill>
                  <a:schemeClr val="tx1"/>
                </a:solidFill>
              </a:rPr>
              <a:t>) -&gt; __</a:t>
            </a:r>
            <a:r>
              <a:rPr lang="en-US" sz="2400" dirty="0" err="1">
                <a:solidFill>
                  <a:schemeClr val="tx1"/>
                </a:solidFill>
              </a:rPr>
              <a:t>flush_cpu_slab</a:t>
            </a:r>
            <a:r>
              <a:rPr lang="en-US" sz="2400" dirty="0">
                <a:solidFill>
                  <a:schemeClr val="tx1"/>
                </a:solidFill>
              </a:rPr>
              <a:t>()</a:t>
            </a:r>
            <a:endParaRPr lang="en-US" sz="2400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D1B0DE1A-0EF0-4EC2-8B78-5D1F94EF0593}"/>
              </a:ext>
            </a:extLst>
          </p:cNvPr>
          <p:cNvCxnSpPr>
            <a:stCxn id="82" idx="3"/>
            <a:endCxn id="107" idx="1"/>
          </p:cNvCxnSpPr>
          <p:nvPr/>
        </p:nvCxnSpPr>
        <p:spPr>
          <a:xfrm flipV="1">
            <a:off x="6310283" y="4200685"/>
            <a:ext cx="609292" cy="151120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6178D859-304B-4CBD-B3FF-19C52CDB2241}"/>
              </a:ext>
            </a:extLst>
          </p:cNvPr>
          <p:cNvSpPr/>
          <p:nvPr/>
        </p:nvSpPr>
        <p:spPr>
          <a:xfrm>
            <a:off x="10896600" y="5849976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58727272-21C2-47A3-8931-BD4FB5400807}"/>
              </a:ext>
            </a:extLst>
          </p:cNvPr>
          <p:cNvSpPr/>
          <p:nvPr/>
        </p:nvSpPr>
        <p:spPr>
          <a:xfrm>
            <a:off x="10740378" y="5849228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A7EA764-0135-42B4-962A-5D5C033DA6AE}"/>
              </a:ext>
            </a:extLst>
          </p:cNvPr>
          <p:cNvSpPr txBox="1"/>
          <p:nvPr/>
        </p:nvSpPr>
        <p:spPr>
          <a:xfrm>
            <a:off x="11110218" y="5704184"/>
            <a:ext cx="114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freepointers</a:t>
            </a:r>
            <a:r>
              <a:rPr lang="en-US" sz="1400" b="1" dirty="0"/>
              <a:t>: reverse!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645CCAC-9B1C-4C19-89B9-860DC9692B6F}"/>
              </a:ext>
            </a:extLst>
          </p:cNvPr>
          <p:cNvCxnSpPr>
            <a:stCxn id="110" idx="3"/>
            <a:endCxn id="135" idx="3"/>
          </p:cNvCxnSpPr>
          <p:nvPr/>
        </p:nvCxnSpPr>
        <p:spPr>
          <a:xfrm>
            <a:off x="9842776" y="5393460"/>
            <a:ext cx="1241948" cy="458698"/>
          </a:xfrm>
          <a:prstGeom prst="bentConnector4">
            <a:avLst>
              <a:gd name="adj1" fmla="val 22264"/>
              <a:gd name="adj2" fmla="val 14983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307696D-8B8E-446E-901C-9E4350C35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531" y="656785"/>
            <a:ext cx="5268060" cy="339137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154001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AD02CB5-C4E4-4CAF-8F8A-4C8ECB8ADB8F}"/>
              </a:ext>
            </a:extLst>
          </p:cNvPr>
          <p:cNvCxnSpPr>
            <a:cxnSpLocks/>
          </p:cNvCxnSpPr>
          <p:nvPr/>
        </p:nvCxnSpPr>
        <p:spPr>
          <a:xfrm flipH="1">
            <a:off x="6308476" y="4585683"/>
            <a:ext cx="1" cy="518055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1825626" y="1174069"/>
            <a:ext cx="1946548" cy="517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1825626" y="1685256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682C5-197F-416E-B7F1-A9E6AE411683}"/>
              </a:ext>
            </a:extLst>
          </p:cNvPr>
          <p:cNvSpPr/>
          <p:nvPr/>
        </p:nvSpPr>
        <p:spPr>
          <a:xfrm>
            <a:off x="1825625" y="1895451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min_partial</a:t>
            </a:r>
            <a:r>
              <a:rPr lang="en-US" sz="1200" dirty="0">
                <a:solidFill>
                  <a:schemeClr val="tx1"/>
                </a:solidFill>
              </a:rPr>
              <a:t> =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90730F-C512-49C1-BF91-593A71130F7F}"/>
              </a:ext>
            </a:extLst>
          </p:cNvPr>
          <p:cNvSpPr/>
          <p:nvPr/>
        </p:nvSpPr>
        <p:spPr>
          <a:xfrm>
            <a:off x="1825621" y="2105424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size = 64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9F81A-9282-4516-A2CB-95F6D5CAA46B}"/>
              </a:ext>
            </a:extLst>
          </p:cNvPr>
          <p:cNvSpPr/>
          <p:nvPr/>
        </p:nvSpPr>
        <p:spPr>
          <a:xfrm>
            <a:off x="1825624" y="231561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object_size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39EC9C-B117-48D2-9AD2-2AE77B76A2DB}"/>
              </a:ext>
            </a:extLst>
          </p:cNvPr>
          <p:cNvSpPr/>
          <p:nvPr/>
        </p:nvSpPr>
        <p:spPr>
          <a:xfrm>
            <a:off x="1825626" y="272982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cpu_partial</a:t>
            </a:r>
            <a:r>
              <a:rPr lang="en-US" sz="1200" dirty="0">
                <a:solidFill>
                  <a:schemeClr val="tx1"/>
                </a:solidFill>
              </a:rPr>
              <a:t> = 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81C4A8-1D4A-436B-A850-A82A86B5B344}"/>
              </a:ext>
            </a:extLst>
          </p:cNvPr>
          <p:cNvSpPr/>
          <p:nvPr/>
        </p:nvSpPr>
        <p:spPr>
          <a:xfrm>
            <a:off x="1825625" y="334546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min = 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95659B-BE30-4597-97AD-3CE06098B7A1}"/>
              </a:ext>
            </a:extLst>
          </p:cNvPr>
          <p:cNvSpPr/>
          <p:nvPr/>
        </p:nvSpPr>
        <p:spPr>
          <a:xfrm>
            <a:off x="1825625" y="3555438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inuse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64D28-75D7-43B3-ABEE-A84CD12FC349}"/>
              </a:ext>
            </a:extLst>
          </p:cNvPr>
          <p:cNvSpPr/>
          <p:nvPr/>
        </p:nvSpPr>
        <p:spPr>
          <a:xfrm>
            <a:off x="1825624" y="3765633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align = 64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326B47-FCDC-4C27-8A45-D2B042EA7FB2}"/>
              </a:ext>
            </a:extLst>
          </p:cNvPr>
          <p:cNvSpPr/>
          <p:nvPr/>
        </p:nvSpPr>
        <p:spPr>
          <a:xfrm>
            <a:off x="1825624" y="3975347"/>
            <a:ext cx="1946548" cy="317302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tx1"/>
                </a:solidFill>
              </a:rPr>
              <a:t>name = “</a:t>
            </a:r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D5721-521E-4738-AD91-CF1F158402AC}"/>
              </a:ext>
            </a:extLst>
          </p:cNvPr>
          <p:cNvSpPr/>
          <p:nvPr/>
        </p:nvSpPr>
        <p:spPr>
          <a:xfrm>
            <a:off x="1825623" y="4291909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1825623" y="4495902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332C27-E0F0-4A18-ABCC-439270CC05B0}"/>
              </a:ext>
            </a:extLst>
          </p:cNvPr>
          <p:cNvSpPr/>
          <p:nvPr/>
        </p:nvSpPr>
        <p:spPr>
          <a:xfrm>
            <a:off x="1825621" y="3149939"/>
            <a:ext cx="1946548" cy="1953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= 64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66685-94DB-48C6-9D5E-25FA88E8F561}"/>
              </a:ext>
            </a:extLst>
          </p:cNvPr>
          <p:cNvSpPr/>
          <p:nvPr/>
        </p:nvSpPr>
        <p:spPr>
          <a:xfrm>
            <a:off x="1825620" y="2933093"/>
            <a:ext cx="1946548" cy="2169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oo</a:t>
            </a:r>
            <a:r>
              <a:rPr lang="en-US" sz="1200" dirty="0">
                <a:solidFill>
                  <a:schemeClr val="tx1"/>
                </a:solidFill>
              </a:rPr>
              <a:t> (order objects) = 64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1E6E86-82BE-4DAD-ACAE-95F54A6F90D5}"/>
              </a:ext>
            </a:extLst>
          </p:cNvPr>
          <p:cNvSpPr/>
          <p:nvPr/>
        </p:nvSpPr>
        <p:spPr>
          <a:xfrm>
            <a:off x="1825620" y="252405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offset = 32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795F792-6FF9-4E83-A400-62B30BAB9131}"/>
              </a:ext>
            </a:extLst>
          </p:cNvPr>
          <p:cNvSpPr txBox="1"/>
          <p:nvPr/>
        </p:nvSpPr>
        <p:spPr>
          <a:xfrm>
            <a:off x="1843187" y="625783"/>
            <a:ext cx="1983060" cy="430887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static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4109217" y="957462"/>
            <a:ext cx="194654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4109217" y="1383887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=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NULL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4109212" y="1594505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=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NULL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4109215" y="1804700"/>
            <a:ext cx="194654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= NULL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79C4CDE-6DF0-42F7-A65F-EEE33904EC9B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3772174" y="1174069"/>
            <a:ext cx="337043" cy="6164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4095913" y="3116905"/>
            <a:ext cx="2214379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0)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7AE0910-DDBA-4575-B32F-9D781FE7EF55}"/>
              </a:ext>
            </a:extLst>
          </p:cNvPr>
          <p:cNvSpPr/>
          <p:nvPr/>
        </p:nvSpPr>
        <p:spPr>
          <a:xfrm>
            <a:off x="4095913" y="3593467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4095912" y="3803662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5CCE35-F07E-4775-A10F-2F985DEA9E57}"/>
              </a:ext>
            </a:extLst>
          </p:cNvPr>
          <p:cNvSpPr/>
          <p:nvPr/>
        </p:nvSpPr>
        <p:spPr>
          <a:xfrm>
            <a:off x="4095908" y="4013635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B58DFE-B3AE-4BF5-9ED6-882CEA30837C}"/>
              </a:ext>
            </a:extLst>
          </p:cNvPr>
          <p:cNvSpPr/>
          <p:nvPr/>
        </p:nvSpPr>
        <p:spPr>
          <a:xfrm>
            <a:off x="4095911" y="422383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71B5CB6-B4F4-4B3E-B47F-8A091185E7FB}"/>
              </a:ext>
            </a:extLst>
          </p:cNvPr>
          <p:cNvSpPr/>
          <p:nvPr/>
        </p:nvSpPr>
        <p:spPr>
          <a:xfrm>
            <a:off x="4095907" y="3385200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C7247ED-5348-4F06-8E7E-633E7DC9BD31}"/>
              </a:ext>
            </a:extLst>
          </p:cNvPr>
          <p:cNvSpPr/>
          <p:nvPr/>
        </p:nvSpPr>
        <p:spPr>
          <a:xfrm>
            <a:off x="4095906" y="4431138"/>
            <a:ext cx="221437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4095911" y="4919902"/>
            <a:ext cx="2214373" cy="2690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(node 1)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7BB2E2B-E206-4139-B1F6-2E51D1F55023}"/>
              </a:ext>
            </a:extLst>
          </p:cNvPr>
          <p:cNvSpPr/>
          <p:nvPr/>
        </p:nvSpPr>
        <p:spPr>
          <a:xfrm>
            <a:off x="4095911" y="5396464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nr_partial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4095910" y="5606659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D49C39-96EB-4BF7-BEA3-657E30D20D20}"/>
              </a:ext>
            </a:extLst>
          </p:cNvPr>
          <p:cNvSpPr/>
          <p:nvPr/>
        </p:nvSpPr>
        <p:spPr>
          <a:xfrm>
            <a:off x="4095906" y="5816632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nr_slabs</a:t>
            </a:r>
            <a:r>
              <a:rPr lang="en-US" sz="1200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81B59-F98C-4672-84FB-207E2D8EEC50}"/>
              </a:ext>
            </a:extLst>
          </p:cNvPr>
          <p:cNvSpPr/>
          <p:nvPr/>
        </p:nvSpPr>
        <p:spPr>
          <a:xfrm>
            <a:off x="4095909" y="602682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total_objects</a:t>
            </a:r>
            <a:r>
              <a:rPr lang="en-US" sz="1200" dirty="0">
                <a:solidFill>
                  <a:schemeClr val="tx1"/>
                </a:solidFill>
              </a:rPr>
              <a:t> = 64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CBE024-58B0-4C52-B5AB-23AAA94E030E}"/>
              </a:ext>
            </a:extLst>
          </p:cNvPr>
          <p:cNvSpPr/>
          <p:nvPr/>
        </p:nvSpPr>
        <p:spPr>
          <a:xfrm>
            <a:off x="4095905" y="5188197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list_lock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269494E-60B6-46E6-BC0F-ECEB88527559}"/>
              </a:ext>
            </a:extLst>
          </p:cNvPr>
          <p:cNvSpPr/>
          <p:nvPr/>
        </p:nvSpPr>
        <p:spPr>
          <a:xfrm>
            <a:off x="4095904" y="6234135"/>
            <a:ext cx="221437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full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4275886" y="6441443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stCxn id="106" idx="1"/>
          </p:cNvCxnSpPr>
          <p:nvPr/>
        </p:nvCxnSpPr>
        <p:spPr>
          <a:xfrm flipH="1">
            <a:off x="4095904" y="4536365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53BD895-A397-43CB-BBC3-9942589628A8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 flipV="1">
            <a:off x="3772171" y="3251423"/>
            <a:ext cx="323742" cy="1349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78D6EC63-C574-43F4-ACFC-EDC63B00DE7B}"/>
              </a:ext>
            </a:extLst>
          </p:cNvPr>
          <p:cNvCxnSpPr>
            <a:cxnSpLocks/>
            <a:stCxn id="91" idx="3"/>
            <a:endCxn id="99" idx="1"/>
          </p:cNvCxnSpPr>
          <p:nvPr/>
        </p:nvCxnSpPr>
        <p:spPr>
          <a:xfrm flipV="1">
            <a:off x="6310291" y="1296178"/>
            <a:ext cx="482830" cy="261271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2F00405-EB60-4F29-82E3-87EBF9723E00}"/>
              </a:ext>
            </a:extLst>
          </p:cNvPr>
          <p:cNvGrpSpPr/>
          <p:nvPr/>
        </p:nvGrpSpPr>
        <p:grpSpPr>
          <a:xfrm>
            <a:off x="6918986" y="4078575"/>
            <a:ext cx="4258092" cy="2458413"/>
            <a:chOff x="6783009" y="744782"/>
            <a:chExt cx="4258092" cy="2458413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362B75B-E14A-4CC9-ACCA-96F309D63D04}"/>
                </a:ext>
              </a:extLst>
            </p:cNvPr>
            <p:cNvGrpSpPr/>
            <p:nvPr/>
          </p:nvGrpSpPr>
          <p:grpSpPr>
            <a:xfrm>
              <a:off x="6783009" y="744782"/>
              <a:ext cx="2924383" cy="2458413"/>
              <a:chOff x="7059232" y="1647114"/>
              <a:chExt cx="2924383" cy="2458413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182A48A0-C700-47FB-96A8-C887468B9907}"/>
                  </a:ext>
                </a:extLst>
              </p:cNvPr>
              <p:cNvSpPr/>
              <p:nvPr/>
            </p:nvSpPr>
            <p:spPr>
              <a:xfrm>
                <a:off x="7059821" y="1647114"/>
                <a:ext cx="2923794" cy="24422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page struct (slab, slob or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slub</a:t>
                </a:r>
                <a:r>
                  <a:rPr lang="en-US" sz="1400" dirty="0">
                    <a:solidFill>
                      <a:schemeClr val="tx1"/>
                    </a:solidFill>
                  </a:rPr>
                  <a:t>): node #1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25A003AA-FDBB-4FC2-A4B6-F3FCE99F7D06}"/>
                  </a:ext>
                </a:extLst>
              </p:cNvPr>
              <p:cNvSpPr/>
              <p:nvPr/>
            </p:nvSpPr>
            <p:spPr>
              <a:xfrm>
                <a:off x="7935481" y="2089879"/>
                <a:ext cx="2046900" cy="193927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struct page *next</a:t>
                </a: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B5039891-EFA4-4CE7-A9C9-F61573596A35}"/>
                  </a:ext>
                </a:extLst>
              </p:cNvPr>
              <p:cNvSpPr/>
              <p:nvPr/>
            </p:nvSpPr>
            <p:spPr>
              <a:xfrm>
                <a:off x="7059232" y="2646577"/>
                <a:ext cx="2923150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struct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kmem_cache</a:t>
                </a:r>
                <a:r>
                  <a:rPr lang="en-US" sz="1200" dirty="0">
                    <a:solidFill>
                      <a:schemeClr val="tx1"/>
                    </a:solidFill>
                  </a:rPr>
                  <a:t> *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slab_cache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BD849E95-0F0F-4579-B533-11BF75C5FD18}"/>
                  </a:ext>
                </a:extLst>
              </p:cNvPr>
              <p:cNvSpPr/>
              <p:nvPr/>
            </p:nvSpPr>
            <p:spPr>
              <a:xfrm>
                <a:off x="7059245" y="2856772"/>
                <a:ext cx="2923777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void *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freelist</a:t>
                </a:r>
                <a:r>
                  <a:rPr lang="en-US" sz="1200" dirty="0">
                    <a:solidFill>
                      <a:schemeClr val="tx1"/>
                    </a:solidFill>
                  </a:rPr>
                  <a:t> (first free object)</a:t>
                </a: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BBA1A864-E3FF-4005-9A55-1FB55789BC3D}"/>
                  </a:ext>
                </a:extLst>
              </p:cNvPr>
              <p:cNvSpPr/>
              <p:nvPr/>
            </p:nvSpPr>
            <p:spPr>
              <a:xfrm>
                <a:off x="7275758" y="3066745"/>
                <a:ext cx="2707264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s_mem</a:t>
                </a:r>
                <a:r>
                  <a:rPr lang="en-US" sz="1200" dirty="0">
                    <a:solidFill>
                      <a:schemeClr val="tx1"/>
                    </a:solidFill>
                  </a:rPr>
                  <a:t>: first object - SLAB</a:t>
                </a: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9E472742-5004-4DE4-A506-2E67178508A4}"/>
                  </a:ext>
                </a:extLst>
              </p:cNvPr>
              <p:cNvSpPr/>
              <p:nvPr/>
            </p:nvSpPr>
            <p:spPr>
              <a:xfrm>
                <a:off x="7935481" y="2284065"/>
                <a:ext cx="2046900" cy="194568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int pages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28B1047-F234-4A68-93B5-47860125DCE2}"/>
                  </a:ext>
                </a:extLst>
              </p:cNvPr>
              <p:cNvSpPr/>
              <p:nvPr/>
            </p:nvSpPr>
            <p:spPr>
              <a:xfrm>
                <a:off x="7935481" y="2476859"/>
                <a:ext cx="2046900" cy="17102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int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pobjects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66AFD800-9ECC-43AC-8BE8-98977F9B281E}"/>
                  </a:ext>
                </a:extLst>
              </p:cNvPr>
              <p:cNvSpPr/>
              <p:nvPr/>
            </p:nvSpPr>
            <p:spPr>
              <a:xfrm>
                <a:off x="7275746" y="3272282"/>
                <a:ext cx="2707264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counters - SLUB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3BEB763E-DE3F-4CCB-88A6-CD04424E7B58}"/>
                  </a:ext>
                </a:extLst>
              </p:cNvPr>
              <p:cNvSpPr/>
              <p:nvPr/>
            </p:nvSpPr>
            <p:spPr>
              <a:xfrm>
                <a:off x="8334926" y="3479563"/>
                <a:ext cx="1648084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inuse</a:t>
                </a:r>
                <a:r>
                  <a:rPr lang="en-US" sz="1200" dirty="0">
                    <a:solidFill>
                      <a:schemeClr val="tx1"/>
                    </a:solidFill>
                  </a:rPr>
                  <a:t>: 16 = 2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D18B1962-C07C-4637-8B1F-5E9396C26E43}"/>
                  </a:ext>
                </a:extLst>
              </p:cNvPr>
              <p:cNvSpPr/>
              <p:nvPr/>
            </p:nvSpPr>
            <p:spPr>
              <a:xfrm>
                <a:off x="8334926" y="3689536"/>
                <a:ext cx="1648084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objects:15 = 64</a:t>
                </a: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C57D2F4A-05F4-4A49-9347-9FED2C28873A}"/>
                  </a:ext>
                </a:extLst>
              </p:cNvPr>
              <p:cNvSpPr/>
              <p:nvPr/>
            </p:nvSpPr>
            <p:spPr>
              <a:xfrm>
                <a:off x="8334914" y="3895073"/>
                <a:ext cx="1648084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frozen: 1 = 0</a:t>
                </a: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57C91180-2CB8-4DD1-858B-CC563B8F4A0A}"/>
                  </a:ext>
                </a:extLst>
              </p:cNvPr>
              <p:cNvSpPr/>
              <p:nvPr/>
            </p:nvSpPr>
            <p:spPr>
              <a:xfrm rot="5400000">
                <a:off x="6666295" y="3459696"/>
                <a:ext cx="1038782" cy="2528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union</a:t>
                </a: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680B50E3-B20C-4837-A183-AC145EC0714F}"/>
                  </a:ext>
                </a:extLst>
              </p:cNvPr>
              <p:cNvSpPr/>
              <p:nvPr/>
            </p:nvSpPr>
            <p:spPr>
              <a:xfrm>
                <a:off x="7312111" y="3479563"/>
                <a:ext cx="1022819" cy="62596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struct</a:t>
                </a:r>
                <a:br>
                  <a:rPr lang="en-US" sz="1200" b="1" dirty="0">
                    <a:solidFill>
                      <a:schemeClr val="tx1"/>
                    </a:solidFill>
                  </a:rPr>
                </a:br>
                <a:r>
                  <a:rPr lang="en-US" sz="1200" b="1" dirty="0">
                    <a:solidFill>
                      <a:schemeClr val="tx1"/>
                    </a:solidFill>
                  </a:rPr>
                  <a:t>(SLUB)</a:t>
                </a: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A157A930-9B09-42A6-88DE-9F8F19ACCEE8}"/>
                  </a:ext>
                </a:extLst>
              </p:cNvPr>
              <p:cNvSpPr/>
              <p:nvPr/>
            </p:nvSpPr>
            <p:spPr>
              <a:xfrm rot="5400000">
                <a:off x="6802689" y="2137872"/>
                <a:ext cx="767148" cy="2528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union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BD3097E1-156D-4925-8A6E-33008DE50C96}"/>
                  </a:ext>
                </a:extLst>
              </p:cNvPr>
              <p:cNvSpPr/>
              <p:nvPr/>
            </p:nvSpPr>
            <p:spPr>
              <a:xfrm>
                <a:off x="7312035" y="2089880"/>
                <a:ext cx="630578" cy="55800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struct</a:t>
                </a:r>
                <a:br>
                  <a:rPr lang="en-US" sz="1200" b="1" dirty="0">
                    <a:solidFill>
                      <a:schemeClr val="tx1"/>
                    </a:solidFill>
                  </a:rPr>
                </a:br>
                <a:r>
                  <a:rPr lang="en-US" sz="1200" b="1" dirty="0">
                    <a:solidFill>
                      <a:schemeClr val="tx1"/>
                    </a:solidFill>
                  </a:rPr>
                  <a:t>(Partial</a:t>
                </a:r>
                <a:br>
                  <a:rPr lang="en-US" sz="1200" b="1" dirty="0">
                    <a:solidFill>
                      <a:schemeClr val="tx1"/>
                    </a:solidFill>
                  </a:rPr>
                </a:br>
                <a:r>
                  <a:rPr lang="en-US" sz="1200" b="1" dirty="0">
                    <a:solidFill>
                      <a:schemeClr val="tx1"/>
                    </a:solidFill>
                  </a:rPr>
                  <a:t>Page)</a:t>
                </a: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13F7317A-C123-4B03-BBBD-B0A56C981513}"/>
                  </a:ext>
                </a:extLst>
              </p:cNvPr>
              <p:cNvSpPr/>
              <p:nvPr/>
            </p:nvSpPr>
            <p:spPr>
              <a:xfrm>
                <a:off x="7312035" y="1880734"/>
                <a:ext cx="2670963" cy="210454"/>
              </a:xfrm>
              <a:prstGeom prst="rect">
                <a:avLst/>
              </a:prstGeom>
              <a:solidFill>
                <a:srgbClr val="FFE18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struct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list_head</a:t>
                </a:r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slab_list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C4D69D14-C392-4DBE-8730-B8FFD34BD229}"/>
                </a:ext>
              </a:extLst>
            </p:cNvPr>
            <p:cNvSpPr/>
            <p:nvPr/>
          </p:nvSpPr>
          <p:spPr>
            <a:xfrm>
              <a:off x="10116796" y="1558524"/>
              <a:ext cx="924100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AD86A15-A6F3-4072-BE05-8F58BD2C9D05}"/>
                </a:ext>
              </a:extLst>
            </p:cNvPr>
            <p:cNvSpPr/>
            <p:nvPr/>
          </p:nvSpPr>
          <p:spPr>
            <a:xfrm rot="5400000">
              <a:off x="9824553" y="2041409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C5549C3-5615-4956-94E4-9117FBD43844}"/>
                </a:ext>
              </a:extLst>
            </p:cNvPr>
            <p:cNvSpPr/>
            <p:nvPr/>
          </p:nvSpPr>
          <p:spPr>
            <a:xfrm rot="5400000">
              <a:off x="10192986" y="2041410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CCB499C-8199-4E73-AA66-02C9F4C1576B}"/>
                </a:ext>
              </a:extLst>
            </p:cNvPr>
            <p:cNvSpPr txBox="1"/>
            <p:nvPr/>
          </p:nvSpPr>
          <p:spPr>
            <a:xfrm>
              <a:off x="10604586" y="1884259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8D39DFA-2C81-4299-BFCA-96B07300AA70}"/>
                </a:ext>
              </a:extLst>
            </p:cNvPr>
            <p:cNvSpPr/>
            <p:nvPr/>
          </p:nvSpPr>
          <p:spPr>
            <a:xfrm rot="5400000">
              <a:off x="10564615" y="2041879"/>
              <a:ext cx="768265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E526B2D1-29C4-4C89-BD33-FD63B380A5ED}"/>
                </a:ext>
              </a:extLst>
            </p:cNvPr>
            <p:cNvSpPr txBox="1"/>
            <p:nvPr/>
          </p:nvSpPr>
          <p:spPr>
            <a:xfrm>
              <a:off x="10329102" y="1503905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C37280FB-85F1-4C52-B840-F62A81C58A22}"/>
                </a:ext>
              </a:extLst>
            </p:cNvPr>
            <p:cNvSpPr/>
            <p:nvPr/>
          </p:nvSpPr>
          <p:spPr>
            <a:xfrm rot="5400000">
              <a:off x="10009850" y="2041410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D18913D-CD18-430C-882E-7430BB252464}"/>
              </a:ext>
            </a:extLst>
          </p:cNvPr>
          <p:cNvGrpSpPr/>
          <p:nvPr/>
        </p:nvGrpSpPr>
        <p:grpSpPr>
          <a:xfrm>
            <a:off x="6792532" y="1174068"/>
            <a:ext cx="5289554" cy="2616514"/>
            <a:chOff x="6906832" y="3152064"/>
            <a:chExt cx="5289554" cy="2616514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55B634C-9D3B-4BC1-859B-6451500087D8}"/>
                </a:ext>
              </a:extLst>
            </p:cNvPr>
            <p:cNvSpPr/>
            <p:nvPr/>
          </p:nvSpPr>
          <p:spPr>
            <a:xfrm>
              <a:off x="6907421" y="3152064"/>
              <a:ext cx="2923794" cy="2442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page struct (slab, slob or </a:t>
              </a:r>
              <a:r>
                <a:rPr lang="en-US" sz="1400" dirty="0" err="1">
                  <a:solidFill>
                    <a:schemeClr val="tx1"/>
                  </a:solidFill>
                </a:rPr>
                <a:t>slub</a:t>
              </a:r>
              <a:r>
                <a:rPr lang="en-US" sz="1400" dirty="0">
                  <a:solidFill>
                    <a:schemeClr val="tx1"/>
                  </a:solidFill>
                </a:rPr>
                <a:t>): node #0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3B22DA7-0F7F-4B9C-9E2A-12DB4D4B7ACF}"/>
                </a:ext>
              </a:extLst>
            </p:cNvPr>
            <p:cNvSpPr/>
            <p:nvPr/>
          </p:nvSpPr>
          <p:spPr>
            <a:xfrm>
              <a:off x="7783081" y="3594829"/>
              <a:ext cx="2046900" cy="193927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page *next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6D59FDD-70AF-4D3A-91F8-F18C9632B9AC}"/>
                </a:ext>
              </a:extLst>
            </p:cNvPr>
            <p:cNvSpPr/>
            <p:nvPr/>
          </p:nvSpPr>
          <p:spPr>
            <a:xfrm>
              <a:off x="6906832" y="4151527"/>
              <a:ext cx="2923150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kmem_cache</a:t>
              </a:r>
              <a:r>
                <a:rPr lang="en-US" sz="1200" dirty="0">
                  <a:solidFill>
                    <a:schemeClr val="tx1"/>
                  </a:solidFill>
                </a:rPr>
                <a:t> *</a:t>
              </a:r>
              <a:r>
                <a:rPr lang="en-US" sz="1200" dirty="0" err="1">
                  <a:solidFill>
                    <a:schemeClr val="tx1"/>
                  </a:solidFill>
                </a:rPr>
                <a:t>slab_cache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F125610-11C3-4225-87FE-1549EEA47F7A}"/>
                </a:ext>
              </a:extLst>
            </p:cNvPr>
            <p:cNvSpPr/>
            <p:nvPr/>
          </p:nvSpPr>
          <p:spPr>
            <a:xfrm>
              <a:off x="6906845" y="4361722"/>
              <a:ext cx="2923777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void *</a:t>
              </a:r>
              <a:r>
                <a:rPr lang="en-US" sz="1200" dirty="0" err="1">
                  <a:solidFill>
                    <a:schemeClr val="tx1"/>
                  </a:solidFill>
                </a:rPr>
                <a:t>freelist</a:t>
              </a:r>
              <a:r>
                <a:rPr lang="en-US" sz="1200" dirty="0">
                  <a:solidFill>
                    <a:schemeClr val="tx1"/>
                  </a:solidFill>
                </a:rPr>
                <a:t> (first free object)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0AAA60B-15B2-490E-81A8-6CDE6F0650BC}"/>
                </a:ext>
              </a:extLst>
            </p:cNvPr>
            <p:cNvSpPr/>
            <p:nvPr/>
          </p:nvSpPr>
          <p:spPr>
            <a:xfrm>
              <a:off x="7123358" y="4571695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s_mem</a:t>
              </a:r>
              <a:r>
                <a:rPr lang="en-US" sz="1200" dirty="0">
                  <a:solidFill>
                    <a:schemeClr val="tx1"/>
                  </a:solidFill>
                </a:rPr>
                <a:t>: first object - SLAB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A05100D-4071-450A-81C4-5F2313ACD136}"/>
                </a:ext>
              </a:extLst>
            </p:cNvPr>
            <p:cNvSpPr/>
            <p:nvPr/>
          </p:nvSpPr>
          <p:spPr>
            <a:xfrm>
              <a:off x="7783081" y="3789015"/>
              <a:ext cx="2046900" cy="194568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pages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BC196D2-D68E-41F8-BF10-C519B7151334}"/>
                </a:ext>
              </a:extLst>
            </p:cNvPr>
            <p:cNvSpPr/>
            <p:nvPr/>
          </p:nvSpPr>
          <p:spPr>
            <a:xfrm>
              <a:off x="7783081" y="3981809"/>
              <a:ext cx="2046900" cy="17102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int </a:t>
              </a:r>
              <a:r>
                <a:rPr lang="en-US" sz="1200" dirty="0" err="1">
                  <a:solidFill>
                    <a:schemeClr val="tx1"/>
                  </a:solidFill>
                </a:rPr>
                <a:t>pobjects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82AA0B24-41D4-4A2C-A314-0BBBFA64C23D}"/>
                </a:ext>
              </a:extLst>
            </p:cNvPr>
            <p:cNvSpPr/>
            <p:nvPr/>
          </p:nvSpPr>
          <p:spPr>
            <a:xfrm>
              <a:off x="7123346" y="4777232"/>
              <a:ext cx="270726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counters - SLUB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BB19410C-08C1-4412-8992-07A95D22B9BB}"/>
                </a:ext>
              </a:extLst>
            </p:cNvPr>
            <p:cNvSpPr/>
            <p:nvPr/>
          </p:nvSpPr>
          <p:spPr>
            <a:xfrm>
              <a:off x="8182526" y="498451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inuse</a:t>
              </a:r>
              <a:r>
                <a:rPr lang="en-US" sz="1200" dirty="0">
                  <a:solidFill>
                    <a:schemeClr val="tx1"/>
                  </a:solidFill>
                </a:rPr>
                <a:t>: 16 = 2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A38F40A4-062E-4149-A007-F19B7B5034B7}"/>
                </a:ext>
              </a:extLst>
            </p:cNvPr>
            <p:cNvSpPr/>
            <p:nvPr/>
          </p:nvSpPr>
          <p:spPr>
            <a:xfrm>
              <a:off x="8182526" y="5194486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objects:15 = 64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F985455-AFD8-4029-A35E-89D1976156AE}"/>
                </a:ext>
              </a:extLst>
            </p:cNvPr>
            <p:cNvSpPr/>
            <p:nvPr/>
          </p:nvSpPr>
          <p:spPr>
            <a:xfrm>
              <a:off x="8182514" y="5400023"/>
              <a:ext cx="1648084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frozen: 1 = 0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441BFCFA-23A0-4A94-9419-12ED7B7F7474}"/>
                </a:ext>
              </a:extLst>
            </p:cNvPr>
            <p:cNvSpPr/>
            <p:nvPr/>
          </p:nvSpPr>
          <p:spPr>
            <a:xfrm rot="5400000">
              <a:off x="6513895" y="4964646"/>
              <a:ext cx="1038782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BEB8A5D-9494-4583-B209-873DDC93AE1C}"/>
                </a:ext>
              </a:extLst>
            </p:cNvPr>
            <p:cNvSpPr/>
            <p:nvPr/>
          </p:nvSpPr>
          <p:spPr>
            <a:xfrm>
              <a:off x="7159711" y="4984513"/>
              <a:ext cx="1022819" cy="6259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(SLUB)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C687B96D-421C-4BCF-8B4B-8096EDB7591D}"/>
                </a:ext>
              </a:extLst>
            </p:cNvPr>
            <p:cNvSpPr/>
            <p:nvPr/>
          </p:nvSpPr>
          <p:spPr>
            <a:xfrm rot="5400000">
              <a:off x="6650289" y="3642822"/>
              <a:ext cx="767148" cy="25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union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86A983D-210F-4B69-8F53-F85955F9638B}"/>
                </a:ext>
              </a:extLst>
            </p:cNvPr>
            <p:cNvSpPr/>
            <p:nvPr/>
          </p:nvSpPr>
          <p:spPr>
            <a:xfrm>
              <a:off x="7159635" y="3594830"/>
              <a:ext cx="630578" cy="55800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struct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(Partial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Page)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7ED201F6-432B-467C-9BB5-35D6E9F24AA1}"/>
                </a:ext>
              </a:extLst>
            </p:cNvPr>
            <p:cNvSpPr/>
            <p:nvPr/>
          </p:nvSpPr>
          <p:spPr>
            <a:xfrm>
              <a:off x="7159635" y="3385684"/>
              <a:ext cx="2670963" cy="210454"/>
            </a:xfrm>
            <a:prstGeom prst="rect">
              <a:avLst/>
            </a:prstGeom>
            <a:solidFill>
              <a:srgbClr val="FFE18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struct </a:t>
              </a:r>
              <a:r>
                <a:rPr lang="en-US" sz="1200" dirty="0" err="1">
                  <a:solidFill>
                    <a:schemeClr val="tx1"/>
                  </a:solidFill>
                </a:rPr>
                <a:t>list_head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slab_list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A155499-F78B-4DD9-A865-54C1A682E327}"/>
                </a:ext>
              </a:extLst>
            </p:cNvPr>
            <p:cNvSpPr/>
            <p:nvPr/>
          </p:nvSpPr>
          <p:spPr>
            <a:xfrm>
              <a:off x="10196759" y="4423080"/>
              <a:ext cx="924100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7203E26-2D8C-4230-9634-9E9119F754D7}"/>
                </a:ext>
              </a:extLst>
            </p:cNvPr>
            <p:cNvSpPr/>
            <p:nvPr/>
          </p:nvSpPr>
          <p:spPr>
            <a:xfrm rot="5400000">
              <a:off x="9904516" y="4905965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B51C701-AD57-4855-BDAF-E81E96513440}"/>
                </a:ext>
              </a:extLst>
            </p:cNvPr>
            <p:cNvSpPr/>
            <p:nvPr/>
          </p:nvSpPr>
          <p:spPr>
            <a:xfrm rot="5400000">
              <a:off x="10272949" y="4905966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5B16CA9-5B63-4D2C-BC8C-9193E6C36B53}"/>
                </a:ext>
              </a:extLst>
            </p:cNvPr>
            <p:cNvSpPr txBox="1"/>
            <p:nvPr/>
          </p:nvSpPr>
          <p:spPr>
            <a:xfrm>
              <a:off x="10684549" y="4748815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B7C2B8A-CAEB-4E91-A375-9F50597FA287}"/>
                </a:ext>
              </a:extLst>
            </p:cNvPr>
            <p:cNvSpPr/>
            <p:nvPr/>
          </p:nvSpPr>
          <p:spPr>
            <a:xfrm rot="5400000">
              <a:off x="10644578" y="4906435"/>
              <a:ext cx="768265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3E7D04D-7CCF-4E3F-A399-1AEF5823F712}"/>
                </a:ext>
              </a:extLst>
            </p:cNvPr>
            <p:cNvSpPr txBox="1"/>
            <p:nvPr/>
          </p:nvSpPr>
          <p:spPr>
            <a:xfrm>
              <a:off x="10409065" y="436846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7F083AC-8617-41DA-800C-93EC6FDD5F36}"/>
                </a:ext>
              </a:extLst>
            </p:cNvPr>
            <p:cNvSpPr/>
            <p:nvPr/>
          </p:nvSpPr>
          <p:spPr>
            <a:xfrm rot="5400000">
              <a:off x="10089813" y="4905966"/>
              <a:ext cx="769200" cy="18470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cxnSp>
          <p:nvCxnSpPr>
            <p:cNvPr id="145" name="Connector: Elbow 144">
              <a:extLst>
                <a:ext uri="{FF2B5EF4-FFF2-40B4-BE49-F238E27FC236}">
                  <a16:creationId xmlns:a16="http://schemas.microsoft.com/office/drawing/2014/main" id="{C6A27EB7-E426-40EC-8AC9-0C28FF09A38F}"/>
                </a:ext>
              </a:extLst>
            </p:cNvPr>
            <p:cNvCxnSpPr>
              <a:cxnSpLocks/>
              <a:endCxn id="142" idx="3"/>
            </p:cNvCxnSpPr>
            <p:nvPr/>
          </p:nvCxnSpPr>
          <p:spPr>
            <a:xfrm>
              <a:off x="9830622" y="4466949"/>
              <a:ext cx="1198088" cy="915972"/>
            </a:xfrm>
            <a:prstGeom prst="bentConnector4">
              <a:avLst>
                <a:gd name="adj1" fmla="val 15684"/>
                <a:gd name="adj2" fmla="val 12495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A5AF3892-C0C8-4B82-AB6A-81E2104CCA3F}"/>
                </a:ext>
              </a:extLst>
            </p:cNvPr>
            <p:cNvSpPr/>
            <p:nvPr/>
          </p:nvSpPr>
          <p:spPr>
            <a:xfrm>
              <a:off x="10877550" y="5391150"/>
              <a:ext cx="133350" cy="114300"/>
            </a:xfrm>
            <a:custGeom>
              <a:avLst/>
              <a:gdLst>
                <a:gd name="connsiteX0" fmla="*/ 133350 w 133350"/>
                <a:gd name="connsiteY0" fmla="*/ 0 h 114300"/>
                <a:gd name="connsiteX1" fmla="*/ 66675 w 133350"/>
                <a:gd name="connsiteY1" fmla="*/ 114300 h 114300"/>
                <a:gd name="connsiteX2" fmla="*/ 0 w 133350"/>
                <a:gd name="connsiteY2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114300">
                  <a:moveTo>
                    <a:pt x="133350" y="0"/>
                  </a:moveTo>
                  <a:cubicBezTo>
                    <a:pt x="111125" y="57150"/>
                    <a:pt x="88900" y="114300"/>
                    <a:pt x="66675" y="114300"/>
                  </a:cubicBezTo>
                  <a:cubicBezTo>
                    <a:pt x="44450" y="114300"/>
                    <a:pt x="22225" y="57150"/>
                    <a:pt x="0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CFECFA54-86E1-4541-9E67-530F074FA15C}"/>
                </a:ext>
              </a:extLst>
            </p:cNvPr>
            <p:cNvSpPr/>
            <p:nvPr/>
          </p:nvSpPr>
          <p:spPr>
            <a:xfrm>
              <a:off x="10683228" y="5390402"/>
              <a:ext cx="133350" cy="114300"/>
            </a:xfrm>
            <a:custGeom>
              <a:avLst/>
              <a:gdLst>
                <a:gd name="connsiteX0" fmla="*/ 133350 w 133350"/>
                <a:gd name="connsiteY0" fmla="*/ 0 h 114300"/>
                <a:gd name="connsiteX1" fmla="*/ 66675 w 133350"/>
                <a:gd name="connsiteY1" fmla="*/ 114300 h 114300"/>
                <a:gd name="connsiteX2" fmla="*/ 0 w 133350"/>
                <a:gd name="connsiteY2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114300">
                  <a:moveTo>
                    <a:pt x="133350" y="0"/>
                  </a:moveTo>
                  <a:cubicBezTo>
                    <a:pt x="111125" y="57150"/>
                    <a:pt x="88900" y="114300"/>
                    <a:pt x="66675" y="114300"/>
                  </a:cubicBezTo>
                  <a:cubicBezTo>
                    <a:pt x="44450" y="114300"/>
                    <a:pt x="22225" y="57150"/>
                    <a:pt x="0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79A7BD77-DD23-4A1D-BBB2-DE30987B0C66}"/>
                </a:ext>
              </a:extLst>
            </p:cNvPr>
            <p:cNvSpPr txBox="1"/>
            <p:nvPr/>
          </p:nvSpPr>
          <p:spPr>
            <a:xfrm>
              <a:off x="11053068" y="5245358"/>
              <a:ext cx="11433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/>
                <a:t>freepointers</a:t>
              </a:r>
              <a:r>
                <a:rPr lang="en-US" sz="1400" b="1" dirty="0"/>
                <a:t>: reverse!</a:t>
              </a:r>
            </a:p>
          </p:txBody>
        </p:sp>
      </p:grp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7408" y="-114788"/>
            <a:ext cx="12259408" cy="689951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After ‘</a:t>
            </a:r>
            <a:r>
              <a:rPr lang="en-US" sz="2400" dirty="0" err="1">
                <a:solidFill>
                  <a:schemeClr val="tx1"/>
                </a:solidFill>
              </a:rPr>
              <a:t>kmem_cache_node</a:t>
            </a:r>
            <a:r>
              <a:rPr lang="en-US" sz="2400" dirty="0">
                <a:solidFill>
                  <a:schemeClr val="tx1"/>
                </a:solidFill>
              </a:rPr>
              <a:t> = bootstrap(&amp;</a:t>
            </a:r>
            <a:r>
              <a:rPr lang="en-US" sz="2400" dirty="0" err="1">
                <a:solidFill>
                  <a:schemeClr val="tx1"/>
                </a:solidFill>
              </a:rPr>
              <a:t>boot_kmem_cache_node</a:t>
            </a:r>
            <a:r>
              <a:rPr lang="en-US" sz="2400" dirty="0">
                <a:solidFill>
                  <a:schemeClr val="tx1"/>
                </a:solidFill>
              </a:rPr>
              <a:t>)’</a:t>
            </a:r>
            <a:endParaRPr lang="en-US" sz="2400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D1B0DE1A-0EF0-4EC2-8B78-5D1F94EF0593}"/>
              </a:ext>
            </a:extLst>
          </p:cNvPr>
          <p:cNvCxnSpPr>
            <a:stCxn id="82" idx="3"/>
            <a:endCxn id="107" idx="1"/>
          </p:cNvCxnSpPr>
          <p:nvPr/>
        </p:nvCxnSpPr>
        <p:spPr>
          <a:xfrm flipV="1">
            <a:off x="6310283" y="4200685"/>
            <a:ext cx="609292" cy="151120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6178D859-304B-4CBD-B3FF-19C52CDB2241}"/>
              </a:ext>
            </a:extLst>
          </p:cNvPr>
          <p:cNvSpPr/>
          <p:nvPr/>
        </p:nvSpPr>
        <p:spPr>
          <a:xfrm>
            <a:off x="10896600" y="5849976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58727272-21C2-47A3-8931-BD4FB5400807}"/>
              </a:ext>
            </a:extLst>
          </p:cNvPr>
          <p:cNvSpPr/>
          <p:nvPr/>
        </p:nvSpPr>
        <p:spPr>
          <a:xfrm>
            <a:off x="10740378" y="5849228"/>
            <a:ext cx="133350" cy="114300"/>
          </a:xfrm>
          <a:custGeom>
            <a:avLst/>
            <a:gdLst>
              <a:gd name="connsiteX0" fmla="*/ 133350 w 133350"/>
              <a:gd name="connsiteY0" fmla="*/ 0 h 114300"/>
              <a:gd name="connsiteX1" fmla="*/ 66675 w 133350"/>
              <a:gd name="connsiteY1" fmla="*/ 114300 h 114300"/>
              <a:gd name="connsiteX2" fmla="*/ 0 w 133350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114300">
                <a:moveTo>
                  <a:pt x="133350" y="0"/>
                </a:moveTo>
                <a:cubicBezTo>
                  <a:pt x="111125" y="57150"/>
                  <a:pt x="88900" y="114300"/>
                  <a:pt x="66675" y="114300"/>
                </a:cubicBezTo>
                <a:cubicBezTo>
                  <a:pt x="44450" y="114300"/>
                  <a:pt x="22225" y="57150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A7EA764-0135-42B4-962A-5D5C033DA6AE}"/>
              </a:ext>
            </a:extLst>
          </p:cNvPr>
          <p:cNvSpPr txBox="1"/>
          <p:nvPr/>
        </p:nvSpPr>
        <p:spPr>
          <a:xfrm>
            <a:off x="11110218" y="5704184"/>
            <a:ext cx="1143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freepointers</a:t>
            </a:r>
            <a:r>
              <a:rPr lang="en-US" sz="1400" b="1" dirty="0"/>
              <a:t>: reverse!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645CCAC-9B1C-4C19-89B9-860DC9692B6F}"/>
              </a:ext>
            </a:extLst>
          </p:cNvPr>
          <p:cNvCxnSpPr>
            <a:stCxn id="110" idx="3"/>
            <a:endCxn id="135" idx="3"/>
          </p:cNvCxnSpPr>
          <p:nvPr/>
        </p:nvCxnSpPr>
        <p:spPr>
          <a:xfrm>
            <a:off x="9842776" y="5393460"/>
            <a:ext cx="1241948" cy="458698"/>
          </a:xfrm>
          <a:prstGeom prst="bentConnector4">
            <a:avLst>
              <a:gd name="adj1" fmla="val 22264"/>
              <a:gd name="adj2" fmla="val 14983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D1D6C913-71A3-4968-A71A-54EFD36486EC}"/>
              </a:ext>
            </a:extLst>
          </p:cNvPr>
          <p:cNvCxnSpPr>
            <a:stCxn id="72" idx="1"/>
            <a:endCxn id="23" idx="1"/>
          </p:cNvCxnSpPr>
          <p:nvPr/>
        </p:nvCxnSpPr>
        <p:spPr>
          <a:xfrm rot="10800000" flipV="1">
            <a:off x="1825627" y="841227"/>
            <a:ext cx="17561" cy="591830"/>
          </a:xfrm>
          <a:prstGeom prst="bentConnector3">
            <a:avLst>
              <a:gd name="adj1" fmla="val 140174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1972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9129-3B0A-415B-9636-B4561F98D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66187"/>
            <a:ext cx="10515600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kmem_cache_init</a:t>
            </a:r>
            <a:r>
              <a:rPr lang="en-US" dirty="0"/>
              <a:t>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7C83B3-2FC6-4FAD-8A10-72007FDC961D}"/>
              </a:ext>
            </a:extLst>
          </p:cNvPr>
          <p:cNvSpPr/>
          <p:nvPr/>
        </p:nvSpPr>
        <p:spPr>
          <a:xfrm>
            <a:off x="206620" y="930371"/>
            <a:ext cx="102577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start_kernel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EB3BDE-9302-4328-8246-476260A58DC8}"/>
              </a:ext>
            </a:extLst>
          </p:cNvPr>
          <p:cNvSpPr/>
          <p:nvPr/>
        </p:nvSpPr>
        <p:spPr>
          <a:xfrm>
            <a:off x="4702411" y="54471"/>
            <a:ext cx="6235220" cy="9542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marL="342900" indent="-3429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Declare two static variables ‘</a:t>
            </a:r>
            <a:r>
              <a:rPr lang="en-US" sz="1400" dirty="0" err="1">
                <a:solidFill>
                  <a:schemeClr val="tx1"/>
                </a:solidFill>
              </a:rPr>
              <a:t>boot_kmem_cache</a:t>
            </a:r>
            <a:r>
              <a:rPr lang="en-US" sz="1400" dirty="0">
                <a:solidFill>
                  <a:schemeClr val="tx1"/>
                </a:solidFill>
              </a:rPr>
              <a:t>’ and ‘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r>
              <a:rPr lang="en-US" sz="1400" dirty="0">
                <a:solidFill>
                  <a:schemeClr val="tx1"/>
                </a:solidFill>
              </a:rPr>
              <a:t>’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Assign the addresses of two static variables to generic/global variables</a:t>
            </a:r>
          </a:p>
          <a:p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= &amp;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pt-BR" sz="1400" dirty="0">
                <a:solidFill>
                  <a:schemeClr val="tx1"/>
                </a:solidFill>
              </a:rPr>
              <a:t>kmem_cache = &amp;boot_kmem_cache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9AB601-ADC1-4334-A685-E465EC1AE6E0}"/>
              </a:ext>
            </a:extLst>
          </p:cNvPr>
          <p:cNvSpPr/>
          <p:nvPr/>
        </p:nvSpPr>
        <p:spPr>
          <a:xfrm>
            <a:off x="3978525" y="2028837"/>
            <a:ext cx="186250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kmem_cache_create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FD7502-B8EF-440A-873F-04C80E3D15F2}"/>
              </a:ext>
            </a:extLst>
          </p:cNvPr>
          <p:cNvSpPr/>
          <p:nvPr/>
        </p:nvSpPr>
        <p:spPr>
          <a:xfrm>
            <a:off x="8055956" y="2091124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init_kmem_cache_nodes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53E19B-ABFB-4C32-BA9B-5CCE60EABD0F}"/>
              </a:ext>
            </a:extLst>
          </p:cNvPr>
          <p:cNvSpPr/>
          <p:nvPr/>
        </p:nvSpPr>
        <p:spPr>
          <a:xfrm>
            <a:off x="8055955" y="1407521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calculate_sizes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676F99-B946-4563-A177-718F682A75DC}"/>
              </a:ext>
            </a:extLst>
          </p:cNvPr>
          <p:cNvSpPr/>
          <p:nvPr/>
        </p:nvSpPr>
        <p:spPr>
          <a:xfrm>
            <a:off x="6096000" y="2027066"/>
            <a:ext cx="158408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kmem_cache_open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9A59B0-4062-4867-9EF7-605F36958571}"/>
              </a:ext>
            </a:extLst>
          </p:cNvPr>
          <p:cNvSpPr/>
          <p:nvPr/>
        </p:nvSpPr>
        <p:spPr>
          <a:xfrm>
            <a:off x="8055956" y="2669952"/>
            <a:ext cx="1970215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305E8CF-DB96-421F-BB3A-6CDBAA3E7B4F}"/>
              </a:ext>
            </a:extLst>
          </p:cNvPr>
          <p:cNvCxnSpPr>
            <a:cxnSpLocks/>
            <a:stCxn id="43" idx="3"/>
            <a:endCxn id="11" idx="1"/>
          </p:cNvCxnSpPr>
          <p:nvPr/>
        </p:nvCxnSpPr>
        <p:spPr>
          <a:xfrm flipV="1">
            <a:off x="4242293" y="531620"/>
            <a:ext cx="460118" cy="51964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162B24E-AECB-409F-BE19-3DF80DE7E01C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 flipV="1">
            <a:off x="5841031" y="2147961"/>
            <a:ext cx="254969" cy="177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EEDF4AF-F39D-43A8-8B3D-C4221FE12C88}"/>
              </a:ext>
            </a:extLst>
          </p:cNvPr>
          <p:cNvCxnSpPr>
            <a:stCxn id="21" idx="3"/>
            <a:endCxn id="20" idx="1"/>
          </p:cNvCxnSpPr>
          <p:nvPr/>
        </p:nvCxnSpPr>
        <p:spPr>
          <a:xfrm flipV="1">
            <a:off x="7680083" y="1528416"/>
            <a:ext cx="375872" cy="61954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2717956-0F12-453A-9C93-AA0DB070CC0C}"/>
              </a:ext>
            </a:extLst>
          </p:cNvPr>
          <p:cNvCxnSpPr>
            <a:stCxn id="21" idx="3"/>
            <a:endCxn id="19" idx="1"/>
          </p:cNvCxnSpPr>
          <p:nvPr/>
        </p:nvCxnSpPr>
        <p:spPr>
          <a:xfrm>
            <a:off x="7680083" y="2147961"/>
            <a:ext cx="375873" cy="6405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A1924981-405C-4976-957A-FB010FABD96C}"/>
              </a:ext>
            </a:extLst>
          </p:cNvPr>
          <p:cNvCxnSpPr>
            <a:stCxn id="21" idx="3"/>
            <a:endCxn id="24" idx="1"/>
          </p:cNvCxnSpPr>
          <p:nvPr/>
        </p:nvCxnSpPr>
        <p:spPr>
          <a:xfrm>
            <a:off x="7680083" y="2147961"/>
            <a:ext cx="375873" cy="64288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D242F63-6D2B-4B85-A570-653856869740}"/>
              </a:ext>
            </a:extLst>
          </p:cNvPr>
          <p:cNvSpPr/>
          <p:nvPr/>
        </p:nvSpPr>
        <p:spPr>
          <a:xfrm>
            <a:off x="1511546" y="930371"/>
            <a:ext cx="1069731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mm_init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77ECD6-09F8-4182-9253-6CF84131CBBA}"/>
              </a:ext>
            </a:extLst>
          </p:cNvPr>
          <p:cNvSpPr/>
          <p:nvPr/>
        </p:nvSpPr>
        <p:spPr>
          <a:xfrm>
            <a:off x="2838453" y="930372"/>
            <a:ext cx="140384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kmem_cache_init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EDC6C3-B6B8-4768-BCCE-5AA3B7E14FB5}"/>
              </a:ext>
            </a:extLst>
          </p:cNvPr>
          <p:cNvCxnSpPr>
            <a:cxnSpLocks/>
            <a:stCxn id="4" idx="3"/>
            <a:endCxn id="40" idx="1"/>
          </p:cNvCxnSpPr>
          <p:nvPr/>
        </p:nvCxnSpPr>
        <p:spPr>
          <a:xfrm>
            <a:off x="1232390" y="1051266"/>
            <a:ext cx="27915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F3B7BA-BEB1-4052-BB69-5A5F5BD41D9D}"/>
              </a:ext>
            </a:extLst>
          </p:cNvPr>
          <p:cNvCxnSpPr>
            <a:stCxn id="40" idx="3"/>
            <a:endCxn id="43" idx="1"/>
          </p:cNvCxnSpPr>
          <p:nvPr/>
        </p:nvCxnSpPr>
        <p:spPr>
          <a:xfrm>
            <a:off x="2581277" y="1051266"/>
            <a:ext cx="257176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0496BEC-40B7-437C-9A61-43992FF98990}"/>
              </a:ext>
            </a:extLst>
          </p:cNvPr>
          <p:cNvSpPr/>
          <p:nvPr/>
        </p:nvSpPr>
        <p:spPr>
          <a:xfrm>
            <a:off x="375138" y="1870924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create_boot_cache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2A1F532-67AA-4C1B-B369-CAF5CD59989E}"/>
              </a:ext>
            </a:extLst>
          </p:cNvPr>
          <p:cNvSpPr/>
          <p:nvPr/>
        </p:nvSpPr>
        <p:spPr>
          <a:xfrm>
            <a:off x="375580" y="2268855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create_boot_cache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, …)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F75F58AD-F6B5-41AF-A15F-AB736A342F06}"/>
              </a:ext>
            </a:extLst>
          </p:cNvPr>
          <p:cNvCxnSpPr>
            <a:stCxn id="48" idx="3"/>
            <a:endCxn id="18" idx="1"/>
          </p:cNvCxnSpPr>
          <p:nvPr/>
        </p:nvCxnSpPr>
        <p:spPr>
          <a:xfrm>
            <a:off x="3661265" y="1991819"/>
            <a:ext cx="317260" cy="15791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1E8A2B5-F7E4-4113-9C4E-D4854EE7DF64}"/>
              </a:ext>
            </a:extLst>
          </p:cNvPr>
          <p:cNvCxnSpPr>
            <a:stCxn id="50" idx="3"/>
            <a:endCxn id="18" idx="1"/>
          </p:cNvCxnSpPr>
          <p:nvPr/>
        </p:nvCxnSpPr>
        <p:spPr>
          <a:xfrm flipV="1">
            <a:off x="3661707" y="2149732"/>
            <a:ext cx="316818" cy="240018"/>
          </a:xfrm>
          <a:prstGeom prst="bentConnector3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A002389-9290-41A6-A094-CB80FEA2753E}"/>
              </a:ext>
            </a:extLst>
          </p:cNvPr>
          <p:cNvCxnSpPr>
            <a:stCxn id="43" idx="3"/>
            <a:endCxn id="48" idx="1"/>
          </p:cNvCxnSpPr>
          <p:nvPr/>
        </p:nvCxnSpPr>
        <p:spPr>
          <a:xfrm flipH="1">
            <a:off x="375138" y="1051267"/>
            <a:ext cx="3867155" cy="940552"/>
          </a:xfrm>
          <a:prstGeom prst="bentConnector5">
            <a:avLst>
              <a:gd name="adj1" fmla="val -5911"/>
              <a:gd name="adj2" fmla="val 50000"/>
              <a:gd name="adj3" fmla="val 10591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827C8098-E444-40EB-9320-B18870AF0C28}"/>
              </a:ext>
            </a:extLst>
          </p:cNvPr>
          <p:cNvSpPr/>
          <p:nvPr/>
        </p:nvSpPr>
        <p:spPr>
          <a:xfrm>
            <a:off x="392361" y="2666786"/>
            <a:ext cx="3256648" cy="495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= bootstrap(&amp;</a:t>
            </a:r>
            <a:r>
              <a:rPr lang="en-US" sz="1400" dirty="0" err="1">
                <a:solidFill>
                  <a:schemeClr val="tx1"/>
                </a:solidFill>
              </a:rPr>
              <a:t>boot_kmem_cache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AD82F0-5CD0-441A-8135-91102AC2E567}"/>
              </a:ext>
            </a:extLst>
          </p:cNvPr>
          <p:cNvSpPr/>
          <p:nvPr/>
        </p:nvSpPr>
        <p:spPr>
          <a:xfrm>
            <a:off x="375138" y="3304659"/>
            <a:ext cx="3270943" cy="4958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r>
              <a:rPr lang="en-US" sz="1400" dirty="0">
                <a:solidFill>
                  <a:schemeClr val="tx1"/>
                </a:solidFill>
              </a:rPr>
              <a:t> = bootstrap(&amp;</a:t>
            </a:r>
            <a:r>
              <a:rPr lang="en-US" sz="1400" dirty="0" err="1">
                <a:solidFill>
                  <a:schemeClr val="tx1"/>
                </a:solidFill>
              </a:rPr>
              <a:t>boot_kmem_cache_node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C771486-15FA-448C-B2EC-26C8283B72F0}"/>
              </a:ext>
            </a:extLst>
          </p:cNvPr>
          <p:cNvCxnSpPr>
            <a:stCxn id="48" idx="1"/>
            <a:endCxn id="50" idx="1"/>
          </p:cNvCxnSpPr>
          <p:nvPr/>
        </p:nvCxnSpPr>
        <p:spPr>
          <a:xfrm rot="10800000" flipH="1" flipV="1">
            <a:off x="375138" y="1991818"/>
            <a:ext cx="442" cy="397931"/>
          </a:xfrm>
          <a:prstGeom prst="bentConnector3">
            <a:avLst>
              <a:gd name="adj1" fmla="val -517194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B230C99-8A9E-4426-B458-A87B7852DDF3}"/>
              </a:ext>
            </a:extLst>
          </p:cNvPr>
          <p:cNvSpPr/>
          <p:nvPr/>
        </p:nvSpPr>
        <p:spPr>
          <a:xfrm>
            <a:off x="392360" y="3955761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setup_kmalloc_cache_index_table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EE7DD0-912A-4407-8A2A-4E846AF8B90B}"/>
              </a:ext>
            </a:extLst>
          </p:cNvPr>
          <p:cNvSpPr/>
          <p:nvPr/>
        </p:nvSpPr>
        <p:spPr>
          <a:xfrm>
            <a:off x="392360" y="4325650"/>
            <a:ext cx="3286127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create_kmalloc_caches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6A98437-2F0B-48B8-BF65-32C00BD508CD}"/>
              </a:ext>
            </a:extLst>
          </p:cNvPr>
          <p:cNvCxnSpPr>
            <a:cxnSpLocks/>
            <a:stCxn id="50" idx="1"/>
            <a:endCxn id="36" idx="1"/>
          </p:cNvCxnSpPr>
          <p:nvPr/>
        </p:nvCxnSpPr>
        <p:spPr>
          <a:xfrm rot="10800000" flipH="1" flipV="1">
            <a:off x="375579" y="2389750"/>
            <a:ext cx="16781" cy="524944"/>
          </a:xfrm>
          <a:prstGeom prst="bentConnector3">
            <a:avLst>
              <a:gd name="adj1" fmla="val -136225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59C1CA3-F70B-40A4-8EE4-5C873A16FF92}"/>
              </a:ext>
            </a:extLst>
          </p:cNvPr>
          <p:cNvCxnSpPr>
            <a:cxnSpLocks/>
            <a:stCxn id="36" idx="1"/>
            <a:endCxn id="37" idx="1"/>
          </p:cNvCxnSpPr>
          <p:nvPr/>
        </p:nvCxnSpPr>
        <p:spPr>
          <a:xfrm rot="10800000" flipV="1">
            <a:off x="375139" y="2914693"/>
            <a:ext cx="17223" cy="637873"/>
          </a:xfrm>
          <a:prstGeom prst="bentConnector3">
            <a:avLst>
              <a:gd name="adj1" fmla="val 142729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48D5F4E5-7144-4196-A708-CA09EED31D47}"/>
              </a:ext>
            </a:extLst>
          </p:cNvPr>
          <p:cNvCxnSpPr>
            <a:stCxn id="37" idx="1"/>
            <a:endCxn id="39" idx="1"/>
          </p:cNvCxnSpPr>
          <p:nvPr/>
        </p:nvCxnSpPr>
        <p:spPr>
          <a:xfrm rot="10800000" flipH="1" flipV="1">
            <a:off x="375138" y="3552566"/>
            <a:ext cx="17222" cy="524089"/>
          </a:xfrm>
          <a:prstGeom prst="bentConnector3">
            <a:avLst>
              <a:gd name="adj1" fmla="val -13273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699C733B-3643-4DDF-92F4-21CAE7063176}"/>
              </a:ext>
            </a:extLst>
          </p:cNvPr>
          <p:cNvCxnSpPr>
            <a:cxnSpLocks/>
            <a:stCxn id="39" idx="1"/>
            <a:endCxn id="41" idx="1"/>
          </p:cNvCxnSpPr>
          <p:nvPr/>
        </p:nvCxnSpPr>
        <p:spPr>
          <a:xfrm rot="10800000" flipV="1">
            <a:off x="392360" y="4076655"/>
            <a:ext cx="12700" cy="369889"/>
          </a:xfrm>
          <a:prstGeom prst="bentConnector3">
            <a:avLst>
              <a:gd name="adj1" fmla="val 20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4594A41-0910-4188-970C-BDF65E6412BD}"/>
              </a:ext>
            </a:extLst>
          </p:cNvPr>
          <p:cNvSpPr/>
          <p:nvPr/>
        </p:nvSpPr>
        <p:spPr>
          <a:xfrm>
            <a:off x="9344025" y="3013585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alloc_percpu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2B6317C-7C53-4FE3-A2EC-140C31AB7E1C}"/>
              </a:ext>
            </a:extLst>
          </p:cNvPr>
          <p:cNvSpPr/>
          <p:nvPr/>
        </p:nvSpPr>
        <p:spPr>
          <a:xfrm>
            <a:off x="9344025" y="3374237"/>
            <a:ext cx="184785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init_kmem_cache_cpus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165BCC-C6F8-4E27-8C24-CEE73349A088}"/>
              </a:ext>
            </a:extLst>
          </p:cNvPr>
          <p:cNvSpPr txBox="1"/>
          <p:nvPr/>
        </p:nvSpPr>
        <p:spPr>
          <a:xfrm>
            <a:off x="9344025" y="3616026"/>
            <a:ext cx="2153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Assign </a:t>
            </a:r>
            <a:r>
              <a:rPr lang="en-US" sz="1400" dirty="0" err="1"/>
              <a:t>cpu</a:t>
            </a:r>
            <a:r>
              <a:rPr lang="en-US" sz="1400" dirty="0"/>
              <a:t> id to </a:t>
            </a:r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r>
              <a:rPr lang="en-US" sz="1400" dirty="0">
                <a:solidFill>
                  <a:schemeClr val="tx1"/>
                </a:solidFill>
              </a:rPr>
              <a:t>-&gt;</a:t>
            </a:r>
            <a:r>
              <a:rPr lang="en-US" sz="1400" dirty="0" err="1">
                <a:solidFill>
                  <a:schemeClr val="tx1"/>
                </a:solidFill>
              </a:rPr>
              <a:t>tid</a:t>
            </a:r>
            <a:endParaRPr lang="en-US" sz="1400" dirty="0"/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B3C297E7-C560-4DBE-ADBB-023C0EE300EA}"/>
              </a:ext>
            </a:extLst>
          </p:cNvPr>
          <p:cNvCxnSpPr>
            <a:stCxn id="24" idx="2"/>
            <a:endCxn id="56" idx="1"/>
          </p:cNvCxnSpPr>
          <p:nvPr/>
        </p:nvCxnSpPr>
        <p:spPr>
          <a:xfrm rot="16200000" flipH="1">
            <a:off x="9081175" y="2871629"/>
            <a:ext cx="222739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2984BC18-B187-41E8-BB20-B00C71FC9786}"/>
              </a:ext>
            </a:extLst>
          </p:cNvPr>
          <p:cNvCxnSpPr>
            <a:stCxn id="24" idx="2"/>
            <a:endCxn id="57" idx="1"/>
          </p:cNvCxnSpPr>
          <p:nvPr/>
        </p:nvCxnSpPr>
        <p:spPr>
          <a:xfrm rot="16200000" flipH="1">
            <a:off x="8900849" y="3051955"/>
            <a:ext cx="583391" cy="30296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05CE5BC-27AD-4C51-A645-946D0032801E}"/>
              </a:ext>
            </a:extLst>
          </p:cNvPr>
          <p:cNvSpPr txBox="1"/>
          <p:nvPr/>
        </p:nvSpPr>
        <p:spPr>
          <a:xfrm>
            <a:off x="7952460" y="1697274"/>
            <a:ext cx="2423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‘</a:t>
            </a:r>
            <a:r>
              <a:rPr lang="en-US" sz="1200" b="1" dirty="0" err="1"/>
              <a:t>kmem_cache_node</a:t>
            </a:r>
            <a:r>
              <a:rPr lang="en-US" sz="1200" dirty="0"/>
              <a:t>’ structs for all CPU nodes (sockets)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F49BFE-D8D0-437E-89F7-C2F44701122D}"/>
              </a:ext>
            </a:extLst>
          </p:cNvPr>
          <p:cNvSpPr txBox="1"/>
          <p:nvPr/>
        </p:nvSpPr>
        <p:spPr>
          <a:xfrm>
            <a:off x="7820021" y="2412003"/>
            <a:ext cx="2747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Allocate/</a:t>
            </a:r>
            <a:r>
              <a:rPr lang="en-US" sz="1200" dirty="0" err="1"/>
              <a:t>init</a:t>
            </a:r>
            <a:r>
              <a:rPr lang="en-US" sz="1200" dirty="0"/>
              <a:t> a ‘</a:t>
            </a:r>
            <a:r>
              <a:rPr lang="en-US" sz="1200" b="1" dirty="0" err="1"/>
              <a:t>kmem_cache_cpu</a:t>
            </a:r>
            <a:r>
              <a:rPr lang="en-US" sz="1200" dirty="0"/>
              <a:t>’ struct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4A69A19-63CC-4A4D-A95C-23B5959FE02A}"/>
              </a:ext>
            </a:extLst>
          </p:cNvPr>
          <p:cNvSpPr/>
          <p:nvPr/>
        </p:nvSpPr>
        <p:spPr>
          <a:xfrm>
            <a:off x="253975" y="3880130"/>
            <a:ext cx="3472365" cy="83439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矩形 40">
            <a:extLst>
              <a:ext uri="{FF2B5EF4-FFF2-40B4-BE49-F238E27FC236}">
                <a16:creationId xmlns:a16="http://schemas.microsoft.com/office/drawing/2014/main" id="{BAD4B0AC-103D-47C2-B8CE-971CD1677B4B}"/>
              </a:ext>
            </a:extLst>
          </p:cNvPr>
          <p:cNvSpPr/>
          <p:nvPr/>
        </p:nvSpPr>
        <p:spPr>
          <a:xfrm>
            <a:off x="3906545" y="6254466"/>
            <a:ext cx="5285999" cy="4376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</a:rPr>
              <a:t>Will talk about this later</a:t>
            </a:r>
          </a:p>
        </p:txBody>
      </p:sp>
    </p:spTree>
    <p:extLst>
      <p:ext uri="{BB962C8B-B14F-4D97-AF65-F5344CB8AC3E}">
        <p14:creationId xmlns:p14="http://schemas.microsoft.com/office/powerpoint/2010/main" val="34140576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6FB49F4E-D74E-4377-9C13-2109BA053C49}"/>
              </a:ext>
            </a:extLst>
          </p:cNvPr>
          <p:cNvSpPr/>
          <p:nvPr/>
        </p:nvSpPr>
        <p:spPr>
          <a:xfrm>
            <a:off x="3870167" y="2335748"/>
            <a:ext cx="8252318" cy="3849881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0420E-A3FE-4510-A679-D742DCC75454}"/>
              </a:ext>
            </a:extLst>
          </p:cNvPr>
          <p:cNvSpPr/>
          <p:nvPr/>
        </p:nvSpPr>
        <p:spPr>
          <a:xfrm>
            <a:off x="828675" y="4297042"/>
            <a:ext cx="2891889" cy="124830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3B410-682E-4B73-A942-9118C9D895B7}"/>
              </a:ext>
            </a:extLst>
          </p:cNvPr>
          <p:cNvSpPr/>
          <p:nvPr/>
        </p:nvSpPr>
        <p:spPr>
          <a:xfrm>
            <a:off x="1036960" y="4590285"/>
            <a:ext cx="251036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Get a slab object from c-&gt;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3DF1D-7635-4AC4-8987-97B41002E1F9}"/>
              </a:ext>
            </a:extLst>
          </p:cNvPr>
          <p:cNvSpPr/>
          <p:nvPr/>
        </p:nvSpPr>
        <p:spPr>
          <a:xfrm>
            <a:off x="1607087" y="599904"/>
            <a:ext cx="1970215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kmem_cache_alloc_node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00291715-047A-4596-8317-A8C2CB0B6476}"/>
              </a:ext>
            </a:extLst>
          </p:cNvPr>
          <p:cNvSpPr/>
          <p:nvPr/>
        </p:nvSpPr>
        <p:spPr>
          <a:xfrm>
            <a:off x="1180972" y="3315877"/>
            <a:ext cx="2209806" cy="573622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!c-&gt;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or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!c-&gt; page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1DECBE7-96BF-476E-801F-45A37B2B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7517" y="-104234"/>
            <a:ext cx="12307033" cy="689951"/>
          </a:xfrm>
        </p:spPr>
        <p:txBody>
          <a:bodyPr>
            <a:noAutofit/>
          </a:bodyPr>
          <a:lstStyle/>
          <a:p>
            <a:r>
              <a:rPr lang="en-US" sz="3200" dirty="0" err="1"/>
              <a:t>slab_alloc_node</a:t>
            </a:r>
            <a:r>
              <a:rPr lang="en-US" sz="3200" dirty="0"/>
              <a:t>(): </a:t>
            </a:r>
            <a:r>
              <a:rPr lang="en-US" sz="3200" dirty="0" err="1"/>
              <a:t>slowpath</a:t>
            </a:r>
            <a:r>
              <a:rPr lang="en-US" sz="3200" dirty="0"/>
              <a:t> #3 – Get a partial page from </a:t>
            </a:r>
            <a:r>
              <a:rPr lang="en-US" sz="3200" dirty="0" err="1"/>
              <a:t>percpu</a:t>
            </a:r>
            <a:r>
              <a:rPr lang="en-US" sz="3200" dirty="0"/>
              <a:t> cache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08FCDB-D5DB-4098-BA29-71A6C4D9E9B8}"/>
              </a:ext>
            </a:extLst>
          </p:cNvPr>
          <p:cNvSpPr/>
          <p:nvPr/>
        </p:nvSpPr>
        <p:spPr>
          <a:xfrm>
            <a:off x="4048126" y="3485599"/>
            <a:ext cx="107632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B5BB81-36FE-412E-AD39-57E6F21BF69E}"/>
              </a:ext>
            </a:extLst>
          </p:cNvPr>
          <p:cNvSpPr/>
          <p:nvPr/>
        </p:nvSpPr>
        <p:spPr>
          <a:xfrm>
            <a:off x="161192" y="1121070"/>
            <a:ext cx="159759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936C6D-9003-4D95-86B7-D8AE219AD8C5}"/>
              </a:ext>
            </a:extLst>
          </p:cNvPr>
          <p:cNvSpPr/>
          <p:nvPr/>
        </p:nvSpPr>
        <p:spPr>
          <a:xfrm>
            <a:off x="2095499" y="1124083"/>
            <a:ext cx="87629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048101-74AC-4B64-8974-B28E0DAEE6F7}"/>
              </a:ext>
            </a:extLst>
          </p:cNvPr>
          <p:cNvSpPr/>
          <p:nvPr/>
        </p:nvSpPr>
        <p:spPr>
          <a:xfrm>
            <a:off x="3556872" y="1130595"/>
            <a:ext cx="1310404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slab_alloc_node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4A147-3847-4457-B254-A5ECE1C4C291}"/>
              </a:ext>
            </a:extLst>
          </p:cNvPr>
          <p:cNvSpPr txBox="1"/>
          <p:nvPr/>
        </p:nvSpPr>
        <p:spPr>
          <a:xfrm>
            <a:off x="2818672" y="1335238"/>
            <a:ext cx="14199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NUMA_NO_NODE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7795C0-9A2C-4E2E-82D1-FADDF29C95AD}"/>
              </a:ext>
            </a:extLst>
          </p:cNvPr>
          <p:cNvSpPr/>
          <p:nvPr/>
        </p:nvSpPr>
        <p:spPr>
          <a:xfrm>
            <a:off x="1988108" y="1760790"/>
            <a:ext cx="141995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kmalloc_node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730A8B-4FD3-41E0-BF58-AC6A962757D5}"/>
              </a:ext>
            </a:extLst>
          </p:cNvPr>
          <p:cNvSpPr/>
          <p:nvPr/>
        </p:nvSpPr>
        <p:spPr>
          <a:xfrm>
            <a:off x="312894" y="1764687"/>
            <a:ext cx="129419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kmalloc_node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47D268-BD0A-412B-A7F9-84D1A74DF3E9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2971792" y="1244978"/>
            <a:ext cx="585080" cy="65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EC811E-BF06-4DB1-947A-FC2F6AB3F7EB}"/>
              </a:ext>
            </a:extLst>
          </p:cNvPr>
          <p:cNvCxnSpPr>
            <a:stCxn id="36" idx="3"/>
            <a:endCxn id="35" idx="1"/>
          </p:cNvCxnSpPr>
          <p:nvPr/>
        </p:nvCxnSpPr>
        <p:spPr>
          <a:xfrm flipV="1">
            <a:off x="1607087" y="1881685"/>
            <a:ext cx="381021" cy="38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EB98837-729D-479B-95F0-0BD8C8C951F1}"/>
              </a:ext>
            </a:extLst>
          </p:cNvPr>
          <p:cNvCxnSpPr>
            <a:cxnSpLocks/>
            <a:stCxn id="35" idx="3"/>
            <a:endCxn id="31" idx="2"/>
          </p:cNvCxnSpPr>
          <p:nvPr/>
        </p:nvCxnSpPr>
        <p:spPr>
          <a:xfrm flipV="1">
            <a:off x="3408062" y="1372384"/>
            <a:ext cx="804012" cy="50930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B36931D-7CCD-4E65-AC4E-4CE0B280651C}"/>
              </a:ext>
            </a:extLst>
          </p:cNvPr>
          <p:cNvSpPr txBox="1"/>
          <p:nvPr/>
        </p:nvSpPr>
        <p:spPr>
          <a:xfrm>
            <a:off x="3469863" y="1835493"/>
            <a:ext cx="7326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node_id</a:t>
            </a:r>
            <a:endParaRPr lang="en-US" sz="1200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53FC3DE-70F6-4A01-AB8E-0193BEB5C047}"/>
              </a:ext>
            </a:extLst>
          </p:cNvPr>
          <p:cNvCxnSpPr>
            <a:cxnSpLocks/>
            <a:stCxn id="7" idx="3"/>
            <a:endCxn id="31" idx="0"/>
          </p:cNvCxnSpPr>
          <p:nvPr/>
        </p:nvCxnSpPr>
        <p:spPr>
          <a:xfrm>
            <a:off x="3577302" y="720799"/>
            <a:ext cx="634772" cy="40979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D27C52B-4463-4162-A8FE-DB3BEFA0D5BF}"/>
              </a:ext>
            </a:extLst>
          </p:cNvPr>
          <p:cNvSpPr txBox="1"/>
          <p:nvPr/>
        </p:nvSpPr>
        <p:spPr>
          <a:xfrm>
            <a:off x="3583160" y="440544"/>
            <a:ext cx="7326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node_id</a:t>
            </a:r>
            <a:endParaRPr lang="en-US" sz="12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3E3F6B-C0FF-4614-AB05-735B44C02AC7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>
            <a:off x="1758791" y="1241965"/>
            <a:ext cx="336708" cy="30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C5EA1983-2A9B-40B4-A886-F09CBAD8A930}"/>
              </a:ext>
            </a:extLst>
          </p:cNvPr>
          <p:cNvCxnSpPr>
            <a:stCxn id="31" idx="3"/>
            <a:endCxn id="9" idx="0"/>
          </p:cNvCxnSpPr>
          <p:nvPr/>
        </p:nvCxnSpPr>
        <p:spPr>
          <a:xfrm flipH="1">
            <a:off x="2285875" y="1251490"/>
            <a:ext cx="2581401" cy="2064387"/>
          </a:xfrm>
          <a:prstGeom prst="bentConnector4">
            <a:avLst>
              <a:gd name="adj1" fmla="val -8856"/>
              <a:gd name="adj2" fmla="val 4554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D1A50C08-EDC4-495D-9FD4-8AD10313A1B8}"/>
              </a:ext>
            </a:extLst>
          </p:cNvPr>
          <p:cNvSpPr/>
          <p:nvPr/>
        </p:nvSpPr>
        <p:spPr>
          <a:xfrm>
            <a:off x="5343525" y="3485164"/>
            <a:ext cx="108524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___</a:t>
            </a:r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C6EC661-522D-4D40-B0CF-CFB8179D4E57}"/>
              </a:ext>
            </a:extLst>
          </p:cNvPr>
          <p:cNvSpPr/>
          <p:nvPr/>
        </p:nvSpPr>
        <p:spPr>
          <a:xfrm>
            <a:off x="6683878" y="4700591"/>
            <a:ext cx="153030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new_slab_objects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D9DBAFA-64DD-4330-B4B6-E2B0D7993D88}"/>
              </a:ext>
            </a:extLst>
          </p:cNvPr>
          <p:cNvSpPr/>
          <p:nvPr/>
        </p:nvSpPr>
        <p:spPr>
          <a:xfrm>
            <a:off x="8195323" y="3485164"/>
            <a:ext cx="264852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c-&gt;page = </a:t>
            </a:r>
            <a:r>
              <a:rPr lang="fr-FR" sz="1400" dirty="0" err="1">
                <a:solidFill>
                  <a:schemeClr val="tx1"/>
                </a:solidFill>
              </a:rPr>
              <a:t>slub_percpu_partial</a:t>
            </a:r>
            <a:r>
              <a:rPr lang="fr-FR" sz="1400" dirty="0">
                <a:solidFill>
                  <a:schemeClr val="tx1"/>
                </a:solidFill>
              </a:rPr>
              <a:t>(c)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1D41374-0A45-415C-BCD4-25C6ADECF37D}"/>
              </a:ext>
            </a:extLst>
          </p:cNvPr>
          <p:cNvCxnSpPr>
            <a:stCxn id="9" idx="3"/>
            <a:endCxn id="24" idx="1"/>
          </p:cNvCxnSpPr>
          <p:nvPr/>
        </p:nvCxnSpPr>
        <p:spPr>
          <a:xfrm>
            <a:off x="3390778" y="3602688"/>
            <a:ext cx="657348" cy="38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714F4AC-ADFF-4312-97E3-1585FD30B533}"/>
              </a:ext>
            </a:extLst>
          </p:cNvPr>
          <p:cNvCxnSpPr>
            <a:stCxn id="24" idx="3"/>
            <a:endCxn id="67" idx="1"/>
          </p:cNvCxnSpPr>
          <p:nvPr/>
        </p:nvCxnSpPr>
        <p:spPr>
          <a:xfrm flipV="1">
            <a:off x="5124450" y="3606059"/>
            <a:ext cx="219075" cy="4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4DC20D2-A96E-4DDB-806B-1A44A234F491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6428773" y="3606059"/>
            <a:ext cx="17665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56B399C-50F4-4370-81BC-E770ED0A2EEB}"/>
              </a:ext>
            </a:extLst>
          </p:cNvPr>
          <p:cNvSpPr txBox="1"/>
          <p:nvPr/>
        </p:nvSpPr>
        <p:spPr>
          <a:xfrm>
            <a:off x="5743245" y="2733151"/>
            <a:ext cx="965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c-&gt;page &amp;&amp;</a:t>
            </a:r>
          </a:p>
          <a:p>
            <a:r>
              <a:rPr lang="en-US" sz="1200" dirty="0"/>
              <a:t>!c-&gt;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734A345-7CAD-4CCA-8353-64520F988B5F}"/>
              </a:ext>
            </a:extLst>
          </p:cNvPr>
          <p:cNvSpPr txBox="1"/>
          <p:nvPr/>
        </p:nvSpPr>
        <p:spPr>
          <a:xfrm>
            <a:off x="6591671" y="3347403"/>
            <a:ext cx="17963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!c-&gt;page &amp;&amp; c-&gt;partial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8EF6CAF-FB14-48DA-B041-AA965FF3B54A}"/>
              </a:ext>
            </a:extLst>
          </p:cNvPr>
          <p:cNvSpPr/>
          <p:nvPr/>
        </p:nvSpPr>
        <p:spPr>
          <a:xfrm>
            <a:off x="8501199" y="4467023"/>
            <a:ext cx="103493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get_partial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5E2315A-F4D5-40A9-9F6E-D3DDE474EE49}"/>
              </a:ext>
            </a:extLst>
          </p:cNvPr>
          <p:cNvSpPr txBox="1"/>
          <p:nvPr/>
        </p:nvSpPr>
        <p:spPr>
          <a:xfrm>
            <a:off x="8345720" y="3230344"/>
            <a:ext cx="2476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Get partial page from </a:t>
            </a:r>
            <a:r>
              <a:rPr lang="en-US" sz="1200" dirty="0" err="1"/>
              <a:t>percpu</a:t>
            </a:r>
            <a:r>
              <a:rPr lang="en-US" sz="1200" dirty="0"/>
              <a:t> cache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5BF41FC-89F4-45A0-AE2E-5148AED72954}"/>
              </a:ext>
            </a:extLst>
          </p:cNvPr>
          <p:cNvSpPr/>
          <p:nvPr/>
        </p:nvSpPr>
        <p:spPr>
          <a:xfrm>
            <a:off x="8501198" y="5077309"/>
            <a:ext cx="103493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new_slab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6B2E602-43B1-4CA8-9F02-86E6005D43CF}"/>
              </a:ext>
            </a:extLst>
          </p:cNvPr>
          <p:cNvSpPr/>
          <p:nvPr/>
        </p:nvSpPr>
        <p:spPr>
          <a:xfrm>
            <a:off x="9804550" y="5076295"/>
            <a:ext cx="108538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allocate_slab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E4BC428-C9C9-4EEE-B9C2-67108A9F91D6}"/>
              </a:ext>
            </a:extLst>
          </p:cNvPr>
          <p:cNvSpPr/>
          <p:nvPr/>
        </p:nvSpPr>
        <p:spPr>
          <a:xfrm>
            <a:off x="10531481" y="5470741"/>
            <a:ext cx="1402582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alloc_slab_page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6AB6E616-2812-408B-854A-5BF330885683}"/>
              </a:ext>
            </a:extLst>
          </p:cNvPr>
          <p:cNvCxnSpPr>
            <a:stCxn id="106" idx="3"/>
            <a:endCxn id="107" idx="1"/>
          </p:cNvCxnSpPr>
          <p:nvPr/>
        </p:nvCxnSpPr>
        <p:spPr>
          <a:xfrm flipV="1">
            <a:off x="9536136" y="5197190"/>
            <a:ext cx="268414" cy="10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5C9F34B5-6572-4E67-BF90-73C44FB0F404}"/>
              </a:ext>
            </a:extLst>
          </p:cNvPr>
          <p:cNvCxnSpPr>
            <a:stCxn id="107" idx="3"/>
            <a:endCxn id="108" idx="0"/>
          </p:cNvCxnSpPr>
          <p:nvPr/>
        </p:nvCxnSpPr>
        <p:spPr>
          <a:xfrm>
            <a:off x="10889936" y="5197190"/>
            <a:ext cx="342836" cy="2735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F69B1F1-3CB6-4D50-B0AB-ADE69F5A6BF8}"/>
              </a:ext>
            </a:extLst>
          </p:cNvPr>
          <p:cNvSpPr txBox="1"/>
          <p:nvPr/>
        </p:nvSpPr>
        <p:spPr>
          <a:xfrm>
            <a:off x="10531481" y="5723964"/>
            <a:ext cx="1562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Allocate pages from Buddy system</a:t>
            </a: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3EAB34A4-C504-4AF7-915E-2653E42C4957}"/>
              </a:ext>
            </a:extLst>
          </p:cNvPr>
          <p:cNvCxnSpPr>
            <a:cxnSpLocks/>
            <a:stCxn id="67" idx="3"/>
          </p:cNvCxnSpPr>
          <p:nvPr/>
        </p:nvCxnSpPr>
        <p:spPr>
          <a:xfrm flipV="1">
            <a:off x="6428773" y="2852246"/>
            <a:ext cx="431764" cy="75381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0AE2C3A9-230B-485F-92AB-56A89A6EA4EB}"/>
              </a:ext>
            </a:extLst>
          </p:cNvPr>
          <p:cNvCxnSpPr>
            <a:stCxn id="67" idx="3"/>
            <a:endCxn id="68" idx="1"/>
          </p:cNvCxnSpPr>
          <p:nvPr/>
        </p:nvCxnSpPr>
        <p:spPr>
          <a:xfrm>
            <a:off x="6428773" y="3606059"/>
            <a:ext cx="255105" cy="121542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21B628FC-82B6-4687-8C28-1C5CC91E3193}"/>
              </a:ext>
            </a:extLst>
          </p:cNvPr>
          <p:cNvSpPr txBox="1"/>
          <p:nvPr/>
        </p:nvSpPr>
        <p:spPr>
          <a:xfrm>
            <a:off x="6530940" y="4358391"/>
            <a:ext cx="1696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!c-&gt;page &amp;&amp;  !c-&gt;partial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E5AB9A5-94F2-41B1-AD96-B0CC706D2121}"/>
              </a:ext>
            </a:extLst>
          </p:cNvPr>
          <p:cNvCxnSpPr>
            <a:stCxn id="68" idx="3"/>
            <a:endCxn id="103" idx="1"/>
          </p:cNvCxnSpPr>
          <p:nvPr/>
        </p:nvCxnSpPr>
        <p:spPr>
          <a:xfrm flipV="1">
            <a:off x="8214182" y="4587918"/>
            <a:ext cx="287017" cy="2335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536D68D6-5FCB-4F3D-AFE3-D7E242342A18}"/>
              </a:ext>
            </a:extLst>
          </p:cNvPr>
          <p:cNvCxnSpPr>
            <a:stCxn id="68" idx="3"/>
            <a:endCxn id="106" idx="1"/>
          </p:cNvCxnSpPr>
          <p:nvPr/>
        </p:nvCxnSpPr>
        <p:spPr>
          <a:xfrm>
            <a:off x="8214182" y="4821486"/>
            <a:ext cx="287016" cy="3767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AE25C171-0A1B-443E-BE12-AB2FF66D51C6}"/>
              </a:ext>
            </a:extLst>
          </p:cNvPr>
          <p:cNvSpPr txBox="1"/>
          <p:nvPr/>
        </p:nvSpPr>
        <p:spPr>
          <a:xfrm>
            <a:off x="8367172" y="4010740"/>
            <a:ext cx="2476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Get partial page from node cache (</a:t>
            </a:r>
            <a:r>
              <a:rPr lang="en-US" sz="1200" dirty="0" err="1"/>
              <a:t>kmem_cache_node</a:t>
            </a:r>
            <a:r>
              <a:rPr lang="en-US" sz="1200" dirty="0"/>
              <a:t>)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7215010-5794-4103-80BE-F8A0BE6B7EAA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>
            <a:off x="2285875" y="3889499"/>
            <a:ext cx="6265" cy="7007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C37B8627-B41B-4810-B77C-5302415941C9}"/>
              </a:ext>
            </a:extLst>
          </p:cNvPr>
          <p:cNvSpPr txBox="1"/>
          <p:nvPr/>
        </p:nvSpPr>
        <p:spPr>
          <a:xfrm>
            <a:off x="3394480" y="3394821"/>
            <a:ext cx="28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ADE96F9-428C-4E2D-937D-B119FE0C610E}"/>
              </a:ext>
            </a:extLst>
          </p:cNvPr>
          <p:cNvSpPr txBox="1"/>
          <p:nvPr/>
        </p:nvSpPr>
        <p:spPr>
          <a:xfrm>
            <a:off x="2221876" y="3843648"/>
            <a:ext cx="28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4520EF-43B8-4730-8DA3-BC02DA018C81}"/>
              </a:ext>
            </a:extLst>
          </p:cNvPr>
          <p:cNvSpPr txBox="1"/>
          <p:nvPr/>
        </p:nvSpPr>
        <p:spPr>
          <a:xfrm>
            <a:off x="1866956" y="5195005"/>
            <a:ext cx="837837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fast path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D3EFFD-6097-4DDD-AAD3-09D69B757F75}"/>
              </a:ext>
            </a:extLst>
          </p:cNvPr>
          <p:cNvSpPr txBox="1"/>
          <p:nvPr/>
        </p:nvSpPr>
        <p:spPr>
          <a:xfrm>
            <a:off x="3949503" y="2415730"/>
            <a:ext cx="965414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slow path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16516C-20F5-4795-8EF5-C211431D3389}"/>
              </a:ext>
            </a:extLst>
          </p:cNvPr>
          <p:cNvSpPr txBox="1"/>
          <p:nvPr/>
        </p:nvSpPr>
        <p:spPr>
          <a:xfrm>
            <a:off x="6829758" y="2462529"/>
            <a:ext cx="35479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get_freelist</a:t>
            </a:r>
            <a:r>
              <a:rPr lang="en-US" sz="1200" dirty="0"/>
              <a:t> -&gt; __</a:t>
            </a:r>
            <a:r>
              <a:rPr lang="en-US" sz="1200" dirty="0" err="1"/>
              <a:t>cmpxchg_double_slab</a:t>
            </a:r>
            <a:endParaRPr 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4E8DAC-DC56-4BDD-A714-BA56E1A20A0E}"/>
              </a:ext>
            </a:extLst>
          </p:cNvPr>
          <p:cNvSpPr txBox="1"/>
          <p:nvPr/>
        </p:nvSpPr>
        <p:spPr>
          <a:xfrm>
            <a:off x="1427781" y="4803880"/>
            <a:ext cx="2071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this_cpu_cmpxchg_double</a:t>
            </a:r>
            <a:r>
              <a:rPr lang="en-US" sz="1200" dirty="0"/>
              <a:t>()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812B5A0-14FE-4C61-B826-49E42D40AFFA}"/>
              </a:ext>
            </a:extLst>
          </p:cNvPr>
          <p:cNvSpPr/>
          <p:nvPr/>
        </p:nvSpPr>
        <p:spPr>
          <a:xfrm>
            <a:off x="6614334" y="3213143"/>
            <a:ext cx="4396693" cy="65687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0FB51A5-DFB2-4100-B967-82AD286F70F9}"/>
              </a:ext>
            </a:extLst>
          </p:cNvPr>
          <p:cNvSpPr/>
          <p:nvPr/>
        </p:nvSpPr>
        <p:spPr>
          <a:xfrm>
            <a:off x="6860537" y="2731351"/>
            <a:ext cx="283964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Get a slab object from page-&gt;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4" name="矩形 40">
            <a:extLst>
              <a:ext uri="{FF2B5EF4-FFF2-40B4-BE49-F238E27FC236}">
                <a16:creationId xmlns:a16="http://schemas.microsoft.com/office/drawing/2014/main" id="{240E22AC-20DC-4FAB-BDF6-7B70F35A6C75}"/>
              </a:ext>
            </a:extLst>
          </p:cNvPr>
          <p:cNvSpPr/>
          <p:nvPr/>
        </p:nvSpPr>
        <p:spPr>
          <a:xfrm>
            <a:off x="3521155" y="6342985"/>
            <a:ext cx="6856529" cy="4376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tx1"/>
                </a:solidFill>
              </a:rPr>
              <a:t>Let’s talk about another slow path</a:t>
            </a:r>
          </a:p>
        </p:txBody>
      </p:sp>
    </p:spTree>
    <p:extLst>
      <p:ext uri="{BB962C8B-B14F-4D97-AF65-F5344CB8AC3E}">
        <p14:creationId xmlns:p14="http://schemas.microsoft.com/office/powerpoint/2010/main" val="29748519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13056" y="2471611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13056" y="2728117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13056" y="2936230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2449518" y="1599447"/>
            <a:ext cx="2262944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2449518" y="2025872"/>
            <a:ext cx="226294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 = NULL or valid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2449513" y="2236490"/>
            <a:ext cx="226294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 or valid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2449516" y="2446685"/>
            <a:ext cx="2262944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2615728" y="3757298"/>
            <a:ext cx="1634327" cy="4382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0)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2615727" y="4184662"/>
            <a:ext cx="163432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2615726" y="4548426"/>
            <a:ext cx="1634323" cy="4517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1)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2615725" y="4975791"/>
            <a:ext cx="163432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2449517" y="5169942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cxnSpLocks/>
          </p:cNvCxnSpPr>
          <p:nvPr/>
        </p:nvCxnSpPr>
        <p:spPr>
          <a:xfrm flipH="1">
            <a:off x="2615719" y="4164890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" y="-86213"/>
            <a:ext cx="12259408" cy="689951"/>
          </a:xfrm>
        </p:spPr>
        <p:txBody>
          <a:bodyPr>
            <a:noAutofit/>
          </a:bodyPr>
          <a:lstStyle/>
          <a:p>
            <a:r>
              <a:rPr lang="en-US" sz="3600" dirty="0" err="1">
                <a:solidFill>
                  <a:schemeClr val="tx1"/>
                </a:solidFill>
              </a:rPr>
              <a:t>slowpath</a:t>
            </a:r>
            <a:r>
              <a:rPr lang="en-US" sz="3600" dirty="0">
                <a:solidFill>
                  <a:schemeClr val="tx1"/>
                </a:solidFill>
              </a:rPr>
              <a:t> #3: </a:t>
            </a:r>
            <a:r>
              <a:rPr lang="en-US" sz="3600" dirty="0"/>
              <a:t>Get a partial page from </a:t>
            </a:r>
            <a:r>
              <a:rPr lang="en-US" sz="3600" dirty="0" err="1"/>
              <a:t>percpu</a:t>
            </a:r>
            <a:r>
              <a:rPr lang="en-US" sz="3600" dirty="0"/>
              <a:t> cache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9718F84-5915-4F1B-898E-9E51257A051B}"/>
              </a:ext>
            </a:extLst>
          </p:cNvPr>
          <p:cNvCxnSpPr>
            <a:cxnSpLocks/>
          </p:cNvCxnSpPr>
          <p:nvPr/>
        </p:nvCxnSpPr>
        <p:spPr>
          <a:xfrm flipH="1">
            <a:off x="4250046" y="4211094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38E9A7-39EF-4A8A-A583-00235FCCF53E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2131695" y="1816054"/>
            <a:ext cx="317823" cy="101729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63F9F1C-AC80-4507-94B3-DF5FAC3D155E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>
            <a:off x="2131695" y="3041457"/>
            <a:ext cx="484033" cy="9349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879C8F3-DF60-4F28-845E-86F3A5BC48A4}"/>
              </a:ext>
            </a:extLst>
          </p:cNvPr>
          <p:cNvGrpSpPr/>
          <p:nvPr/>
        </p:nvGrpSpPr>
        <p:grpSpPr>
          <a:xfrm>
            <a:off x="5649022" y="1857776"/>
            <a:ext cx="735393" cy="1021552"/>
            <a:chOff x="4559919" y="899141"/>
            <a:chExt cx="735393" cy="1021552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E6B5917-A5FA-4716-ABD6-16A2DAE3AFB5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3AB6D44-6789-4372-AA0B-C49EBEBC6FC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B76F0DF-B804-49E6-8803-EF489A5B3E60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23113B4-E5E6-4F53-862E-64B1CFE729DB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AE5C609-2784-48BB-8292-D4C0DD983AB8}"/>
                </a:ext>
              </a:extLst>
            </p:cNvPr>
            <p:cNvSpPr/>
            <p:nvPr/>
          </p:nvSpPr>
          <p:spPr>
            <a:xfrm rot="5400000">
              <a:off x="4818825" y="1444207"/>
              <a:ext cx="768265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14C89A1-5F16-4BF3-8825-86A9EA3F386D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ED847AC-D6A7-405F-97B9-6E1135F1740E}"/>
              </a:ext>
            </a:extLst>
          </p:cNvPr>
          <p:cNvCxnSpPr>
            <a:cxnSpLocks/>
          </p:cNvCxnSpPr>
          <p:nvPr/>
        </p:nvCxnSpPr>
        <p:spPr>
          <a:xfrm flipV="1">
            <a:off x="7486669" y="2472838"/>
            <a:ext cx="701844" cy="93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09F2754C-D3D5-4AB8-AC5B-20FC44BF237F}"/>
              </a:ext>
            </a:extLst>
          </p:cNvPr>
          <p:cNvSpPr txBox="1"/>
          <p:nvPr/>
        </p:nvSpPr>
        <p:spPr>
          <a:xfrm>
            <a:off x="7434094" y="2228398"/>
            <a:ext cx="989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page-&gt;next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C050DC-DC6A-4BED-BEF6-183AF0A830BA}"/>
              </a:ext>
            </a:extLst>
          </p:cNvPr>
          <p:cNvGrpSpPr/>
          <p:nvPr/>
        </p:nvGrpSpPr>
        <p:grpSpPr>
          <a:xfrm>
            <a:off x="8075890" y="2474515"/>
            <a:ext cx="196496" cy="186724"/>
            <a:chOff x="8951232" y="5425804"/>
            <a:chExt cx="196496" cy="186724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D5112AE-F3A4-40DE-A18D-BAC51A6D98D9}"/>
                </a:ext>
              </a:extLst>
            </p:cNvPr>
            <p:cNvCxnSpPr/>
            <p:nvPr/>
          </p:nvCxnSpPr>
          <p:spPr>
            <a:xfrm>
              <a:off x="9059440" y="5425804"/>
              <a:ext cx="0" cy="119829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3A14F3F-1D52-48C6-A556-0DF57BC40EE3}"/>
                </a:ext>
              </a:extLst>
            </p:cNvPr>
            <p:cNvCxnSpPr>
              <a:cxnSpLocks/>
            </p:cNvCxnSpPr>
            <p:nvPr/>
          </p:nvCxnSpPr>
          <p:spPr>
            <a:xfrm>
              <a:off x="8951232" y="5545633"/>
              <a:ext cx="196496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7C72D2E-8693-4796-BE63-11EFFB16D8A5}"/>
                </a:ext>
              </a:extLst>
            </p:cNvPr>
            <p:cNvCxnSpPr>
              <a:cxnSpLocks/>
            </p:cNvCxnSpPr>
            <p:nvPr/>
          </p:nvCxnSpPr>
          <p:spPr>
            <a:xfrm>
              <a:off x="8967900" y="5579190"/>
              <a:ext cx="157163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D33DCFC-3E8D-4168-A9C0-A7BAF26720E8}"/>
                </a:ext>
              </a:extLst>
            </p:cNvPr>
            <p:cNvCxnSpPr>
              <a:cxnSpLocks/>
            </p:cNvCxnSpPr>
            <p:nvPr/>
          </p:nvCxnSpPr>
          <p:spPr>
            <a:xfrm>
              <a:off x="9003621" y="5612528"/>
              <a:ext cx="95249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70237C99-F0F1-48DD-8075-586D27300A08}"/>
              </a:ext>
            </a:extLst>
          </p:cNvPr>
          <p:cNvSpPr txBox="1"/>
          <p:nvPr/>
        </p:nvSpPr>
        <p:spPr>
          <a:xfrm>
            <a:off x="5312000" y="1003041"/>
            <a:ext cx="4011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</a:rPr>
              <a:t>Slowpath</a:t>
            </a:r>
            <a:r>
              <a:rPr lang="en-US" sz="1400" b="1" dirty="0">
                <a:solidFill>
                  <a:srgbClr val="C00000"/>
                </a:solidFill>
              </a:rPr>
              <a:t> #3: Get a partial page from </a:t>
            </a:r>
            <a:r>
              <a:rPr lang="en-US" sz="1400" b="1" dirty="0" err="1">
                <a:solidFill>
                  <a:srgbClr val="C00000"/>
                </a:solidFill>
              </a:rPr>
              <a:t>percpu</a:t>
            </a:r>
            <a:r>
              <a:rPr lang="en-US" sz="1400" b="1" dirty="0">
                <a:solidFill>
                  <a:srgbClr val="C00000"/>
                </a:solidFill>
              </a:rPr>
              <a:t> cache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B4FFFE4-13F8-450D-9667-39DEC11E3D1F}"/>
              </a:ext>
            </a:extLst>
          </p:cNvPr>
          <p:cNvSpPr/>
          <p:nvPr/>
        </p:nvSpPr>
        <p:spPr>
          <a:xfrm>
            <a:off x="5405135" y="1680737"/>
            <a:ext cx="1061156" cy="1596722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D943403-1115-46AD-B23D-8D05F142F015}"/>
              </a:ext>
            </a:extLst>
          </p:cNvPr>
          <p:cNvCxnSpPr>
            <a:cxnSpLocks/>
            <a:stCxn id="115" idx="3"/>
            <a:endCxn id="126" idx="2"/>
          </p:cNvCxnSpPr>
          <p:nvPr/>
        </p:nvCxnSpPr>
        <p:spPr>
          <a:xfrm flipV="1">
            <a:off x="4712460" y="2494726"/>
            <a:ext cx="936563" cy="5718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7EBF811-8062-4066-A257-5D6A7D077AD4}"/>
              </a:ext>
            </a:extLst>
          </p:cNvPr>
          <p:cNvGrpSpPr/>
          <p:nvPr/>
        </p:nvGrpSpPr>
        <p:grpSpPr>
          <a:xfrm>
            <a:off x="6744147" y="1859081"/>
            <a:ext cx="735393" cy="1022628"/>
            <a:chOff x="4559919" y="899141"/>
            <a:chExt cx="735393" cy="1022628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273B957-7E43-4916-89DF-786E2D4DD2E1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630949A-EF3F-4571-A317-72D725068FB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124B9D3-CF2F-4F4C-A6B8-F62F4052858A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D096620-A3ED-4918-9EA0-460F042150E5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B837A345-227E-4083-9D2C-F526F6037321}"/>
                </a:ext>
              </a:extLst>
            </p:cNvPr>
            <p:cNvSpPr/>
            <p:nvPr/>
          </p:nvSpPr>
          <p:spPr>
            <a:xfrm rot="5400000">
              <a:off x="4819477" y="1445935"/>
              <a:ext cx="76696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CAA7EC1-F67F-4775-ACCA-05FE3E61F677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451178-D182-432A-8603-49E48D16521B}"/>
              </a:ext>
            </a:extLst>
          </p:cNvPr>
          <p:cNvCxnSpPr>
            <a:cxnSpLocks/>
            <a:stCxn id="130" idx="0"/>
            <a:endCxn id="110" idx="2"/>
          </p:cNvCxnSpPr>
          <p:nvPr/>
        </p:nvCxnSpPr>
        <p:spPr>
          <a:xfrm>
            <a:off x="6384414" y="2495196"/>
            <a:ext cx="359734" cy="8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40D661B-3BB6-4EFA-8093-E28AD9776791}"/>
              </a:ext>
            </a:extLst>
          </p:cNvPr>
          <p:cNvCxnSpPr>
            <a:cxnSpLocks/>
            <a:endCxn id="127" idx="3"/>
          </p:cNvCxnSpPr>
          <p:nvPr/>
        </p:nvCxnSpPr>
        <p:spPr>
          <a:xfrm flipV="1">
            <a:off x="5923279" y="2879327"/>
            <a:ext cx="0" cy="1660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B8DE4C45-2AC5-4D8D-A160-042CCADC09CE}"/>
              </a:ext>
            </a:extLst>
          </p:cNvPr>
          <p:cNvSpPr txBox="1"/>
          <p:nvPr/>
        </p:nvSpPr>
        <p:spPr>
          <a:xfrm>
            <a:off x="5405135" y="2987728"/>
            <a:ext cx="1061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5F081AB-6EAE-4CF0-A260-87AE38A555BC}"/>
              </a:ext>
            </a:extLst>
          </p:cNvPr>
          <p:cNvSpPr txBox="1"/>
          <p:nvPr/>
        </p:nvSpPr>
        <p:spPr>
          <a:xfrm>
            <a:off x="6871548" y="3000460"/>
            <a:ext cx="110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58FCCAE-BE4D-4FD5-BA5B-01F76EF5FE7E}"/>
              </a:ext>
            </a:extLst>
          </p:cNvPr>
          <p:cNvCxnSpPr>
            <a:cxnSpLocks/>
          </p:cNvCxnSpPr>
          <p:nvPr/>
        </p:nvCxnSpPr>
        <p:spPr>
          <a:xfrm flipV="1">
            <a:off x="7376622" y="2891337"/>
            <a:ext cx="0" cy="1660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BA8C80AB-1D16-4A09-8B74-989AE08E528D}"/>
              </a:ext>
            </a:extLst>
          </p:cNvPr>
          <p:cNvSpPr/>
          <p:nvPr/>
        </p:nvSpPr>
        <p:spPr>
          <a:xfrm>
            <a:off x="4722829" y="1475704"/>
            <a:ext cx="914400" cy="645327"/>
          </a:xfrm>
          <a:custGeom>
            <a:avLst/>
            <a:gdLst>
              <a:gd name="connsiteX0" fmla="*/ 914400 w 914400"/>
              <a:gd name="connsiteY0" fmla="*/ 192840 h 645327"/>
              <a:gd name="connsiteX1" fmla="*/ 461913 w 914400"/>
              <a:gd name="connsiteY1" fmla="*/ 23158 h 645327"/>
              <a:gd name="connsiteX2" fmla="*/ 0 w 914400"/>
              <a:gd name="connsiteY2" fmla="*/ 645327 h 645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645327">
                <a:moveTo>
                  <a:pt x="914400" y="192840"/>
                </a:moveTo>
                <a:cubicBezTo>
                  <a:pt x="764356" y="70292"/>
                  <a:pt x="614313" y="-52256"/>
                  <a:pt x="461913" y="23158"/>
                </a:cubicBezTo>
                <a:cubicBezTo>
                  <a:pt x="309513" y="98572"/>
                  <a:pt x="154756" y="371949"/>
                  <a:pt x="0" y="645327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E502116B-8D7B-43CC-93AD-89B8367BD991}"/>
              </a:ext>
            </a:extLst>
          </p:cNvPr>
          <p:cNvSpPr/>
          <p:nvPr/>
        </p:nvSpPr>
        <p:spPr>
          <a:xfrm>
            <a:off x="5089260" y="1370477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924154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6D52933-CC29-4F72-AEC4-78FAE7BAE250}"/>
              </a:ext>
            </a:extLst>
          </p:cNvPr>
          <p:cNvSpPr/>
          <p:nvPr/>
        </p:nvSpPr>
        <p:spPr>
          <a:xfrm>
            <a:off x="4267200" y="3361970"/>
            <a:ext cx="3619027" cy="1067155"/>
          </a:xfrm>
          <a:custGeom>
            <a:avLst/>
            <a:gdLst>
              <a:gd name="connsiteX0" fmla="*/ 3114675 w 3619027"/>
              <a:gd name="connsiteY0" fmla="*/ 1067155 h 1067155"/>
              <a:gd name="connsiteX1" fmla="*/ 3571875 w 3619027"/>
              <a:gd name="connsiteY1" fmla="*/ 895705 h 1067155"/>
              <a:gd name="connsiteX2" fmla="*/ 3381375 w 3619027"/>
              <a:gd name="connsiteY2" fmla="*/ 76555 h 1067155"/>
              <a:gd name="connsiteX3" fmla="*/ 1600200 w 3619027"/>
              <a:gd name="connsiteY3" fmla="*/ 38455 h 1067155"/>
              <a:gd name="connsiteX4" fmla="*/ 352425 w 3619027"/>
              <a:gd name="connsiteY4" fmla="*/ 105130 h 1067155"/>
              <a:gd name="connsiteX5" fmla="*/ 0 w 3619027"/>
              <a:gd name="connsiteY5" fmla="*/ 867130 h 1067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9027" h="1067155">
                <a:moveTo>
                  <a:pt x="3114675" y="1067155"/>
                </a:moveTo>
                <a:cubicBezTo>
                  <a:pt x="3321050" y="1063980"/>
                  <a:pt x="3527425" y="1060805"/>
                  <a:pt x="3571875" y="895705"/>
                </a:cubicBezTo>
                <a:cubicBezTo>
                  <a:pt x="3616325" y="730605"/>
                  <a:pt x="3709987" y="219430"/>
                  <a:pt x="3381375" y="76555"/>
                </a:cubicBezTo>
                <a:cubicBezTo>
                  <a:pt x="3052763" y="-66320"/>
                  <a:pt x="2105025" y="33692"/>
                  <a:pt x="1600200" y="38455"/>
                </a:cubicBezTo>
                <a:cubicBezTo>
                  <a:pt x="1095375" y="43217"/>
                  <a:pt x="619125" y="-32982"/>
                  <a:pt x="352425" y="105130"/>
                </a:cubicBezTo>
                <a:cubicBezTo>
                  <a:pt x="85725" y="243242"/>
                  <a:pt x="42862" y="555186"/>
                  <a:pt x="0" y="867130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13056" y="2471611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13056" y="2728117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13056" y="2936230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2449518" y="1599447"/>
            <a:ext cx="2066876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2449518" y="2025872"/>
            <a:ext cx="206687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 = NULL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2449513" y="2236490"/>
            <a:ext cx="206687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2449516" y="2446685"/>
            <a:ext cx="206687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 = NULL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2615728" y="3757298"/>
            <a:ext cx="1634327" cy="4382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0)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2615727" y="4184662"/>
            <a:ext cx="163432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2615726" y="4548426"/>
            <a:ext cx="1634323" cy="4517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1)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2615725" y="4975791"/>
            <a:ext cx="163432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2449517" y="5169942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cxnSpLocks/>
          </p:cNvCxnSpPr>
          <p:nvPr/>
        </p:nvCxnSpPr>
        <p:spPr>
          <a:xfrm flipH="1">
            <a:off x="2615719" y="4164890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9718F84-5915-4F1B-898E-9E51257A051B}"/>
              </a:ext>
            </a:extLst>
          </p:cNvPr>
          <p:cNvCxnSpPr>
            <a:cxnSpLocks/>
          </p:cNvCxnSpPr>
          <p:nvPr/>
        </p:nvCxnSpPr>
        <p:spPr>
          <a:xfrm flipH="1">
            <a:off x="4250046" y="4211094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38E9A7-39EF-4A8A-A583-00235FCCF53E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2131695" y="1816054"/>
            <a:ext cx="317823" cy="101729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63F9F1C-AC80-4507-94B3-DF5FAC3D155E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>
            <a:off x="2131695" y="3041457"/>
            <a:ext cx="484033" cy="9349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1FD249A-73B4-41C3-8566-F96C137AA8AF}"/>
              </a:ext>
            </a:extLst>
          </p:cNvPr>
          <p:cNvGrpSpPr/>
          <p:nvPr/>
        </p:nvGrpSpPr>
        <p:grpSpPr>
          <a:xfrm>
            <a:off x="4653681" y="3757000"/>
            <a:ext cx="735393" cy="1022487"/>
            <a:chOff x="4559919" y="899141"/>
            <a:chExt cx="735393" cy="1022487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440D27D-EB10-47E1-BA08-E3A2A28CC5E4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82A40C1-5F44-4BA1-B2B5-1F5EC574793C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3CC4C0D-B668-4513-9FCC-3B5711585DE1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02F6ADA-CF35-48BF-A9C9-E30A8EFDF00E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FEA2408-287E-4126-9CA1-172066C99B4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5A86EF7-FFFA-4DAE-AA2B-6D792E883B3C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11FA7E7-65BE-47DB-8982-1D2B96CDC2C9}"/>
              </a:ext>
            </a:extLst>
          </p:cNvPr>
          <p:cNvGrpSpPr/>
          <p:nvPr/>
        </p:nvGrpSpPr>
        <p:grpSpPr>
          <a:xfrm>
            <a:off x="5643768" y="3755606"/>
            <a:ext cx="735393" cy="1022487"/>
            <a:chOff x="4559919" y="899141"/>
            <a:chExt cx="735393" cy="1022487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B55B7D6-FEF0-4D52-9ED8-DD5E3C771CD4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3BDA005-6FCC-4A76-B785-9B69CBA7D7EC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96A4318-6812-4418-9E45-F3E6F8BCB88A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64203D1-8F56-4BB4-94CC-0DE83F7D62F6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2EFB3F7-2233-4B77-9FBB-9A7CCB4343F1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A002A3D-0A1D-4186-84D6-DCE985CA2469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B9DF742-697D-4BA0-A033-5C3F57DA6AF9}"/>
              </a:ext>
            </a:extLst>
          </p:cNvPr>
          <p:cNvGrpSpPr/>
          <p:nvPr/>
        </p:nvGrpSpPr>
        <p:grpSpPr>
          <a:xfrm>
            <a:off x="6639033" y="3763772"/>
            <a:ext cx="735393" cy="1022487"/>
            <a:chOff x="4559919" y="899141"/>
            <a:chExt cx="735393" cy="1022487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090625A-964B-4447-9B0B-AA00171D3BCF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FDC74D0-E177-4503-8476-34A2DA45FE1E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09EA86E-2FA6-4002-8ADF-9EFDEED6E957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18BA525-F5F8-4917-BA41-2BEEA6522C97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03AE197-1348-4EB2-8073-521D5CAA4DBE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9EC013E-A4B2-4966-AC5A-2CF2B8AD4EE5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FE71D5-6781-4778-AFBB-F4844AA7AE4B}"/>
              </a:ext>
            </a:extLst>
          </p:cNvPr>
          <p:cNvCxnSpPr>
            <a:cxnSpLocks/>
            <a:stCxn id="88" idx="0"/>
            <a:endCxn id="94" idx="2"/>
          </p:cNvCxnSpPr>
          <p:nvPr/>
        </p:nvCxnSpPr>
        <p:spPr>
          <a:xfrm flipV="1">
            <a:off x="5389074" y="4392556"/>
            <a:ext cx="254695" cy="2331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D2E820-297A-4052-9FB1-8ACC172ACA53}"/>
              </a:ext>
            </a:extLst>
          </p:cNvPr>
          <p:cNvCxnSpPr>
            <a:stCxn id="97" idx="0"/>
            <a:endCxn id="101" idx="2"/>
          </p:cNvCxnSpPr>
          <p:nvPr/>
        </p:nvCxnSpPr>
        <p:spPr>
          <a:xfrm>
            <a:off x="6379161" y="4393493"/>
            <a:ext cx="259873" cy="7229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9D4D3C8-4782-4CC1-AF2F-193F5295153B}"/>
              </a:ext>
            </a:extLst>
          </p:cNvPr>
          <p:cNvCxnSpPr>
            <a:stCxn id="91" idx="3"/>
            <a:endCxn id="85" idx="2"/>
          </p:cNvCxnSpPr>
          <p:nvPr/>
        </p:nvCxnSpPr>
        <p:spPr>
          <a:xfrm>
            <a:off x="4250054" y="4289889"/>
            <a:ext cx="403628" cy="104061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70237C99-F0F1-48DD-8075-586D27300A08}"/>
              </a:ext>
            </a:extLst>
          </p:cNvPr>
          <p:cNvSpPr txBox="1"/>
          <p:nvPr/>
        </p:nvSpPr>
        <p:spPr>
          <a:xfrm>
            <a:off x="5020292" y="4912253"/>
            <a:ext cx="71256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</a:rPr>
              <a:t>Slowpath</a:t>
            </a:r>
            <a:r>
              <a:rPr lang="en-US" sz="1400" b="1" dirty="0">
                <a:solidFill>
                  <a:srgbClr val="C00000"/>
                </a:solidFill>
              </a:rPr>
              <a:t> #1: Get a slab object from node’s partial (</a:t>
            </a:r>
            <a:r>
              <a:rPr lang="en-US" sz="1400" b="1" dirty="0" err="1">
                <a:solidFill>
                  <a:srgbClr val="C00000"/>
                </a:solidFill>
              </a:rPr>
              <a:t>new_slab_objects</a:t>
            </a:r>
            <a:r>
              <a:rPr lang="en-US" sz="1400" b="1" dirty="0">
                <a:solidFill>
                  <a:srgbClr val="C00000"/>
                </a:solidFill>
              </a:rPr>
              <a:t>-&gt;</a:t>
            </a:r>
            <a:r>
              <a:rPr lang="en-US" sz="1400" b="1" dirty="0" err="1">
                <a:solidFill>
                  <a:srgbClr val="C00000"/>
                </a:solidFill>
              </a:rPr>
              <a:t>get_partial</a:t>
            </a:r>
            <a:r>
              <a:rPr lang="en-US" sz="1400" b="1" dirty="0">
                <a:solidFill>
                  <a:srgbClr val="C00000"/>
                </a:solidFill>
              </a:rPr>
              <a:t>-&gt;</a:t>
            </a:r>
            <a:r>
              <a:rPr lang="en-US" sz="1400" b="1" dirty="0" err="1">
                <a:solidFill>
                  <a:srgbClr val="C00000"/>
                </a:solidFill>
              </a:rPr>
              <a:t>get_partial_node</a:t>
            </a:r>
            <a:r>
              <a:rPr lang="en-US" sz="1400" b="1" dirty="0">
                <a:solidFill>
                  <a:srgbClr val="C00000"/>
                </a:solidFill>
              </a:rPr>
              <a:t>-&gt;</a:t>
            </a:r>
            <a:r>
              <a:rPr lang="en-US" sz="1400" b="1" dirty="0" err="1">
                <a:solidFill>
                  <a:srgbClr val="C00000"/>
                </a:solidFill>
              </a:rPr>
              <a:t>put_cpu_partial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[Just for a scenario] Acquire 3 pages because of the number of </a:t>
            </a:r>
            <a:r>
              <a:rPr lang="en-US" sz="1400" b="1" dirty="0" err="1">
                <a:solidFill>
                  <a:srgbClr val="C00000"/>
                </a:solidFill>
              </a:rPr>
              <a:t>kmem_cache</a:t>
            </a:r>
            <a:r>
              <a:rPr lang="en-US" sz="1400" b="1" dirty="0">
                <a:solidFill>
                  <a:srgbClr val="C00000"/>
                </a:solidFill>
              </a:rPr>
              <a:t>-&gt;</a:t>
            </a:r>
            <a:r>
              <a:rPr lang="en-US" sz="1400" b="1" dirty="0" err="1">
                <a:solidFill>
                  <a:srgbClr val="C00000"/>
                </a:solidFill>
              </a:rPr>
              <a:t>cpu_partial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9007D3C-DAE5-4A07-B50D-90BDDDD0293C}"/>
              </a:ext>
            </a:extLst>
          </p:cNvPr>
          <p:cNvSpPr/>
          <p:nvPr/>
        </p:nvSpPr>
        <p:spPr>
          <a:xfrm>
            <a:off x="4516397" y="3660112"/>
            <a:ext cx="3021923" cy="1184295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7975025-2E8B-41CF-8A74-7616CD23BC76}"/>
              </a:ext>
            </a:extLst>
          </p:cNvPr>
          <p:cNvSpPr/>
          <p:nvPr/>
        </p:nvSpPr>
        <p:spPr>
          <a:xfrm>
            <a:off x="4534293" y="1875934"/>
            <a:ext cx="4182069" cy="2724346"/>
          </a:xfrm>
          <a:custGeom>
            <a:avLst/>
            <a:gdLst>
              <a:gd name="connsiteX0" fmla="*/ 3016577 w 4182069"/>
              <a:gd name="connsiteY0" fmla="*/ 2724346 h 2724346"/>
              <a:gd name="connsiteX1" fmla="*/ 3817855 w 4182069"/>
              <a:gd name="connsiteY1" fmla="*/ 2347274 h 2724346"/>
              <a:gd name="connsiteX2" fmla="*/ 3883843 w 4182069"/>
              <a:gd name="connsiteY2" fmla="*/ 1423447 h 2724346"/>
              <a:gd name="connsiteX3" fmla="*/ 0 w 4182069"/>
              <a:gd name="connsiteY3" fmla="*/ 0 h 2724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2069" h="2724346">
                <a:moveTo>
                  <a:pt x="3016577" y="2724346"/>
                </a:moveTo>
                <a:cubicBezTo>
                  <a:pt x="3344944" y="2644218"/>
                  <a:pt x="3673311" y="2564090"/>
                  <a:pt x="3817855" y="2347274"/>
                </a:cubicBezTo>
                <a:cubicBezTo>
                  <a:pt x="3962399" y="2130458"/>
                  <a:pt x="4520152" y="1814659"/>
                  <a:pt x="3883843" y="1423447"/>
                </a:cubicBezTo>
                <a:cubicBezTo>
                  <a:pt x="3247534" y="1032235"/>
                  <a:pt x="1623767" y="516117"/>
                  <a:pt x="0" y="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2981B3DC-DF0A-44F0-810A-D139307B5159}"/>
              </a:ext>
            </a:extLst>
          </p:cNvPr>
          <p:cNvSpPr/>
          <p:nvPr/>
        </p:nvSpPr>
        <p:spPr>
          <a:xfrm>
            <a:off x="8003080" y="4249584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0" name="Title 1">
            <a:extLst>
              <a:ext uri="{FF2B5EF4-FFF2-40B4-BE49-F238E27FC236}">
                <a16:creationId xmlns:a16="http://schemas.microsoft.com/office/drawing/2014/main" id="{85BFBE8C-F69F-4047-9D1B-E9E84775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" y="-86213"/>
            <a:ext cx="12259408" cy="689951"/>
          </a:xfrm>
        </p:spPr>
        <p:txBody>
          <a:bodyPr>
            <a:noAutofit/>
          </a:bodyPr>
          <a:lstStyle/>
          <a:p>
            <a:r>
              <a:rPr lang="en-US" sz="3600" dirty="0"/>
              <a:t>When to add a page to </a:t>
            </a:r>
            <a:r>
              <a:rPr lang="en-US" sz="3600" dirty="0" err="1"/>
              <a:t>percpu</a:t>
            </a:r>
            <a:r>
              <a:rPr lang="en-US" sz="3600" dirty="0"/>
              <a:t> partial page? – Case 1 (1/2)</a:t>
            </a:r>
          </a:p>
        </p:txBody>
      </p:sp>
      <p:sp>
        <p:nvSpPr>
          <p:cNvPr id="134" name="矩形 40">
            <a:extLst>
              <a:ext uri="{FF2B5EF4-FFF2-40B4-BE49-F238E27FC236}">
                <a16:creationId xmlns:a16="http://schemas.microsoft.com/office/drawing/2014/main" id="{D4AC9CA7-24A8-44CF-9FE3-870D3446560E}"/>
              </a:ext>
            </a:extLst>
          </p:cNvPr>
          <p:cNvSpPr/>
          <p:nvPr/>
        </p:nvSpPr>
        <p:spPr>
          <a:xfrm>
            <a:off x="2237431" y="6317840"/>
            <a:ext cx="8543331" cy="4376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tx1"/>
                </a:solidFill>
              </a:rPr>
              <a:t>put_cpu_partial</a:t>
            </a:r>
            <a:r>
              <a:rPr lang="en-US" sz="2800" b="1" dirty="0">
                <a:solidFill>
                  <a:schemeClr val="tx1"/>
                </a:solidFill>
              </a:rPr>
              <a:t>(): Put page(s) into a </a:t>
            </a:r>
            <a:r>
              <a:rPr lang="en-US" sz="2800" b="1" dirty="0" err="1">
                <a:solidFill>
                  <a:schemeClr val="tx1"/>
                </a:solidFill>
              </a:rPr>
              <a:t>percpu</a:t>
            </a:r>
            <a:r>
              <a:rPr lang="en-US" sz="2800" b="1" dirty="0">
                <a:solidFill>
                  <a:schemeClr val="tx1"/>
                </a:solidFill>
              </a:rPr>
              <a:t> partial page</a:t>
            </a:r>
          </a:p>
        </p:txBody>
      </p:sp>
    </p:spTree>
    <p:extLst>
      <p:ext uri="{BB962C8B-B14F-4D97-AF65-F5344CB8AC3E}">
        <p14:creationId xmlns:p14="http://schemas.microsoft.com/office/powerpoint/2010/main" val="32558743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6D52933-CC29-4F72-AEC4-78FAE7BAE250}"/>
              </a:ext>
            </a:extLst>
          </p:cNvPr>
          <p:cNvSpPr/>
          <p:nvPr/>
        </p:nvSpPr>
        <p:spPr>
          <a:xfrm>
            <a:off x="4267200" y="3361970"/>
            <a:ext cx="3619027" cy="1067155"/>
          </a:xfrm>
          <a:custGeom>
            <a:avLst/>
            <a:gdLst>
              <a:gd name="connsiteX0" fmla="*/ 3114675 w 3619027"/>
              <a:gd name="connsiteY0" fmla="*/ 1067155 h 1067155"/>
              <a:gd name="connsiteX1" fmla="*/ 3571875 w 3619027"/>
              <a:gd name="connsiteY1" fmla="*/ 895705 h 1067155"/>
              <a:gd name="connsiteX2" fmla="*/ 3381375 w 3619027"/>
              <a:gd name="connsiteY2" fmla="*/ 76555 h 1067155"/>
              <a:gd name="connsiteX3" fmla="*/ 1600200 w 3619027"/>
              <a:gd name="connsiteY3" fmla="*/ 38455 h 1067155"/>
              <a:gd name="connsiteX4" fmla="*/ 352425 w 3619027"/>
              <a:gd name="connsiteY4" fmla="*/ 105130 h 1067155"/>
              <a:gd name="connsiteX5" fmla="*/ 0 w 3619027"/>
              <a:gd name="connsiteY5" fmla="*/ 867130 h 1067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9027" h="1067155">
                <a:moveTo>
                  <a:pt x="3114675" y="1067155"/>
                </a:moveTo>
                <a:cubicBezTo>
                  <a:pt x="3321050" y="1063980"/>
                  <a:pt x="3527425" y="1060805"/>
                  <a:pt x="3571875" y="895705"/>
                </a:cubicBezTo>
                <a:cubicBezTo>
                  <a:pt x="3616325" y="730605"/>
                  <a:pt x="3709987" y="219430"/>
                  <a:pt x="3381375" y="76555"/>
                </a:cubicBezTo>
                <a:cubicBezTo>
                  <a:pt x="3052763" y="-66320"/>
                  <a:pt x="2105025" y="33692"/>
                  <a:pt x="1600200" y="38455"/>
                </a:cubicBezTo>
                <a:cubicBezTo>
                  <a:pt x="1095375" y="43217"/>
                  <a:pt x="619125" y="-32982"/>
                  <a:pt x="352425" y="105130"/>
                </a:cubicBezTo>
                <a:cubicBezTo>
                  <a:pt x="85725" y="243242"/>
                  <a:pt x="42862" y="555186"/>
                  <a:pt x="0" y="867130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13056" y="2471611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13056" y="2728117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13056" y="2936230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2449518" y="1599447"/>
            <a:ext cx="156431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2449518" y="2025872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2449513" y="2236490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2449516" y="2446685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2615728" y="3757298"/>
            <a:ext cx="1634327" cy="4382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0)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2615727" y="4184662"/>
            <a:ext cx="163432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2615726" y="4548426"/>
            <a:ext cx="1634323" cy="4517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1)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2615725" y="4975791"/>
            <a:ext cx="163432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2449517" y="5169942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cxnSpLocks/>
          </p:cNvCxnSpPr>
          <p:nvPr/>
        </p:nvCxnSpPr>
        <p:spPr>
          <a:xfrm flipH="1">
            <a:off x="2615719" y="4164890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" y="-86213"/>
            <a:ext cx="12259408" cy="689951"/>
          </a:xfrm>
        </p:spPr>
        <p:txBody>
          <a:bodyPr>
            <a:noAutofit/>
          </a:bodyPr>
          <a:lstStyle/>
          <a:p>
            <a:r>
              <a:rPr lang="en-US" sz="3600" dirty="0"/>
              <a:t>When to add a page to </a:t>
            </a:r>
            <a:r>
              <a:rPr lang="en-US" sz="3600" dirty="0" err="1"/>
              <a:t>percpu</a:t>
            </a:r>
            <a:r>
              <a:rPr lang="en-US" sz="3600" dirty="0"/>
              <a:t> partial page? – Case 1 (2/2)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9718F84-5915-4F1B-898E-9E51257A051B}"/>
              </a:ext>
            </a:extLst>
          </p:cNvPr>
          <p:cNvCxnSpPr>
            <a:cxnSpLocks/>
          </p:cNvCxnSpPr>
          <p:nvPr/>
        </p:nvCxnSpPr>
        <p:spPr>
          <a:xfrm flipH="1">
            <a:off x="4250046" y="4211094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38E9A7-39EF-4A8A-A583-00235FCCF53E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2131695" y="1816054"/>
            <a:ext cx="317823" cy="101729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63F9F1C-AC80-4507-94B3-DF5FAC3D155E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>
            <a:off x="2131695" y="3041457"/>
            <a:ext cx="484033" cy="9349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9EB4F4D-E780-4D8E-A282-B23942B0101A}"/>
              </a:ext>
            </a:extLst>
          </p:cNvPr>
          <p:cNvCxnSpPr>
            <a:cxnSpLocks/>
            <a:stCxn id="113" idx="3"/>
          </p:cNvCxnSpPr>
          <p:nvPr/>
        </p:nvCxnSpPr>
        <p:spPr>
          <a:xfrm flipV="1">
            <a:off x="4013836" y="1560857"/>
            <a:ext cx="688959" cy="57024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1FD249A-73B4-41C3-8566-F96C137AA8AF}"/>
              </a:ext>
            </a:extLst>
          </p:cNvPr>
          <p:cNvGrpSpPr/>
          <p:nvPr/>
        </p:nvGrpSpPr>
        <p:grpSpPr>
          <a:xfrm>
            <a:off x="4653681" y="3757000"/>
            <a:ext cx="735393" cy="1022487"/>
            <a:chOff x="4559919" y="899141"/>
            <a:chExt cx="735393" cy="1022487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440D27D-EB10-47E1-BA08-E3A2A28CC5E4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82A40C1-5F44-4BA1-B2B5-1F5EC574793C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3CC4C0D-B668-4513-9FCC-3B5711585DE1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02F6ADA-CF35-48BF-A9C9-E30A8EFDF00E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FEA2408-287E-4126-9CA1-172066C99B4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5A86EF7-FFFA-4DAE-AA2B-6D792E883B3C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11FA7E7-65BE-47DB-8982-1D2B96CDC2C9}"/>
              </a:ext>
            </a:extLst>
          </p:cNvPr>
          <p:cNvGrpSpPr/>
          <p:nvPr/>
        </p:nvGrpSpPr>
        <p:grpSpPr>
          <a:xfrm>
            <a:off x="5643768" y="3755606"/>
            <a:ext cx="735393" cy="1022487"/>
            <a:chOff x="4559919" y="899141"/>
            <a:chExt cx="735393" cy="1022487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B55B7D6-FEF0-4D52-9ED8-DD5E3C771CD4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3BDA005-6FCC-4A76-B785-9B69CBA7D7EC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96A4318-6812-4418-9E45-F3E6F8BCB88A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64203D1-8F56-4BB4-94CC-0DE83F7D62F6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2EFB3F7-2233-4B77-9FBB-9A7CCB4343F1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A002A3D-0A1D-4186-84D6-DCE985CA2469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B9DF742-697D-4BA0-A033-5C3F57DA6AF9}"/>
              </a:ext>
            </a:extLst>
          </p:cNvPr>
          <p:cNvGrpSpPr/>
          <p:nvPr/>
        </p:nvGrpSpPr>
        <p:grpSpPr>
          <a:xfrm>
            <a:off x="6639033" y="3763772"/>
            <a:ext cx="735393" cy="1022487"/>
            <a:chOff x="4559919" y="899141"/>
            <a:chExt cx="735393" cy="1022487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090625A-964B-4447-9B0B-AA00171D3BCF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FDC74D0-E177-4503-8476-34A2DA45FE1E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09EA86E-2FA6-4002-8ADF-9EFDEED6E957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18BA525-F5F8-4917-BA41-2BEEA6522C97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03AE197-1348-4EB2-8073-521D5CAA4DBE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9EC013E-A4B2-4966-AC5A-2CF2B8AD4EE5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FE71D5-6781-4778-AFBB-F4844AA7AE4B}"/>
              </a:ext>
            </a:extLst>
          </p:cNvPr>
          <p:cNvCxnSpPr>
            <a:cxnSpLocks/>
            <a:stCxn id="88" idx="0"/>
            <a:endCxn id="94" idx="2"/>
          </p:cNvCxnSpPr>
          <p:nvPr/>
        </p:nvCxnSpPr>
        <p:spPr>
          <a:xfrm flipV="1">
            <a:off x="5389074" y="4392556"/>
            <a:ext cx="254695" cy="2331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D2E820-297A-4052-9FB1-8ACC172ACA53}"/>
              </a:ext>
            </a:extLst>
          </p:cNvPr>
          <p:cNvCxnSpPr>
            <a:stCxn id="97" idx="0"/>
            <a:endCxn id="101" idx="2"/>
          </p:cNvCxnSpPr>
          <p:nvPr/>
        </p:nvCxnSpPr>
        <p:spPr>
          <a:xfrm>
            <a:off x="6379161" y="4393493"/>
            <a:ext cx="259873" cy="7229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9D4D3C8-4782-4CC1-AF2F-193F5295153B}"/>
              </a:ext>
            </a:extLst>
          </p:cNvPr>
          <p:cNvCxnSpPr>
            <a:stCxn id="91" idx="3"/>
            <a:endCxn id="85" idx="2"/>
          </p:cNvCxnSpPr>
          <p:nvPr/>
        </p:nvCxnSpPr>
        <p:spPr>
          <a:xfrm>
            <a:off x="4250054" y="4289889"/>
            <a:ext cx="403628" cy="104061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879C8F3-DF60-4F28-845E-86F3A5BC48A4}"/>
              </a:ext>
            </a:extLst>
          </p:cNvPr>
          <p:cNvGrpSpPr/>
          <p:nvPr/>
        </p:nvGrpSpPr>
        <p:grpSpPr>
          <a:xfrm>
            <a:off x="5934790" y="1823990"/>
            <a:ext cx="735393" cy="1022487"/>
            <a:chOff x="4559919" y="899141"/>
            <a:chExt cx="735393" cy="1022487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E6B5917-A5FA-4716-ABD6-16A2DAE3AFB5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3AB6D44-6789-4372-AA0B-C49EBEBC6FC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B76F0DF-B804-49E6-8803-EF489A5B3E60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23113B4-E5E6-4F53-862E-64B1CFE729DB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AE5C609-2784-48BB-8292-D4C0DD983AB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14C89A1-5F16-4BF3-8825-86A9EA3F386D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ED847AC-D6A7-405F-97B9-6E1135F1740E}"/>
              </a:ext>
            </a:extLst>
          </p:cNvPr>
          <p:cNvCxnSpPr>
            <a:cxnSpLocks/>
          </p:cNvCxnSpPr>
          <p:nvPr/>
        </p:nvCxnSpPr>
        <p:spPr>
          <a:xfrm flipV="1">
            <a:off x="7772437" y="2439052"/>
            <a:ext cx="701844" cy="93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09F2754C-D3D5-4AB8-AC5B-20FC44BF237F}"/>
              </a:ext>
            </a:extLst>
          </p:cNvPr>
          <p:cNvSpPr txBox="1"/>
          <p:nvPr/>
        </p:nvSpPr>
        <p:spPr>
          <a:xfrm>
            <a:off x="7719862" y="2194612"/>
            <a:ext cx="989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page-&gt;next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C050DC-DC6A-4BED-BEF6-183AF0A830BA}"/>
              </a:ext>
            </a:extLst>
          </p:cNvPr>
          <p:cNvGrpSpPr/>
          <p:nvPr/>
        </p:nvGrpSpPr>
        <p:grpSpPr>
          <a:xfrm>
            <a:off x="8361658" y="2440729"/>
            <a:ext cx="196496" cy="186724"/>
            <a:chOff x="8951232" y="5425804"/>
            <a:chExt cx="196496" cy="186724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D5112AE-F3A4-40DE-A18D-BAC51A6D98D9}"/>
                </a:ext>
              </a:extLst>
            </p:cNvPr>
            <p:cNvCxnSpPr/>
            <p:nvPr/>
          </p:nvCxnSpPr>
          <p:spPr>
            <a:xfrm>
              <a:off x="9059440" y="5425804"/>
              <a:ext cx="0" cy="119829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3A14F3F-1D52-48C6-A556-0DF57BC40EE3}"/>
                </a:ext>
              </a:extLst>
            </p:cNvPr>
            <p:cNvCxnSpPr>
              <a:cxnSpLocks/>
            </p:cNvCxnSpPr>
            <p:nvPr/>
          </p:nvCxnSpPr>
          <p:spPr>
            <a:xfrm>
              <a:off x="8951232" y="5545633"/>
              <a:ext cx="196496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7C72D2E-8693-4796-BE63-11EFFB16D8A5}"/>
                </a:ext>
              </a:extLst>
            </p:cNvPr>
            <p:cNvCxnSpPr>
              <a:cxnSpLocks/>
            </p:cNvCxnSpPr>
            <p:nvPr/>
          </p:nvCxnSpPr>
          <p:spPr>
            <a:xfrm>
              <a:off x="8967900" y="5579190"/>
              <a:ext cx="157163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D33DCFC-3E8D-4168-A9C0-A7BAF26720E8}"/>
                </a:ext>
              </a:extLst>
            </p:cNvPr>
            <p:cNvCxnSpPr>
              <a:cxnSpLocks/>
            </p:cNvCxnSpPr>
            <p:nvPr/>
          </p:nvCxnSpPr>
          <p:spPr>
            <a:xfrm>
              <a:off x="9003621" y="5612528"/>
              <a:ext cx="95249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9007D3C-DAE5-4A07-B50D-90BDDDD0293C}"/>
              </a:ext>
            </a:extLst>
          </p:cNvPr>
          <p:cNvSpPr/>
          <p:nvPr/>
        </p:nvSpPr>
        <p:spPr>
          <a:xfrm>
            <a:off x="4516397" y="3660112"/>
            <a:ext cx="3021923" cy="1184295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5302B34-1794-4037-8AEB-4F1AC252E5D7}"/>
              </a:ext>
            </a:extLst>
          </p:cNvPr>
          <p:cNvGrpSpPr/>
          <p:nvPr/>
        </p:nvGrpSpPr>
        <p:grpSpPr>
          <a:xfrm>
            <a:off x="4702794" y="923906"/>
            <a:ext cx="735393" cy="1021551"/>
            <a:chOff x="4559919" y="899141"/>
            <a:chExt cx="735393" cy="1021551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CEA735FE-0440-4FF0-AB4D-A50C6AD1E1D9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FC6EF1DC-2ED4-4798-8E3E-4060CE8152E6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F6DABDF-E10D-4585-AC26-E1727CC38460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75976527-2762-4083-9C39-CDAB2BB8D388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C7674BF-1FE6-436C-AC12-6E22787B1110}"/>
                </a:ext>
              </a:extLst>
            </p:cNvPr>
            <p:cNvSpPr/>
            <p:nvPr/>
          </p:nvSpPr>
          <p:spPr>
            <a:xfrm rot="5400000">
              <a:off x="4818358" y="143832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5072A4A-A201-4B34-BC0F-6148CD77E498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B4FFFE4-13F8-450D-9667-39DEC11E3D1F}"/>
              </a:ext>
            </a:extLst>
          </p:cNvPr>
          <p:cNvSpPr/>
          <p:nvPr/>
        </p:nvSpPr>
        <p:spPr>
          <a:xfrm>
            <a:off x="4499417" y="739290"/>
            <a:ext cx="4342925" cy="2563246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FDF96CB-0D62-4801-822E-FAFF09795FAC}"/>
              </a:ext>
            </a:extLst>
          </p:cNvPr>
          <p:cNvSpPr/>
          <p:nvPr/>
        </p:nvSpPr>
        <p:spPr>
          <a:xfrm>
            <a:off x="7560297" y="3335873"/>
            <a:ext cx="1043137" cy="1344584"/>
          </a:xfrm>
          <a:custGeom>
            <a:avLst/>
            <a:gdLst>
              <a:gd name="connsiteX0" fmla="*/ 0 w 1043137"/>
              <a:gd name="connsiteY0" fmla="*/ 1376313 h 1447063"/>
              <a:gd name="connsiteX1" fmla="*/ 942680 w 1043137"/>
              <a:gd name="connsiteY1" fmla="*/ 1291472 h 1447063"/>
              <a:gd name="connsiteX2" fmla="*/ 970961 w 1043137"/>
              <a:gd name="connsiteY2" fmla="*/ 0 h 1447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3137" h="1447063">
                <a:moveTo>
                  <a:pt x="0" y="1376313"/>
                </a:moveTo>
                <a:cubicBezTo>
                  <a:pt x="390426" y="1448585"/>
                  <a:pt x="780853" y="1520857"/>
                  <a:pt x="942680" y="1291472"/>
                </a:cubicBezTo>
                <a:cubicBezTo>
                  <a:pt x="1104507" y="1062087"/>
                  <a:pt x="1037734" y="531043"/>
                  <a:pt x="970961" y="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2981B3DC-DF0A-44F0-810A-D139307B5159}"/>
              </a:ext>
            </a:extLst>
          </p:cNvPr>
          <p:cNvSpPr/>
          <p:nvPr/>
        </p:nvSpPr>
        <p:spPr>
          <a:xfrm>
            <a:off x="7899269" y="4523092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D943403-1115-46AD-B23D-8D05F142F015}"/>
              </a:ext>
            </a:extLst>
          </p:cNvPr>
          <p:cNvCxnSpPr>
            <a:cxnSpLocks/>
            <a:stCxn id="115" idx="3"/>
            <a:endCxn id="126" idx="2"/>
          </p:cNvCxnSpPr>
          <p:nvPr/>
        </p:nvCxnSpPr>
        <p:spPr>
          <a:xfrm flipV="1">
            <a:off x="4013834" y="2460940"/>
            <a:ext cx="1920957" cy="9097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7EBF811-8062-4066-A257-5D6A7D077AD4}"/>
              </a:ext>
            </a:extLst>
          </p:cNvPr>
          <p:cNvGrpSpPr/>
          <p:nvPr/>
        </p:nvGrpSpPr>
        <p:grpSpPr>
          <a:xfrm>
            <a:off x="7029915" y="1825295"/>
            <a:ext cx="735393" cy="1022487"/>
            <a:chOff x="4559919" y="899141"/>
            <a:chExt cx="735393" cy="1022487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273B957-7E43-4916-89DF-786E2D4DD2E1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630949A-EF3F-4571-A317-72D725068FB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124B9D3-CF2F-4F4C-A6B8-F62F4052858A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D096620-A3ED-4918-9EA0-460F042150E5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B837A345-227E-4083-9D2C-F526F6037321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CAA7EC1-F67F-4775-ACCA-05FE3E61F677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451178-D182-432A-8603-49E48D16521B}"/>
              </a:ext>
            </a:extLst>
          </p:cNvPr>
          <p:cNvCxnSpPr>
            <a:stCxn id="130" idx="0"/>
            <a:endCxn id="110" idx="2"/>
          </p:cNvCxnSpPr>
          <p:nvPr/>
        </p:nvCxnSpPr>
        <p:spPr>
          <a:xfrm>
            <a:off x="6670183" y="2461877"/>
            <a:ext cx="359733" cy="3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40D661B-3BB6-4EFA-8093-E28AD9776791}"/>
              </a:ext>
            </a:extLst>
          </p:cNvPr>
          <p:cNvCxnSpPr>
            <a:cxnSpLocks/>
            <a:endCxn id="127" idx="3"/>
          </p:cNvCxnSpPr>
          <p:nvPr/>
        </p:nvCxnSpPr>
        <p:spPr>
          <a:xfrm flipV="1">
            <a:off x="6209047" y="2845541"/>
            <a:ext cx="0" cy="1660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B8DE4C45-2AC5-4D8D-A160-042CCADC09CE}"/>
              </a:ext>
            </a:extLst>
          </p:cNvPr>
          <p:cNvSpPr txBox="1"/>
          <p:nvPr/>
        </p:nvSpPr>
        <p:spPr>
          <a:xfrm>
            <a:off x="5643768" y="2953942"/>
            <a:ext cx="1061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5F081AB-6EAE-4CF0-A260-87AE38A555BC}"/>
              </a:ext>
            </a:extLst>
          </p:cNvPr>
          <p:cNvSpPr txBox="1"/>
          <p:nvPr/>
        </p:nvSpPr>
        <p:spPr>
          <a:xfrm>
            <a:off x="6799098" y="2966674"/>
            <a:ext cx="110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58FCCAE-BE4D-4FD5-BA5B-01F76EF5FE7E}"/>
              </a:ext>
            </a:extLst>
          </p:cNvPr>
          <p:cNvCxnSpPr>
            <a:cxnSpLocks/>
          </p:cNvCxnSpPr>
          <p:nvPr/>
        </p:nvCxnSpPr>
        <p:spPr>
          <a:xfrm flipV="1">
            <a:off x="7304172" y="2857551"/>
            <a:ext cx="0" cy="1660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90358D7-4DE9-4610-A7AB-B04EDBB6ED13}"/>
              </a:ext>
            </a:extLst>
          </p:cNvPr>
          <p:cNvCxnSpPr>
            <a:stCxn id="114" idx="3"/>
            <a:endCxn id="155" idx="3"/>
          </p:cNvCxnSpPr>
          <p:nvPr/>
        </p:nvCxnSpPr>
        <p:spPr>
          <a:xfrm flipV="1">
            <a:off x="4013831" y="1940043"/>
            <a:ext cx="1332002" cy="40167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DD5CE9C0-7A46-43B7-9656-12767282ACA0}"/>
              </a:ext>
            </a:extLst>
          </p:cNvPr>
          <p:cNvSpPr txBox="1"/>
          <p:nvPr/>
        </p:nvSpPr>
        <p:spPr>
          <a:xfrm>
            <a:off x="5020292" y="4912253"/>
            <a:ext cx="71256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</a:rPr>
              <a:t>Slowpath</a:t>
            </a:r>
            <a:r>
              <a:rPr lang="en-US" sz="1400" b="1" dirty="0">
                <a:solidFill>
                  <a:srgbClr val="C00000"/>
                </a:solidFill>
              </a:rPr>
              <a:t> #1: Get a slab object from node’s partial (</a:t>
            </a:r>
            <a:r>
              <a:rPr lang="en-US" sz="1400" b="1" dirty="0" err="1">
                <a:solidFill>
                  <a:srgbClr val="C00000"/>
                </a:solidFill>
              </a:rPr>
              <a:t>new_slab_objects</a:t>
            </a:r>
            <a:r>
              <a:rPr lang="en-US" sz="1400" b="1" dirty="0">
                <a:solidFill>
                  <a:srgbClr val="C00000"/>
                </a:solidFill>
              </a:rPr>
              <a:t>-&gt;</a:t>
            </a:r>
            <a:r>
              <a:rPr lang="en-US" sz="1400" b="1" dirty="0" err="1">
                <a:solidFill>
                  <a:srgbClr val="C00000"/>
                </a:solidFill>
              </a:rPr>
              <a:t>get_partial</a:t>
            </a:r>
            <a:r>
              <a:rPr lang="en-US" sz="1400" b="1" dirty="0">
                <a:solidFill>
                  <a:srgbClr val="C00000"/>
                </a:solidFill>
              </a:rPr>
              <a:t>-&gt;</a:t>
            </a:r>
            <a:r>
              <a:rPr lang="en-US" sz="1400" b="1" dirty="0" err="1">
                <a:solidFill>
                  <a:srgbClr val="C00000"/>
                </a:solidFill>
              </a:rPr>
              <a:t>get_partial_node</a:t>
            </a:r>
            <a:r>
              <a:rPr lang="en-US" sz="1400" b="1" dirty="0">
                <a:solidFill>
                  <a:srgbClr val="C00000"/>
                </a:solidFill>
              </a:rPr>
              <a:t>-&gt;</a:t>
            </a:r>
            <a:r>
              <a:rPr lang="en-US" sz="1400" b="1" dirty="0" err="1">
                <a:solidFill>
                  <a:srgbClr val="C00000"/>
                </a:solidFill>
              </a:rPr>
              <a:t>put_cpu_partial</a:t>
            </a:r>
            <a:r>
              <a:rPr lang="en-US" sz="1400" b="1" dirty="0">
                <a:solidFill>
                  <a:srgbClr val="C0000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[Just for a scenario] Acquire 3 pages because of the number of </a:t>
            </a:r>
            <a:r>
              <a:rPr lang="en-US" sz="1400" b="1" dirty="0" err="1">
                <a:solidFill>
                  <a:srgbClr val="C00000"/>
                </a:solidFill>
              </a:rPr>
              <a:t>kmem_cache</a:t>
            </a:r>
            <a:r>
              <a:rPr lang="en-US" sz="1400" b="1" dirty="0">
                <a:solidFill>
                  <a:srgbClr val="C00000"/>
                </a:solidFill>
              </a:rPr>
              <a:t>-&gt;</a:t>
            </a:r>
            <a:r>
              <a:rPr lang="en-US" sz="1400" b="1" dirty="0" err="1">
                <a:solidFill>
                  <a:srgbClr val="C00000"/>
                </a:solidFill>
              </a:rPr>
              <a:t>cpu_partial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139" name="矩形 40">
            <a:extLst>
              <a:ext uri="{FF2B5EF4-FFF2-40B4-BE49-F238E27FC236}">
                <a16:creationId xmlns:a16="http://schemas.microsoft.com/office/drawing/2014/main" id="{8FD0A10E-AE6D-47A2-A083-7FDEA9166C90}"/>
              </a:ext>
            </a:extLst>
          </p:cNvPr>
          <p:cNvSpPr/>
          <p:nvPr/>
        </p:nvSpPr>
        <p:spPr>
          <a:xfrm>
            <a:off x="2237431" y="6317840"/>
            <a:ext cx="8543331" cy="4376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tx1"/>
                </a:solidFill>
              </a:rPr>
              <a:t>put_cpu_partial</a:t>
            </a:r>
            <a:r>
              <a:rPr lang="en-US" sz="2800" b="1" dirty="0">
                <a:solidFill>
                  <a:schemeClr val="tx1"/>
                </a:solidFill>
              </a:rPr>
              <a:t>(): Put page(s) into a </a:t>
            </a:r>
            <a:r>
              <a:rPr lang="en-US" sz="2800" b="1" dirty="0" err="1">
                <a:solidFill>
                  <a:schemeClr val="tx1"/>
                </a:solidFill>
              </a:rPr>
              <a:t>percpu</a:t>
            </a:r>
            <a:r>
              <a:rPr lang="en-US" sz="2800" b="1" dirty="0">
                <a:solidFill>
                  <a:schemeClr val="tx1"/>
                </a:solidFill>
              </a:rPr>
              <a:t> partial page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65FACB-6F27-4600-B489-40A7BF9707E8}"/>
              </a:ext>
            </a:extLst>
          </p:cNvPr>
          <p:cNvCxnSpPr/>
          <p:nvPr/>
        </p:nvCxnSpPr>
        <p:spPr>
          <a:xfrm flipV="1">
            <a:off x="4653681" y="3825483"/>
            <a:ext cx="2720745" cy="983550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48D4FB-46E1-460F-AEEC-DCD48ED8AB2B}"/>
              </a:ext>
            </a:extLst>
          </p:cNvPr>
          <p:cNvCxnSpPr/>
          <p:nvPr/>
        </p:nvCxnSpPr>
        <p:spPr>
          <a:xfrm>
            <a:off x="4653681" y="3763772"/>
            <a:ext cx="2884639" cy="1045261"/>
          </a:xfrm>
          <a:prstGeom prst="line">
            <a:avLst/>
          </a:prstGeom>
          <a:ln w="508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6382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13056" y="2471611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13056" y="2728117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13056" y="2936230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2449518" y="1599447"/>
            <a:ext cx="156431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2449518" y="2025872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2449513" y="2236490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2449516" y="2446685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2615728" y="3757298"/>
            <a:ext cx="1634327" cy="4382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0)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2615727" y="4184662"/>
            <a:ext cx="163432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2615726" y="4548426"/>
            <a:ext cx="1634323" cy="4517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1)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2615725" y="4975791"/>
            <a:ext cx="163432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2449517" y="5169942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cxnSpLocks/>
          </p:cNvCxnSpPr>
          <p:nvPr/>
        </p:nvCxnSpPr>
        <p:spPr>
          <a:xfrm flipH="1">
            <a:off x="2615719" y="4164890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" y="-86213"/>
            <a:ext cx="12259408" cy="689951"/>
          </a:xfrm>
        </p:spPr>
        <p:txBody>
          <a:bodyPr>
            <a:noAutofit/>
          </a:bodyPr>
          <a:lstStyle/>
          <a:p>
            <a:r>
              <a:rPr lang="en-US" sz="3600" dirty="0"/>
              <a:t>When to add a page to </a:t>
            </a:r>
            <a:r>
              <a:rPr lang="en-US" sz="3600" dirty="0" err="1"/>
              <a:t>percpu</a:t>
            </a:r>
            <a:r>
              <a:rPr lang="en-US" sz="3600" dirty="0"/>
              <a:t> partial page? – Case 2: </a:t>
            </a:r>
            <a:r>
              <a:rPr lang="en-US" sz="3600" dirty="0" err="1"/>
              <a:t>slab_free</a:t>
            </a:r>
            <a:r>
              <a:rPr lang="en-US" sz="3600" dirty="0"/>
              <a:t>()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9718F84-5915-4F1B-898E-9E51257A051B}"/>
              </a:ext>
            </a:extLst>
          </p:cNvPr>
          <p:cNvCxnSpPr>
            <a:cxnSpLocks/>
          </p:cNvCxnSpPr>
          <p:nvPr/>
        </p:nvCxnSpPr>
        <p:spPr>
          <a:xfrm flipH="1">
            <a:off x="4250046" y="4211094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38E9A7-39EF-4A8A-A583-00235FCCF53E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2131695" y="1816054"/>
            <a:ext cx="317823" cy="101729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63F9F1C-AC80-4507-94B3-DF5FAC3D155E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>
            <a:off x="2131695" y="3041457"/>
            <a:ext cx="484033" cy="9349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9EB4F4D-E780-4D8E-A282-B23942B0101A}"/>
              </a:ext>
            </a:extLst>
          </p:cNvPr>
          <p:cNvCxnSpPr>
            <a:cxnSpLocks/>
            <a:stCxn id="113" idx="3"/>
          </p:cNvCxnSpPr>
          <p:nvPr/>
        </p:nvCxnSpPr>
        <p:spPr>
          <a:xfrm flipV="1">
            <a:off x="4013836" y="1560857"/>
            <a:ext cx="688959" cy="57024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1FD249A-73B4-41C3-8566-F96C137AA8AF}"/>
              </a:ext>
            </a:extLst>
          </p:cNvPr>
          <p:cNvGrpSpPr/>
          <p:nvPr/>
        </p:nvGrpSpPr>
        <p:grpSpPr>
          <a:xfrm>
            <a:off x="4653681" y="3757000"/>
            <a:ext cx="735393" cy="1022487"/>
            <a:chOff x="4559919" y="899141"/>
            <a:chExt cx="735393" cy="1022487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440D27D-EB10-47E1-BA08-E3A2A28CC5E4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82A40C1-5F44-4BA1-B2B5-1F5EC574793C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3CC4C0D-B668-4513-9FCC-3B5711585DE1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02F6ADA-CF35-48BF-A9C9-E30A8EFDF00E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FEA2408-287E-4126-9CA1-172066C99B4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5A86EF7-FFFA-4DAE-AA2B-6D792E883B3C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9D4D3C8-4782-4CC1-AF2F-193F5295153B}"/>
              </a:ext>
            </a:extLst>
          </p:cNvPr>
          <p:cNvCxnSpPr>
            <a:stCxn id="91" idx="3"/>
            <a:endCxn id="85" idx="2"/>
          </p:cNvCxnSpPr>
          <p:nvPr/>
        </p:nvCxnSpPr>
        <p:spPr>
          <a:xfrm>
            <a:off x="4250054" y="4289889"/>
            <a:ext cx="403628" cy="104061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879C8F3-DF60-4F28-845E-86F3A5BC48A4}"/>
              </a:ext>
            </a:extLst>
          </p:cNvPr>
          <p:cNvGrpSpPr/>
          <p:nvPr/>
        </p:nvGrpSpPr>
        <p:grpSpPr>
          <a:xfrm>
            <a:off x="5934790" y="1823990"/>
            <a:ext cx="735393" cy="1022487"/>
            <a:chOff x="4559919" y="899141"/>
            <a:chExt cx="735393" cy="1022487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E6B5917-A5FA-4716-ABD6-16A2DAE3AFB5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3AB6D44-6789-4372-AA0B-C49EBEBC6FC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B76F0DF-B804-49E6-8803-EF489A5B3E60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23113B4-E5E6-4F53-862E-64B1CFE729DB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AE5C609-2784-48BB-8292-D4C0DD983AB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14C89A1-5F16-4BF3-8825-86A9EA3F386D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ED847AC-D6A7-405F-97B9-6E1135F1740E}"/>
              </a:ext>
            </a:extLst>
          </p:cNvPr>
          <p:cNvCxnSpPr>
            <a:cxnSpLocks/>
          </p:cNvCxnSpPr>
          <p:nvPr/>
        </p:nvCxnSpPr>
        <p:spPr>
          <a:xfrm flipV="1">
            <a:off x="7772437" y="2439052"/>
            <a:ext cx="701844" cy="93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09F2754C-D3D5-4AB8-AC5B-20FC44BF237F}"/>
              </a:ext>
            </a:extLst>
          </p:cNvPr>
          <p:cNvSpPr txBox="1"/>
          <p:nvPr/>
        </p:nvSpPr>
        <p:spPr>
          <a:xfrm>
            <a:off x="7719862" y="2194612"/>
            <a:ext cx="989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page-&gt;next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C050DC-DC6A-4BED-BEF6-183AF0A830BA}"/>
              </a:ext>
            </a:extLst>
          </p:cNvPr>
          <p:cNvGrpSpPr/>
          <p:nvPr/>
        </p:nvGrpSpPr>
        <p:grpSpPr>
          <a:xfrm>
            <a:off x="8361658" y="2440729"/>
            <a:ext cx="196496" cy="186724"/>
            <a:chOff x="8951232" y="5425804"/>
            <a:chExt cx="196496" cy="186724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D5112AE-F3A4-40DE-A18D-BAC51A6D98D9}"/>
                </a:ext>
              </a:extLst>
            </p:cNvPr>
            <p:cNvCxnSpPr/>
            <p:nvPr/>
          </p:nvCxnSpPr>
          <p:spPr>
            <a:xfrm>
              <a:off x="9059440" y="5425804"/>
              <a:ext cx="0" cy="119829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3A14F3F-1D52-48C6-A556-0DF57BC40EE3}"/>
                </a:ext>
              </a:extLst>
            </p:cNvPr>
            <p:cNvCxnSpPr>
              <a:cxnSpLocks/>
            </p:cNvCxnSpPr>
            <p:nvPr/>
          </p:nvCxnSpPr>
          <p:spPr>
            <a:xfrm>
              <a:off x="8951232" y="5545633"/>
              <a:ext cx="196496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7C72D2E-8693-4796-BE63-11EFFB16D8A5}"/>
                </a:ext>
              </a:extLst>
            </p:cNvPr>
            <p:cNvCxnSpPr>
              <a:cxnSpLocks/>
            </p:cNvCxnSpPr>
            <p:nvPr/>
          </p:nvCxnSpPr>
          <p:spPr>
            <a:xfrm>
              <a:off x="8967900" y="5579190"/>
              <a:ext cx="157163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D33DCFC-3E8D-4168-A9C0-A7BAF26720E8}"/>
                </a:ext>
              </a:extLst>
            </p:cNvPr>
            <p:cNvCxnSpPr>
              <a:cxnSpLocks/>
            </p:cNvCxnSpPr>
            <p:nvPr/>
          </p:nvCxnSpPr>
          <p:spPr>
            <a:xfrm>
              <a:off x="9003621" y="5612528"/>
              <a:ext cx="95249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5302B34-1794-4037-8AEB-4F1AC252E5D7}"/>
              </a:ext>
            </a:extLst>
          </p:cNvPr>
          <p:cNvGrpSpPr/>
          <p:nvPr/>
        </p:nvGrpSpPr>
        <p:grpSpPr>
          <a:xfrm>
            <a:off x="4702794" y="923906"/>
            <a:ext cx="735393" cy="1021551"/>
            <a:chOff x="4559919" y="899141"/>
            <a:chExt cx="735393" cy="1021551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CEA735FE-0440-4FF0-AB4D-A50C6AD1E1D9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FC6EF1DC-2ED4-4798-8E3E-4060CE8152E6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F6DABDF-E10D-4585-AC26-E1727CC38460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75976527-2762-4083-9C39-CDAB2BB8D388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C7674BF-1FE6-436C-AC12-6E22787B1110}"/>
                </a:ext>
              </a:extLst>
            </p:cNvPr>
            <p:cNvSpPr/>
            <p:nvPr/>
          </p:nvSpPr>
          <p:spPr>
            <a:xfrm rot="5400000">
              <a:off x="4818358" y="143832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5072A4A-A201-4B34-BC0F-6148CD77E498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D943403-1115-46AD-B23D-8D05F142F015}"/>
              </a:ext>
            </a:extLst>
          </p:cNvPr>
          <p:cNvCxnSpPr>
            <a:cxnSpLocks/>
            <a:stCxn id="115" idx="3"/>
            <a:endCxn id="126" idx="2"/>
          </p:cNvCxnSpPr>
          <p:nvPr/>
        </p:nvCxnSpPr>
        <p:spPr>
          <a:xfrm flipV="1">
            <a:off x="4013834" y="2460940"/>
            <a:ext cx="1920957" cy="9097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7EBF811-8062-4066-A257-5D6A7D077AD4}"/>
              </a:ext>
            </a:extLst>
          </p:cNvPr>
          <p:cNvGrpSpPr/>
          <p:nvPr/>
        </p:nvGrpSpPr>
        <p:grpSpPr>
          <a:xfrm>
            <a:off x="7029915" y="1825295"/>
            <a:ext cx="735393" cy="1022487"/>
            <a:chOff x="4559919" y="899141"/>
            <a:chExt cx="735393" cy="1022487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273B957-7E43-4916-89DF-786E2D4DD2E1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630949A-EF3F-4571-A317-72D725068FB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124B9D3-CF2F-4F4C-A6B8-F62F4052858A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D096620-A3ED-4918-9EA0-460F042150E5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B837A345-227E-4083-9D2C-F526F6037321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CAA7EC1-F67F-4775-ACCA-05FE3E61F677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451178-D182-432A-8603-49E48D16521B}"/>
              </a:ext>
            </a:extLst>
          </p:cNvPr>
          <p:cNvCxnSpPr>
            <a:stCxn id="130" idx="0"/>
            <a:endCxn id="110" idx="2"/>
          </p:cNvCxnSpPr>
          <p:nvPr/>
        </p:nvCxnSpPr>
        <p:spPr>
          <a:xfrm>
            <a:off x="6670183" y="2461877"/>
            <a:ext cx="359733" cy="3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40D661B-3BB6-4EFA-8093-E28AD9776791}"/>
              </a:ext>
            </a:extLst>
          </p:cNvPr>
          <p:cNvCxnSpPr>
            <a:cxnSpLocks/>
            <a:endCxn id="127" idx="3"/>
          </p:cNvCxnSpPr>
          <p:nvPr/>
        </p:nvCxnSpPr>
        <p:spPr>
          <a:xfrm flipV="1">
            <a:off x="6209047" y="2845541"/>
            <a:ext cx="0" cy="1660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B8DE4C45-2AC5-4D8D-A160-042CCADC09CE}"/>
              </a:ext>
            </a:extLst>
          </p:cNvPr>
          <p:cNvSpPr txBox="1"/>
          <p:nvPr/>
        </p:nvSpPr>
        <p:spPr>
          <a:xfrm>
            <a:off x="5643768" y="2953942"/>
            <a:ext cx="1061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5F081AB-6EAE-4CF0-A260-87AE38A555BC}"/>
              </a:ext>
            </a:extLst>
          </p:cNvPr>
          <p:cNvSpPr txBox="1"/>
          <p:nvPr/>
        </p:nvSpPr>
        <p:spPr>
          <a:xfrm>
            <a:off x="6799098" y="2966674"/>
            <a:ext cx="110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58FCCAE-BE4D-4FD5-BA5B-01F76EF5FE7E}"/>
              </a:ext>
            </a:extLst>
          </p:cNvPr>
          <p:cNvCxnSpPr>
            <a:cxnSpLocks/>
          </p:cNvCxnSpPr>
          <p:nvPr/>
        </p:nvCxnSpPr>
        <p:spPr>
          <a:xfrm flipV="1">
            <a:off x="7304172" y="2857551"/>
            <a:ext cx="0" cy="1660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90358D7-4DE9-4610-A7AB-B04EDBB6ED13}"/>
              </a:ext>
            </a:extLst>
          </p:cNvPr>
          <p:cNvCxnSpPr>
            <a:stCxn id="114" idx="3"/>
            <a:endCxn id="155" idx="3"/>
          </p:cNvCxnSpPr>
          <p:nvPr/>
        </p:nvCxnSpPr>
        <p:spPr>
          <a:xfrm flipV="1">
            <a:off x="4013831" y="1940043"/>
            <a:ext cx="1332002" cy="40167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矩形 40">
            <a:extLst>
              <a:ext uri="{FF2B5EF4-FFF2-40B4-BE49-F238E27FC236}">
                <a16:creationId xmlns:a16="http://schemas.microsoft.com/office/drawing/2014/main" id="{8C97E186-8CB9-467A-98F2-D509BC727AB4}"/>
              </a:ext>
            </a:extLst>
          </p:cNvPr>
          <p:cNvSpPr/>
          <p:nvPr/>
        </p:nvSpPr>
        <p:spPr>
          <a:xfrm>
            <a:off x="1010531" y="6231627"/>
            <a:ext cx="10893945" cy="4376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tx1"/>
                </a:solidFill>
              </a:rPr>
              <a:t>slab_free</a:t>
            </a:r>
            <a:r>
              <a:rPr lang="en-US" sz="2800" b="1" dirty="0">
                <a:solidFill>
                  <a:schemeClr val="tx1"/>
                </a:solidFill>
              </a:rPr>
              <a:t>(): Move page(s) to </a:t>
            </a:r>
            <a:r>
              <a:rPr lang="en-US" sz="2800" b="1" dirty="0" err="1">
                <a:solidFill>
                  <a:schemeClr val="tx1"/>
                </a:solidFill>
              </a:rPr>
              <a:t>percpu</a:t>
            </a:r>
            <a:r>
              <a:rPr lang="en-US" sz="2800" b="1" dirty="0">
                <a:solidFill>
                  <a:schemeClr val="tx1"/>
                </a:solidFill>
              </a:rPr>
              <a:t> partial and node partial (if possible)</a:t>
            </a:r>
          </a:p>
        </p:txBody>
      </p:sp>
    </p:spTree>
    <p:extLst>
      <p:ext uri="{BB962C8B-B14F-4D97-AF65-F5344CB8AC3E}">
        <p14:creationId xmlns:p14="http://schemas.microsoft.com/office/powerpoint/2010/main" val="25272635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13056" y="2471611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13056" y="2728117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13056" y="2936230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2629032" y="1599447"/>
            <a:ext cx="1384803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2629032" y="2025872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2629027" y="2236490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2629030" y="2446685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2615728" y="3757298"/>
            <a:ext cx="1634327" cy="4382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0)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2615727" y="4184662"/>
            <a:ext cx="163432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2615726" y="4548426"/>
            <a:ext cx="1634323" cy="4517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1)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2615725" y="4975791"/>
            <a:ext cx="163432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2449517" y="5169942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cxnSpLocks/>
          </p:cNvCxnSpPr>
          <p:nvPr/>
        </p:nvCxnSpPr>
        <p:spPr>
          <a:xfrm flipH="1">
            <a:off x="2615719" y="4164890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38E9A7-39EF-4A8A-A583-00235FCCF53E}"/>
              </a:ext>
            </a:extLst>
          </p:cNvPr>
          <p:cNvCxnSpPr>
            <a:stCxn id="24" idx="3"/>
            <a:endCxn id="112" idx="1"/>
          </p:cNvCxnSpPr>
          <p:nvPr/>
        </p:nvCxnSpPr>
        <p:spPr>
          <a:xfrm flipV="1">
            <a:off x="2131695" y="1816054"/>
            <a:ext cx="497337" cy="101729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63F9F1C-AC80-4507-94B3-DF5FAC3D155E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>
            <a:off x="2131695" y="3041457"/>
            <a:ext cx="484033" cy="9349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1780790-7346-4886-B5EE-AB3862BAE6C2}"/>
              </a:ext>
            </a:extLst>
          </p:cNvPr>
          <p:cNvCxnSpPr>
            <a:cxnSpLocks/>
            <a:stCxn id="114" idx="3"/>
          </p:cNvCxnSpPr>
          <p:nvPr/>
        </p:nvCxnSpPr>
        <p:spPr>
          <a:xfrm flipV="1">
            <a:off x="4013830" y="1945457"/>
            <a:ext cx="963221" cy="3962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9EB4F4D-E780-4D8E-A282-B23942B0101A}"/>
              </a:ext>
            </a:extLst>
          </p:cNvPr>
          <p:cNvCxnSpPr>
            <a:cxnSpLocks/>
            <a:stCxn id="113" idx="3"/>
          </p:cNvCxnSpPr>
          <p:nvPr/>
        </p:nvCxnSpPr>
        <p:spPr>
          <a:xfrm flipV="1">
            <a:off x="4013835" y="1560856"/>
            <a:ext cx="688960" cy="57024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8FB35EE-69BF-4819-BCCC-1602C369DEAA}"/>
              </a:ext>
            </a:extLst>
          </p:cNvPr>
          <p:cNvSpPr txBox="1"/>
          <p:nvPr/>
        </p:nvSpPr>
        <p:spPr>
          <a:xfrm>
            <a:off x="7478404" y="2049526"/>
            <a:ext cx="1527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free this object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879C8F3-DF60-4F28-845E-86F3A5BC48A4}"/>
              </a:ext>
            </a:extLst>
          </p:cNvPr>
          <p:cNvGrpSpPr/>
          <p:nvPr/>
        </p:nvGrpSpPr>
        <p:grpSpPr>
          <a:xfrm>
            <a:off x="5181308" y="2145895"/>
            <a:ext cx="735393" cy="1022487"/>
            <a:chOff x="4559919" y="899141"/>
            <a:chExt cx="735393" cy="1022487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E6B5917-A5FA-4716-ABD6-16A2DAE3AFB5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3AB6D44-6789-4372-AA0B-C49EBEBC6FC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B76F0DF-B804-49E6-8803-EF489A5B3E60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23113B4-E5E6-4F53-862E-64B1CFE729DB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AE5C609-2784-48BB-8292-D4C0DD983AB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14C89A1-5F16-4BF3-8825-86A9EA3F386D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ED847AC-D6A7-405F-97B9-6E1135F1740E}"/>
              </a:ext>
            </a:extLst>
          </p:cNvPr>
          <p:cNvCxnSpPr>
            <a:cxnSpLocks/>
            <a:stCxn id="130" idx="0"/>
          </p:cNvCxnSpPr>
          <p:nvPr/>
        </p:nvCxnSpPr>
        <p:spPr>
          <a:xfrm flipV="1">
            <a:off x="5916701" y="2782844"/>
            <a:ext cx="701844" cy="93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09F2754C-D3D5-4AB8-AC5B-20FC44BF237F}"/>
              </a:ext>
            </a:extLst>
          </p:cNvPr>
          <p:cNvSpPr txBox="1"/>
          <p:nvPr/>
        </p:nvSpPr>
        <p:spPr>
          <a:xfrm>
            <a:off x="5864126" y="2538404"/>
            <a:ext cx="989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page-&gt;next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F0C506B-FA20-42AA-97BE-23BB149207E8}"/>
              </a:ext>
            </a:extLst>
          </p:cNvPr>
          <p:cNvSpPr/>
          <p:nvPr/>
        </p:nvSpPr>
        <p:spPr>
          <a:xfrm>
            <a:off x="5049702" y="2126563"/>
            <a:ext cx="1679775" cy="1101962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FD5112AE-F3A4-40DE-A18D-BAC51A6D98D9}"/>
              </a:ext>
            </a:extLst>
          </p:cNvPr>
          <p:cNvCxnSpPr/>
          <p:nvPr/>
        </p:nvCxnSpPr>
        <p:spPr>
          <a:xfrm>
            <a:off x="6618545" y="2782844"/>
            <a:ext cx="0" cy="119829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3A14F3F-1D52-48C6-A556-0DF57BC40EE3}"/>
              </a:ext>
            </a:extLst>
          </p:cNvPr>
          <p:cNvCxnSpPr>
            <a:cxnSpLocks/>
          </p:cNvCxnSpPr>
          <p:nvPr/>
        </p:nvCxnSpPr>
        <p:spPr>
          <a:xfrm>
            <a:off x="6510337" y="2902673"/>
            <a:ext cx="196496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7C72D2E-8693-4796-BE63-11EFFB16D8A5}"/>
              </a:ext>
            </a:extLst>
          </p:cNvPr>
          <p:cNvCxnSpPr>
            <a:cxnSpLocks/>
          </p:cNvCxnSpPr>
          <p:nvPr/>
        </p:nvCxnSpPr>
        <p:spPr>
          <a:xfrm>
            <a:off x="6527005" y="2936230"/>
            <a:ext cx="157163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D33DCFC-3E8D-4168-A9C0-A7BAF26720E8}"/>
              </a:ext>
            </a:extLst>
          </p:cNvPr>
          <p:cNvCxnSpPr>
            <a:cxnSpLocks/>
          </p:cNvCxnSpPr>
          <p:nvPr/>
        </p:nvCxnSpPr>
        <p:spPr>
          <a:xfrm>
            <a:off x="6562726" y="2969568"/>
            <a:ext cx="95249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2E7856C-ED60-43AD-B38E-62CF45130E82}"/>
              </a:ext>
            </a:extLst>
          </p:cNvPr>
          <p:cNvSpPr/>
          <p:nvPr/>
        </p:nvSpPr>
        <p:spPr>
          <a:xfrm>
            <a:off x="6734175" y="2038350"/>
            <a:ext cx="302638" cy="657225"/>
          </a:xfrm>
          <a:custGeom>
            <a:avLst/>
            <a:gdLst>
              <a:gd name="connsiteX0" fmla="*/ 133350 w 302638"/>
              <a:gd name="connsiteY0" fmla="*/ 0 h 657225"/>
              <a:gd name="connsiteX1" fmla="*/ 285750 w 302638"/>
              <a:gd name="connsiteY1" fmla="*/ 419100 h 657225"/>
              <a:gd name="connsiteX2" fmla="*/ 266700 w 302638"/>
              <a:gd name="connsiteY2" fmla="*/ 600075 h 657225"/>
              <a:gd name="connsiteX3" fmla="*/ 0 w 302638"/>
              <a:gd name="connsiteY3" fmla="*/ 657225 h 657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638" h="657225">
                <a:moveTo>
                  <a:pt x="133350" y="0"/>
                </a:moveTo>
                <a:cubicBezTo>
                  <a:pt x="198437" y="159544"/>
                  <a:pt x="263525" y="319088"/>
                  <a:pt x="285750" y="419100"/>
                </a:cubicBezTo>
                <a:cubicBezTo>
                  <a:pt x="307975" y="519112"/>
                  <a:pt x="314325" y="560388"/>
                  <a:pt x="266700" y="600075"/>
                </a:cubicBezTo>
                <a:cubicBezTo>
                  <a:pt x="219075" y="639762"/>
                  <a:pt x="109537" y="648493"/>
                  <a:pt x="0" y="657225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987E98F-AB54-4BC3-AA73-665B7A125534}"/>
              </a:ext>
            </a:extLst>
          </p:cNvPr>
          <p:cNvSpPr txBox="1"/>
          <p:nvPr/>
        </p:nvSpPr>
        <p:spPr>
          <a:xfrm>
            <a:off x="7073339" y="2404922"/>
            <a:ext cx="2608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</a:rPr>
              <a:t>put_cpu_partial</a:t>
            </a:r>
            <a:r>
              <a:rPr lang="en-US" sz="1400" b="1" dirty="0">
                <a:solidFill>
                  <a:srgbClr val="C00000"/>
                </a:solidFill>
              </a:rPr>
              <a:t>(): Move this page to </a:t>
            </a:r>
            <a:r>
              <a:rPr lang="en-US" sz="1400" b="1" dirty="0" err="1">
                <a:solidFill>
                  <a:srgbClr val="C00000"/>
                </a:solidFill>
              </a:rPr>
              <a:t>percpu</a:t>
            </a:r>
            <a:r>
              <a:rPr lang="en-US" sz="1400" b="1" dirty="0">
                <a:solidFill>
                  <a:srgbClr val="C00000"/>
                </a:solidFill>
              </a:rPr>
              <a:t> partial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D5858333-4AE5-4465-AA9B-480FE4E1F91D}"/>
              </a:ext>
            </a:extLst>
          </p:cNvPr>
          <p:cNvSpPr/>
          <p:nvPr/>
        </p:nvSpPr>
        <p:spPr>
          <a:xfrm>
            <a:off x="6923500" y="2334737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805EBB10-527C-4C34-94AC-4EF6D1CA6B6F}"/>
              </a:ext>
            </a:extLst>
          </p:cNvPr>
          <p:cNvCxnSpPr/>
          <p:nvPr/>
        </p:nvCxnSpPr>
        <p:spPr>
          <a:xfrm>
            <a:off x="6373334" y="1945456"/>
            <a:ext cx="151613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5302B34-1794-4037-8AEB-4F1AC252E5D7}"/>
              </a:ext>
            </a:extLst>
          </p:cNvPr>
          <p:cNvGrpSpPr/>
          <p:nvPr/>
        </p:nvGrpSpPr>
        <p:grpSpPr>
          <a:xfrm>
            <a:off x="4702794" y="923906"/>
            <a:ext cx="735393" cy="1021551"/>
            <a:chOff x="4559919" y="899141"/>
            <a:chExt cx="735393" cy="1021551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CEA735FE-0440-4FF0-AB4D-A50C6AD1E1D9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FC6EF1DC-2ED4-4798-8E3E-4060CE8152E6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F6DABDF-E10D-4585-AC26-E1727CC38460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75976527-2762-4083-9C39-CDAB2BB8D388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C7674BF-1FE6-436C-AC12-6E22787B1110}"/>
                </a:ext>
              </a:extLst>
            </p:cNvPr>
            <p:cNvSpPr/>
            <p:nvPr/>
          </p:nvSpPr>
          <p:spPr>
            <a:xfrm rot="5400000">
              <a:off x="4818358" y="143832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5072A4A-A201-4B34-BC0F-6148CD77E498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7FE9DF4-6A4A-478E-A37C-019E90C83FE8}"/>
              </a:ext>
            </a:extLst>
          </p:cNvPr>
          <p:cNvGrpSpPr/>
          <p:nvPr/>
        </p:nvGrpSpPr>
        <p:grpSpPr>
          <a:xfrm>
            <a:off x="5714615" y="923906"/>
            <a:ext cx="735393" cy="1021551"/>
            <a:chOff x="4559919" y="899141"/>
            <a:chExt cx="735393" cy="1021551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799BAEE5-50D7-4222-8457-6B862056D9C4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D08FABEF-0929-4D33-AA37-73222104E1AF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3ABD7023-ACF5-4DFF-AD2A-A1727EE66236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F8B99C6-0028-47B2-B2C5-82E99E2ED0E8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CA171D38-6F29-467D-B283-521F36118537}"/>
                </a:ext>
              </a:extLst>
            </p:cNvPr>
            <p:cNvSpPr/>
            <p:nvPr/>
          </p:nvSpPr>
          <p:spPr>
            <a:xfrm rot="5400000">
              <a:off x="4818358" y="143832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607E7A94-FC0F-43A1-AFC7-B565A0B6B420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7EBC3B3C-36B5-4E06-B866-6133F61AA006}"/>
              </a:ext>
            </a:extLst>
          </p:cNvPr>
          <p:cNvGrpSpPr/>
          <p:nvPr/>
        </p:nvGrpSpPr>
        <p:grpSpPr>
          <a:xfrm>
            <a:off x="6704452" y="920164"/>
            <a:ext cx="735393" cy="1022487"/>
            <a:chOff x="4559919" y="899141"/>
            <a:chExt cx="735393" cy="1022487"/>
          </a:xfrm>
        </p:grpSpPr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DACD5F41-4007-44D2-869B-1AB63A749D21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B7012D27-C82E-4EC3-9C6C-0D11740025A9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DB98034-E580-42E0-8ABC-C7EC598F344E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2A239873-8917-4E62-892F-412D31BD8C8B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5B919108-5CFF-49FA-A865-15083F2711B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BDEF3F-315E-48FC-AE19-7B5B442D02A1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sp>
        <p:nvSpPr>
          <p:cNvPr id="199" name="TextBox 198">
            <a:extLst>
              <a:ext uri="{FF2B5EF4-FFF2-40B4-BE49-F238E27FC236}">
                <a16:creationId xmlns:a16="http://schemas.microsoft.com/office/drawing/2014/main" id="{98DCA134-1CFE-46D4-A4A8-CFCC79D0FA9D}"/>
              </a:ext>
            </a:extLst>
          </p:cNvPr>
          <p:cNvSpPr txBox="1"/>
          <p:nvPr/>
        </p:nvSpPr>
        <p:spPr>
          <a:xfrm>
            <a:off x="7440472" y="1212291"/>
            <a:ext cx="400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..</a:t>
            </a: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65981F2-6582-4C88-8E5E-5EF35DF83A3F}"/>
              </a:ext>
            </a:extLst>
          </p:cNvPr>
          <p:cNvGrpSpPr/>
          <p:nvPr/>
        </p:nvGrpSpPr>
        <p:grpSpPr>
          <a:xfrm>
            <a:off x="7771590" y="923906"/>
            <a:ext cx="735393" cy="1021551"/>
            <a:chOff x="4559919" y="899141"/>
            <a:chExt cx="735393" cy="1021551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A91E844B-8BAA-449C-93BD-E9CA0AA35F03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237DF896-E45F-42F9-A930-187F6E0E1080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755A79F3-738C-4101-AA57-AE336986F8A4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994B07DE-3A40-4F37-8083-E58A82969599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549B9CA8-626A-4D90-A6DD-37268AC562D8}"/>
                </a:ext>
              </a:extLst>
            </p:cNvPr>
            <p:cNvSpPr/>
            <p:nvPr/>
          </p:nvSpPr>
          <p:spPr>
            <a:xfrm rot="5400000">
              <a:off x="4818358" y="1439911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2DCEC992-3686-4A88-BC3E-267ACCCAFB31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3AB1CA45-37C9-433E-A6EF-7F70710D83D5}"/>
              </a:ext>
            </a:extLst>
          </p:cNvPr>
          <p:cNvCxnSpPr/>
          <p:nvPr/>
        </p:nvCxnSpPr>
        <p:spPr>
          <a:xfrm>
            <a:off x="6437354" y="985617"/>
            <a:ext cx="151613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FC9A7EA-B2F6-49DB-B236-1BA065428F94}"/>
              </a:ext>
            </a:extLst>
          </p:cNvPr>
          <p:cNvSpPr/>
          <p:nvPr/>
        </p:nvSpPr>
        <p:spPr>
          <a:xfrm>
            <a:off x="6631108" y="923906"/>
            <a:ext cx="869593" cy="1101964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E9AE59B2-17DD-4070-93EB-9B3C4D3F9F0C}"/>
              </a:ext>
            </a:extLst>
          </p:cNvPr>
          <p:cNvSpPr/>
          <p:nvPr/>
        </p:nvSpPr>
        <p:spPr>
          <a:xfrm>
            <a:off x="6978014" y="1906904"/>
            <a:ext cx="547907" cy="300698"/>
          </a:xfrm>
          <a:custGeom>
            <a:avLst/>
            <a:gdLst>
              <a:gd name="connsiteX0" fmla="*/ 243840 w 243840"/>
              <a:gd name="connsiteY0" fmla="*/ 99060 h 99304"/>
              <a:gd name="connsiteX1" fmla="*/ 45720 w 243840"/>
              <a:gd name="connsiteY1" fmla="*/ 83820 h 99304"/>
              <a:gd name="connsiteX2" fmla="*/ 0 w 243840"/>
              <a:gd name="connsiteY2" fmla="*/ 0 h 99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" h="99304">
                <a:moveTo>
                  <a:pt x="243840" y="99060"/>
                </a:moveTo>
                <a:cubicBezTo>
                  <a:pt x="165100" y="99695"/>
                  <a:pt x="86360" y="100330"/>
                  <a:pt x="45720" y="83820"/>
                </a:cubicBezTo>
                <a:cubicBezTo>
                  <a:pt x="5080" y="67310"/>
                  <a:pt x="6350" y="10160"/>
                  <a:pt x="0" y="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91C3083E-F4BD-4282-A950-B88C9355C644}"/>
              </a:ext>
            </a:extLst>
          </p:cNvPr>
          <p:cNvSpPr/>
          <p:nvPr/>
        </p:nvSpPr>
        <p:spPr>
          <a:xfrm>
            <a:off x="7188286" y="2055505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0BDC5CB-A0D4-496C-B7AB-C2D0B2852772}"/>
              </a:ext>
            </a:extLst>
          </p:cNvPr>
          <p:cNvSpPr txBox="1"/>
          <p:nvPr/>
        </p:nvSpPr>
        <p:spPr>
          <a:xfrm>
            <a:off x="5885910" y="644275"/>
            <a:ext cx="2621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Fully-allocated objects of pages</a:t>
            </a:r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882308E0-C0D5-4B3E-9ABB-163F038C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" y="-86213"/>
            <a:ext cx="12259408" cy="689951"/>
          </a:xfrm>
        </p:spPr>
        <p:txBody>
          <a:bodyPr>
            <a:noAutofit/>
          </a:bodyPr>
          <a:lstStyle/>
          <a:p>
            <a:r>
              <a:rPr lang="en-US" sz="3600" dirty="0"/>
              <a:t>When to add a page to </a:t>
            </a:r>
            <a:r>
              <a:rPr lang="en-US" sz="3600" dirty="0" err="1"/>
              <a:t>percpu</a:t>
            </a:r>
            <a:r>
              <a:rPr lang="en-US" sz="3600" dirty="0"/>
              <a:t> partial page? – Case 2: </a:t>
            </a:r>
            <a:r>
              <a:rPr lang="en-US" sz="3600" dirty="0" err="1"/>
              <a:t>slab_free</a:t>
            </a:r>
            <a:r>
              <a:rPr lang="en-US" sz="3600" dirty="0"/>
              <a:t>()</a:t>
            </a:r>
          </a:p>
        </p:txBody>
      </p:sp>
      <p:sp>
        <p:nvSpPr>
          <p:cNvPr id="108" name="矩形 40">
            <a:extLst>
              <a:ext uri="{FF2B5EF4-FFF2-40B4-BE49-F238E27FC236}">
                <a16:creationId xmlns:a16="http://schemas.microsoft.com/office/drawing/2014/main" id="{0715BA2E-6F94-4BDB-99B4-4B6FB61D3F9E}"/>
              </a:ext>
            </a:extLst>
          </p:cNvPr>
          <p:cNvSpPr/>
          <p:nvPr/>
        </p:nvSpPr>
        <p:spPr>
          <a:xfrm>
            <a:off x="122547" y="5797795"/>
            <a:ext cx="11975183" cy="8714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tx1"/>
                </a:solidFill>
              </a:rPr>
              <a:t>slab_free</a:t>
            </a:r>
            <a:r>
              <a:rPr lang="en-US" sz="2800" b="1" dirty="0">
                <a:solidFill>
                  <a:schemeClr val="tx1"/>
                </a:solidFill>
              </a:rPr>
              <a:t>(): Move page(s) to </a:t>
            </a:r>
            <a:r>
              <a:rPr lang="en-US" sz="2800" b="1" dirty="0" err="1">
                <a:solidFill>
                  <a:schemeClr val="tx1"/>
                </a:solidFill>
              </a:rPr>
              <a:t>percpu</a:t>
            </a:r>
            <a:r>
              <a:rPr lang="en-US" sz="2800" b="1" dirty="0">
                <a:solidFill>
                  <a:schemeClr val="tx1"/>
                </a:solidFill>
              </a:rPr>
              <a:t> partial and node partial (if possible)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  * Detail will be discussed in section “[Cache release/free] </a:t>
            </a:r>
            <a:r>
              <a:rPr lang="en-US" sz="2800" b="1" dirty="0" err="1">
                <a:solidFill>
                  <a:schemeClr val="tx1"/>
                </a:solidFill>
              </a:rPr>
              <a:t>kmem_cache_free</a:t>
            </a:r>
            <a:r>
              <a:rPr lang="en-US" sz="2800" b="1" dirty="0">
                <a:solidFill>
                  <a:schemeClr val="tx1"/>
                </a:solidFill>
              </a:rPr>
              <a:t>()”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7CF30F53-F7AC-4B1C-9FCC-A6FBAD642F4A}"/>
              </a:ext>
            </a:extLst>
          </p:cNvPr>
          <p:cNvCxnSpPr>
            <a:stCxn id="115" idx="3"/>
            <a:endCxn id="126" idx="2"/>
          </p:cNvCxnSpPr>
          <p:nvPr/>
        </p:nvCxnSpPr>
        <p:spPr>
          <a:xfrm>
            <a:off x="4013833" y="2551912"/>
            <a:ext cx="1167476" cy="23093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1619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6FB49F4E-D74E-4377-9C13-2109BA053C49}"/>
              </a:ext>
            </a:extLst>
          </p:cNvPr>
          <p:cNvSpPr/>
          <p:nvPr/>
        </p:nvSpPr>
        <p:spPr>
          <a:xfrm>
            <a:off x="3870167" y="2553026"/>
            <a:ext cx="8252318" cy="3849881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0420E-A3FE-4510-A679-D742DCC75454}"/>
              </a:ext>
            </a:extLst>
          </p:cNvPr>
          <p:cNvSpPr/>
          <p:nvPr/>
        </p:nvSpPr>
        <p:spPr>
          <a:xfrm>
            <a:off x="828675" y="4514320"/>
            <a:ext cx="2891889" cy="124830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3B410-682E-4B73-A942-9118C9D895B7}"/>
              </a:ext>
            </a:extLst>
          </p:cNvPr>
          <p:cNvSpPr/>
          <p:nvPr/>
        </p:nvSpPr>
        <p:spPr>
          <a:xfrm>
            <a:off x="1036960" y="4807563"/>
            <a:ext cx="251036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Get a slab object from c-&gt;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3DF1D-7635-4AC4-8987-97B41002E1F9}"/>
              </a:ext>
            </a:extLst>
          </p:cNvPr>
          <p:cNvSpPr/>
          <p:nvPr/>
        </p:nvSpPr>
        <p:spPr>
          <a:xfrm>
            <a:off x="1607087" y="817182"/>
            <a:ext cx="1970215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kmem_cache_alloc_node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00291715-047A-4596-8317-A8C2CB0B6476}"/>
              </a:ext>
            </a:extLst>
          </p:cNvPr>
          <p:cNvSpPr/>
          <p:nvPr/>
        </p:nvSpPr>
        <p:spPr>
          <a:xfrm>
            <a:off x="1180972" y="3533155"/>
            <a:ext cx="2209806" cy="573622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!c-&gt;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or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!c-&gt; page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1DECBE7-96BF-476E-801F-45A37B2B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6944" y="-104234"/>
            <a:ext cx="12548032" cy="689951"/>
          </a:xfrm>
        </p:spPr>
        <p:txBody>
          <a:bodyPr>
            <a:noAutofit/>
          </a:bodyPr>
          <a:lstStyle/>
          <a:p>
            <a:r>
              <a:rPr lang="en-US" sz="2800" dirty="0" err="1"/>
              <a:t>slab_alloc_node</a:t>
            </a:r>
            <a:r>
              <a:rPr lang="en-US" sz="2800" dirty="0"/>
              <a:t>(): </a:t>
            </a:r>
            <a:r>
              <a:rPr lang="en-US" sz="2800" dirty="0" err="1"/>
              <a:t>slowpath</a:t>
            </a:r>
            <a:r>
              <a:rPr lang="en-US" sz="2800" dirty="0"/>
              <a:t> #4 – Get a slab object page from page-&gt;</a:t>
            </a:r>
            <a:r>
              <a:rPr lang="en-US" sz="2800" dirty="0" err="1"/>
              <a:t>freelist</a:t>
            </a:r>
            <a:endParaRPr lang="en-US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08FCDB-D5DB-4098-BA29-71A6C4D9E9B8}"/>
              </a:ext>
            </a:extLst>
          </p:cNvPr>
          <p:cNvSpPr/>
          <p:nvPr/>
        </p:nvSpPr>
        <p:spPr>
          <a:xfrm>
            <a:off x="4048126" y="3702877"/>
            <a:ext cx="107632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B5BB81-36FE-412E-AD39-57E6F21BF69E}"/>
              </a:ext>
            </a:extLst>
          </p:cNvPr>
          <p:cNvSpPr/>
          <p:nvPr/>
        </p:nvSpPr>
        <p:spPr>
          <a:xfrm>
            <a:off x="161192" y="1338348"/>
            <a:ext cx="159759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936C6D-9003-4D95-86B7-D8AE219AD8C5}"/>
              </a:ext>
            </a:extLst>
          </p:cNvPr>
          <p:cNvSpPr/>
          <p:nvPr/>
        </p:nvSpPr>
        <p:spPr>
          <a:xfrm>
            <a:off x="2095499" y="1341361"/>
            <a:ext cx="87629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048101-74AC-4B64-8974-B28E0DAEE6F7}"/>
              </a:ext>
            </a:extLst>
          </p:cNvPr>
          <p:cNvSpPr/>
          <p:nvPr/>
        </p:nvSpPr>
        <p:spPr>
          <a:xfrm>
            <a:off x="3556872" y="1347873"/>
            <a:ext cx="1310404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slab_alloc_node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4A147-3847-4457-B254-A5ECE1C4C291}"/>
              </a:ext>
            </a:extLst>
          </p:cNvPr>
          <p:cNvSpPr txBox="1"/>
          <p:nvPr/>
        </p:nvSpPr>
        <p:spPr>
          <a:xfrm>
            <a:off x="2818672" y="1552516"/>
            <a:ext cx="14199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NUMA_NO_NODE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7795C0-9A2C-4E2E-82D1-FADDF29C95AD}"/>
              </a:ext>
            </a:extLst>
          </p:cNvPr>
          <p:cNvSpPr/>
          <p:nvPr/>
        </p:nvSpPr>
        <p:spPr>
          <a:xfrm>
            <a:off x="1988108" y="1978068"/>
            <a:ext cx="141995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kmalloc_node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730A8B-4FD3-41E0-BF58-AC6A962757D5}"/>
              </a:ext>
            </a:extLst>
          </p:cNvPr>
          <p:cNvSpPr/>
          <p:nvPr/>
        </p:nvSpPr>
        <p:spPr>
          <a:xfrm>
            <a:off x="312894" y="1981965"/>
            <a:ext cx="129419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kmalloc_node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47D268-BD0A-412B-A7F9-84D1A74DF3E9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2971792" y="1462256"/>
            <a:ext cx="585080" cy="65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EC811E-BF06-4DB1-947A-FC2F6AB3F7EB}"/>
              </a:ext>
            </a:extLst>
          </p:cNvPr>
          <p:cNvCxnSpPr>
            <a:stCxn id="36" idx="3"/>
            <a:endCxn id="35" idx="1"/>
          </p:cNvCxnSpPr>
          <p:nvPr/>
        </p:nvCxnSpPr>
        <p:spPr>
          <a:xfrm flipV="1">
            <a:off x="1607087" y="2098963"/>
            <a:ext cx="381021" cy="38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EB98837-729D-479B-95F0-0BD8C8C951F1}"/>
              </a:ext>
            </a:extLst>
          </p:cNvPr>
          <p:cNvCxnSpPr>
            <a:cxnSpLocks/>
            <a:stCxn id="35" idx="3"/>
            <a:endCxn id="31" idx="2"/>
          </p:cNvCxnSpPr>
          <p:nvPr/>
        </p:nvCxnSpPr>
        <p:spPr>
          <a:xfrm flipV="1">
            <a:off x="3408062" y="1589662"/>
            <a:ext cx="804012" cy="50930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B36931D-7CCD-4E65-AC4E-4CE0B280651C}"/>
              </a:ext>
            </a:extLst>
          </p:cNvPr>
          <p:cNvSpPr txBox="1"/>
          <p:nvPr/>
        </p:nvSpPr>
        <p:spPr>
          <a:xfrm>
            <a:off x="3469863" y="2052771"/>
            <a:ext cx="7326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node_id</a:t>
            </a:r>
            <a:endParaRPr lang="en-US" sz="1200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53FC3DE-70F6-4A01-AB8E-0193BEB5C047}"/>
              </a:ext>
            </a:extLst>
          </p:cNvPr>
          <p:cNvCxnSpPr>
            <a:cxnSpLocks/>
            <a:stCxn id="7" idx="3"/>
            <a:endCxn id="31" idx="0"/>
          </p:cNvCxnSpPr>
          <p:nvPr/>
        </p:nvCxnSpPr>
        <p:spPr>
          <a:xfrm>
            <a:off x="3577302" y="938077"/>
            <a:ext cx="634772" cy="40979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D27C52B-4463-4162-A8FE-DB3BEFA0D5BF}"/>
              </a:ext>
            </a:extLst>
          </p:cNvPr>
          <p:cNvSpPr txBox="1"/>
          <p:nvPr/>
        </p:nvSpPr>
        <p:spPr>
          <a:xfrm>
            <a:off x="3583160" y="657822"/>
            <a:ext cx="7326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node_id</a:t>
            </a:r>
            <a:endParaRPr lang="en-US" sz="12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3E3F6B-C0FF-4614-AB05-735B44C02AC7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>
            <a:off x="1758791" y="1459243"/>
            <a:ext cx="336708" cy="30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C5EA1983-2A9B-40B4-A886-F09CBAD8A930}"/>
              </a:ext>
            </a:extLst>
          </p:cNvPr>
          <p:cNvCxnSpPr>
            <a:stCxn id="31" idx="3"/>
            <a:endCxn id="9" idx="0"/>
          </p:cNvCxnSpPr>
          <p:nvPr/>
        </p:nvCxnSpPr>
        <p:spPr>
          <a:xfrm flipH="1">
            <a:off x="2285875" y="1468768"/>
            <a:ext cx="2581401" cy="2064387"/>
          </a:xfrm>
          <a:prstGeom prst="bentConnector4">
            <a:avLst>
              <a:gd name="adj1" fmla="val -8856"/>
              <a:gd name="adj2" fmla="val 4554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D1A50C08-EDC4-495D-9FD4-8AD10313A1B8}"/>
              </a:ext>
            </a:extLst>
          </p:cNvPr>
          <p:cNvSpPr/>
          <p:nvPr/>
        </p:nvSpPr>
        <p:spPr>
          <a:xfrm>
            <a:off x="5343525" y="3702442"/>
            <a:ext cx="108524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___</a:t>
            </a:r>
            <a:r>
              <a:rPr lang="en-US" sz="1400" dirty="0" err="1">
                <a:solidFill>
                  <a:schemeClr val="tx1"/>
                </a:solidFill>
              </a:rPr>
              <a:t>slab_alloc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C6EC661-522D-4D40-B0CF-CFB8179D4E57}"/>
              </a:ext>
            </a:extLst>
          </p:cNvPr>
          <p:cNvSpPr/>
          <p:nvPr/>
        </p:nvSpPr>
        <p:spPr>
          <a:xfrm>
            <a:off x="6683878" y="4917869"/>
            <a:ext cx="153030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new_slab_objects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D9DBAFA-64DD-4330-B4B6-E2B0D7993D88}"/>
              </a:ext>
            </a:extLst>
          </p:cNvPr>
          <p:cNvSpPr/>
          <p:nvPr/>
        </p:nvSpPr>
        <p:spPr>
          <a:xfrm>
            <a:off x="8195323" y="3702442"/>
            <a:ext cx="264852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c-&gt;page = </a:t>
            </a:r>
            <a:r>
              <a:rPr lang="fr-FR" sz="1400" dirty="0" err="1">
                <a:solidFill>
                  <a:schemeClr val="tx1"/>
                </a:solidFill>
              </a:rPr>
              <a:t>slub_percpu_partial</a:t>
            </a:r>
            <a:r>
              <a:rPr lang="fr-FR" sz="1400" dirty="0">
                <a:solidFill>
                  <a:schemeClr val="tx1"/>
                </a:solidFill>
              </a:rPr>
              <a:t>(c)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1D41374-0A45-415C-BCD4-25C6ADECF37D}"/>
              </a:ext>
            </a:extLst>
          </p:cNvPr>
          <p:cNvCxnSpPr>
            <a:stCxn id="9" idx="3"/>
            <a:endCxn id="24" idx="1"/>
          </p:cNvCxnSpPr>
          <p:nvPr/>
        </p:nvCxnSpPr>
        <p:spPr>
          <a:xfrm>
            <a:off x="3390778" y="3819966"/>
            <a:ext cx="657348" cy="38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714F4AC-ADFF-4312-97E3-1585FD30B533}"/>
              </a:ext>
            </a:extLst>
          </p:cNvPr>
          <p:cNvCxnSpPr>
            <a:stCxn id="24" idx="3"/>
            <a:endCxn id="67" idx="1"/>
          </p:cNvCxnSpPr>
          <p:nvPr/>
        </p:nvCxnSpPr>
        <p:spPr>
          <a:xfrm flipV="1">
            <a:off x="5124450" y="3823337"/>
            <a:ext cx="219075" cy="4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4DC20D2-A96E-4DDB-806B-1A44A234F491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6428773" y="3823337"/>
            <a:ext cx="17665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56B399C-50F4-4370-81BC-E770ED0A2EEB}"/>
              </a:ext>
            </a:extLst>
          </p:cNvPr>
          <p:cNvSpPr txBox="1"/>
          <p:nvPr/>
        </p:nvSpPr>
        <p:spPr>
          <a:xfrm>
            <a:off x="5743245" y="2950429"/>
            <a:ext cx="965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c-&gt;page &amp;&amp;</a:t>
            </a:r>
          </a:p>
          <a:p>
            <a:r>
              <a:rPr lang="en-US" sz="1200" dirty="0"/>
              <a:t>!c-&gt;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734A345-7CAD-4CCA-8353-64520F988B5F}"/>
              </a:ext>
            </a:extLst>
          </p:cNvPr>
          <p:cNvSpPr txBox="1"/>
          <p:nvPr/>
        </p:nvSpPr>
        <p:spPr>
          <a:xfrm>
            <a:off x="6591671" y="3564681"/>
            <a:ext cx="17963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!c-&gt;page &amp;&amp; c-&gt;partial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8EF6CAF-FB14-48DA-B041-AA965FF3B54A}"/>
              </a:ext>
            </a:extLst>
          </p:cNvPr>
          <p:cNvSpPr/>
          <p:nvPr/>
        </p:nvSpPr>
        <p:spPr>
          <a:xfrm>
            <a:off x="8501199" y="4684301"/>
            <a:ext cx="103493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get_partial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5E2315A-F4D5-40A9-9F6E-D3DDE474EE49}"/>
              </a:ext>
            </a:extLst>
          </p:cNvPr>
          <p:cNvSpPr txBox="1"/>
          <p:nvPr/>
        </p:nvSpPr>
        <p:spPr>
          <a:xfrm>
            <a:off x="8345720" y="3447622"/>
            <a:ext cx="2476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Get partial page from </a:t>
            </a:r>
            <a:r>
              <a:rPr lang="en-US" sz="1200" dirty="0" err="1"/>
              <a:t>percpu</a:t>
            </a:r>
            <a:r>
              <a:rPr lang="en-US" sz="1200" dirty="0"/>
              <a:t> cache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5BF41FC-89F4-45A0-AE2E-5148AED72954}"/>
              </a:ext>
            </a:extLst>
          </p:cNvPr>
          <p:cNvSpPr/>
          <p:nvPr/>
        </p:nvSpPr>
        <p:spPr>
          <a:xfrm>
            <a:off x="8501198" y="5294587"/>
            <a:ext cx="1034938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new_slab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6B2E602-43B1-4CA8-9F02-86E6005D43CF}"/>
              </a:ext>
            </a:extLst>
          </p:cNvPr>
          <p:cNvSpPr/>
          <p:nvPr/>
        </p:nvSpPr>
        <p:spPr>
          <a:xfrm>
            <a:off x="9804550" y="5293573"/>
            <a:ext cx="108538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allocate_slab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E4BC428-C9C9-4EEE-B9C2-67108A9F91D6}"/>
              </a:ext>
            </a:extLst>
          </p:cNvPr>
          <p:cNvSpPr/>
          <p:nvPr/>
        </p:nvSpPr>
        <p:spPr>
          <a:xfrm>
            <a:off x="10531481" y="5688019"/>
            <a:ext cx="1402582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alloc_slab_page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6AB6E616-2812-408B-854A-5BF330885683}"/>
              </a:ext>
            </a:extLst>
          </p:cNvPr>
          <p:cNvCxnSpPr>
            <a:stCxn id="106" idx="3"/>
            <a:endCxn id="107" idx="1"/>
          </p:cNvCxnSpPr>
          <p:nvPr/>
        </p:nvCxnSpPr>
        <p:spPr>
          <a:xfrm flipV="1">
            <a:off x="9536136" y="5414468"/>
            <a:ext cx="268414" cy="10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5C9F34B5-6572-4E67-BF90-73C44FB0F404}"/>
              </a:ext>
            </a:extLst>
          </p:cNvPr>
          <p:cNvCxnSpPr>
            <a:stCxn id="107" idx="3"/>
            <a:endCxn id="108" idx="0"/>
          </p:cNvCxnSpPr>
          <p:nvPr/>
        </p:nvCxnSpPr>
        <p:spPr>
          <a:xfrm>
            <a:off x="10889936" y="5414468"/>
            <a:ext cx="342836" cy="2735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F69B1F1-3CB6-4D50-B0AB-ADE69F5A6BF8}"/>
              </a:ext>
            </a:extLst>
          </p:cNvPr>
          <p:cNvSpPr txBox="1"/>
          <p:nvPr/>
        </p:nvSpPr>
        <p:spPr>
          <a:xfrm>
            <a:off x="10531481" y="5941242"/>
            <a:ext cx="1562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Allocate pages from Buddy system</a:t>
            </a: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3EAB34A4-C504-4AF7-915E-2653E42C4957}"/>
              </a:ext>
            </a:extLst>
          </p:cNvPr>
          <p:cNvCxnSpPr>
            <a:cxnSpLocks/>
            <a:stCxn id="67" idx="3"/>
          </p:cNvCxnSpPr>
          <p:nvPr/>
        </p:nvCxnSpPr>
        <p:spPr>
          <a:xfrm flipV="1">
            <a:off x="6428773" y="3069524"/>
            <a:ext cx="431764" cy="75381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0AE2C3A9-230B-485F-92AB-56A89A6EA4EB}"/>
              </a:ext>
            </a:extLst>
          </p:cNvPr>
          <p:cNvCxnSpPr>
            <a:stCxn id="67" idx="3"/>
            <a:endCxn id="68" idx="1"/>
          </p:cNvCxnSpPr>
          <p:nvPr/>
        </p:nvCxnSpPr>
        <p:spPr>
          <a:xfrm>
            <a:off x="6428773" y="3823337"/>
            <a:ext cx="255105" cy="121542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21B628FC-82B6-4687-8C28-1C5CC91E3193}"/>
              </a:ext>
            </a:extLst>
          </p:cNvPr>
          <p:cNvSpPr txBox="1"/>
          <p:nvPr/>
        </p:nvSpPr>
        <p:spPr>
          <a:xfrm>
            <a:off x="6530940" y="4575669"/>
            <a:ext cx="1696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!c-&gt;page &amp;&amp;  !c-&gt;partial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E5AB9A5-94F2-41B1-AD96-B0CC706D2121}"/>
              </a:ext>
            </a:extLst>
          </p:cNvPr>
          <p:cNvCxnSpPr>
            <a:stCxn id="68" idx="3"/>
            <a:endCxn id="103" idx="1"/>
          </p:cNvCxnSpPr>
          <p:nvPr/>
        </p:nvCxnSpPr>
        <p:spPr>
          <a:xfrm flipV="1">
            <a:off x="8214182" y="4805196"/>
            <a:ext cx="287017" cy="2335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536D68D6-5FCB-4F3D-AFE3-D7E242342A18}"/>
              </a:ext>
            </a:extLst>
          </p:cNvPr>
          <p:cNvCxnSpPr>
            <a:stCxn id="68" idx="3"/>
            <a:endCxn id="106" idx="1"/>
          </p:cNvCxnSpPr>
          <p:nvPr/>
        </p:nvCxnSpPr>
        <p:spPr>
          <a:xfrm>
            <a:off x="8214182" y="5038764"/>
            <a:ext cx="287016" cy="3767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AE25C171-0A1B-443E-BE12-AB2FF66D51C6}"/>
              </a:ext>
            </a:extLst>
          </p:cNvPr>
          <p:cNvSpPr txBox="1"/>
          <p:nvPr/>
        </p:nvSpPr>
        <p:spPr>
          <a:xfrm>
            <a:off x="8367172" y="4228018"/>
            <a:ext cx="2476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Get partial page from node cache (</a:t>
            </a:r>
            <a:r>
              <a:rPr lang="en-US" sz="1200" dirty="0" err="1"/>
              <a:t>kmem_cache_node</a:t>
            </a:r>
            <a:r>
              <a:rPr lang="en-US" sz="1200" dirty="0"/>
              <a:t>)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7215010-5794-4103-80BE-F8A0BE6B7EAA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>
            <a:off x="2285875" y="4106777"/>
            <a:ext cx="6265" cy="7007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C37B8627-B41B-4810-B77C-5302415941C9}"/>
              </a:ext>
            </a:extLst>
          </p:cNvPr>
          <p:cNvSpPr txBox="1"/>
          <p:nvPr/>
        </p:nvSpPr>
        <p:spPr>
          <a:xfrm>
            <a:off x="3394480" y="3612099"/>
            <a:ext cx="28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ADE96F9-428C-4E2D-937D-B119FE0C610E}"/>
              </a:ext>
            </a:extLst>
          </p:cNvPr>
          <p:cNvSpPr txBox="1"/>
          <p:nvPr/>
        </p:nvSpPr>
        <p:spPr>
          <a:xfrm>
            <a:off x="2221876" y="4060926"/>
            <a:ext cx="28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4520EF-43B8-4730-8DA3-BC02DA018C81}"/>
              </a:ext>
            </a:extLst>
          </p:cNvPr>
          <p:cNvSpPr txBox="1"/>
          <p:nvPr/>
        </p:nvSpPr>
        <p:spPr>
          <a:xfrm>
            <a:off x="1866956" y="5412283"/>
            <a:ext cx="837837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fast path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D3EFFD-6097-4DDD-AAD3-09D69B757F75}"/>
              </a:ext>
            </a:extLst>
          </p:cNvPr>
          <p:cNvSpPr txBox="1"/>
          <p:nvPr/>
        </p:nvSpPr>
        <p:spPr>
          <a:xfrm>
            <a:off x="3949503" y="2633008"/>
            <a:ext cx="965414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slow path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16516C-20F5-4795-8EF5-C211431D3389}"/>
              </a:ext>
            </a:extLst>
          </p:cNvPr>
          <p:cNvSpPr txBox="1"/>
          <p:nvPr/>
        </p:nvSpPr>
        <p:spPr>
          <a:xfrm>
            <a:off x="6829758" y="2679807"/>
            <a:ext cx="35479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get_freelist</a:t>
            </a:r>
            <a:r>
              <a:rPr lang="en-US" sz="1200" dirty="0"/>
              <a:t> -&gt; __</a:t>
            </a:r>
            <a:r>
              <a:rPr lang="en-US" sz="1200" dirty="0" err="1"/>
              <a:t>cmpxchg_double_slab</a:t>
            </a:r>
            <a:endParaRPr 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4E8DAC-DC56-4BDD-A714-BA56E1A20A0E}"/>
              </a:ext>
            </a:extLst>
          </p:cNvPr>
          <p:cNvSpPr txBox="1"/>
          <p:nvPr/>
        </p:nvSpPr>
        <p:spPr>
          <a:xfrm>
            <a:off x="1427781" y="5021158"/>
            <a:ext cx="2071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this_cpu_cmpxchg_double</a:t>
            </a:r>
            <a:r>
              <a:rPr lang="en-US" sz="1200" dirty="0"/>
              <a:t>()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812B5A0-14FE-4C61-B826-49E42D40AFFA}"/>
              </a:ext>
            </a:extLst>
          </p:cNvPr>
          <p:cNvSpPr/>
          <p:nvPr/>
        </p:nvSpPr>
        <p:spPr>
          <a:xfrm>
            <a:off x="6708660" y="2686128"/>
            <a:ext cx="3197466" cy="57539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0FB51A5-DFB2-4100-B967-82AD286F70F9}"/>
              </a:ext>
            </a:extLst>
          </p:cNvPr>
          <p:cNvSpPr/>
          <p:nvPr/>
        </p:nvSpPr>
        <p:spPr>
          <a:xfrm>
            <a:off x="6860537" y="2948629"/>
            <a:ext cx="283964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Get a slab object from page-&gt;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3101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13056" y="2471611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13056" y="2728117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13056" y="2936230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2449518" y="1599447"/>
            <a:ext cx="156431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2449518" y="2025872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2449513" y="2236490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2449516" y="2446685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2615728" y="3757298"/>
            <a:ext cx="1634327" cy="4382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0)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2615727" y="4184662"/>
            <a:ext cx="163432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2615726" y="4548426"/>
            <a:ext cx="1634323" cy="4517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1)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2615725" y="4975791"/>
            <a:ext cx="163432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2449517" y="5169942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cxnSpLocks/>
          </p:cNvCxnSpPr>
          <p:nvPr/>
        </p:nvCxnSpPr>
        <p:spPr>
          <a:xfrm flipH="1">
            <a:off x="2615719" y="4164890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" y="-86213"/>
            <a:ext cx="12259408" cy="689951"/>
          </a:xfrm>
        </p:spPr>
        <p:txBody>
          <a:bodyPr>
            <a:noAutofit/>
          </a:bodyPr>
          <a:lstStyle/>
          <a:p>
            <a:r>
              <a:rPr lang="en-US" sz="3600" dirty="0" err="1">
                <a:solidFill>
                  <a:schemeClr val="tx1"/>
                </a:solidFill>
              </a:rPr>
              <a:t>slowpath</a:t>
            </a:r>
            <a:r>
              <a:rPr lang="en-US" sz="3600" dirty="0">
                <a:solidFill>
                  <a:schemeClr val="tx1"/>
                </a:solidFill>
              </a:rPr>
              <a:t> #4: Get a slab object from page-&gt;</a:t>
            </a:r>
            <a:r>
              <a:rPr lang="en-US" sz="3600" dirty="0" err="1">
                <a:solidFill>
                  <a:schemeClr val="tx1"/>
                </a:solidFill>
              </a:rPr>
              <a:t>freelist</a:t>
            </a:r>
            <a:endParaRPr lang="en-US" sz="3600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38E9A7-39EF-4A8A-A583-00235FCCF53E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2131695" y="1816054"/>
            <a:ext cx="317823" cy="101729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63F9F1C-AC80-4507-94B3-DF5FAC3D155E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>
            <a:off x="2131695" y="3041457"/>
            <a:ext cx="484033" cy="9349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9EB4F4D-E780-4D8E-A282-B23942B0101A}"/>
              </a:ext>
            </a:extLst>
          </p:cNvPr>
          <p:cNvCxnSpPr>
            <a:cxnSpLocks/>
            <a:stCxn id="113" idx="3"/>
          </p:cNvCxnSpPr>
          <p:nvPr/>
        </p:nvCxnSpPr>
        <p:spPr>
          <a:xfrm flipV="1">
            <a:off x="4013836" y="2081215"/>
            <a:ext cx="1144615" cy="4988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879C8F3-DF60-4F28-845E-86F3A5BC48A4}"/>
              </a:ext>
            </a:extLst>
          </p:cNvPr>
          <p:cNvGrpSpPr/>
          <p:nvPr/>
        </p:nvGrpSpPr>
        <p:grpSpPr>
          <a:xfrm>
            <a:off x="5159958" y="1598142"/>
            <a:ext cx="735393" cy="1022487"/>
            <a:chOff x="4559919" y="899141"/>
            <a:chExt cx="735393" cy="1022487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E6B5917-A5FA-4716-ABD6-16A2DAE3AFB5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3AB6D44-6789-4372-AA0B-C49EBEBC6FC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B76F0DF-B804-49E6-8803-EF489A5B3E60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23113B4-E5E6-4F53-862E-64B1CFE729DB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AE5C609-2784-48BB-8292-D4C0DD983AB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14C89A1-5F16-4BF3-8825-86A9EA3F386D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ED847AC-D6A7-405F-97B9-6E1135F1740E}"/>
              </a:ext>
            </a:extLst>
          </p:cNvPr>
          <p:cNvCxnSpPr>
            <a:cxnSpLocks/>
          </p:cNvCxnSpPr>
          <p:nvPr/>
        </p:nvCxnSpPr>
        <p:spPr>
          <a:xfrm flipV="1">
            <a:off x="6997605" y="2213204"/>
            <a:ext cx="701844" cy="93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09F2754C-D3D5-4AB8-AC5B-20FC44BF237F}"/>
              </a:ext>
            </a:extLst>
          </p:cNvPr>
          <p:cNvSpPr txBox="1"/>
          <p:nvPr/>
        </p:nvSpPr>
        <p:spPr>
          <a:xfrm>
            <a:off x="6945030" y="1968764"/>
            <a:ext cx="989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page-&gt;next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C050DC-DC6A-4BED-BEF6-183AF0A830BA}"/>
              </a:ext>
            </a:extLst>
          </p:cNvPr>
          <p:cNvGrpSpPr/>
          <p:nvPr/>
        </p:nvGrpSpPr>
        <p:grpSpPr>
          <a:xfrm>
            <a:off x="7586826" y="2214881"/>
            <a:ext cx="196496" cy="186724"/>
            <a:chOff x="8951232" y="5425804"/>
            <a:chExt cx="196496" cy="186724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D5112AE-F3A4-40DE-A18D-BAC51A6D98D9}"/>
                </a:ext>
              </a:extLst>
            </p:cNvPr>
            <p:cNvCxnSpPr/>
            <p:nvPr/>
          </p:nvCxnSpPr>
          <p:spPr>
            <a:xfrm>
              <a:off x="9059440" y="5425804"/>
              <a:ext cx="0" cy="119829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3A14F3F-1D52-48C6-A556-0DF57BC40EE3}"/>
                </a:ext>
              </a:extLst>
            </p:cNvPr>
            <p:cNvCxnSpPr>
              <a:cxnSpLocks/>
            </p:cNvCxnSpPr>
            <p:nvPr/>
          </p:nvCxnSpPr>
          <p:spPr>
            <a:xfrm>
              <a:off x="8951232" y="5545633"/>
              <a:ext cx="196496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7C72D2E-8693-4796-BE63-11EFFB16D8A5}"/>
                </a:ext>
              </a:extLst>
            </p:cNvPr>
            <p:cNvCxnSpPr>
              <a:cxnSpLocks/>
            </p:cNvCxnSpPr>
            <p:nvPr/>
          </p:nvCxnSpPr>
          <p:spPr>
            <a:xfrm>
              <a:off x="8967900" y="5579190"/>
              <a:ext cx="157163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D33DCFC-3E8D-4168-A9C0-A7BAF26720E8}"/>
                </a:ext>
              </a:extLst>
            </p:cNvPr>
            <p:cNvCxnSpPr>
              <a:cxnSpLocks/>
            </p:cNvCxnSpPr>
            <p:nvPr/>
          </p:nvCxnSpPr>
          <p:spPr>
            <a:xfrm>
              <a:off x="9003621" y="5612528"/>
              <a:ext cx="95249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D943403-1115-46AD-B23D-8D05F142F015}"/>
              </a:ext>
            </a:extLst>
          </p:cNvPr>
          <p:cNvCxnSpPr>
            <a:cxnSpLocks/>
            <a:stCxn id="115" idx="3"/>
            <a:endCxn id="126" idx="2"/>
          </p:cNvCxnSpPr>
          <p:nvPr/>
        </p:nvCxnSpPr>
        <p:spPr>
          <a:xfrm flipV="1">
            <a:off x="4013834" y="2235092"/>
            <a:ext cx="1146125" cy="31682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7EBF811-8062-4066-A257-5D6A7D077AD4}"/>
              </a:ext>
            </a:extLst>
          </p:cNvPr>
          <p:cNvGrpSpPr/>
          <p:nvPr/>
        </p:nvGrpSpPr>
        <p:grpSpPr>
          <a:xfrm>
            <a:off x="6255083" y="1599447"/>
            <a:ext cx="735393" cy="1022487"/>
            <a:chOff x="4559919" y="899141"/>
            <a:chExt cx="735393" cy="1022487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273B957-7E43-4916-89DF-786E2D4DD2E1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630949A-EF3F-4571-A317-72D725068FB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124B9D3-CF2F-4F4C-A6B8-F62F4052858A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D096620-A3ED-4918-9EA0-460F042150E5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B837A345-227E-4083-9D2C-F526F6037321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CAA7EC1-F67F-4775-ACCA-05FE3E61F677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451178-D182-432A-8603-49E48D16521B}"/>
              </a:ext>
            </a:extLst>
          </p:cNvPr>
          <p:cNvCxnSpPr>
            <a:stCxn id="130" idx="0"/>
            <a:endCxn id="110" idx="2"/>
          </p:cNvCxnSpPr>
          <p:nvPr/>
        </p:nvCxnSpPr>
        <p:spPr>
          <a:xfrm>
            <a:off x="5895351" y="2236029"/>
            <a:ext cx="359733" cy="3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40D661B-3BB6-4EFA-8093-E28AD9776791}"/>
              </a:ext>
            </a:extLst>
          </p:cNvPr>
          <p:cNvCxnSpPr>
            <a:cxnSpLocks/>
            <a:endCxn id="127" idx="3"/>
          </p:cNvCxnSpPr>
          <p:nvPr/>
        </p:nvCxnSpPr>
        <p:spPr>
          <a:xfrm flipV="1">
            <a:off x="5434215" y="2619693"/>
            <a:ext cx="0" cy="1660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B8DE4C45-2AC5-4D8D-A160-042CCADC09CE}"/>
              </a:ext>
            </a:extLst>
          </p:cNvPr>
          <p:cNvSpPr txBox="1"/>
          <p:nvPr/>
        </p:nvSpPr>
        <p:spPr>
          <a:xfrm>
            <a:off x="4868936" y="2728094"/>
            <a:ext cx="1061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5F081AB-6EAE-4CF0-A260-87AE38A555BC}"/>
              </a:ext>
            </a:extLst>
          </p:cNvPr>
          <p:cNvSpPr txBox="1"/>
          <p:nvPr/>
        </p:nvSpPr>
        <p:spPr>
          <a:xfrm>
            <a:off x="6024266" y="2740826"/>
            <a:ext cx="110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58FCCAE-BE4D-4FD5-BA5B-01F76EF5FE7E}"/>
              </a:ext>
            </a:extLst>
          </p:cNvPr>
          <p:cNvCxnSpPr>
            <a:cxnSpLocks/>
          </p:cNvCxnSpPr>
          <p:nvPr/>
        </p:nvCxnSpPr>
        <p:spPr>
          <a:xfrm flipV="1">
            <a:off x="6529340" y="2631703"/>
            <a:ext cx="0" cy="1660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19">
            <a:extLst>
              <a:ext uri="{FF2B5EF4-FFF2-40B4-BE49-F238E27FC236}">
                <a16:creationId xmlns:a16="http://schemas.microsoft.com/office/drawing/2014/main" id="{01D8534C-BA48-4033-8FD9-9A59AE95B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462" y="3256077"/>
            <a:ext cx="7497221" cy="240063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2D299A-FF4C-4DF3-B032-1B4892CA4F7C}"/>
              </a:ext>
            </a:extLst>
          </p:cNvPr>
          <p:cNvSpPr txBox="1"/>
          <p:nvPr/>
        </p:nvSpPr>
        <p:spPr>
          <a:xfrm>
            <a:off x="3202693" y="6039367"/>
            <a:ext cx="8945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page descriptor address = virtual memory map = </a:t>
            </a:r>
            <a:r>
              <a:rPr lang="en-US" altLang="zh-TW" dirty="0" err="1"/>
              <a:t>vmemmap_base</a:t>
            </a:r>
            <a:r>
              <a:rPr lang="en-US" altLang="zh-TW" dirty="0"/>
              <a:t>: </a:t>
            </a:r>
            <a:r>
              <a:rPr lang="en-US" altLang="zh-TW" dirty="0">
                <a:hlinkClick r:id="rId4"/>
              </a:rPr>
              <a:t>page #5 of Decompressed </a:t>
            </a:r>
            <a:r>
              <a:rPr lang="en-US" altLang="zh-TW" dirty="0" err="1">
                <a:hlinkClick r:id="rId4"/>
              </a:rPr>
              <a:t>vmlinux</a:t>
            </a:r>
            <a:r>
              <a:rPr lang="en-US" altLang="zh-TW" dirty="0">
                <a:hlinkClick r:id="rId4"/>
              </a:rPr>
              <a:t>: </a:t>
            </a:r>
            <a:r>
              <a:rPr lang="en-US" altLang="zh-TW" dirty="0" err="1">
                <a:hlinkClick r:id="rId4"/>
              </a:rPr>
              <a:t>linux</a:t>
            </a:r>
            <a:r>
              <a:rPr lang="en-US" altLang="zh-TW" dirty="0">
                <a:hlinkClick r:id="rId4"/>
              </a:rPr>
              <a:t> kernel initialization from page table configuration perspective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700292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13056" y="2471611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13056" y="2728117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13056" y="2936230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2449518" y="1599447"/>
            <a:ext cx="156431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2449518" y="2025872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2449513" y="2236490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2449516" y="2446685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2615728" y="3757298"/>
            <a:ext cx="1634327" cy="4382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0)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2615727" y="4184662"/>
            <a:ext cx="163432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2615726" y="4548426"/>
            <a:ext cx="1634323" cy="4517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1)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2615725" y="4975791"/>
            <a:ext cx="163432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2449517" y="5169942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cxnSpLocks/>
          </p:cNvCxnSpPr>
          <p:nvPr/>
        </p:nvCxnSpPr>
        <p:spPr>
          <a:xfrm flipH="1">
            <a:off x="2615719" y="4164890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" y="-86213"/>
            <a:ext cx="12259408" cy="689951"/>
          </a:xfrm>
        </p:spPr>
        <p:txBody>
          <a:bodyPr>
            <a:noAutofit/>
          </a:bodyPr>
          <a:lstStyle/>
          <a:p>
            <a:r>
              <a:rPr lang="en-US" sz="3600" dirty="0" err="1">
                <a:solidFill>
                  <a:schemeClr val="tx1"/>
                </a:solidFill>
              </a:rPr>
              <a:t>slowpath</a:t>
            </a:r>
            <a:r>
              <a:rPr lang="en-US" sz="3600" dirty="0">
                <a:solidFill>
                  <a:schemeClr val="tx1"/>
                </a:solidFill>
              </a:rPr>
              <a:t> #4: Get a slab object from page-&gt;</a:t>
            </a:r>
            <a:r>
              <a:rPr lang="en-US" sz="3600" dirty="0" err="1">
                <a:solidFill>
                  <a:schemeClr val="tx1"/>
                </a:solidFill>
              </a:rPr>
              <a:t>freelist</a:t>
            </a:r>
            <a:endParaRPr lang="en-US" sz="3600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38E9A7-39EF-4A8A-A583-00235FCCF53E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2131695" y="1816054"/>
            <a:ext cx="317823" cy="101729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63F9F1C-AC80-4507-94B3-DF5FAC3D155E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>
            <a:off x="2131695" y="3041457"/>
            <a:ext cx="484033" cy="9349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9EB4F4D-E780-4D8E-A282-B23942B0101A}"/>
              </a:ext>
            </a:extLst>
          </p:cNvPr>
          <p:cNvCxnSpPr>
            <a:cxnSpLocks/>
            <a:stCxn id="113" idx="3"/>
          </p:cNvCxnSpPr>
          <p:nvPr/>
        </p:nvCxnSpPr>
        <p:spPr>
          <a:xfrm flipV="1">
            <a:off x="4013836" y="2081215"/>
            <a:ext cx="1144615" cy="4988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879C8F3-DF60-4F28-845E-86F3A5BC48A4}"/>
              </a:ext>
            </a:extLst>
          </p:cNvPr>
          <p:cNvGrpSpPr/>
          <p:nvPr/>
        </p:nvGrpSpPr>
        <p:grpSpPr>
          <a:xfrm>
            <a:off x="5159958" y="1598142"/>
            <a:ext cx="735393" cy="1022487"/>
            <a:chOff x="4559919" y="899141"/>
            <a:chExt cx="735393" cy="1022487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E6B5917-A5FA-4716-ABD6-16A2DAE3AFB5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3AB6D44-6789-4372-AA0B-C49EBEBC6FC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B76F0DF-B804-49E6-8803-EF489A5B3E60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23113B4-E5E6-4F53-862E-64B1CFE729DB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AE5C609-2784-48BB-8292-D4C0DD983AB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14C89A1-5F16-4BF3-8825-86A9EA3F386D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ED847AC-D6A7-405F-97B9-6E1135F1740E}"/>
              </a:ext>
            </a:extLst>
          </p:cNvPr>
          <p:cNvCxnSpPr>
            <a:cxnSpLocks/>
          </p:cNvCxnSpPr>
          <p:nvPr/>
        </p:nvCxnSpPr>
        <p:spPr>
          <a:xfrm flipV="1">
            <a:off x="6997605" y="2213204"/>
            <a:ext cx="701844" cy="93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09F2754C-D3D5-4AB8-AC5B-20FC44BF237F}"/>
              </a:ext>
            </a:extLst>
          </p:cNvPr>
          <p:cNvSpPr txBox="1"/>
          <p:nvPr/>
        </p:nvSpPr>
        <p:spPr>
          <a:xfrm>
            <a:off x="6945030" y="1968764"/>
            <a:ext cx="989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page-&gt;next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C050DC-DC6A-4BED-BEF6-183AF0A830BA}"/>
              </a:ext>
            </a:extLst>
          </p:cNvPr>
          <p:cNvGrpSpPr/>
          <p:nvPr/>
        </p:nvGrpSpPr>
        <p:grpSpPr>
          <a:xfrm>
            <a:off x="7586826" y="2214881"/>
            <a:ext cx="196496" cy="186724"/>
            <a:chOff x="8951232" y="5425804"/>
            <a:chExt cx="196496" cy="186724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D5112AE-F3A4-40DE-A18D-BAC51A6D98D9}"/>
                </a:ext>
              </a:extLst>
            </p:cNvPr>
            <p:cNvCxnSpPr/>
            <p:nvPr/>
          </p:nvCxnSpPr>
          <p:spPr>
            <a:xfrm>
              <a:off x="9059440" y="5425804"/>
              <a:ext cx="0" cy="119829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3A14F3F-1D52-48C6-A556-0DF57BC40EE3}"/>
                </a:ext>
              </a:extLst>
            </p:cNvPr>
            <p:cNvCxnSpPr>
              <a:cxnSpLocks/>
            </p:cNvCxnSpPr>
            <p:nvPr/>
          </p:nvCxnSpPr>
          <p:spPr>
            <a:xfrm>
              <a:off x="8951232" y="5545633"/>
              <a:ext cx="196496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7C72D2E-8693-4796-BE63-11EFFB16D8A5}"/>
                </a:ext>
              </a:extLst>
            </p:cNvPr>
            <p:cNvCxnSpPr>
              <a:cxnSpLocks/>
            </p:cNvCxnSpPr>
            <p:nvPr/>
          </p:nvCxnSpPr>
          <p:spPr>
            <a:xfrm>
              <a:off x="8967900" y="5579190"/>
              <a:ext cx="157163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D33DCFC-3E8D-4168-A9C0-A7BAF26720E8}"/>
                </a:ext>
              </a:extLst>
            </p:cNvPr>
            <p:cNvCxnSpPr>
              <a:cxnSpLocks/>
            </p:cNvCxnSpPr>
            <p:nvPr/>
          </p:nvCxnSpPr>
          <p:spPr>
            <a:xfrm>
              <a:off x="9003621" y="5612528"/>
              <a:ext cx="95249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D943403-1115-46AD-B23D-8D05F142F015}"/>
              </a:ext>
            </a:extLst>
          </p:cNvPr>
          <p:cNvCxnSpPr>
            <a:cxnSpLocks/>
            <a:stCxn id="115" idx="3"/>
            <a:endCxn id="126" idx="2"/>
          </p:cNvCxnSpPr>
          <p:nvPr/>
        </p:nvCxnSpPr>
        <p:spPr>
          <a:xfrm flipV="1">
            <a:off x="4013834" y="2235092"/>
            <a:ext cx="1146125" cy="31682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7EBF811-8062-4066-A257-5D6A7D077AD4}"/>
              </a:ext>
            </a:extLst>
          </p:cNvPr>
          <p:cNvGrpSpPr/>
          <p:nvPr/>
        </p:nvGrpSpPr>
        <p:grpSpPr>
          <a:xfrm>
            <a:off x="6255083" y="1599447"/>
            <a:ext cx="735393" cy="1022487"/>
            <a:chOff x="4559919" y="899141"/>
            <a:chExt cx="735393" cy="1022487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273B957-7E43-4916-89DF-786E2D4DD2E1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630949A-EF3F-4571-A317-72D725068FB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124B9D3-CF2F-4F4C-A6B8-F62F4052858A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D096620-A3ED-4918-9EA0-460F042150E5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B837A345-227E-4083-9D2C-F526F6037321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CAA7EC1-F67F-4775-ACCA-05FE3E61F677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451178-D182-432A-8603-49E48D16521B}"/>
              </a:ext>
            </a:extLst>
          </p:cNvPr>
          <p:cNvCxnSpPr>
            <a:stCxn id="130" idx="0"/>
            <a:endCxn id="110" idx="2"/>
          </p:cNvCxnSpPr>
          <p:nvPr/>
        </p:nvCxnSpPr>
        <p:spPr>
          <a:xfrm>
            <a:off x="5895351" y="2236029"/>
            <a:ext cx="359733" cy="3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40D661B-3BB6-4EFA-8093-E28AD9776791}"/>
              </a:ext>
            </a:extLst>
          </p:cNvPr>
          <p:cNvCxnSpPr>
            <a:cxnSpLocks/>
            <a:endCxn id="127" idx="3"/>
          </p:cNvCxnSpPr>
          <p:nvPr/>
        </p:nvCxnSpPr>
        <p:spPr>
          <a:xfrm flipV="1">
            <a:off x="5434215" y="2619693"/>
            <a:ext cx="0" cy="1660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B8DE4C45-2AC5-4D8D-A160-042CCADC09CE}"/>
              </a:ext>
            </a:extLst>
          </p:cNvPr>
          <p:cNvSpPr txBox="1"/>
          <p:nvPr/>
        </p:nvSpPr>
        <p:spPr>
          <a:xfrm>
            <a:off x="4868936" y="2728094"/>
            <a:ext cx="1061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5F081AB-6EAE-4CF0-A260-87AE38A555BC}"/>
              </a:ext>
            </a:extLst>
          </p:cNvPr>
          <p:cNvSpPr txBox="1"/>
          <p:nvPr/>
        </p:nvSpPr>
        <p:spPr>
          <a:xfrm>
            <a:off x="6024266" y="2740826"/>
            <a:ext cx="110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58FCCAE-BE4D-4FD5-BA5B-01F76EF5FE7E}"/>
              </a:ext>
            </a:extLst>
          </p:cNvPr>
          <p:cNvCxnSpPr>
            <a:cxnSpLocks/>
          </p:cNvCxnSpPr>
          <p:nvPr/>
        </p:nvCxnSpPr>
        <p:spPr>
          <a:xfrm flipV="1">
            <a:off x="6529340" y="2631703"/>
            <a:ext cx="0" cy="1660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2D281DA-7DF6-43D0-B18A-640F1ACF0D82}"/>
              </a:ext>
            </a:extLst>
          </p:cNvPr>
          <p:cNvSpPr/>
          <p:nvPr/>
        </p:nvSpPr>
        <p:spPr>
          <a:xfrm>
            <a:off x="4868936" y="1366887"/>
            <a:ext cx="1094039" cy="165093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413E91-684E-42A9-A89A-C8CD373DEAEA}"/>
              </a:ext>
            </a:extLst>
          </p:cNvPr>
          <p:cNvSpPr/>
          <p:nvPr/>
        </p:nvSpPr>
        <p:spPr>
          <a:xfrm>
            <a:off x="6086186" y="1354155"/>
            <a:ext cx="1094039" cy="165093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491475-7165-42B5-8DA5-59F1FD8330A9}"/>
              </a:ext>
            </a:extLst>
          </p:cNvPr>
          <p:cNvSpPr txBox="1"/>
          <p:nvPr/>
        </p:nvSpPr>
        <p:spPr>
          <a:xfrm>
            <a:off x="4307099" y="766187"/>
            <a:ext cx="2040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C00000"/>
                </a:solidFill>
              </a:rPr>
              <a:t>page = c-&gt;page = </a:t>
            </a:r>
            <a:r>
              <a:rPr lang="fr-FR" sz="1400" b="1" dirty="0" err="1">
                <a:solidFill>
                  <a:srgbClr val="C00000"/>
                </a:solidFill>
              </a:rPr>
              <a:t>slub_percpu_partial</a:t>
            </a:r>
            <a:r>
              <a:rPr lang="fr-FR" sz="1400" b="1" dirty="0">
                <a:solidFill>
                  <a:srgbClr val="C00000"/>
                </a:solidFill>
              </a:rPr>
              <a:t>(c)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355C4C-6B44-427B-9FF4-DF6C31CA7E44}"/>
              </a:ext>
            </a:extLst>
          </p:cNvPr>
          <p:cNvSpPr/>
          <p:nvPr/>
        </p:nvSpPr>
        <p:spPr>
          <a:xfrm>
            <a:off x="5176775" y="1251733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407408-2747-4B05-8579-60C017C50E73}"/>
              </a:ext>
            </a:extLst>
          </p:cNvPr>
          <p:cNvSpPr txBox="1"/>
          <p:nvPr/>
        </p:nvSpPr>
        <p:spPr>
          <a:xfrm>
            <a:off x="6205945" y="960128"/>
            <a:ext cx="2761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err="1">
                <a:solidFill>
                  <a:srgbClr val="C00000"/>
                </a:solidFill>
              </a:rPr>
              <a:t>slub_set_percpu_partial</a:t>
            </a:r>
            <a:r>
              <a:rPr lang="fr-FR" sz="1400" b="1" dirty="0">
                <a:solidFill>
                  <a:srgbClr val="C00000"/>
                </a:solidFill>
              </a:rPr>
              <a:t>(c, page)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3E5D153-C1A7-4008-B57D-7A9B22A862DC}"/>
              </a:ext>
            </a:extLst>
          </p:cNvPr>
          <p:cNvSpPr/>
          <p:nvPr/>
        </p:nvSpPr>
        <p:spPr>
          <a:xfrm>
            <a:off x="6677372" y="1233837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1FC93059-4476-4824-84D7-678A634A5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367" y="3290812"/>
            <a:ext cx="7497221" cy="240063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731149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01658" y="1858867"/>
            <a:ext cx="1830037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01658" y="2115373"/>
            <a:ext cx="183003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01658" y="2323486"/>
            <a:ext cx="183003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2449518" y="986703"/>
            <a:ext cx="156431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2449518" y="1413128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2449513" y="1623746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= NULL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2449516" y="1833941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</a:t>
            </a:r>
          </a:p>
        </p:txBody>
      </p: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" y="-86213"/>
            <a:ext cx="12259408" cy="689951"/>
          </a:xfrm>
        </p:spPr>
        <p:txBody>
          <a:bodyPr>
            <a:noAutofit/>
          </a:bodyPr>
          <a:lstStyle/>
          <a:p>
            <a:r>
              <a:rPr lang="en-US" sz="3600" dirty="0" err="1">
                <a:solidFill>
                  <a:schemeClr val="tx1"/>
                </a:solidFill>
              </a:rPr>
              <a:t>slowpath</a:t>
            </a:r>
            <a:r>
              <a:rPr lang="en-US" sz="3600" dirty="0">
                <a:solidFill>
                  <a:schemeClr val="tx1"/>
                </a:solidFill>
              </a:rPr>
              <a:t> #4: Get a slab object from page-&gt;</a:t>
            </a:r>
            <a:r>
              <a:rPr lang="en-US" sz="3600" dirty="0" err="1">
                <a:solidFill>
                  <a:schemeClr val="tx1"/>
                </a:solidFill>
              </a:rPr>
              <a:t>freelist</a:t>
            </a:r>
            <a:endParaRPr lang="en-US" sz="3600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38E9A7-39EF-4A8A-A583-00235FCCF53E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2131695" y="1203310"/>
            <a:ext cx="317823" cy="101729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9EB4F4D-E780-4D8E-A282-B23942B0101A}"/>
              </a:ext>
            </a:extLst>
          </p:cNvPr>
          <p:cNvCxnSpPr>
            <a:cxnSpLocks/>
            <a:stCxn id="113" idx="3"/>
            <a:endCxn id="126" idx="2"/>
          </p:cNvCxnSpPr>
          <p:nvPr/>
        </p:nvCxnSpPr>
        <p:spPr>
          <a:xfrm flipV="1">
            <a:off x="4013836" y="1112196"/>
            <a:ext cx="357988" cy="40615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879C8F3-DF60-4F28-845E-86F3A5BC48A4}"/>
              </a:ext>
            </a:extLst>
          </p:cNvPr>
          <p:cNvGrpSpPr/>
          <p:nvPr/>
        </p:nvGrpSpPr>
        <p:grpSpPr>
          <a:xfrm>
            <a:off x="4371823" y="475246"/>
            <a:ext cx="735393" cy="1022487"/>
            <a:chOff x="4559919" y="899141"/>
            <a:chExt cx="735393" cy="1022487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E6B5917-A5FA-4716-ABD6-16A2DAE3AFB5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3AB6D44-6789-4372-AA0B-C49EBEBC6FC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B76F0DF-B804-49E6-8803-EF489A5B3E60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23113B4-E5E6-4F53-862E-64B1CFE729DB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AE5C609-2784-48BB-8292-D4C0DD983AB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14C89A1-5F16-4BF3-8825-86A9EA3F386D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ED847AC-D6A7-405F-97B9-6E1135F1740E}"/>
              </a:ext>
            </a:extLst>
          </p:cNvPr>
          <p:cNvCxnSpPr>
            <a:cxnSpLocks/>
          </p:cNvCxnSpPr>
          <p:nvPr/>
        </p:nvCxnSpPr>
        <p:spPr>
          <a:xfrm flipV="1">
            <a:off x="5114345" y="2504718"/>
            <a:ext cx="701844" cy="93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09F2754C-D3D5-4AB8-AC5B-20FC44BF237F}"/>
              </a:ext>
            </a:extLst>
          </p:cNvPr>
          <p:cNvSpPr txBox="1"/>
          <p:nvPr/>
        </p:nvSpPr>
        <p:spPr>
          <a:xfrm>
            <a:off x="5061770" y="2260278"/>
            <a:ext cx="989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page-&gt;next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C050DC-DC6A-4BED-BEF6-183AF0A830BA}"/>
              </a:ext>
            </a:extLst>
          </p:cNvPr>
          <p:cNvGrpSpPr/>
          <p:nvPr/>
        </p:nvGrpSpPr>
        <p:grpSpPr>
          <a:xfrm>
            <a:off x="5703566" y="2506395"/>
            <a:ext cx="196496" cy="186724"/>
            <a:chOff x="8951232" y="5425804"/>
            <a:chExt cx="196496" cy="186724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D5112AE-F3A4-40DE-A18D-BAC51A6D98D9}"/>
                </a:ext>
              </a:extLst>
            </p:cNvPr>
            <p:cNvCxnSpPr/>
            <p:nvPr/>
          </p:nvCxnSpPr>
          <p:spPr>
            <a:xfrm>
              <a:off x="9059440" y="5425804"/>
              <a:ext cx="0" cy="119829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3A14F3F-1D52-48C6-A556-0DF57BC40EE3}"/>
                </a:ext>
              </a:extLst>
            </p:cNvPr>
            <p:cNvCxnSpPr>
              <a:cxnSpLocks/>
            </p:cNvCxnSpPr>
            <p:nvPr/>
          </p:nvCxnSpPr>
          <p:spPr>
            <a:xfrm>
              <a:off x="8951232" y="5545633"/>
              <a:ext cx="196496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7C72D2E-8693-4796-BE63-11EFFB16D8A5}"/>
                </a:ext>
              </a:extLst>
            </p:cNvPr>
            <p:cNvCxnSpPr>
              <a:cxnSpLocks/>
            </p:cNvCxnSpPr>
            <p:nvPr/>
          </p:nvCxnSpPr>
          <p:spPr>
            <a:xfrm>
              <a:off x="8967900" y="5579190"/>
              <a:ext cx="157163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D33DCFC-3E8D-4168-A9C0-A7BAF26720E8}"/>
                </a:ext>
              </a:extLst>
            </p:cNvPr>
            <p:cNvCxnSpPr>
              <a:cxnSpLocks/>
            </p:cNvCxnSpPr>
            <p:nvPr/>
          </p:nvCxnSpPr>
          <p:spPr>
            <a:xfrm>
              <a:off x="9003621" y="5612528"/>
              <a:ext cx="95249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7EBF811-8062-4066-A257-5D6A7D077AD4}"/>
              </a:ext>
            </a:extLst>
          </p:cNvPr>
          <p:cNvGrpSpPr/>
          <p:nvPr/>
        </p:nvGrpSpPr>
        <p:grpSpPr>
          <a:xfrm>
            <a:off x="4371823" y="1890961"/>
            <a:ext cx="735393" cy="1022487"/>
            <a:chOff x="4559919" y="899141"/>
            <a:chExt cx="735393" cy="1022487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273B957-7E43-4916-89DF-786E2D4DD2E1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630949A-EF3F-4571-A317-72D725068FB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124B9D3-CF2F-4F4C-A6B8-F62F4052858A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D096620-A3ED-4918-9EA0-460F042150E5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B837A345-227E-4083-9D2C-F526F6037321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CAA7EC1-F67F-4775-ACCA-05FE3E61F677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25F081AB-6EAE-4CF0-A260-87AE38A555BC}"/>
              </a:ext>
            </a:extLst>
          </p:cNvPr>
          <p:cNvSpPr txBox="1"/>
          <p:nvPr/>
        </p:nvSpPr>
        <p:spPr>
          <a:xfrm>
            <a:off x="4141006" y="3032340"/>
            <a:ext cx="110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58FCCAE-BE4D-4FD5-BA5B-01F76EF5FE7E}"/>
              </a:ext>
            </a:extLst>
          </p:cNvPr>
          <p:cNvCxnSpPr>
            <a:cxnSpLocks/>
          </p:cNvCxnSpPr>
          <p:nvPr/>
        </p:nvCxnSpPr>
        <p:spPr>
          <a:xfrm flipV="1">
            <a:off x="4646080" y="2923217"/>
            <a:ext cx="0" cy="1660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26FFA77-BE22-4630-83C4-2F514B20B7A1}"/>
              </a:ext>
            </a:extLst>
          </p:cNvPr>
          <p:cNvCxnSpPr>
            <a:cxnSpLocks/>
            <a:stCxn id="115" idx="3"/>
            <a:endCxn id="110" idx="2"/>
          </p:cNvCxnSpPr>
          <p:nvPr/>
        </p:nvCxnSpPr>
        <p:spPr>
          <a:xfrm>
            <a:off x="4013834" y="1939168"/>
            <a:ext cx="357990" cy="58874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26819AB-36D3-4997-BDE2-F369D7DF7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82" y="3724789"/>
            <a:ext cx="7253878" cy="312332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F6CACF-73F1-4A3E-BC62-7687CFECC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236" y="654270"/>
            <a:ext cx="5339882" cy="331957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27357C66-9B7B-457F-975A-5D224943665F}"/>
              </a:ext>
            </a:extLst>
          </p:cNvPr>
          <p:cNvSpPr txBox="1"/>
          <p:nvPr/>
        </p:nvSpPr>
        <p:spPr>
          <a:xfrm>
            <a:off x="4121649" y="1610718"/>
            <a:ext cx="110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0076CBF-F526-4C2B-B2CE-237CBE1D7474}"/>
              </a:ext>
            </a:extLst>
          </p:cNvPr>
          <p:cNvCxnSpPr>
            <a:cxnSpLocks/>
          </p:cNvCxnSpPr>
          <p:nvPr/>
        </p:nvCxnSpPr>
        <p:spPr>
          <a:xfrm flipV="1">
            <a:off x="4626723" y="1501595"/>
            <a:ext cx="0" cy="1660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976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00DC9E83-39C4-4B95-8E54-F140CD9BD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1" y="4136659"/>
            <a:ext cx="7525800" cy="259116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4958" y="1855057"/>
            <a:ext cx="1830037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4958" y="2111563"/>
            <a:ext cx="183003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4958" y="2319676"/>
            <a:ext cx="183003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2182818" y="982893"/>
            <a:ext cx="1564318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2182818" y="1409318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2182813" y="1619936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2182816" y="1830131"/>
            <a:ext cx="1564318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</a:t>
            </a:r>
          </a:p>
        </p:txBody>
      </p: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" y="-86213"/>
            <a:ext cx="12259408" cy="689951"/>
          </a:xfrm>
        </p:spPr>
        <p:txBody>
          <a:bodyPr>
            <a:noAutofit/>
          </a:bodyPr>
          <a:lstStyle/>
          <a:p>
            <a:r>
              <a:rPr lang="en-US" sz="3600" dirty="0" err="1">
                <a:solidFill>
                  <a:schemeClr val="tx1"/>
                </a:solidFill>
              </a:rPr>
              <a:t>slowpath</a:t>
            </a:r>
            <a:r>
              <a:rPr lang="en-US" sz="3600" dirty="0">
                <a:solidFill>
                  <a:schemeClr val="tx1"/>
                </a:solidFill>
              </a:rPr>
              <a:t> #4: Get a slab object from page-&gt;</a:t>
            </a:r>
            <a:r>
              <a:rPr lang="en-US" sz="3600" dirty="0" err="1">
                <a:solidFill>
                  <a:schemeClr val="tx1"/>
                </a:solidFill>
              </a:rPr>
              <a:t>freelist</a:t>
            </a:r>
            <a:endParaRPr lang="en-US" sz="3600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38E9A7-39EF-4A8A-A583-00235FCCF53E}"/>
              </a:ext>
            </a:extLst>
          </p:cNvPr>
          <p:cNvCxnSpPr>
            <a:cxnSpLocks/>
            <a:stCxn id="24" idx="3"/>
            <a:endCxn id="112" idx="1"/>
          </p:cNvCxnSpPr>
          <p:nvPr/>
        </p:nvCxnSpPr>
        <p:spPr>
          <a:xfrm flipV="1">
            <a:off x="1864995" y="1199500"/>
            <a:ext cx="317823" cy="101729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9EB4F4D-E780-4D8E-A282-B23942B0101A}"/>
              </a:ext>
            </a:extLst>
          </p:cNvPr>
          <p:cNvCxnSpPr>
            <a:cxnSpLocks/>
            <a:stCxn id="113" idx="3"/>
            <a:endCxn id="126" idx="2"/>
          </p:cNvCxnSpPr>
          <p:nvPr/>
        </p:nvCxnSpPr>
        <p:spPr>
          <a:xfrm flipV="1">
            <a:off x="3747136" y="1108386"/>
            <a:ext cx="357988" cy="40615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E6B5917-A5FA-4716-ABD6-16A2DAE3AFB5}"/>
              </a:ext>
            </a:extLst>
          </p:cNvPr>
          <p:cNvSpPr/>
          <p:nvPr/>
        </p:nvSpPr>
        <p:spPr>
          <a:xfrm>
            <a:off x="4105124" y="533147"/>
            <a:ext cx="861600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3AB6D44-6789-4372-AA0B-C49EBEBC6FC2}"/>
              </a:ext>
            </a:extLst>
          </p:cNvPr>
          <p:cNvSpPr/>
          <p:nvPr/>
        </p:nvSpPr>
        <p:spPr>
          <a:xfrm rot="5400000">
            <a:off x="3812877" y="1016032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B76F0DF-B804-49E6-8803-EF489A5B3E60}"/>
              </a:ext>
            </a:extLst>
          </p:cNvPr>
          <p:cNvSpPr/>
          <p:nvPr/>
        </p:nvSpPr>
        <p:spPr>
          <a:xfrm rot="5400000">
            <a:off x="3994780" y="1016033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23113B4-E5E6-4F53-862E-64B1CFE729DB}"/>
              </a:ext>
            </a:extLst>
          </p:cNvPr>
          <p:cNvSpPr txBox="1"/>
          <p:nvPr/>
        </p:nvSpPr>
        <p:spPr>
          <a:xfrm>
            <a:off x="4568306" y="858882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AE5C609-2784-48BB-8292-D4C0DD983AB8}"/>
              </a:ext>
            </a:extLst>
          </p:cNvPr>
          <p:cNvSpPr/>
          <p:nvPr/>
        </p:nvSpPr>
        <p:spPr>
          <a:xfrm rot="5400000">
            <a:off x="4489769" y="101696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14C89A1-5F16-4BF3-8825-86A9EA3F386D}"/>
              </a:ext>
            </a:extLst>
          </p:cNvPr>
          <p:cNvSpPr txBox="1"/>
          <p:nvPr/>
        </p:nvSpPr>
        <p:spPr>
          <a:xfrm>
            <a:off x="4278314" y="463816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ED847AC-D6A7-405F-97B9-6E1135F1740E}"/>
              </a:ext>
            </a:extLst>
          </p:cNvPr>
          <p:cNvCxnSpPr>
            <a:cxnSpLocks/>
          </p:cNvCxnSpPr>
          <p:nvPr/>
        </p:nvCxnSpPr>
        <p:spPr>
          <a:xfrm>
            <a:off x="4847645" y="2501846"/>
            <a:ext cx="10107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32C050DC-DC6A-4BED-BEF6-183AF0A830BA}"/>
              </a:ext>
            </a:extLst>
          </p:cNvPr>
          <p:cNvGrpSpPr/>
          <p:nvPr/>
        </p:nvGrpSpPr>
        <p:grpSpPr>
          <a:xfrm>
            <a:off x="4840951" y="2494560"/>
            <a:ext cx="196496" cy="186724"/>
            <a:chOff x="8951232" y="5425804"/>
            <a:chExt cx="196496" cy="186724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D5112AE-F3A4-40DE-A18D-BAC51A6D98D9}"/>
                </a:ext>
              </a:extLst>
            </p:cNvPr>
            <p:cNvCxnSpPr/>
            <p:nvPr/>
          </p:nvCxnSpPr>
          <p:spPr>
            <a:xfrm>
              <a:off x="9059440" y="5425804"/>
              <a:ext cx="0" cy="119829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3A14F3F-1D52-48C6-A556-0DF57BC40EE3}"/>
                </a:ext>
              </a:extLst>
            </p:cNvPr>
            <p:cNvCxnSpPr>
              <a:cxnSpLocks/>
            </p:cNvCxnSpPr>
            <p:nvPr/>
          </p:nvCxnSpPr>
          <p:spPr>
            <a:xfrm>
              <a:off x="8951232" y="5545633"/>
              <a:ext cx="196496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7C72D2E-8693-4796-BE63-11EFFB16D8A5}"/>
                </a:ext>
              </a:extLst>
            </p:cNvPr>
            <p:cNvCxnSpPr>
              <a:cxnSpLocks/>
            </p:cNvCxnSpPr>
            <p:nvPr/>
          </p:nvCxnSpPr>
          <p:spPr>
            <a:xfrm>
              <a:off x="8967900" y="5579190"/>
              <a:ext cx="157163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D33DCFC-3E8D-4168-A9C0-A7BAF26720E8}"/>
                </a:ext>
              </a:extLst>
            </p:cNvPr>
            <p:cNvCxnSpPr>
              <a:cxnSpLocks/>
            </p:cNvCxnSpPr>
            <p:nvPr/>
          </p:nvCxnSpPr>
          <p:spPr>
            <a:xfrm>
              <a:off x="9003621" y="5612528"/>
              <a:ext cx="95249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7EBF811-8062-4066-A257-5D6A7D077AD4}"/>
              </a:ext>
            </a:extLst>
          </p:cNvPr>
          <p:cNvGrpSpPr/>
          <p:nvPr/>
        </p:nvGrpSpPr>
        <p:grpSpPr>
          <a:xfrm>
            <a:off x="4105123" y="1887151"/>
            <a:ext cx="735393" cy="1022487"/>
            <a:chOff x="4559919" y="899141"/>
            <a:chExt cx="735393" cy="1022487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273B957-7E43-4916-89DF-786E2D4DD2E1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630949A-EF3F-4571-A317-72D725068FB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124B9D3-CF2F-4F4C-A6B8-F62F4052858A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D096620-A3ED-4918-9EA0-460F042150E5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B837A345-227E-4083-9D2C-F526F6037321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CAA7EC1-F67F-4775-ACCA-05FE3E61F677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25F081AB-6EAE-4CF0-A260-87AE38A555BC}"/>
              </a:ext>
            </a:extLst>
          </p:cNvPr>
          <p:cNvSpPr txBox="1"/>
          <p:nvPr/>
        </p:nvSpPr>
        <p:spPr>
          <a:xfrm>
            <a:off x="3874306" y="3028530"/>
            <a:ext cx="110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</a:t>
            </a:r>
            <a:r>
              <a:rPr lang="en-US" sz="1200" dirty="0" err="1"/>
              <a:t>freelist</a:t>
            </a:r>
            <a:endParaRPr lang="en-US" sz="1200" dirty="0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58FCCAE-BE4D-4FD5-BA5B-01F76EF5FE7E}"/>
              </a:ext>
            </a:extLst>
          </p:cNvPr>
          <p:cNvCxnSpPr>
            <a:cxnSpLocks/>
          </p:cNvCxnSpPr>
          <p:nvPr/>
        </p:nvCxnSpPr>
        <p:spPr>
          <a:xfrm flipV="1">
            <a:off x="4379380" y="2919407"/>
            <a:ext cx="0" cy="1660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26FFA77-BE22-4630-83C4-2F514B20B7A1}"/>
              </a:ext>
            </a:extLst>
          </p:cNvPr>
          <p:cNvCxnSpPr>
            <a:cxnSpLocks/>
            <a:stCxn id="115" idx="3"/>
            <a:endCxn id="110" idx="2"/>
          </p:cNvCxnSpPr>
          <p:nvPr/>
        </p:nvCxnSpPr>
        <p:spPr>
          <a:xfrm>
            <a:off x="3747134" y="1935358"/>
            <a:ext cx="357990" cy="58874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7357C66-9B7B-457F-975A-5D224943665F}"/>
              </a:ext>
            </a:extLst>
          </p:cNvPr>
          <p:cNvSpPr txBox="1"/>
          <p:nvPr/>
        </p:nvSpPr>
        <p:spPr>
          <a:xfrm>
            <a:off x="4918691" y="480849"/>
            <a:ext cx="1775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</a:t>
            </a:r>
            <a:r>
              <a:rPr lang="en-US" sz="1200" dirty="0" err="1"/>
              <a:t>freelist</a:t>
            </a:r>
            <a:r>
              <a:rPr lang="en-US" sz="1200" dirty="0"/>
              <a:t> = NULL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EB3492CB-CC4C-41E9-9211-FC41E06B2694}"/>
              </a:ext>
            </a:extLst>
          </p:cNvPr>
          <p:cNvCxnSpPr>
            <a:cxnSpLocks/>
            <a:stCxn id="114" idx="3"/>
            <a:endCxn id="47" idx="3"/>
          </p:cNvCxnSpPr>
          <p:nvPr/>
        </p:nvCxnSpPr>
        <p:spPr>
          <a:xfrm flipV="1">
            <a:off x="3747131" y="1494875"/>
            <a:ext cx="816627" cy="23028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4C9E5027-17A2-4CE3-8D61-E01075D78CF6}"/>
              </a:ext>
            </a:extLst>
          </p:cNvPr>
          <p:cNvSpPr/>
          <p:nvPr/>
        </p:nvSpPr>
        <p:spPr>
          <a:xfrm rot="5400000">
            <a:off x="4179158" y="1017921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9225CDC-4FB6-40E4-9EC0-242D3B75DE7A}"/>
              </a:ext>
            </a:extLst>
          </p:cNvPr>
          <p:cNvSpPr/>
          <p:nvPr/>
        </p:nvSpPr>
        <p:spPr>
          <a:xfrm>
            <a:off x="121151" y="6390554"/>
            <a:ext cx="5148433" cy="32784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21179B6-3D08-46D6-B33C-1986728F8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347" y="905973"/>
            <a:ext cx="5948460" cy="311406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A2CED503-0712-4DA9-BDB7-29BF6C63BCCB}"/>
              </a:ext>
            </a:extLst>
          </p:cNvPr>
          <p:cNvSpPr/>
          <p:nvPr/>
        </p:nvSpPr>
        <p:spPr>
          <a:xfrm>
            <a:off x="5891493" y="3478489"/>
            <a:ext cx="3224227" cy="27699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F403CB10-60F9-44BB-B0B0-78656765BA87}"/>
              </a:ext>
            </a:extLst>
          </p:cNvPr>
          <p:cNvCxnSpPr>
            <a:cxnSpLocks/>
            <a:stCxn id="53" idx="3"/>
            <a:endCxn id="61" idx="3"/>
          </p:cNvCxnSpPr>
          <p:nvPr/>
        </p:nvCxnSpPr>
        <p:spPr>
          <a:xfrm flipV="1">
            <a:off x="5269584" y="3616989"/>
            <a:ext cx="3846136" cy="2937485"/>
          </a:xfrm>
          <a:prstGeom prst="bentConnector3">
            <a:avLst>
              <a:gd name="adj1" fmla="val 129473"/>
            </a:avLst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C43B37F5-0873-44AC-BD08-133582ECD641}"/>
              </a:ext>
            </a:extLst>
          </p:cNvPr>
          <p:cNvSpPr/>
          <p:nvPr/>
        </p:nvSpPr>
        <p:spPr>
          <a:xfrm>
            <a:off x="6018555" y="2514181"/>
            <a:ext cx="2305313" cy="17620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9F8DC34F-FD04-4503-8F3B-0A24B098B763}"/>
              </a:ext>
            </a:extLst>
          </p:cNvPr>
          <p:cNvCxnSpPr>
            <a:endCxn id="70" idx="3"/>
          </p:cNvCxnSpPr>
          <p:nvPr/>
        </p:nvCxnSpPr>
        <p:spPr>
          <a:xfrm rot="16200000" flipV="1">
            <a:off x="8210990" y="2715161"/>
            <a:ext cx="876206" cy="650450"/>
          </a:xfrm>
          <a:prstGeom prst="bentConnector2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B43DE53A-91AE-4671-BC14-8A14411A0514}"/>
              </a:ext>
            </a:extLst>
          </p:cNvPr>
          <p:cNvSpPr/>
          <p:nvPr/>
        </p:nvSpPr>
        <p:spPr>
          <a:xfrm>
            <a:off x="9115720" y="6404172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C80D78B-E096-46BB-AC3C-99B547A7B0A7}"/>
              </a:ext>
            </a:extLst>
          </p:cNvPr>
          <p:cNvSpPr/>
          <p:nvPr/>
        </p:nvSpPr>
        <p:spPr>
          <a:xfrm>
            <a:off x="8851770" y="2785942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286419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21A9A-7CC4-4EC4-A866-0B5EFFAE5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16" y="93521"/>
            <a:ext cx="10515600" cy="721291"/>
          </a:xfrm>
        </p:spPr>
        <p:txBody>
          <a:bodyPr/>
          <a:lstStyle/>
          <a:p>
            <a:r>
              <a:rPr lang="en-US" altLang="zh-TW" dirty="0"/>
              <a:t>/proc/</a:t>
            </a:r>
            <a:r>
              <a:rPr lang="en-US" altLang="zh-TW" dirty="0" err="1"/>
              <a:t>slabinfo</a:t>
            </a:r>
            <a:endParaRPr lang="zh-TW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85AC44-9876-4F13-AAE4-BEEF3AD5E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6" y="997944"/>
            <a:ext cx="11817790" cy="263495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F5C1C0-651F-406D-BEA3-B47A5510D4C2}"/>
              </a:ext>
            </a:extLst>
          </p:cNvPr>
          <p:cNvSpPr txBox="1"/>
          <p:nvPr/>
        </p:nvSpPr>
        <p:spPr>
          <a:xfrm>
            <a:off x="95816" y="3902043"/>
            <a:ext cx="3675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* </a:t>
            </a:r>
            <a:r>
              <a:rPr lang="en-US" altLang="zh-TW" b="1" dirty="0" err="1"/>
              <a:t>active_objs</a:t>
            </a:r>
            <a:r>
              <a:rPr lang="en-US" altLang="zh-TW" b="1" dirty="0"/>
              <a:t> = </a:t>
            </a:r>
            <a:r>
              <a:rPr lang="en-US" altLang="zh-TW" b="1" dirty="0" err="1"/>
              <a:t>num_objs</a:t>
            </a:r>
            <a:r>
              <a:rPr lang="en-US" altLang="zh-TW" b="1" dirty="0"/>
              <a:t> - </a:t>
            </a:r>
            <a:r>
              <a:rPr lang="en-US" altLang="zh-TW" b="1" dirty="0" err="1"/>
              <a:t>free_objs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8324732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7BAF19-8A0C-4A55-AB89-C2A25F87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24" y="1624075"/>
            <a:ext cx="11776075" cy="1416939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chemeClr val="tx1"/>
                </a:solidFill>
              </a:rPr>
              <a:t>[Cache release/free] </a:t>
            </a:r>
            <a:r>
              <a:rPr lang="en-US" sz="6000" dirty="0" err="1">
                <a:solidFill>
                  <a:schemeClr val="tx1"/>
                </a:solidFill>
              </a:rPr>
              <a:t>kmem_cache_free</a:t>
            </a:r>
            <a:r>
              <a:rPr lang="en-US" sz="6000" dirty="0">
                <a:solidFill>
                  <a:schemeClr val="tx1"/>
                </a:solidFill>
              </a:rPr>
              <a:t>()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E3936-3B4D-4D0F-AF56-E3F143EF7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1578" y="3429000"/>
            <a:ext cx="10515600" cy="322897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Fast path &amp; slow path</a:t>
            </a:r>
          </a:p>
        </p:txBody>
      </p:sp>
    </p:spTree>
    <p:extLst>
      <p:ext uri="{BB962C8B-B14F-4D97-AF65-F5344CB8AC3E}">
        <p14:creationId xmlns:p14="http://schemas.microsoft.com/office/powerpoint/2010/main" val="88232890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6FB49F4E-D74E-4377-9C13-2109BA053C49}"/>
              </a:ext>
            </a:extLst>
          </p:cNvPr>
          <p:cNvSpPr/>
          <p:nvPr/>
        </p:nvSpPr>
        <p:spPr>
          <a:xfrm>
            <a:off x="3522631" y="1928541"/>
            <a:ext cx="7616000" cy="3072083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0420E-A3FE-4510-A679-D742DCC75454}"/>
              </a:ext>
            </a:extLst>
          </p:cNvPr>
          <p:cNvSpPr/>
          <p:nvPr/>
        </p:nvSpPr>
        <p:spPr>
          <a:xfrm>
            <a:off x="86039" y="2335395"/>
            <a:ext cx="2891889" cy="1069522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3B410-682E-4B73-A942-9118C9D895B7}"/>
              </a:ext>
            </a:extLst>
          </p:cNvPr>
          <p:cNvSpPr/>
          <p:nvPr/>
        </p:nvSpPr>
        <p:spPr>
          <a:xfrm>
            <a:off x="176866" y="2480615"/>
            <a:ext cx="268360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Return the slab object to c-&gt;</a:t>
            </a:r>
            <a:r>
              <a:rPr lang="en-US" sz="1400" dirty="0" err="1">
                <a:solidFill>
                  <a:schemeClr val="tx1"/>
                </a:solidFill>
              </a:rPr>
              <a:t>freelist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3DF1D-7635-4AC4-8987-97B41002E1F9}"/>
              </a:ext>
            </a:extLst>
          </p:cNvPr>
          <p:cNvSpPr/>
          <p:nvPr/>
        </p:nvSpPr>
        <p:spPr>
          <a:xfrm>
            <a:off x="231440" y="778198"/>
            <a:ext cx="1558002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kmem_cache_free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00291715-047A-4596-8317-A8C2CB0B6476}"/>
              </a:ext>
            </a:extLst>
          </p:cNvPr>
          <p:cNvSpPr/>
          <p:nvPr/>
        </p:nvSpPr>
        <p:spPr>
          <a:xfrm>
            <a:off x="451694" y="1412263"/>
            <a:ext cx="2159146" cy="381311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page == c-&gt;page?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1DECBE7-96BF-476E-801F-45A37B2B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-76688"/>
            <a:ext cx="11345008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/>
              <a:t>kmem_cache_free</a:t>
            </a:r>
            <a:r>
              <a:rPr lang="en-US" sz="4400" dirty="0"/>
              <a:t>()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08FCDB-D5DB-4098-BA29-71A6C4D9E9B8}"/>
              </a:ext>
            </a:extLst>
          </p:cNvPr>
          <p:cNvSpPr/>
          <p:nvPr/>
        </p:nvSpPr>
        <p:spPr>
          <a:xfrm>
            <a:off x="3593910" y="3297366"/>
            <a:ext cx="107632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slab_free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1A50C08-EDC4-495D-9FD4-8AD10313A1B8}"/>
              </a:ext>
            </a:extLst>
          </p:cNvPr>
          <p:cNvSpPr/>
          <p:nvPr/>
        </p:nvSpPr>
        <p:spPr>
          <a:xfrm>
            <a:off x="4823051" y="3299430"/>
            <a:ext cx="171649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cmpxchg_double_slab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ADE96F9-428C-4E2D-937D-B119FE0C610E}"/>
              </a:ext>
            </a:extLst>
          </p:cNvPr>
          <p:cNvSpPr txBox="1"/>
          <p:nvPr/>
        </p:nvSpPr>
        <p:spPr>
          <a:xfrm>
            <a:off x="2634826" y="1386251"/>
            <a:ext cx="28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4520EF-43B8-4730-8DA3-BC02DA018C81}"/>
              </a:ext>
            </a:extLst>
          </p:cNvPr>
          <p:cNvSpPr txBox="1"/>
          <p:nvPr/>
        </p:nvSpPr>
        <p:spPr>
          <a:xfrm>
            <a:off x="543603" y="2971161"/>
            <a:ext cx="2088962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fast path: </a:t>
            </a:r>
            <a:r>
              <a:rPr lang="en-US" sz="1600" b="1" dirty="0" err="1">
                <a:solidFill>
                  <a:schemeClr val="bg1"/>
                </a:solidFill>
              </a:rPr>
              <a:t>percpu</a:t>
            </a:r>
            <a:r>
              <a:rPr lang="en-US" sz="16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D3EFFD-6097-4DDD-AAD3-09D69B757F75}"/>
              </a:ext>
            </a:extLst>
          </p:cNvPr>
          <p:cNvSpPr txBox="1"/>
          <p:nvPr/>
        </p:nvSpPr>
        <p:spPr>
          <a:xfrm>
            <a:off x="3589476" y="2002987"/>
            <a:ext cx="1988363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slow path: node cache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4E8DAC-DC56-4BDD-A714-BA56E1A20A0E}"/>
              </a:ext>
            </a:extLst>
          </p:cNvPr>
          <p:cNvSpPr txBox="1"/>
          <p:nvPr/>
        </p:nvSpPr>
        <p:spPr>
          <a:xfrm>
            <a:off x="701037" y="2694210"/>
            <a:ext cx="2071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this_cpu_cmpxchg_double</a:t>
            </a:r>
            <a:r>
              <a:rPr lang="en-US" sz="1200" dirty="0"/>
              <a:t>()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3AB5E7C-69B6-4B60-84CD-B73B46368CE6}"/>
              </a:ext>
            </a:extLst>
          </p:cNvPr>
          <p:cNvSpPr/>
          <p:nvPr/>
        </p:nvSpPr>
        <p:spPr>
          <a:xfrm>
            <a:off x="2121252" y="778198"/>
            <a:ext cx="87938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slab_free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F4236DC-F1F9-475C-8A43-D1DA2BDB192F}"/>
              </a:ext>
            </a:extLst>
          </p:cNvPr>
          <p:cNvSpPr/>
          <p:nvPr/>
        </p:nvSpPr>
        <p:spPr>
          <a:xfrm>
            <a:off x="3347444" y="776381"/>
            <a:ext cx="107632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do_slab_free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3002AC0-CE85-4342-BE3E-434664CFF881}"/>
              </a:ext>
            </a:extLst>
          </p:cNvPr>
          <p:cNvSpPr/>
          <p:nvPr/>
        </p:nvSpPr>
        <p:spPr>
          <a:xfrm>
            <a:off x="6848390" y="2707871"/>
            <a:ext cx="1331951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put_cpu_partial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F0F542E-06C1-49E1-B1E1-A28176992889}"/>
              </a:ext>
            </a:extLst>
          </p:cNvPr>
          <p:cNvSpPr/>
          <p:nvPr/>
        </p:nvSpPr>
        <p:spPr>
          <a:xfrm>
            <a:off x="6855792" y="3299746"/>
            <a:ext cx="1331951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add_partial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4911B6B-7DE3-4257-B88C-D5E49C7AF401}"/>
              </a:ext>
            </a:extLst>
          </p:cNvPr>
          <p:cNvSpPr/>
          <p:nvPr/>
        </p:nvSpPr>
        <p:spPr>
          <a:xfrm>
            <a:off x="6855792" y="3898141"/>
            <a:ext cx="1331951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remove_partial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2623FB7-4418-4F11-B0FD-EAE8A2035826}"/>
              </a:ext>
            </a:extLst>
          </p:cNvPr>
          <p:cNvSpPr/>
          <p:nvPr/>
        </p:nvSpPr>
        <p:spPr>
          <a:xfrm>
            <a:off x="6863195" y="4400016"/>
            <a:ext cx="116621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discard_slab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B549EC0-1207-4495-942F-B6164A387190}"/>
              </a:ext>
            </a:extLst>
          </p:cNvPr>
          <p:cNvSpPr/>
          <p:nvPr/>
        </p:nvSpPr>
        <p:spPr>
          <a:xfrm>
            <a:off x="8284949" y="4400015"/>
            <a:ext cx="116621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free_slab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ED06BCB-67DC-48F9-84FB-2C0F790F0597}"/>
              </a:ext>
            </a:extLst>
          </p:cNvPr>
          <p:cNvSpPr/>
          <p:nvPr/>
        </p:nvSpPr>
        <p:spPr>
          <a:xfrm>
            <a:off x="9678128" y="4400014"/>
            <a:ext cx="116621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free_pages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8B4A139-2F37-4D55-8EB0-9B219241C4AA}"/>
              </a:ext>
            </a:extLst>
          </p:cNvPr>
          <p:cNvSpPr txBox="1"/>
          <p:nvPr/>
        </p:nvSpPr>
        <p:spPr>
          <a:xfrm>
            <a:off x="4871637" y="2833147"/>
            <a:ext cx="1773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Return the slab object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to page-&gt;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2481CD3-2933-4A40-8DAC-FA56C2A3497C}"/>
              </a:ext>
            </a:extLst>
          </p:cNvPr>
          <p:cNvCxnSpPr>
            <a:stCxn id="66" idx="3"/>
            <a:endCxn id="71" idx="1"/>
          </p:cNvCxnSpPr>
          <p:nvPr/>
        </p:nvCxnSpPr>
        <p:spPr>
          <a:xfrm flipV="1">
            <a:off x="8029405" y="4520910"/>
            <a:ext cx="25554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B1A814C-2B94-4EEB-B921-AE0640EFD4B6}"/>
              </a:ext>
            </a:extLst>
          </p:cNvPr>
          <p:cNvCxnSpPr>
            <a:stCxn id="71" idx="3"/>
            <a:endCxn id="72" idx="1"/>
          </p:cNvCxnSpPr>
          <p:nvPr/>
        </p:nvCxnSpPr>
        <p:spPr>
          <a:xfrm flipV="1">
            <a:off x="9451159" y="4520909"/>
            <a:ext cx="22696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3835FA68-835C-4986-B723-1E73E4D2438E}"/>
              </a:ext>
            </a:extLst>
          </p:cNvPr>
          <p:cNvSpPr/>
          <p:nvPr/>
        </p:nvSpPr>
        <p:spPr>
          <a:xfrm>
            <a:off x="6624417" y="3822926"/>
            <a:ext cx="4431486" cy="89409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2AD75F0-AB7E-499D-8757-782CEE184CB8}"/>
              </a:ext>
            </a:extLst>
          </p:cNvPr>
          <p:cNvSpPr txBox="1"/>
          <p:nvPr/>
        </p:nvSpPr>
        <p:spPr>
          <a:xfrm>
            <a:off x="8494768" y="3808308"/>
            <a:ext cx="2646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Slowpath#3: Slab objects in page slab are all free: free to Buddy system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5B9DE9-D3F1-4CE0-BF08-79880EBBD22D}"/>
              </a:ext>
            </a:extLst>
          </p:cNvPr>
          <p:cNvCxnSpPr>
            <a:stCxn id="7" idx="3"/>
            <a:endCxn id="54" idx="1"/>
          </p:cNvCxnSpPr>
          <p:nvPr/>
        </p:nvCxnSpPr>
        <p:spPr>
          <a:xfrm>
            <a:off x="1789442" y="899093"/>
            <a:ext cx="33181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A36E247-3DA1-4987-9168-862041685029}"/>
              </a:ext>
            </a:extLst>
          </p:cNvPr>
          <p:cNvCxnSpPr>
            <a:stCxn id="54" idx="3"/>
            <a:endCxn id="59" idx="1"/>
          </p:cNvCxnSpPr>
          <p:nvPr/>
        </p:nvCxnSpPr>
        <p:spPr>
          <a:xfrm flipV="1">
            <a:off x="3000635" y="897276"/>
            <a:ext cx="346809" cy="18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16E1369F-14EB-4919-A6A5-19D3DCA3CD84}"/>
              </a:ext>
            </a:extLst>
          </p:cNvPr>
          <p:cNvCxnSpPr>
            <a:stCxn id="59" idx="3"/>
            <a:endCxn id="9" idx="0"/>
          </p:cNvCxnSpPr>
          <p:nvPr/>
        </p:nvCxnSpPr>
        <p:spPr>
          <a:xfrm flipH="1">
            <a:off x="1531267" y="897276"/>
            <a:ext cx="2892501" cy="514987"/>
          </a:xfrm>
          <a:prstGeom prst="bentConnector4">
            <a:avLst>
              <a:gd name="adj1" fmla="val -7903"/>
              <a:gd name="adj2" fmla="val 6173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27ACCC13-0D8F-403E-8EE7-593226963C9B}"/>
              </a:ext>
            </a:extLst>
          </p:cNvPr>
          <p:cNvCxnSpPr>
            <a:stCxn id="9" idx="2"/>
            <a:endCxn id="55" idx="0"/>
          </p:cNvCxnSpPr>
          <p:nvPr/>
        </p:nvCxnSpPr>
        <p:spPr>
          <a:xfrm rot="16200000" flipH="1">
            <a:off x="1260715" y="2064125"/>
            <a:ext cx="541821" cy="71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889B0B06-2161-4D37-84E3-AEC5BC98FFF9}"/>
              </a:ext>
            </a:extLst>
          </p:cNvPr>
          <p:cNvCxnSpPr>
            <a:cxnSpLocks/>
            <a:stCxn id="9" idx="3"/>
            <a:endCxn id="57" idx="1"/>
          </p:cNvCxnSpPr>
          <p:nvPr/>
        </p:nvCxnSpPr>
        <p:spPr>
          <a:xfrm>
            <a:off x="2610840" y="1602919"/>
            <a:ext cx="911791" cy="1861664"/>
          </a:xfrm>
          <a:prstGeom prst="bentConnector3">
            <a:avLst>
              <a:gd name="adj1" fmla="val 6671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DDB695BD-6389-45F8-8A06-F8EE19A370B8}"/>
              </a:ext>
            </a:extLst>
          </p:cNvPr>
          <p:cNvSpPr txBox="1"/>
          <p:nvPr/>
        </p:nvSpPr>
        <p:spPr>
          <a:xfrm>
            <a:off x="1517353" y="1867740"/>
            <a:ext cx="28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B7BE708-92C1-41D2-897C-8E41199E0862}"/>
              </a:ext>
            </a:extLst>
          </p:cNvPr>
          <p:cNvCxnSpPr>
            <a:cxnSpLocks/>
            <a:stCxn id="67" idx="3"/>
            <a:endCxn id="61" idx="1"/>
          </p:cNvCxnSpPr>
          <p:nvPr/>
        </p:nvCxnSpPr>
        <p:spPr>
          <a:xfrm flipV="1">
            <a:off x="6539541" y="2828766"/>
            <a:ext cx="308849" cy="591559"/>
          </a:xfrm>
          <a:prstGeom prst="bentConnector3">
            <a:avLst>
              <a:gd name="adj1" fmla="val 5154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242C653-82EF-48B9-A263-CB10155ED936}"/>
              </a:ext>
            </a:extLst>
          </p:cNvPr>
          <p:cNvCxnSpPr>
            <a:stCxn id="67" idx="3"/>
            <a:endCxn id="65" idx="1"/>
          </p:cNvCxnSpPr>
          <p:nvPr/>
        </p:nvCxnSpPr>
        <p:spPr>
          <a:xfrm>
            <a:off x="6539541" y="3420325"/>
            <a:ext cx="316251" cy="59871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EFD2072-F118-4DB3-A7A2-6C57E25C1C03}"/>
              </a:ext>
            </a:extLst>
          </p:cNvPr>
          <p:cNvCxnSpPr>
            <a:cxnSpLocks/>
            <a:stCxn id="67" idx="3"/>
            <a:endCxn id="66" idx="1"/>
          </p:cNvCxnSpPr>
          <p:nvPr/>
        </p:nvCxnSpPr>
        <p:spPr>
          <a:xfrm>
            <a:off x="6539541" y="3420325"/>
            <a:ext cx="323654" cy="110058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7710C69F-C024-43D9-9304-AA97F8653366}"/>
              </a:ext>
            </a:extLst>
          </p:cNvPr>
          <p:cNvCxnSpPr>
            <a:stCxn id="67" idx="3"/>
            <a:endCxn id="64" idx="1"/>
          </p:cNvCxnSpPr>
          <p:nvPr/>
        </p:nvCxnSpPr>
        <p:spPr>
          <a:xfrm>
            <a:off x="6539541" y="3420325"/>
            <a:ext cx="316251" cy="31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2195D1A-5360-4C01-819E-0EDC6B61A30F}"/>
              </a:ext>
            </a:extLst>
          </p:cNvPr>
          <p:cNvSpPr txBox="1"/>
          <p:nvPr/>
        </p:nvSpPr>
        <p:spPr>
          <a:xfrm>
            <a:off x="8147795" y="2590415"/>
            <a:ext cx="2646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Slowpath#1: Move page(s) to </a:t>
            </a:r>
            <a:r>
              <a:rPr lang="en-US" sz="1200" b="1" dirty="0" err="1"/>
              <a:t>percpu</a:t>
            </a:r>
            <a:r>
              <a:rPr lang="en-US" sz="1200" b="1" dirty="0"/>
              <a:t> partial or node partial (if possible)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44FD44-9543-4131-945F-553B0875D00F}"/>
              </a:ext>
            </a:extLst>
          </p:cNvPr>
          <p:cNvSpPr txBox="1"/>
          <p:nvPr/>
        </p:nvSpPr>
        <p:spPr>
          <a:xfrm>
            <a:off x="8151766" y="3275066"/>
            <a:ext cx="28755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Slowpath#2: Move pages to node partial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F0BE8B9-EC49-42D0-B346-E43B03E8BF49}"/>
              </a:ext>
            </a:extLst>
          </p:cNvPr>
          <p:cNvCxnSpPr>
            <a:cxnSpLocks/>
            <a:stCxn id="24" idx="3"/>
            <a:endCxn id="67" idx="1"/>
          </p:cNvCxnSpPr>
          <p:nvPr/>
        </p:nvCxnSpPr>
        <p:spPr>
          <a:xfrm>
            <a:off x="4670234" y="3418261"/>
            <a:ext cx="152817" cy="20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3674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E580489E-B6AB-460E-A4C8-EFDD4F379C7B}"/>
              </a:ext>
            </a:extLst>
          </p:cNvPr>
          <p:cNvCxnSpPr/>
          <p:nvPr/>
        </p:nvCxnSpPr>
        <p:spPr>
          <a:xfrm>
            <a:off x="6373334" y="1945456"/>
            <a:ext cx="151613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13056" y="2471611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13056" y="2728117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13056" y="2936230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2629032" y="1599447"/>
            <a:ext cx="1384803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2629032" y="2025872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2629027" y="2236490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2629030" y="2446685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2615728" y="3261998"/>
            <a:ext cx="1634327" cy="4382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0)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2615727" y="3689362"/>
            <a:ext cx="163432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2615726" y="4053126"/>
            <a:ext cx="1634323" cy="4517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1)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2615725" y="4480491"/>
            <a:ext cx="163432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2449517" y="4674642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cxnSpLocks/>
          </p:cNvCxnSpPr>
          <p:nvPr/>
        </p:nvCxnSpPr>
        <p:spPr>
          <a:xfrm flipH="1">
            <a:off x="2615719" y="3669590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" y="-86213"/>
            <a:ext cx="12259408" cy="689951"/>
          </a:xfrm>
        </p:spPr>
        <p:txBody>
          <a:bodyPr>
            <a:noAutofit/>
          </a:bodyPr>
          <a:lstStyle/>
          <a:p>
            <a:r>
              <a:rPr lang="en-US" sz="3200" dirty="0" err="1">
                <a:solidFill>
                  <a:schemeClr val="tx1"/>
                </a:solidFill>
              </a:rPr>
              <a:t>slowpath</a:t>
            </a:r>
            <a:r>
              <a:rPr lang="en-US" sz="3200" dirty="0">
                <a:solidFill>
                  <a:schemeClr val="tx1"/>
                </a:solidFill>
              </a:rPr>
              <a:t> #1:put_cpu_partial() – Case 1: Move page(s) to </a:t>
            </a:r>
            <a:r>
              <a:rPr lang="en-US" sz="3200" dirty="0" err="1">
                <a:solidFill>
                  <a:schemeClr val="tx1"/>
                </a:solidFill>
              </a:rPr>
              <a:t>percpu</a:t>
            </a:r>
            <a:r>
              <a:rPr lang="en-US" sz="3200" dirty="0">
                <a:solidFill>
                  <a:schemeClr val="tx1"/>
                </a:solidFill>
              </a:rPr>
              <a:t> partial</a:t>
            </a:r>
            <a:endParaRPr lang="en-US" sz="3200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9718F84-5915-4F1B-898E-9E51257A051B}"/>
              </a:ext>
            </a:extLst>
          </p:cNvPr>
          <p:cNvCxnSpPr>
            <a:cxnSpLocks/>
          </p:cNvCxnSpPr>
          <p:nvPr/>
        </p:nvCxnSpPr>
        <p:spPr>
          <a:xfrm flipH="1">
            <a:off x="4250046" y="3715794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38E9A7-39EF-4A8A-A583-00235FCCF53E}"/>
              </a:ext>
            </a:extLst>
          </p:cNvPr>
          <p:cNvCxnSpPr>
            <a:stCxn id="24" idx="3"/>
            <a:endCxn id="112" idx="1"/>
          </p:cNvCxnSpPr>
          <p:nvPr/>
        </p:nvCxnSpPr>
        <p:spPr>
          <a:xfrm flipV="1">
            <a:off x="2131695" y="1816054"/>
            <a:ext cx="497337" cy="101729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63F9F1C-AC80-4507-94B3-DF5FAC3D155E}"/>
              </a:ext>
            </a:extLst>
          </p:cNvPr>
          <p:cNvCxnSpPr>
            <a:stCxn id="37" idx="3"/>
            <a:endCxn id="89" idx="1"/>
          </p:cNvCxnSpPr>
          <p:nvPr/>
        </p:nvCxnSpPr>
        <p:spPr>
          <a:xfrm>
            <a:off x="2131695" y="3041457"/>
            <a:ext cx="484033" cy="4396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7B3E769-F38E-4F55-B3D7-87F3783146DE}"/>
              </a:ext>
            </a:extLst>
          </p:cNvPr>
          <p:cNvGrpSpPr/>
          <p:nvPr/>
        </p:nvGrpSpPr>
        <p:grpSpPr>
          <a:xfrm>
            <a:off x="4702794" y="923906"/>
            <a:ext cx="735393" cy="1021551"/>
            <a:chOff x="4559919" y="899141"/>
            <a:chExt cx="735393" cy="1021551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546D8426-8FD4-44E7-9B65-316F2229B973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AD332FE6-9C36-4651-872B-B543C2A50F78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E8BFB8B4-8BBF-4E6D-859A-7E64B49DE4E2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53383E0C-4354-413A-A74B-4D10E25A48EA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D06122B4-FCD3-474F-97AD-6871BCB28B7A}"/>
                </a:ext>
              </a:extLst>
            </p:cNvPr>
            <p:cNvSpPr/>
            <p:nvPr/>
          </p:nvSpPr>
          <p:spPr>
            <a:xfrm rot="5400000">
              <a:off x="4818358" y="143832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B9D1DAC-7F39-49A4-AEFC-A0FDC4594DF1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1780790-7346-4886-B5EE-AB3862BAE6C2}"/>
              </a:ext>
            </a:extLst>
          </p:cNvPr>
          <p:cNvCxnSpPr>
            <a:stCxn id="114" idx="3"/>
            <a:endCxn id="166" idx="3"/>
          </p:cNvCxnSpPr>
          <p:nvPr/>
        </p:nvCxnSpPr>
        <p:spPr>
          <a:xfrm flipV="1">
            <a:off x="4013830" y="1945457"/>
            <a:ext cx="963221" cy="3962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9EB4F4D-E780-4D8E-A282-B23942B0101A}"/>
              </a:ext>
            </a:extLst>
          </p:cNvPr>
          <p:cNvCxnSpPr>
            <a:stCxn id="113" idx="3"/>
            <a:endCxn id="165" idx="2"/>
          </p:cNvCxnSpPr>
          <p:nvPr/>
        </p:nvCxnSpPr>
        <p:spPr>
          <a:xfrm flipV="1">
            <a:off x="4013835" y="1560856"/>
            <a:ext cx="688960" cy="57024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2B0AE5E2-AE04-4051-8557-F029B5711F1C}"/>
              </a:ext>
            </a:extLst>
          </p:cNvPr>
          <p:cNvGrpSpPr/>
          <p:nvPr/>
        </p:nvGrpSpPr>
        <p:grpSpPr>
          <a:xfrm>
            <a:off x="5714615" y="923906"/>
            <a:ext cx="735393" cy="1021551"/>
            <a:chOff x="4559919" y="899141"/>
            <a:chExt cx="735393" cy="1021551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7D636AB7-BC76-4D5F-92FA-88CC4407241D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E5715884-036A-4A43-A348-2B7438059EB7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00BF9DF1-90C3-4260-90E8-382311565465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E7FED833-57C5-4EF5-B1BE-18B2CB10CC55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4C34FE41-97AB-452B-8E97-7A6859E394E7}"/>
                </a:ext>
              </a:extLst>
            </p:cNvPr>
            <p:cNvSpPr/>
            <p:nvPr/>
          </p:nvSpPr>
          <p:spPr>
            <a:xfrm rot="5400000">
              <a:off x="4818358" y="143832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30677EE6-1800-48DF-A0CE-92D63DB32883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1A348D45-6F37-42FE-9FBF-6B6C0969D5B3}"/>
              </a:ext>
            </a:extLst>
          </p:cNvPr>
          <p:cNvGrpSpPr/>
          <p:nvPr/>
        </p:nvGrpSpPr>
        <p:grpSpPr>
          <a:xfrm>
            <a:off x="6704452" y="920164"/>
            <a:ext cx="735393" cy="1022487"/>
            <a:chOff x="4559919" y="899141"/>
            <a:chExt cx="735393" cy="1022487"/>
          </a:xfrm>
        </p:grpSpPr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9CC23DC4-255C-4C86-BD80-A373C8AF7C2A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6D7CAE4E-5B85-4D0F-8DC1-231E6B1FD1FF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D074992B-C6A4-44FB-9102-E2466FE62587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39507E34-7AE0-40AD-A048-28E5228802B5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8D9A30DE-7215-4B0C-8589-5A0D024F211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0EA53C3A-DCD8-4BEA-8616-0CA85815D666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03D5D6AE-09B2-4226-852E-2BC5815A4CA8}"/>
              </a:ext>
            </a:extLst>
          </p:cNvPr>
          <p:cNvSpPr txBox="1"/>
          <p:nvPr/>
        </p:nvSpPr>
        <p:spPr>
          <a:xfrm>
            <a:off x="7440472" y="1212291"/>
            <a:ext cx="400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..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02F81EBD-4BE7-46A2-A00F-13C96FD3A220}"/>
              </a:ext>
            </a:extLst>
          </p:cNvPr>
          <p:cNvGrpSpPr/>
          <p:nvPr/>
        </p:nvGrpSpPr>
        <p:grpSpPr>
          <a:xfrm>
            <a:off x="7771590" y="923906"/>
            <a:ext cx="735393" cy="1021551"/>
            <a:chOff x="4559919" y="899141"/>
            <a:chExt cx="735393" cy="1021551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9C7B7577-50DE-436C-BF44-338EE086F98A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14BD0FDD-1229-4FB5-AE76-EEA12DB6C570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008DD498-8CEC-4EB9-952B-011B911CAE24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E2E298FC-DB5B-4A66-A0EB-A7C57CC475E9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267E196A-A340-483A-A8E8-D63F56D16EF3}"/>
                </a:ext>
              </a:extLst>
            </p:cNvPr>
            <p:cNvSpPr/>
            <p:nvPr/>
          </p:nvSpPr>
          <p:spPr>
            <a:xfrm rot="5400000">
              <a:off x="4818358" y="1439911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BC1D4167-D86B-4C43-81E9-8462C1AD9D91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0973AA0-AF34-453C-922B-36551C7759F6}"/>
              </a:ext>
            </a:extLst>
          </p:cNvPr>
          <p:cNvCxnSpPr/>
          <p:nvPr/>
        </p:nvCxnSpPr>
        <p:spPr>
          <a:xfrm>
            <a:off x="6437354" y="985617"/>
            <a:ext cx="151613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E92BE16-5994-4471-A0EE-8A68D839114C}"/>
              </a:ext>
            </a:extLst>
          </p:cNvPr>
          <p:cNvSpPr txBox="1"/>
          <p:nvPr/>
        </p:nvSpPr>
        <p:spPr>
          <a:xfrm>
            <a:off x="5885910" y="644275"/>
            <a:ext cx="2756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Fully-allocated objects of pages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B22D4DD-8C0A-4DE0-AAD2-CCD6D3C1A4E2}"/>
              </a:ext>
            </a:extLst>
          </p:cNvPr>
          <p:cNvSpPr/>
          <p:nvPr/>
        </p:nvSpPr>
        <p:spPr>
          <a:xfrm>
            <a:off x="6978014" y="1906904"/>
            <a:ext cx="547907" cy="300698"/>
          </a:xfrm>
          <a:custGeom>
            <a:avLst/>
            <a:gdLst>
              <a:gd name="connsiteX0" fmla="*/ 243840 w 243840"/>
              <a:gd name="connsiteY0" fmla="*/ 99060 h 99304"/>
              <a:gd name="connsiteX1" fmla="*/ 45720 w 243840"/>
              <a:gd name="connsiteY1" fmla="*/ 83820 h 99304"/>
              <a:gd name="connsiteX2" fmla="*/ 0 w 243840"/>
              <a:gd name="connsiteY2" fmla="*/ 0 h 99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" h="99304">
                <a:moveTo>
                  <a:pt x="243840" y="99060"/>
                </a:moveTo>
                <a:cubicBezTo>
                  <a:pt x="165100" y="99695"/>
                  <a:pt x="86360" y="100330"/>
                  <a:pt x="45720" y="83820"/>
                </a:cubicBezTo>
                <a:cubicBezTo>
                  <a:pt x="5080" y="67310"/>
                  <a:pt x="6350" y="10160"/>
                  <a:pt x="0" y="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4E1C5CE9-5995-4ABD-96F6-3FE2520C2800}"/>
              </a:ext>
            </a:extLst>
          </p:cNvPr>
          <p:cNvSpPr txBox="1"/>
          <p:nvPr/>
        </p:nvSpPr>
        <p:spPr>
          <a:xfrm>
            <a:off x="7478404" y="2049526"/>
            <a:ext cx="1527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free this object</a:t>
            </a: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4D7DBF48-3A74-43B9-98C0-B1FDB9C6AFAF}"/>
              </a:ext>
            </a:extLst>
          </p:cNvPr>
          <p:cNvGrpSpPr/>
          <p:nvPr/>
        </p:nvGrpSpPr>
        <p:grpSpPr>
          <a:xfrm>
            <a:off x="5181308" y="2145895"/>
            <a:ext cx="735393" cy="1022487"/>
            <a:chOff x="4559919" y="899141"/>
            <a:chExt cx="735393" cy="1022487"/>
          </a:xfrm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60BD602-9C61-4485-B3CD-1AD14E90EC78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CFA77F0F-A041-417A-BB0C-5CC9453BF27A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54D75E02-7800-4DC4-8818-8C906C4EF0F2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7963DEF2-6403-4FBA-8141-8F33C35F9BBF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7E10B1CE-7145-4529-905E-4397480693F7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E8AF894C-798A-47F8-8B1A-62663E61EF1E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3F790F7F-5925-4280-B858-646602B5AC00}"/>
              </a:ext>
            </a:extLst>
          </p:cNvPr>
          <p:cNvCxnSpPr>
            <a:stCxn id="115" idx="3"/>
            <a:endCxn id="196" idx="2"/>
          </p:cNvCxnSpPr>
          <p:nvPr/>
        </p:nvCxnSpPr>
        <p:spPr>
          <a:xfrm>
            <a:off x="4013833" y="2551912"/>
            <a:ext cx="1167476" cy="23093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ectangle 201">
            <a:extLst>
              <a:ext uri="{FF2B5EF4-FFF2-40B4-BE49-F238E27FC236}">
                <a16:creationId xmlns:a16="http://schemas.microsoft.com/office/drawing/2014/main" id="{5FBF8342-421C-4B72-BE2D-C1E7E91DF6D5}"/>
              </a:ext>
            </a:extLst>
          </p:cNvPr>
          <p:cNvSpPr/>
          <p:nvPr/>
        </p:nvSpPr>
        <p:spPr>
          <a:xfrm>
            <a:off x="6631108" y="923906"/>
            <a:ext cx="869593" cy="1101964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E1F858D-8882-4496-8345-1980FFB4E8D8}"/>
              </a:ext>
            </a:extLst>
          </p:cNvPr>
          <p:cNvCxnSpPr>
            <a:cxnSpLocks/>
            <a:stCxn id="199" idx="0"/>
          </p:cNvCxnSpPr>
          <p:nvPr/>
        </p:nvCxnSpPr>
        <p:spPr>
          <a:xfrm flipV="1">
            <a:off x="5916701" y="2782844"/>
            <a:ext cx="701844" cy="93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0FD21F8-EB76-4A0D-B557-746A096A7E04}"/>
              </a:ext>
            </a:extLst>
          </p:cNvPr>
          <p:cNvSpPr txBox="1"/>
          <p:nvPr/>
        </p:nvSpPr>
        <p:spPr>
          <a:xfrm>
            <a:off x="5864126" y="2538404"/>
            <a:ext cx="989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page-&gt;next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D7A4AA8A-9273-421F-80DE-405BD097C7FA}"/>
              </a:ext>
            </a:extLst>
          </p:cNvPr>
          <p:cNvSpPr/>
          <p:nvPr/>
        </p:nvSpPr>
        <p:spPr>
          <a:xfrm>
            <a:off x="5049702" y="2126563"/>
            <a:ext cx="1679775" cy="1101962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6465982-77A9-4758-87F5-0D345F7AD249}"/>
              </a:ext>
            </a:extLst>
          </p:cNvPr>
          <p:cNvCxnSpPr/>
          <p:nvPr/>
        </p:nvCxnSpPr>
        <p:spPr>
          <a:xfrm>
            <a:off x="6618545" y="2782844"/>
            <a:ext cx="0" cy="119829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CB1C5CE-5623-4A78-894A-AABD1F859116}"/>
              </a:ext>
            </a:extLst>
          </p:cNvPr>
          <p:cNvCxnSpPr>
            <a:cxnSpLocks/>
          </p:cNvCxnSpPr>
          <p:nvPr/>
        </p:nvCxnSpPr>
        <p:spPr>
          <a:xfrm>
            <a:off x="6510337" y="2902673"/>
            <a:ext cx="196496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69E7BBC2-958B-4CA9-989B-6B08D195F26C}"/>
              </a:ext>
            </a:extLst>
          </p:cNvPr>
          <p:cNvCxnSpPr>
            <a:cxnSpLocks/>
          </p:cNvCxnSpPr>
          <p:nvPr/>
        </p:nvCxnSpPr>
        <p:spPr>
          <a:xfrm>
            <a:off x="6527005" y="2936230"/>
            <a:ext cx="157163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C984A12C-F615-407A-AF88-11DA4D403C23}"/>
              </a:ext>
            </a:extLst>
          </p:cNvPr>
          <p:cNvCxnSpPr>
            <a:cxnSpLocks/>
          </p:cNvCxnSpPr>
          <p:nvPr/>
        </p:nvCxnSpPr>
        <p:spPr>
          <a:xfrm>
            <a:off x="6562726" y="2969568"/>
            <a:ext cx="95249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A852F7E6-652C-47B2-9273-F4F3B62D72F5}"/>
              </a:ext>
            </a:extLst>
          </p:cNvPr>
          <p:cNvSpPr/>
          <p:nvPr/>
        </p:nvSpPr>
        <p:spPr>
          <a:xfrm>
            <a:off x="6749415" y="2028825"/>
            <a:ext cx="343705" cy="807720"/>
          </a:xfrm>
          <a:custGeom>
            <a:avLst/>
            <a:gdLst>
              <a:gd name="connsiteX0" fmla="*/ 76200 w 343705"/>
              <a:gd name="connsiteY0" fmla="*/ 0 h 807720"/>
              <a:gd name="connsiteX1" fmla="*/ 342900 w 343705"/>
              <a:gd name="connsiteY1" fmla="*/ 525780 h 807720"/>
              <a:gd name="connsiteX2" fmla="*/ 0 w 343705"/>
              <a:gd name="connsiteY2" fmla="*/ 807720 h 80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3705" h="807720">
                <a:moveTo>
                  <a:pt x="76200" y="0"/>
                </a:moveTo>
                <a:cubicBezTo>
                  <a:pt x="215900" y="195580"/>
                  <a:pt x="355600" y="391160"/>
                  <a:pt x="342900" y="525780"/>
                </a:cubicBezTo>
                <a:cubicBezTo>
                  <a:pt x="330200" y="660400"/>
                  <a:pt x="165100" y="734060"/>
                  <a:pt x="0" y="80772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858081AB-E00F-44E7-A0FE-DC714502F8D9}"/>
              </a:ext>
            </a:extLst>
          </p:cNvPr>
          <p:cNvSpPr txBox="1"/>
          <p:nvPr/>
        </p:nvSpPr>
        <p:spPr>
          <a:xfrm>
            <a:off x="7073339" y="2404922"/>
            <a:ext cx="2608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</a:rPr>
              <a:t>put_cpu_partial</a:t>
            </a:r>
            <a:r>
              <a:rPr lang="en-US" sz="1400" b="1" dirty="0">
                <a:solidFill>
                  <a:srgbClr val="C00000"/>
                </a:solidFill>
              </a:rPr>
              <a:t>(): Move this page to </a:t>
            </a:r>
            <a:r>
              <a:rPr lang="en-US" sz="1400" b="1" dirty="0" err="1">
                <a:solidFill>
                  <a:srgbClr val="C00000"/>
                </a:solidFill>
              </a:rPr>
              <a:t>percpu</a:t>
            </a:r>
            <a:r>
              <a:rPr lang="en-US" sz="1400" b="1" dirty="0">
                <a:solidFill>
                  <a:srgbClr val="C00000"/>
                </a:solidFill>
              </a:rPr>
              <a:t> partial</a:t>
            </a: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E06DC1DC-89A9-422E-A552-1BC42312C50A}"/>
              </a:ext>
            </a:extLst>
          </p:cNvPr>
          <p:cNvSpPr/>
          <p:nvPr/>
        </p:nvSpPr>
        <p:spPr>
          <a:xfrm>
            <a:off x="7188286" y="2036455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D4106DAA-5A8C-4ECD-B2F7-B71967F85296}"/>
              </a:ext>
            </a:extLst>
          </p:cNvPr>
          <p:cNvSpPr/>
          <p:nvPr/>
        </p:nvSpPr>
        <p:spPr>
          <a:xfrm>
            <a:off x="6941120" y="2245967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0F0A28F3-E086-44FA-BE8B-6C3106325024}"/>
              </a:ext>
            </a:extLst>
          </p:cNvPr>
          <p:cNvSpPr/>
          <p:nvPr/>
        </p:nvSpPr>
        <p:spPr>
          <a:xfrm>
            <a:off x="4502544" y="3592794"/>
            <a:ext cx="7618147" cy="3072083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3B96C214-A18A-4B5C-89BC-410099C33EED}"/>
              </a:ext>
            </a:extLst>
          </p:cNvPr>
          <p:cNvSpPr/>
          <p:nvPr/>
        </p:nvSpPr>
        <p:spPr>
          <a:xfrm>
            <a:off x="4573824" y="4961619"/>
            <a:ext cx="107632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slab_free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1BE5E0E9-C6E2-4032-BF8C-7E8ECD305BA4}"/>
              </a:ext>
            </a:extLst>
          </p:cNvPr>
          <p:cNvSpPr/>
          <p:nvPr/>
        </p:nvSpPr>
        <p:spPr>
          <a:xfrm>
            <a:off x="5802965" y="4963683"/>
            <a:ext cx="171649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cmpxchg_double_slab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F0A8F3BE-91B0-467F-824B-9F8C6CA50C35}"/>
              </a:ext>
            </a:extLst>
          </p:cNvPr>
          <p:cNvSpPr txBox="1"/>
          <p:nvPr/>
        </p:nvSpPr>
        <p:spPr>
          <a:xfrm>
            <a:off x="4569390" y="3667240"/>
            <a:ext cx="1988363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slow path: node cache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37DBE64C-4FB9-4C73-83F1-CA2A7FA378A4}"/>
              </a:ext>
            </a:extLst>
          </p:cNvPr>
          <p:cNvSpPr/>
          <p:nvPr/>
        </p:nvSpPr>
        <p:spPr>
          <a:xfrm>
            <a:off x="7828304" y="4372124"/>
            <a:ext cx="1331951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put_cpu_partial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80B25A2-B1C1-42C0-A315-7DAD59A9FB0B}"/>
              </a:ext>
            </a:extLst>
          </p:cNvPr>
          <p:cNvSpPr/>
          <p:nvPr/>
        </p:nvSpPr>
        <p:spPr>
          <a:xfrm>
            <a:off x="7835706" y="4963999"/>
            <a:ext cx="1331951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add_partial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E669EB68-3BF1-4B9A-99A6-5EA819B7079F}"/>
              </a:ext>
            </a:extLst>
          </p:cNvPr>
          <p:cNvSpPr/>
          <p:nvPr/>
        </p:nvSpPr>
        <p:spPr>
          <a:xfrm>
            <a:off x="7835706" y="5562394"/>
            <a:ext cx="1331951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remove_partial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34F8029-281C-4640-A3B7-CE4680645BB2}"/>
              </a:ext>
            </a:extLst>
          </p:cNvPr>
          <p:cNvSpPr/>
          <p:nvPr/>
        </p:nvSpPr>
        <p:spPr>
          <a:xfrm>
            <a:off x="7843109" y="6064269"/>
            <a:ext cx="116621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discard_slab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BFBA9068-8A5F-458B-96E9-406638E7DDC2}"/>
              </a:ext>
            </a:extLst>
          </p:cNvPr>
          <p:cNvSpPr/>
          <p:nvPr/>
        </p:nvSpPr>
        <p:spPr>
          <a:xfrm>
            <a:off x="9264863" y="6064268"/>
            <a:ext cx="116621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free_slab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EE053601-0881-4D8A-856E-D93A2DF9B5D1}"/>
              </a:ext>
            </a:extLst>
          </p:cNvPr>
          <p:cNvSpPr/>
          <p:nvPr/>
        </p:nvSpPr>
        <p:spPr>
          <a:xfrm>
            <a:off x="10658042" y="6064267"/>
            <a:ext cx="116621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free_pages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056D92F1-2296-431C-9EBE-2729E3BB1EC1}"/>
              </a:ext>
            </a:extLst>
          </p:cNvPr>
          <p:cNvSpPr txBox="1"/>
          <p:nvPr/>
        </p:nvSpPr>
        <p:spPr>
          <a:xfrm>
            <a:off x="5851551" y="4497400"/>
            <a:ext cx="1773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Return the slab object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to page-&gt;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88717F9E-6EB2-405E-A60A-8D846C086607}"/>
              </a:ext>
            </a:extLst>
          </p:cNvPr>
          <p:cNvCxnSpPr>
            <a:cxnSpLocks/>
            <a:stCxn id="216" idx="3"/>
            <a:endCxn id="217" idx="1"/>
          </p:cNvCxnSpPr>
          <p:nvPr/>
        </p:nvCxnSpPr>
        <p:spPr>
          <a:xfrm flipV="1">
            <a:off x="9009319" y="6185163"/>
            <a:ext cx="25554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6EC89BDA-04F0-4CAB-AFCC-F87517549DCB}"/>
              </a:ext>
            </a:extLst>
          </p:cNvPr>
          <p:cNvCxnSpPr>
            <a:cxnSpLocks/>
            <a:stCxn id="217" idx="3"/>
            <a:endCxn id="218" idx="1"/>
          </p:cNvCxnSpPr>
          <p:nvPr/>
        </p:nvCxnSpPr>
        <p:spPr>
          <a:xfrm flipV="1">
            <a:off x="10431073" y="6185162"/>
            <a:ext cx="22696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25EDA873-BB04-440C-A34E-8031E4DFFE59}"/>
              </a:ext>
            </a:extLst>
          </p:cNvPr>
          <p:cNvSpPr/>
          <p:nvPr/>
        </p:nvSpPr>
        <p:spPr>
          <a:xfrm>
            <a:off x="7604331" y="5487179"/>
            <a:ext cx="4431486" cy="89409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AB3B5AD5-ED43-410D-8B05-0939AE2A6EA8}"/>
              </a:ext>
            </a:extLst>
          </p:cNvPr>
          <p:cNvSpPr txBox="1"/>
          <p:nvPr/>
        </p:nvSpPr>
        <p:spPr>
          <a:xfrm>
            <a:off x="9474682" y="5472561"/>
            <a:ext cx="2646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Slowpath#3: Slab objects in page slab are all free: free to Buddy system</a:t>
            </a:r>
          </a:p>
        </p:txBody>
      </p:sp>
      <p:cxnSp>
        <p:nvCxnSpPr>
          <p:cNvPr id="224" name="Connector: Elbow 223">
            <a:extLst>
              <a:ext uri="{FF2B5EF4-FFF2-40B4-BE49-F238E27FC236}">
                <a16:creationId xmlns:a16="http://schemas.microsoft.com/office/drawing/2014/main" id="{792AAEBF-FD31-4013-BF97-FCBB844C9CEB}"/>
              </a:ext>
            </a:extLst>
          </p:cNvPr>
          <p:cNvCxnSpPr>
            <a:cxnSpLocks/>
            <a:stCxn id="211" idx="3"/>
            <a:endCxn id="213" idx="1"/>
          </p:cNvCxnSpPr>
          <p:nvPr/>
        </p:nvCxnSpPr>
        <p:spPr>
          <a:xfrm flipV="1">
            <a:off x="7519455" y="4493019"/>
            <a:ext cx="308849" cy="591559"/>
          </a:xfrm>
          <a:prstGeom prst="bentConnector3">
            <a:avLst>
              <a:gd name="adj1" fmla="val 5154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: Elbow 224">
            <a:extLst>
              <a:ext uri="{FF2B5EF4-FFF2-40B4-BE49-F238E27FC236}">
                <a16:creationId xmlns:a16="http://schemas.microsoft.com/office/drawing/2014/main" id="{8FD17F15-CD18-47E5-AB4C-6C27BF3D5A50}"/>
              </a:ext>
            </a:extLst>
          </p:cNvPr>
          <p:cNvCxnSpPr>
            <a:cxnSpLocks/>
            <a:stCxn id="211" idx="3"/>
            <a:endCxn id="215" idx="1"/>
          </p:cNvCxnSpPr>
          <p:nvPr/>
        </p:nvCxnSpPr>
        <p:spPr>
          <a:xfrm>
            <a:off x="7519455" y="5084578"/>
            <a:ext cx="316251" cy="59871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: Elbow 225">
            <a:extLst>
              <a:ext uri="{FF2B5EF4-FFF2-40B4-BE49-F238E27FC236}">
                <a16:creationId xmlns:a16="http://schemas.microsoft.com/office/drawing/2014/main" id="{ACFDB568-7A38-4C04-BDA4-2DAFE5DF9220}"/>
              </a:ext>
            </a:extLst>
          </p:cNvPr>
          <p:cNvCxnSpPr>
            <a:cxnSpLocks/>
            <a:stCxn id="211" idx="3"/>
            <a:endCxn id="216" idx="1"/>
          </p:cNvCxnSpPr>
          <p:nvPr/>
        </p:nvCxnSpPr>
        <p:spPr>
          <a:xfrm>
            <a:off x="7519455" y="5084578"/>
            <a:ext cx="323654" cy="110058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: Elbow 226">
            <a:extLst>
              <a:ext uri="{FF2B5EF4-FFF2-40B4-BE49-F238E27FC236}">
                <a16:creationId xmlns:a16="http://schemas.microsoft.com/office/drawing/2014/main" id="{729E5D10-242A-40B1-B2D9-F6ADBA7A0FB7}"/>
              </a:ext>
            </a:extLst>
          </p:cNvPr>
          <p:cNvCxnSpPr>
            <a:cxnSpLocks/>
            <a:stCxn id="211" idx="3"/>
            <a:endCxn id="214" idx="1"/>
          </p:cNvCxnSpPr>
          <p:nvPr/>
        </p:nvCxnSpPr>
        <p:spPr>
          <a:xfrm>
            <a:off x="7519455" y="5084578"/>
            <a:ext cx="316251" cy="31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F3C2D47E-2E10-4C24-84A5-411169BF544A}"/>
              </a:ext>
            </a:extLst>
          </p:cNvPr>
          <p:cNvSpPr txBox="1"/>
          <p:nvPr/>
        </p:nvSpPr>
        <p:spPr>
          <a:xfrm>
            <a:off x="9127709" y="4254668"/>
            <a:ext cx="2646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Slowpath#1: Move page(s) to </a:t>
            </a:r>
            <a:r>
              <a:rPr lang="en-US" sz="1200" b="1" dirty="0" err="1"/>
              <a:t>percpu</a:t>
            </a:r>
            <a:r>
              <a:rPr lang="en-US" sz="1200" b="1" dirty="0"/>
              <a:t> partial and node partial (if possible)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BE1B59A8-A114-47E0-8A5B-4F97EBE4144C}"/>
              </a:ext>
            </a:extLst>
          </p:cNvPr>
          <p:cNvSpPr/>
          <p:nvPr/>
        </p:nvSpPr>
        <p:spPr>
          <a:xfrm>
            <a:off x="7754763" y="4220738"/>
            <a:ext cx="3913362" cy="482859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6D8D103C-BE40-41FD-90A5-C25745206C35}"/>
              </a:ext>
            </a:extLst>
          </p:cNvPr>
          <p:cNvSpPr txBox="1"/>
          <p:nvPr/>
        </p:nvSpPr>
        <p:spPr>
          <a:xfrm>
            <a:off x="9122155" y="4952234"/>
            <a:ext cx="28755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Slowpath#2: Move pages to node partial</a:t>
            </a:r>
          </a:p>
        </p:txBody>
      </p:sp>
    </p:spTree>
    <p:extLst>
      <p:ext uri="{BB962C8B-B14F-4D97-AF65-F5344CB8AC3E}">
        <p14:creationId xmlns:p14="http://schemas.microsoft.com/office/powerpoint/2010/main" val="13028446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13056" y="2471611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13056" y="2728117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13056" y="2936230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2629032" y="1599447"/>
            <a:ext cx="1384803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2629032" y="2025872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2629027" y="2236490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2629030" y="2446685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2615728" y="3757298"/>
            <a:ext cx="1634327" cy="4382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0)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2615727" y="4184662"/>
            <a:ext cx="163432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2615726" y="4548426"/>
            <a:ext cx="1634323" cy="4517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1)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2615725" y="4975791"/>
            <a:ext cx="163432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2449517" y="5169942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cxnSpLocks/>
          </p:cNvCxnSpPr>
          <p:nvPr/>
        </p:nvCxnSpPr>
        <p:spPr>
          <a:xfrm flipH="1">
            <a:off x="2615719" y="4164890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" y="-86213"/>
            <a:ext cx="12259408" cy="689951"/>
          </a:xfrm>
        </p:spPr>
        <p:txBody>
          <a:bodyPr>
            <a:noAutofit/>
          </a:bodyPr>
          <a:lstStyle/>
          <a:p>
            <a:r>
              <a:rPr lang="en-US" sz="3600" dirty="0" err="1">
                <a:solidFill>
                  <a:schemeClr val="tx1"/>
                </a:solidFill>
              </a:rPr>
              <a:t>slowpath</a:t>
            </a:r>
            <a:r>
              <a:rPr lang="en-US" sz="3600" dirty="0">
                <a:solidFill>
                  <a:schemeClr val="tx1"/>
                </a:solidFill>
              </a:rPr>
              <a:t> #1:put_cpu_partial() – Case 2 (1/2)</a:t>
            </a:r>
            <a:endParaRPr lang="en-US" sz="3600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9718F84-5915-4F1B-898E-9E51257A051B}"/>
              </a:ext>
            </a:extLst>
          </p:cNvPr>
          <p:cNvCxnSpPr>
            <a:cxnSpLocks/>
          </p:cNvCxnSpPr>
          <p:nvPr/>
        </p:nvCxnSpPr>
        <p:spPr>
          <a:xfrm flipH="1">
            <a:off x="4250046" y="4211094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38E9A7-39EF-4A8A-A583-00235FCCF53E}"/>
              </a:ext>
            </a:extLst>
          </p:cNvPr>
          <p:cNvCxnSpPr>
            <a:stCxn id="24" idx="3"/>
            <a:endCxn id="112" idx="1"/>
          </p:cNvCxnSpPr>
          <p:nvPr/>
        </p:nvCxnSpPr>
        <p:spPr>
          <a:xfrm flipV="1">
            <a:off x="2131695" y="1816054"/>
            <a:ext cx="497337" cy="101729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63F9F1C-AC80-4507-94B3-DF5FAC3D155E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>
            <a:off x="2131695" y="3041457"/>
            <a:ext cx="484033" cy="9349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1780790-7346-4886-B5EE-AB3862BAE6C2}"/>
              </a:ext>
            </a:extLst>
          </p:cNvPr>
          <p:cNvCxnSpPr>
            <a:cxnSpLocks/>
            <a:stCxn id="114" idx="3"/>
          </p:cNvCxnSpPr>
          <p:nvPr/>
        </p:nvCxnSpPr>
        <p:spPr>
          <a:xfrm flipV="1">
            <a:off x="4013830" y="1945457"/>
            <a:ext cx="963221" cy="3962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9EB4F4D-E780-4D8E-A282-B23942B0101A}"/>
              </a:ext>
            </a:extLst>
          </p:cNvPr>
          <p:cNvCxnSpPr>
            <a:cxnSpLocks/>
            <a:stCxn id="113" idx="3"/>
          </p:cNvCxnSpPr>
          <p:nvPr/>
        </p:nvCxnSpPr>
        <p:spPr>
          <a:xfrm flipV="1">
            <a:off x="4013835" y="1560856"/>
            <a:ext cx="688960" cy="57024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1FD249A-73B4-41C3-8566-F96C137AA8AF}"/>
              </a:ext>
            </a:extLst>
          </p:cNvPr>
          <p:cNvGrpSpPr/>
          <p:nvPr/>
        </p:nvGrpSpPr>
        <p:grpSpPr>
          <a:xfrm>
            <a:off x="4795133" y="2446685"/>
            <a:ext cx="735393" cy="1022487"/>
            <a:chOff x="4559919" y="899141"/>
            <a:chExt cx="735393" cy="1022487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440D27D-EB10-47E1-BA08-E3A2A28CC5E4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82A40C1-5F44-4BA1-B2B5-1F5EC574793C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3CC4C0D-B668-4513-9FCC-3B5711585DE1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02F6ADA-CF35-48BF-A9C9-E30A8EFDF00E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FEA2408-287E-4126-9CA1-172066C99B4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5A86EF7-FFFA-4DAE-AA2B-6D792E883B3C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11FA7E7-65BE-47DB-8982-1D2B96CDC2C9}"/>
              </a:ext>
            </a:extLst>
          </p:cNvPr>
          <p:cNvGrpSpPr/>
          <p:nvPr/>
        </p:nvGrpSpPr>
        <p:grpSpPr>
          <a:xfrm>
            <a:off x="5785220" y="2445291"/>
            <a:ext cx="735393" cy="1022487"/>
            <a:chOff x="4559919" y="899141"/>
            <a:chExt cx="735393" cy="1022487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B55B7D6-FEF0-4D52-9ED8-DD5E3C771CD4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3BDA005-6FCC-4A76-B785-9B69CBA7D7EC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96A4318-6812-4418-9E45-F3E6F8BCB88A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64203D1-8F56-4BB4-94CC-0DE83F7D62F6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2EFB3F7-2233-4B77-9FBB-9A7CCB4343F1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A002A3D-0A1D-4186-84D6-DCE985CA2469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26B6E0F6-E069-4FF9-B8ED-1DEA26298520}"/>
              </a:ext>
            </a:extLst>
          </p:cNvPr>
          <p:cNvCxnSpPr>
            <a:stCxn id="115" idx="3"/>
            <a:endCxn id="85" idx="2"/>
          </p:cNvCxnSpPr>
          <p:nvPr/>
        </p:nvCxnSpPr>
        <p:spPr>
          <a:xfrm>
            <a:off x="4013833" y="2551912"/>
            <a:ext cx="781301" cy="53172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B9DF742-697D-4BA0-A033-5C3F57DA6AF9}"/>
              </a:ext>
            </a:extLst>
          </p:cNvPr>
          <p:cNvGrpSpPr/>
          <p:nvPr/>
        </p:nvGrpSpPr>
        <p:grpSpPr>
          <a:xfrm>
            <a:off x="6780485" y="2453457"/>
            <a:ext cx="735393" cy="1022487"/>
            <a:chOff x="4559919" y="899141"/>
            <a:chExt cx="735393" cy="1022487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090625A-964B-4447-9B0B-AA00171D3BCF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FDC74D0-E177-4503-8476-34A2DA45FE1E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09EA86E-2FA6-4002-8ADF-9EFDEED6E957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18BA525-F5F8-4917-BA41-2BEEA6522C97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03AE197-1348-4EB2-8073-521D5CAA4DBE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9EC013E-A4B2-4966-AC5A-2CF2B8AD4EE5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B4B8C76-F79D-4BD0-8616-D3FF3FA7F5F5}"/>
              </a:ext>
            </a:extLst>
          </p:cNvPr>
          <p:cNvCxnSpPr>
            <a:cxnSpLocks/>
            <a:stCxn id="105" idx="0"/>
          </p:cNvCxnSpPr>
          <p:nvPr/>
        </p:nvCxnSpPr>
        <p:spPr>
          <a:xfrm flipV="1">
            <a:off x="7515878" y="3090406"/>
            <a:ext cx="701844" cy="93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75CE1D58-71AA-4329-B275-9A38E75FD5F2}"/>
              </a:ext>
            </a:extLst>
          </p:cNvPr>
          <p:cNvSpPr txBox="1"/>
          <p:nvPr/>
        </p:nvSpPr>
        <p:spPr>
          <a:xfrm>
            <a:off x="7463303" y="2845966"/>
            <a:ext cx="989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page-&gt;next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3EEF3EA-AF56-4FAC-8EB3-BA23E124C460}"/>
              </a:ext>
            </a:extLst>
          </p:cNvPr>
          <p:cNvCxnSpPr/>
          <p:nvPr/>
        </p:nvCxnSpPr>
        <p:spPr>
          <a:xfrm>
            <a:off x="8217722" y="3090406"/>
            <a:ext cx="0" cy="119829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0C05999-81EA-499E-BA89-96AD98418404}"/>
              </a:ext>
            </a:extLst>
          </p:cNvPr>
          <p:cNvCxnSpPr>
            <a:cxnSpLocks/>
          </p:cNvCxnSpPr>
          <p:nvPr/>
        </p:nvCxnSpPr>
        <p:spPr>
          <a:xfrm>
            <a:off x="8109514" y="3210235"/>
            <a:ext cx="196496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25178FD-0FD9-4DC3-910D-EB91245DFB25}"/>
              </a:ext>
            </a:extLst>
          </p:cNvPr>
          <p:cNvCxnSpPr>
            <a:cxnSpLocks/>
          </p:cNvCxnSpPr>
          <p:nvPr/>
        </p:nvCxnSpPr>
        <p:spPr>
          <a:xfrm>
            <a:off x="8126182" y="3243792"/>
            <a:ext cx="157163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68F05FF-BF04-4594-A22E-9776DB0A2CCD}"/>
              </a:ext>
            </a:extLst>
          </p:cNvPr>
          <p:cNvCxnSpPr>
            <a:cxnSpLocks/>
          </p:cNvCxnSpPr>
          <p:nvPr/>
        </p:nvCxnSpPr>
        <p:spPr>
          <a:xfrm>
            <a:off x="8161903" y="3277130"/>
            <a:ext cx="95249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FE71D5-6781-4778-AFBB-F4844AA7AE4B}"/>
              </a:ext>
            </a:extLst>
          </p:cNvPr>
          <p:cNvCxnSpPr>
            <a:cxnSpLocks/>
            <a:stCxn id="88" idx="0"/>
            <a:endCxn id="94" idx="2"/>
          </p:cNvCxnSpPr>
          <p:nvPr/>
        </p:nvCxnSpPr>
        <p:spPr>
          <a:xfrm flipV="1">
            <a:off x="5530526" y="3082241"/>
            <a:ext cx="254695" cy="23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D2E820-297A-4052-9FB1-8ACC172ACA53}"/>
              </a:ext>
            </a:extLst>
          </p:cNvPr>
          <p:cNvCxnSpPr>
            <a:stCxn id="97" idx="0"/>
            <a:endCxn id="101" idx="2"/>
          </p:cNvCxnSpPr>
          <p:nvPr/>
        </p:nvCxnSpPr>
        <p:spPr>
          <a:xfrm>
            <a:off x="6520613" y="3083178"/>
            <a:ext cx="259873" cy="72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3550060-F6BE-4441-AC26-D430128DC357}"/>
              </a:ext>
            </a:extLst>
          </p:cNvPr>
          <p:cNvSpPr/>
          <p:nvPr/>
        </p:nvSpPr>
        <p:spPr>
          <a:xfrm>
            <a:off x="4677331" y="2406980"/>
            <a:ext cx="3752978" cy="1169908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8FB35EE-69BF-4819-BCCC-1602C369DEAA}"/>
              </a:ext>
            </a:extLst>
          </p:cNvPr>
          <p:cNvSpPr txBox="1"/>
          <p:nvPr/>
        </p:nvSpPr>
        <p:spPr>
          <a:xfrm>
            <a:off x="7478404" y="2049526"/>
            <a:ext cx="1527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free this object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A762A88-036E-4758-9C06-93332528B39B}"/>
              </a:ext>
            </a:extLst>
          </p:cNvPr>
          <p:cNvSpPr txBox="1"/>
          <p:nvPr/>
        </p:nvSpPr>
        <p:spPr>
          <a:xfrm>
            <a:off x="5448247" y="4005055"/>
            <a:ext cx="5562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if available objects &gt; </a:t>
            </a:r>
            <a:r>
              <a:rPr lang="en-US" sz="1400" b="1" dirty="0" err="1">
                <a:solidFill>
                  <a:srgbClr val="C00000"/>
                </a:solidFill>
              </a:rPr>
              <a:t>kmem_cache</a:t>
            </a:r>
            <a:r>
              <a:rPr lang="en-US" sz="1400" b="1" dirty="0">
                <a:solidFill>
                  <a:srgbClr val="C00000"/>
                </a:solidFill>
              </a:rPr>
              <a:t>-&gt;</a:t>
            </a:r>
            <a:r>
              <a:rPr lang="en-US" sz="1400" b="1" dirty="0" err="1">
                <a:solidFill>
                  <a:srgbClr val="C00000"/>
                </a:solidFill>
              </a:rPr>
              <a:t>cpu_partial</a:t>
            </a:r>
            <a:r>
              <a:rPr lang="en-US" sz="1400" b="1" dirty="0">
                <a:solidFill>
                  <a:srgbClr val="C00000"/>
                </a:solidFill>
              </a:rPr>
              <a:t> &amp;&amp; </a:t>
            </a:r>
            <a:r>
              <a:rPr lang="en-US" sz="1400" b="1" dirty="0" err="1">
                <a:solidFill>
                  <a:srgbClr val="C00000"/>
                </a:solidFill>
              </a:rPr>
              <a:t>want_to_drain</a:t>
            </a:r>
            <a:endParaRPr lang="en-US" sz="1400" b="1" dirty="0">
              <a:solidFill>
                <a:srgbClr val="C00000"/>
              </a:solidFill>
            </a:endParaRPr>
          </a:p>
          <a:p>
            <a:r>
              <a:rPr lang="en-US" sz="1400" b="1" dirty="0">
                <a:solidFill>
                  <a:srgbClr val="C00000"/>
                </a:solidFill>
              </a:rPr>
              <a:t>        call </a:t>
            </a:r>
            <a:r>
              <a:rPr lang="en-US" sz="1400" b="1" dirty="0" err="1">
                <a:solidFill>
                  <a:srgbClr val="C00000"/>
                </a:solidFill>
              </a:rPr>
              <a:t>unfreeze_partials</a:t>
            </a:r>
            <a:r>
              <a:rPr lang="en-US" sz="1400" b="1" dirty="0">
                <a:solidFill>
                  <a:srgbClr val="C00000"/>
                </a:solidFill>
              </a:rPr>
              <a:t>() to move </a:t>
            </a:r>
            <a:r>
              <a:rPr lang="en-US" sz="1400" b="1" dirty="0" err="1">
                <a:solidFill>
                  <a:srgbClr val="C00000"/>
                </a:solidFill>
              </a:rPr>
              <a:t>percpu</a:t>
            </a:r>
            <a:r>
              <a:rPr lang="en-US" sz="1400" b="1" dirty="0">
                <a:solidFill>
                  <a:srgbClr val="C00000"/>
                </a:solidFill>
              </a:rPr>
              <a:t> partial pages to node partial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5533F59-45DF-4646-92C4-E79E49461BDA}"/>
              </a:ext>
            </a:extLst>
          </p:cNvPr>
          <p:cNvSpPr/>
          <p:nvPr/>
        </p:nvSpPr>
        <p:spPr>
          <a:xfrm>
            <a:off x="4248150" y="3581400"/>
            <a:ext cx="1933575" cy="704850"/>
          </a:xfrm>
          <a:custGeom>
            <a:avLst/>
            <a:gdLst>
              <a:gd name="connsiteX0" fmla="*/ 1933575 w 1933575"/>
              <a:gd name="connsiteY0" fmla="*/ 0 h 704850"/>
              <a:gd name="connsiteX1" fmla="*/ 1533525 w 1933575"/>
              <a:gd name="connsiteY1" fmla="*/ 361950 h 704850"/>
              <a:gd name="connsiteX2" fmla="*/ 0 w 1933575"/>
              <a:gd name="connsiteY2" fmla="*/ 70485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3575" h="704850">
                <a:moveTo>
                  <a:pt x="1933575" y="0"/>
                </a:moveTo>
                <a:cubicBezTo>
                  <a:pt x="1894681" y="122237"/>
                  <a:pt x="1855787" y="244475"/>
                  <a:pt x="1533525" y="361950"/>
                </a:cubicBezTo>
                <a:cubicBezTo>
                  <a:pt x="1211262" y="479425"/>
                  <a:pt x="605631" y="592137"/>
                  <a:pt x="0" y="70485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629574BC-69BD-42CA-854F-58A974E7EF18}"/>
              </a:ext>
            </a:extLst>
          </p:cNvPr>
          <p:cNvSpPr/>
          <p:nvPr/>
        </p:nvSpPr>
        <p:spPr>
          <a:xfrm>
            <a:off x="5225508" y="3894504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D2187C60-B28B-4FAA-85AE-540AFC6A00C9}"/>
              </a:ext>
            </a:extLst>
          </p:cNvPr>
          <p:cNvCxnSpPr/>
          <p:nvPr/>
        </p:nvCxnSpPr>
        <p:spPr>
          <a:xfrm>
            <a:off x="6373334" y="1945456"/>
            <a:ext cx="151613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E108E98-612B-4047-893D-73AD2AB02313}"/>
              </a:ext>
            </a:extLst>
          </p:cNvPr>
          <p:cNvGrpSpPr/>
          <p:nvPr/>
        </p:nvGrpSpPr>
        <p:grpSpPr>
          <a:xfrm>
            <a:off x="4702794" y="923906"/>
            <a:ext cx="735393" cy="1021551"/>
            <a:chOff x="4559919" y="899141"/>
            <a:chExt cx="735393" cy="1021551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BB7A2034-A7B0-45B5-BCF7-C977D035DF96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A4607D33-55EC-4F00-93E3-E8D6B7F22DEE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3A272CBD-696A-4ABC-B101-AA559A965093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17D734B-8337-48C7-AC79-BFB175532A42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F6CACD91-56B8-43B2-944D-7506D69C934D}"/>
                </a:ext>
              </a:extLst>
            </p:cNvPr>
            <p:cNvSpPr/>
            <p:nvPr/>
          </p:nvSpPr>
          <p:spPr>
            <a:xfrm rot="5400000">
              <a:off x="4818358" y="143832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22CD9071-2B07-48FF-83FF-73C0C48AD02A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EA0457C6-5E86-4396-839F-441A3AC09762}"/>
              </a:ext>
            </a:extLst>
          </p:cNvPr>
          <p:cNvGrpSpPr/>
          <p:nvPr/>
        </p:nvGrpSpPr>
        <p:grpSpPr>
          <a:xfrm>
            <a:off x="5714615" y="923906"/>
            <a:ext cx="735393" cy="1021551"/>
            <a:chOff x="4559919" y="899141"/>
            <a:chExt cx="735393" cy="1021551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41DD2905-CD57-4A8F-B034-0DE094961711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B3E7E1C2-E6C1-48B4-8B2D-52C13762F9FA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562F8247-EFD4-44DE-B9C9-F1FA1E2843FF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953D81AB-A5DC-4E51-A8BE-5702B604F578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F00CE8B-6213-4561-8945-0AA247A9BE16}"/>
                </a:ext>
              </a:extLst>
            </p:cNvPr>
            <p:cNvSpPr/>
            <p:nvPr/>
          </p:nvSpPr>
          <p:spPr>
            <a:xfrm rot="5400000">
              <a:off x="4818358" y="143832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B1B41A59-AA19-4DE9-AF1F-D5CDD7036866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CCAF925A-7064-4526-80CB-47D68C71FAB8}"/>
              </a:ext>
            </a:extLst>
          </p:cNvPr>
          <p:cNvGrpSpPr/>
          <p:nvPr/>
        </p:nvGrpSpPr>
        <p:grpSpPr>
          <a:xfrm>
            <a:off x="6704452" y="920164"/>
            <a:ext cx="735393" cy="1022487"/>
            <a:chOff x="4559919" y="899141"/>
            <a:chExt cx="735393" cy="1022487"/>
          </a:xfrm>
        </p:grpSpPr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7F5A2C52-9C1C-4655-B5EF-7D89AD03A273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B25FE246-2229-442D-B23D-A68823B77A7E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76A7ECB5-30A0-46F3-9266-A16F15BD216D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DEC5EB9F-C05F-46C6-8712-A46B52CC1ADD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49C10B85-6D90-49A1-9272-BCFEF0851DB2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DFFC2C67-076E-4C61-9F8D-2721F964F4F2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BC65892E-A27C-4679-AAB3-26A8EDA1EF07}"/>
              </a:ext>
            </a:extLst>
          </p:cNvPr>
          <p:cNvSpPr txBox="1"/>
          <p:nvPr/>
        </p:nvSpPr>
        <p:spPr>
          <a:xfrm>
            <a:off x="7440472" y="1212291"/>
            <a:ext cx="400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..</a:t>
            </a: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9F17ACB2-FD6B-4DA0-BCCF-02E8061296B4}"/>
              </a:ext>
            </a:extLst>
          </p:cNvPr>
          <p:cNvGrpSpPr/>
          <p:nvPr/>
        </p:nvGrpSpPr>
        <p:grpSpPr>
          <a:xfrm>
            <a:off x="7771590" y="923906"/>
            <a:ext cx="735393" cy="1021551"/>
            <a:chOff x="4559919" y="899141"/>
            <a:chExt cx="735393" cy="1021551"/>
          </a:xfrm>
        </p:grpSpPr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D492E4DB-5D8C-4413-A539-A33C4ECDE3F4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5C6CC0F1-35E3-4E4D-9639-ED35FBD0EDA3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68066DBA-2B77-4A39-BB57-4183E28D606F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7F502E33-2922-4FA6-AD8B-4BAE22219CD8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A40C24C3-A608-42D3-904E-314D7E9B3D13}"/>
                </a:ext>
              </a:extLst>
            </p:cNvPr>
            <p:cNvSpPr/>
            <p:nvPr/>
          </p:nvSpPr>
          <p:spPr>
            <a:xfrm rot="5400000">
              <a:off x="4818358" y="1439911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41481DE8-3FED-4E58-9642-20CECEBDD1F5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C864F98F-4BB9-4833-9090-4D2BDAFC7DB1}"/>
              </a:ext>
            </a:extLst>
          </p:cNvPr>
          <p:cNvCxnSpPr/>
          <p:nvPr/>
        </p:nvCxnSpPr>
        <p:spPr>
          <a:xfrm>
            <a:off x="6437354" y="985617"/>
            <a:ext cx="151613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Rectangle 223">
            <a:extLst>
              <a:ext uri="{FF2B5EF4-FFF2-40B4-BE49-F238E27FC236}">
                <a16:creationId xmlns:a16="http://schemas.microsoft.com/office/drawing/2014/main" id="{A0C4CCD9-4EAC-4620-8AE5-BF2279C44C80}"/>
              </a:ext>
            </a:extLst>
          </p:cNvPr>
          <p:cNvSpPr/>
          <p:nvPr/>
        </p:nvSpPr>
        <p:spPr>
          <a:xfrm>
            <a:off x="6631108" y="923906"/>
            <a:ext cx="869593" cy="1101964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E9AE59B2-17DD-4070-93EB-9B3C4D3F9F0C}"/>
              </a:ext>
            </a:extLst>
          </p:cNvPr>
          <p:cNvSpPr/>
          <p:nvPr/>
        </p:nvSpPr>
        <p:spPr>
          <a:xfrm>
            <a:off x="6978014" y="1906904"/>
            <a:ext cx="547907" cy="300698"/>
          </a:xfrm>
          <a:custGeom>
            <a:avLst/>
            <a:gdLst>
              <a:gd name="connsiteX0" fmla="*/ 243840 w 243840"/>
              <a:gd name="connsiteY0" fmla="*/ 99060 h 99304"/>
              <a:gd name="connsiteX1" fmla="*/ 45720 w 243840"/>
              <a:gd name="connsiteY1" fmla="*/ 83820 h 99304"/>
              <a:gd name="connsiteX2" fmla="*/ 0 w 243840"/>
              <a:gd name="connsiteY2" fmla="*/ 0 h 99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" h="99304">
                <a:moveTo>
                  <a:pt x="243840" y="99060"/>
                </a:moveTo>
                <a:cubicBezTo>
                  <a:pt x="165100" y="99695"/>
                  <a:pt x="86360" y="100330"/>
                  <a:pt x="45720" y="83820"/>
                </a:cubicBezTo>
                <a:cubicBezTo>
                  <a:pt x="5080" y="67310"/>
                  <a:pt x="6350" y="10160"/>
                  <a:pt x="0" y="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3B5B95EE-D1D0-44A9-A39C-93FACEFD8232}"/>
              </a:ext>
            </a:extLst>
          </p:cNvPr>
          <p:cNvSpPr/>
          <p:nvPr/>
        </p:nvSpPr>
        <p:spPr>
          <a:xfrm>
            <a:off x="7188286" y="2055505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B524A85F-24B8-44BA-8C35-422E296DC984}"/>
              </a:ext>
            </a:extLst>
          </p:cNvPr>
          <p:cNvSpPr txBox="1"/>
          <p:nvPr/>
        </p:nvSpPr>
        <p:spPr>
          <a:xfrm>
            <a:off x="5885910" y="644275"/>
            <a:ext cx="2621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Fully-allocated objects of pages</a:t>
            </a:r>
          </a:p>
        </p:txBody>
      </p:sp>
    </p:spTree>
    <p:extLst>
      <p:ext uri="{BB962C8B-B14F-4D97-AF65-F5344CB8AC3E}">
        <p14:creationId xmlns:p14="http://schemas.microsoft.com/office/powerpoint/2010/main" val="154699650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6D52933-CC29-4F72-AEC4-78FAE7BAE250}"/>
              </a:ext>
            </a:extLst>
          </p:cNvPr>
          <p:cNvSpPr/>
          <p:nvPr/>
        </p:nvSpPr>
        <p:spPr>
          <a:xfrm>
            <a:off x="4267200" y="3361970"/>
            <a:ext cx="3619027" cy="1067155"/>
          </a:xfrm>
          <a:custGeom>
            <a:avLst/>
            <a:gdLst>
              <a:gd name="connsiteX0" fmla="*/ 3114675 w 3619027"/>
              <a:gd name="connsiteY0" fmla="*/ 1067155 h 1067155"/>
              <a:gd name="connsiteX1" fmla="*/ 3571875 w 3619027"/>
              <a:gd name="connsiteY1" fmla="*/ 895705 h 1067155"/>
              <a:gd name="connsiteX2" fmla="*/ 3381375 w 3619027"/>
              <a:gd name="connsiteY2" fmla="*/ 76555 h 1067155"/>
              <a:gd name="connsiteX3" fmla="*/ 1600200 w 3619027"/>
              <a:gd name="connsiteY3" fmla="*/ 38455 h 1067155"/>
              <a:gd name="connsiteX4" fmla="*/ 352425 w 3619027"/>
              <a:gd name="connsiteY4" fmla="*/ 105130 h 1067155"/>
              <a:gd name="connsiteX5" fmla="*/ 0 w 3619027"/>
              <a:gd name="connsiteY5" fmla="*/ 867130 h 1067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9027" h="1067155">
                <a:moveTo>
                  <a:pt x="3114675" y="1067155"/>
                </a:moveTo>
                <a:cubicBezTo>
                  <a:pt x="3321050" y="1063980"/>
                  <a:pt x="3527425" y="1060805"/>
                  <a:pt x="3571875" y="895705"/>
                </a:cubicBezTo>
                <a:cubicBezTo>
                  <a:pt x="3616325" y="730605"/>
                  <a:pt x="3709987" y="219430"/>
                  <a:pt x="3381375" y="76555"/>
                </a:cubicBezTo>
                <a:cubicBezTo>
                  <a:pt x="3052763" y="-66320"/>
                  <a:pt x="2105025" y="33692"/>
                  <a:pt x="1600200" y="38455"/>
                </a:cubicBezTo>
                <a:cubicBezTo>
                  <a:pt x="1095375" y="43217"/>
                  <a:pt x="619125" y="-32982"/>
                  <a:pt x="352425" y="105130"/>
                </a:cubicBezTo>
                <a:cubicBezTo>
                  <a:pt x="85725" y="243242"/>
                  <a:pt x="42862" y="555186"/>
                  <a:pt x="0" y="867130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13056" y="2471611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13056" y="2728117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13056" y="2936230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2629032" y="1599447"/>
            <a:ext cx="1384803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2629032" y="2025872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2629027" y="2236490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2629030" y="2446685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2615728" y="3757298"/>
            <a:ext cx="1634327" cy="4382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0)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2615727" y="4184662"/>
            <a:ext cx="163432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2615726" y="4548426"/>
            <a:ext cx="1634323" cy="4517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1)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2615725" y="4975791"/>
            <a:ext cx="163432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2449517" y="5169942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cxnSpLocks/>
          </p:cNvCxnSpPr>
          <p:nvPr/>
        </p:nvCxnSpPr>
        <p:spPr>
          <a:xfrm flipH="1">
            <a:off x="2615719" y="4164890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" y="-86213"/>
            <a:ext cx="12259408" cy="689951"/>
          </a:xfrm>
        </p:spPr>
        <p:txBody>
          <a:bodyPr>
            <a:noAutofit/>
          </a:bodyPr>
          <a:lstStyle/>
          <a:p>
            <a:r>
              <a:rPr lang="en-US" sz="3600" dirty="0" err="1">
                <a:solidFill>
                  <a:schemeClr val="tx1"/>
                </a:solidFill>
              </a:rPr>
              <a:t>slowpath</a:t>
            </a:r>
            <a:r>
              <a:rPr lang="en-US" sz="3600" dirty="0">
                <a:solidFill>
                  <a:schemeClr val="tx1"/>
                </a:solidFill>
              </a:rPr>
              <a:t> #1:put_cpu_partial() – Case 2 (2/2)</a:t>
            </a:r>
            <a:endParaRPr lang="en-US" sz="3600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9718F84-5915-4F1B-898E-9E51257A051B}"/>
              </a:ext>
            </a:extLst>
          </p:cNvPr>
          <p:cNvCxnSpPr>
            <a:cxnSpLocks/>
          </p:cNvCxnSpPr>
          <p:nvPr/>
        </p:nvCxnSpPr>
        <p:spPr>
          <a:xfrm flipH="1">
            <a:off x="4250046" y="4211094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38E9A7-39EF-4A8A-A583-00235FCCF53E}"/>
              </a:ext>
            </a:extLst>
          </p:cNvPr>
          <p:cNvCxnSpPr>
            <a:stCxn id="24" idx="3"/>
            <a:endCxn id="112" idx="1"/>
          </p:cNvCxnSpPr>
          <p:nvPr/>
        </p:nvCxnSpPr>
        <p:spPr>
          <a:xfrm flipV="1">
            <a:off x="2131695" y="1816054"/>
            <a:ext cx="497337" cy="101729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63F9F1C-AC80-4507-94B3-DF5FAC3D155E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>
            <a:off x="2131695" y="3041457"/>
            <a:ext cx="484033" cy="9349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1780790-7346-4886-B5EE-AB3862BAE6C2}"/>
              </a:ext>
            </a:extLst>
          </p:cNvPr>
          <p:cNvCxnSpPr>
            <a:cxnSpLocks/>
            <a:stCxn id="114" idx="3"/>
          </p:cNvCxnSpPr>
          <p:nvPr/>
        </p:nvCxnSpPr>
        <p:spPr>
          <a:xfrm flipV="1">
            <a:off x="4013830" y="1945457"/>
            <a:ext cx="963221" cy="3962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9EB4F4D-E780-4D8E-A282-B23942B0101A}"/>
              </a:ext>
            </a:extLst>
          </p:cNvPr>
          <p:cNvCxnSpPr>
            <a:cxnSpLocks/>
            <a:stCxn id="113" idx="3"/>
          </p:cNvCxnSpPr>
          <p:nvPr/>
        </p:nvCxnSpPr>
        <p:spPr>
          <a:xfrm flipV="1">
            <a:off x="4013835" y="1560856"/>
            <a:ext cx="688960" cy="57024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1FD249A-73B4-41C3-8566-F96C137AA8AF}"/>
              </a:ext>
            </a:extLst>
          </p:cNvPr>
          <p:cNvGrpSpPr/>
          <p:nvPr/>
        </p:nvGrpSpPr>
        <p:grpSpPr>
          <a:xfrm>
            <a:off x="4653681" y="3757000"/>
            <a:ext cx="735393" cy="1022487"/>
            <a:chOff x="4559919" y="899141"/>
            <a:chExt cx="735393" cy="1022487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440D27D-EB10-47E1-BA08-E3A2A28CC5E4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82A40C1-5F44-4BA1-B2B5-1F5EC574793C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3CC4C0D-B668-4513-9FCC-3B5711585DE1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02F6ADA-CF35-48BF-A9C9-E30A8EFDF00E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FEA2408-287E-4126-9CA1-172066C99B4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5A86EF7-FFFA-4DAE-AA2B-6D792E883B3C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11FA7E7-65BE-47DB-8982-1D2B96CDC2C9}"/>
              </a:ext>
            </a:extLst>
          </p:cNvPr>
          <p:cNvGrpSpPr/>
          <p:nvPr/>
        </p:nvGrpSpPr>
        <p:grpSpPr>
          <a:xfrm>
            <a:off x="5643768" y="3755606"/>
            <a:ext cx="735393" cy="1022487"/>
            <a:chOff x="4559919" y="899141"/>
            <a:chExt cx="735393" cy="1022487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B55B7D6-FEF0-4D52-9ED8-DD5E3C771CD4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3BDA005-6FCC-4A76-B785-9B69CBA7D7EC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96A4318-6812-4418-9E45-F3E6F8BCB88A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64203D1-8F56-4BB4-94CC-0DE83F7D62F6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2EFB3F7-2233-4B77-9FBB-9A7CCB4343F1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A002A3D-0A1D-4186-84D6-DCE985CA2469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B9DF742-697D-4BA0-A033-5C3F57DA6AF9}"/>
              </a:ext>
            </a:extLst>
          </p:cNvPr>
          <p:cNvGrpSpPr/>
          <p:nvPr/>
        </p:nvGrpSpPr>
        <p:grpSpPr>
          <a:xfrm>
            <a:off x="6639033" y="3763772"/>
            <a:ext cx="735393" cy="1022487"/>
            <a:chOff x="4559919" y="899141"/>
            <a:chExt cx="735393" cy="1022487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090625A-964B-4447-9B0B-AA00171D3BCF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FDC74D0-E177-4503-8476-34A2DA45FE1E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09EA86E-2FA6-4002-8ADF-9EFDEED6E957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18BA525-F5F8-4917-BA41-2BEEA6522C97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03AE197-1348-4EB2-8073-521D5CAA4DBE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9EC013E-A4B2-4966-AC5A-2CF2B8AD4EE5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FE71D5-6781-4778-AFBB-F4844AA7AE4B}"/>
              </a:ext>
            </a:extLst>
          </p:cNvPr>
          <p:cNvCxnSpPr>
            <a:cxnSpLocks/>
            <a:stCxn id="88" idx="0"/>
            <a:endCxn id="94" idx="2"/>
          </p:cNvCxnSpPr>
          <p:nvPr/>
        </p:nvCxnSpPr>
        <p:spPr>
          <a:xfrm flipV="1">
            <a:off x="5389074" y="4392556"/>
            <a:ext cx="254695" cy="2331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D2E820-297A-4052-9FB1-8ACC172ACA53}"/>
              </a:ext>
            </a:extLst>
          </p:cNvPr>
          <p:cNvCxnSpPr>
            <a:stCxn id="97" idx="0"/>
            <a:endCxn id="101" idx="2"/>
          </p:cNvCxnSpPr>
          <p:nvPr/>
        </p:nvCxnSpPr>
        <p:spPr>
          <a:xfrm>
            <a:off x="6379161" y="4393493"/>
            <a:ext cx="259873" cy="7229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8FB35EE-69BF-4819-BCCC-1602C369DEAA}"/>
              </a:ext>
            </a:extLst>
          </p:cNvPr>
          <p:cNvSpPr txBox="1"/>
          <p:nvPr/>
        </p:nvSpPr>
        <p:spPr>
          <a:xfrm>
            <a:off x="7478404" y="2049526"/>
            <a:ext cx="1527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free this object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9D4D3C8-4782-4CC1-AF2F-193F5295153B}"/>
              </a:ext>
            </a:extLst>
          </p:cNvPr>
          <p:cNvCxnSpPr>
            <a:stCxn id="91" idx="3"/>
            <a:endCxn id="85" idx="2"/>
          </p:cNvCxnSpPr>
          <p:nvPr/>
        </p:nvCxnSpPr>
        <p:spPr>
          <a:xfrm>
            <a:off x="4250054" y="4289889"/>
            <a:ext cx="403628" cy="104061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879C8F3-DF60-4F28-845E-86F3A5BC48A4}"/>
              </a:ext>
            </a:extLst>
          </p:cNvPr>
          <p:cNvGrpSpPr/>
          <p:nvPr/>
        </p:nvGrpSpPr>
        <p:grpSpPr>
          <a:xfrm>
            <a:off x="5181308" y="2145895"/>
            <a:ext cx="735393" cy="1022487"/>
            <a:chOff x="4559919" y="899141"/>
            <a:chExt cx="735393" cy="1022487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E6B5917-A5FA-4716-ABD6-16A2DAE3AFB5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3AB6D44-6789-4372-AA0B-C49EBEBC6FC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B76F0DF-B804-49E6-8803-EF489A5B3E60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23113B4-E5E6-4F53-862E-64B1CFE729DB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AE5C609-2784-48BB-8292-D4C0DD983AB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14C89A1-5F16-4BF3-8825-86A9EA3F386D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ED847AC-D6A7-405F-97B9-6E1135F1740E}"/>
              </a:ext>
            </a:extLst>
          </p:cNvPr>
          <p:cNvCxnSpPr>
            <a:cxnSpLocks/>
            <a:stCxn id="130" idx="0"/>
          </p:cNvCxnSpPr>
          <p:nvPr/>
        </p:nvCxnSpPr>
        <p:spPr>
          <a:xfrm flipV="1">
            <a:off x="5916701" y="2782844"/>
            <a:ext cx="701844" cy="93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09F2754C-D3D5-4AB8-AC5B-20FC44BF237F}"/>
              </a:ext>
            </a:extLst>
          </p:cNvPr>
          <p:cNvSpPr txBox="1"/>
          <p:nvPr/>
        </p:nvSpPr>
        <p:spPr>
          <a:xfrm>
            <a:off x="5864126" y="2538404"/>
            <a:ext cx="989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page-&gt;next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F0C506B-FA20-42AA-97BE-23BB149207E8}"/>
              </a:ext>
            </a:extLst>
          </p:cNvPr>
          <p:cNvSpPr/>
          <p:nvPr/>
        </p:nvSpPr>
        <p:spPr>
          <a:xfrm>
            <a:off x="5049702" y="2126563"/>
            <a:ext cx="1679775" cy="1101962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FD5112AE-F3A4-40DE-A18D-BAC51A6D98D9}"/>
              </a:ext>
            </a:extLst>
          </p:cNvPr>
          <p:cNvCxnSpPr/>
          <p:nvPr/>
        </p:nvCxnSpPr>
        <p:spPr>
          <a:xfrm>
            <a:off x="6618545" y="2782844"/>
            <a:ext cx="0" cy="119829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3A14F3F-1D52-48C6-A556-0DF57BC40EE3}"/>
              </a:ext>
            </a:extLst>
          </p:cNvPr>
          <p:cNvCxnSpPr>
            <a:cxnSpLocks/>
          </p:cNvCxnSpPr>
          <p:nvPr/>
        </p:nvCxnSpPr>
        <p:spPr>
          <a:xfrm>
            <a:off x="6510337" y="2902673"/>
            <a:ext cx="196496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7C72D2E-8693-4796-BE63-11EFFB16D8A5}"/>
              </a:ext>
            </a:extLst>
          </p:cNvPr>
          <p:cNvCxnSpPr>
            <a:cxnSpLocks/>
          </p:cNvCxnSpPr>
          <p:nvPr/>
        </p:nvCxnSpPr>
        <p:spPr>
          <a:xfrm>
            <a:off x="6527005" y="2936230"/>
            <a:ext cx="157163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D33DCFC-3E8D-4168-A9C0-A7BAF26720E8}"/>
              </a:ext>
            </a:extLst>
          </p:cNvPr>
          <p:cNvCxnSpPr>
            <a:cxnSpLocks/>
          </p:cNvCxnSpPr>
          <p:nvPr/>
        </p:nvCxnSpPr>
        <p:spPr>
          <a:xfrm>
            <a:off x="6562726" y="2969568"/>
            <a:ext cx="95249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2E7856C-ED60-43AD-B38E-62CF45130E82}"/>
              </a:ext>
            </a:extLst>
          </p:cNvPr>
          <p:cNvSpPr/>
          <p:nvPr/>
        </p:nvSpPr>
        <p:spPr>
          <a:xfrm>
            <a:off x="6734175" y="2038350"/>
            <a:ext cx="302638" cy="657225"/>
          </a:xfrm>
          <a:custGeom>
            <a:avLst/>
            <a:gdLst>
              <a:gd name="connsiteX0" fmla="*/ 133350 w 302638"/>
              <a:gd name="connsiteY0" fmla="*/ 0 h 657225"/>
              <a:gd name="connsiteX1" fmla="*/ 285750 w 302638"/>
              <a:gd name="connsiteY1" fmla="*/ 419100 h 657225"/>
              <a:gd name="connsiteX2" fmla="*/ 266700 w 302638"/>
              <a:gd name="connsiteY2" fmla="*/ 600075 h 657225"/>
              <a:gd name="connsiteX3" fmla="*/ 0 w 302638"/>
              <a:gd name="connsiteY3" fmla="*/ 657225 h 657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638" h="657225">
                <a:moveTo>
                  <a:pt x="133350" y="0"/>
                </a:moveTo>
                <a:cubicBezTo>
                  <a:pt x="198437" y="159544"/>
                  <a:pt x="263525" y="319088"/>
                  <a:pt x="285750" y="419100"/>
                </a:cubicBezTo>
                <a:cubicBezTo>
                  <a:pt x="307975" y="519112"/>
                  <a:pt x="314325" y="560388"/>
                  <a:pt x="266700" y="600075"/>
                </a:cubicBezTo>
                <a:cubicBezTo>
                  <a:pt x="219075" y="639762"/>
                  <a:pt x="109537" y="648493"/>
                  <a:pt x="0" y="657225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987E98F-AB54-4BC3-AA73-665B7A125534}"/>
              </a:ext>
            </a:extLst>
          </p:cNvPr>
          <p:cNvSpPr txBox="1"/>
          <p:nvPr/>
        </p:nvSpPr>
        <p:spPr>
          <a:xfrm>
            <a:off x="7073339" y="2404922"/>
            <a:ext cx="2608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</a:rPr>
              <a:t>put_cpu_partial</a:t>
            </a:r>
            <a:r>
              <a:rPr lang="en-US" sz="1400" b="1" dirty="0">
                <a:solidFill>
                  <a:srgbClr val="C00000"/>
                </a:solidFill>
              </a:rPr>
              <a:t>(): Move this page to </a:t>
            </a:r>
            <a:r>
              <a:rPr lang="en-US" sz="1400" b="1" dirty="0" err="1">
                <a:solidFill>
                  <a:srgbClr val="C00000"/>
                </a:solidFill>
              </a:rPr>
              <a:t>percpu</a:t>
            </a:r>
            <a:r>
              <a:rPr lang="en-US" sz="1400" b="1" dirty="0">
                <a:solidFill>
                  <a:srgbClr val="C00000"/>
                </a:solidFill>
              </a:rPr>
              <a:t> partial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2981B3DC-DF0A-44F0-810A-D139307B5159}"/>
              </a:ext>
            </a:extLst>
          </p:cNvPr>
          <p:cNvSpPr/>
          <p:nvPr/>
        </p:nvSpPr>
        <p:spPr>
          <a:xfrm>
            <a:off x="4535202" y="4920261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D5858333-4AE5-4465-AA9B-480FE4E1F91D}"/>
              </a:ext>
            </a:extLst>
          </p:cNvPr>
          <p:cNvSpPr/>
          <p:nvPr/>
        </p:nvSpPr>
        <p:spPr>
          <a:xfrm>
            <a:off x="6923500" y="2334737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0237C99-F0F1-48DD-8075-586D27300A08}"/>
              </a:ext>
            </a:extLst>
          </p:cNvPr>
          <p:cNvSpPr txBox="1"/>
          <p:nvPr/>
        </p:nvSpPr>
        <p:spPr>
          <a:xfrm>
            <a:off x="4738246" y="4844408"/>
            <a:ext cx="5562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if available objects &gt; </a:t>
            </a:r>
            <a:r>
              <a:rPr lang="en-US" sz="1400" b="1" dirty="0" err="1">
                <a:solidFill>
                  <a:srgbClr val="C00000"/>
                </a:solidFill>
              </a:rPr>
              <a:t>kmem_cache</a:t>
            </a:r>
            <a:r>
              <a:rPr lang="en-US" sz="1400" b="1" dirty="0">
                <a:solidFill>
                  <a:srgbClr val="C00000"/>
                </a:solidFill>
              </a:rPr>
              <a:t>-&gt;</a:t>
            </a:r>
            <a:r>
              <a:rPr lang="en-US" sz="1400" b="1" dirty="0" err="1">
                <a:solidFill>
                  <a:srgbClr val="C00000"/>
                </a:solidFill>
              </a:rPr>
              <a:t>cpu_partial</a:t>
            </a:r>
            <a:r>
              <a:rPr lang="en-US" sz="1400" b="1" dirty="0">
                <a:solidFill>
                  <a:srgbClr val="C00000"/>
                </a:solidFill>
              </a:rPr>
              <a:t> &amp;&amp; </a:t>
            </a:r>
            <a:r>
              <a:rPr lang="en-US" sz="1400" b="1" dirty="0" err="1">
                <a:solidFill>
                  <a:srgbClr val="C00000"/>
                </a:solidFill>
              </a:rPr>
              <a:t>want_to_drain</a:t>
            </a:r>
            <a:endParaRPr lang="en-US" sz="1400" b="1" dirty="0">
              <a:solidFill>
                <a:srgbClr val="C00000"/>
              </a:solidFill>
            </a:endParaRPr>
          </a:p>
          <a:p>
            <a:r>
              <a:rPr lang="en-US" sz="1400" b="1" dirty="0">
                <a:solidFill>
                  <a:srgbClr val="C00000"/>
                </a:solidFill>
              </a:rPr>
              <a:t>        call </a:t>
            </a:r>
            <a:r>
              <a:rPr lang="en-US" sz="1400" b="1" dirty="0" err="1">
                <a:solidFill>
                  <a:srgbClr val="C00000"/>
                </a:solidFill>
              </a:rPr>
              <a:t>unfreeze_partials</a:t>
            </a:r>
            <a:r>
              <a:rPr lang="en-US" sz="1400" b="1" dirty="0">
                <a:solidFill>
                  <a:srgbClr val="C00000"/>
                </a:solidFill>
              </a:rPr>
              <a:t>() to move </a:t>
            </a:r>
            <a:r>
              <a:rPr lang="en-US" sz="1400" b="1" dirty="0" err="1">
                <a:solidFill>
                  <a:srgbClr val="C00000"/>
                </a:solidFill>
              </a:rPr>
              <a:t>percpu</a:t>
            </a:r>
            <a:r>
              <a:rPr lang="en-US" sz="1400" b="1" dirty="0">
                <a:solidFill>
                  <a:srgbClr val="C00000"/>
                </a:solidFill>
              </a:rPr>
              <a:t> partial pages to node partial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9007D3C-DAE5-4A07-B50D-90BDDDD0293C}"/>
              </a:ext>
            </a:extLst>
          </p:cNvPr>
          <p:cNvSpPr/>
          <p:nvPr/>
        </p:nvSpPr>
        <p:spPr>
          <a:xfrm>
            <a:off x="4516397" y="3660112"/>
            <a:ext cx="3021923" cy="1184295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805EBB10-527C-4C34-94AC-4EF6D1CA6B6F}"/>
              </a:ext>
            </a:extLst>
          </p:cNvPr>
          <p:cNvCxnSpPr/>
          <p:nvPr/>
        </p:nvCxnSpPr>
        <p:spPr>
          <a:xfrm>
            <a:off x="6373334" y="1945456"/>
            <a:ext cx="151613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5302B34-1794-4037-8AEB-4F1AC252E5D7}"/>
              </a:ext>
            </a:extLst>
          </p:cNvPr>
          <p:cNvGrpSpPr/>
          <p:nvPr/>
        </p:nvGrpSpPr>
        <p:grpSpPr>
          <a:xfrm>
            <a:off x="4702794" y="923906"/>
            <a:ext cx="735393" cy="1021551"/>
            <a:chOff x="4559919" y="899141"/>
            <a:chExt cx="735393" cy="1021551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CEA735FE-0440-4FF0-AB4D-A50C6AD1E1D9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FC6EF1DC-2ED4-4798-8E3E-4060CE8152E6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F6DABDF-E10D-4585-AC26-E1727CC38460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75976527-2762-4083-9C39-CDAB2BB8D388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C7674BF-1FE6-436C-AC12-6E22787B1110}"/>
                </a:ext>
              </a:extLst>
            </p:cNvPr>
            <p:cNvSpPr/>
            <p:nvPr/>
          </p:nvSpPr>
          <p:spPr>
            <a:xfrm rot="5400000">
              <a:off x="4818358" y="143832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5072A4A-A201-4B34-BC0F-6148CD77E498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7FE9DF4-6A4A-478E-A37C-019E90C83FE8}"/>
              </a:ext>
            </a:extLst>
          </p:cNvPr>
          <p:cNvGrpSpPr/>
          <p:nvPr/>
        </p:nvGrpSpPr>
        <p:grpSpPr>
          <a:xfrm>
            <a:off x="5714615" y="923906"/>
            <a:ext cx="735393" cy="1021551"/>
            <a:chOff x="4559919" y="899141"/>
            <a:chExt cx="735393" cy="1021551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799BAEE5-50D7-4222-8457-6B862056D9C4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D08FABEF-0929-4D33-AA37-73222104E1AF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3ABD7023-ACF5-4DFF-AD2A-A1727EE66236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F8B99C6-0028-47B2-B2C5-82E99E2ED0E8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CA171D38-6F29-467D-B283-521F36118537}"/>
                </a:ext>
              </a:extLst>
            </p:cNvPr>
            <p:cNvSpPr/>
            <p:nvPr/>
          </p:nvSpPr>
          <p:spPr>
            <a:xfrm rot="5400000">
              <a:off x="4818358" y="143832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607E7A94-FC0F-43A1-AFC7-B565A0B6B420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7EBC3B3C-36B5-4E06-B866-6133F61AA006}"/>
              </a:ext>
            </a:extLst>
          </p:cNvPr>
          <p:cNvGrpSpPr/>
          <p:nvPr/>
        </p:nvGrpSpPr>
        <p:grpSpPr>
          <a:xfrm>
            <a:off x="6704452" y="920164"/>
            <a:ext cx="735393" cy="1022487"/>
            <a:chOff x="4559919" y="899141"/>
            <a:chExt cx="735393" cy="1022487"/>
          </a:xfrm>
        </p:grpSpPr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DACD5F41-4007-44D2-869B-1AB63A749D21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B7012D27-C82E-4EC3-9C6C-0D11740025A9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DB98034-E580-42E0-8ABC-C7EC598F344E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2A239873-8917-4E62-892F-412D31BD8C8B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5B919108-5CFF-49FA-A865-15083F2711B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BDEF3F-315E-48FC-AE19-7B5B442D02A1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sp>
        <p:nvSpPr>
          <p:cNvPr id="199" name="TextBox 198">
            <a:extLst>
              <a:ext uri="{FF2B5EF4-FFF2-40B4-BE49-F238E27FC236}">
                <a16:creationId xmlns:a16="http://schemas.microsoft.com/office/drawing/2014/main" id="{98DCA134-1CFE-46D4-A4A8-CFCC79D0FA9D}"/>
              </a:ext>
            </a:extLst>
          </p:cNvPr>
          <p:cNvSpPr txBox="1"/>
          <p:nvPr/>
        </p:nvSpPr>
        <p:spPr>
          <a:xfrm>
            <a:off x="7440472" y="1212291"/>
            <a:ext cx="400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..</a:t>
            </a: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65981F2-6582-4C88-8E5E-5EF35DF83A3F}"/>
              </a:ext>
            </a:extLst>
          </p:cNvPr>
          <p:cNvGrpSpPr/>
          <p:nvPr/>
        </p:nvGrpSpPr>
        <p:grpSpPr>
          <a:xfrm>
            <a:off x="7771590" y="923906"/>
            <a:ext cx="735393" cy="1021551"/>
            <a:chOff x="4559919" y="899141"/>
            <a:chExt cx="735393" cy="1021551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A91E844B-8BAA-449C-93BD-E9CA0AA35F03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237DF896-E45F-42F9-A930-187F6E0E1080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755A79F3-738C-4101-AA57-AE336986F8A4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994B07DE-3A40-4F37-8083-E58A82969599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549B9CA8-626A-4D90-A6DD-37268AC562D8}"/>
                </a:ext>
              </a:extLst>
            </p:cNvPr>
            <p:cNvSpPr/>
            <p:nvPr/>
          </p:nvSpPr>
          <p:spPr>
            <a:xfrm rot="5400000">
              <a:off x="4818358" y="1439911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2DCEC992-3686-4A88-BC3E-267ACCCAFB31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3AB1CA45-37C9-433E-A6EF-7F70710D83D5}"/>
              </a:ext>
            </a:extLst>
          </p:cNvPr>
          <p:cNvCxnSpPr/>
          <p:nvPr/>
        </p:nvCxnSpPr>
        <p:spPr>
          <a:xfrm>
            <a:off x="6437354" y="985617"/>
            <a:ext cx="151613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FC9A7EA-B2F6-49DB-B236-1BA065428F94}"/>
              </a:ext>
            </a:extLst>
          </p:cNvPr>
          <p:cNvSpPr/>
          <p:nvPr/>
        </p:nvSpPr>
        <p:spPr>
          <a:xfrm>
            <a:off x="6631108" y="923906"/>
            <a:ext cx="869593" cy="1101964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E9AE59B2-17DD-4070-93EB-9B3C4D3F9F0C}"/>
              </a:ext>
            </a:extLst>
          </p:cNvPr>
          <p:cNvSpPr/>
          <p:nvPr/>
        </p:nvSpPr>
        <p:spPr>
          <a:xfrm>
            <a:off x="6978014" y="1906904"/>
            <a:ext cx="547907" cy="300698"/>
          </a:xfrm>
          <a:custGeom>
            <a:avLst/>
            <a:gdLst>
              <a:gd name="connsiteX0" fmla="*/ 243840 w 243840"/>
              <a:gd name="connsiteY0" fmla="*/ 99060 h 99304"/>
              <a:gd name="connsiteX1" fmla="*/ 45720 w 243840"/>
              <a:gd name="connsiteY1" fmla="*/ 83820 h 99304"/>
              <a:gd name="connsiteX2" fmla="*/ 0 w 243840"/>
              <a:gd name="connsiteY2" fmla="*/ 0 h 99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" h="99304">
                <a:moveTo>
                  <a:pt x="243840" y="99060"/>
                </a:moveTo>
                <a:cubicBezTo>
                  <a:pt x="165100" y="99695"/>
                  <a:pt x="86360" y="100330"/>
                  <a:pt x="45720" y="83820"/>
                </a:cubicBezTo>
                <a:cubicBezTo>
                  <a:pt x="5080" y="67310"/>
                  <a:pt x="6350" y="10160"/>
                  <a:pt x="0" y="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91C3083E-F4BD-4282-A950-B88C9355C644}"/>
              </a:ext>
            </a:extLst>
          </p:cNvPr>
          <p:cNvSpPr/>
          <p:nvPr/>
        </p:nvSpPr>
        <p:spPr>
          <a:xfrm>
            <a:off x="7188286" y="2055505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0BDC5CB-A0D4-496C-B7AB-C2D0B2852772}"/>
              </a:ext>
            </a:extLst>
          </p:cNvPr>
          <p:cNvSpPr txBox="1"/>
          <p:nvPr/>
        </p:nvSpPr>
        <p:spPr>
          <a:xfrm>
            <a:off x="5885910" y="644275"/>
            <a:ext cx="2621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Fully-allocated objects of pages</a:t>
            </a:r>
          </a:p>
        </p:txBody>
      </p:sp>
    </p:spTree>
    <p:extLst>
      <p:ext uri="{BB962C8B-B14F-4D97-AF65-F5344CB8AC3E}">
        <p14:creationId xmlns:p14="http://schemas.microsoft.com/office/powerpoint/2010/main" val="346951805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13056" y="2471611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13056" y="2728117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13056" y="2936230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2629032" y="1599447"/>
            <a:ext cx="1384803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2629032" y="2025872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2629027" y="2236490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2629030" y="2446685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2615728" y="3757298"/>
            <a:ext cx="1634327" cy="4382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0)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2615727" y="4184662"/>
            <a:ext cx="163432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2615726" y="4548426"/>
            <a:ext cx="1634323" cy="4517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1)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2615725" y="4975791"/>
            <a:ext cx="163432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2449517" y="5169942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cxnSpLocks/>
          </p:cNvCxnSpPr>
          <p:nvPr/>
        </p:nvCxnSpPr>
        <p:spPr>
          <a:xfrm flipH="1">
            <a:off x="2615719" y="4164890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" y="-86213"/>
            <a:ext cx="12259408" cy="689951"/>
          </a:xfrm>
        </p:spPr>
        <p:txBody>
          <a:bodyPr>
            <a:noAutofit/>
          </a:bodyPr>
          <a:lstStyle/>
          <a:p>
            <a:r>
              <a:rPr lang="en-US" sz="3600" dirty="0" err="1">
                <a:solidFill>
                  <a:schemeClr val="tx1"/>
                </a:solidFill>
              </a:rPr>
              <a:t>slowpath</a:t>
            </a:r>
            <a:r>
              <a:rPr lang="en-US" sz="3600" dirty="0">
                <a:solidFill>
                  <a:schemeClr val="tx1"/>
                </a:solidFill>
              </a:rPr>
              <a:t> #2: </a:t>
            </a:r>
            <a:r>
              <a:rPr lang="en-US" sz="3600" dirty="0" err="1">
                <a:solidFill>
                  <a:schemeClr val="tx1"/>
                </a:solidFill>
              </a:rPr>
              <a:t>add_partial</a:t>
            </a:r>
            <a:r>
              <a:rPr lang="en-US" sz="3600" dirty="0">
                <a:solidFill>
                  <a:schemeClr val="tx1"/>
                </a:solidFill>
              </a:rPr>
              <a:t>() – Move a page to node partial</a:t>
            </a:r>
            <a:endParaRPr lang="en-US" sz="3600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9718F84-5915-4F1B-898E-9E51257A051B}"/>
              </a:ext>
            </a:extLst>
          </p:cNvPr>
          <p:cNvCxnSpPr>
            <a:cxnSpLocks/>
          </p:cNvCxnSpPr>
          <p:nvPr/>
        </p:nvCxnSpPr>
        <p:spPr>
          <a:xfrm flipH="1">
            <a:off x="4250046" y="4211094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38E9A7-39EF-4A8A-A583-00235FCCF53E}"/>
              </a:ext>
            </a:extLst>
          </p:cNvPr>
          <p:cNvCxnSpPr>
            <a:stCxn id="24" idx="3"/>
            <a:endCxn id="112" idx="1"/>
          </p:cNvCxnSpPr>
          <p:nvPr/>
        </p:nvCxnSpPr>
        <p:spPr>
          <a:xfrm flipV="1">
            <a:off x="2131695" y="1816054"/>
            <a:ext cx="497337" cy="101729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63F9F1C-AC80-4507-94B3-DF5FAC3D155E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>
            <a:off x="2131695" y="3041457"/>
            <a:ext cx="484033" cy="9349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1780790-7346-4886-B5EE-AB3862BAE6C2}"/>
              </a:ext>
            </a:extLst>
          </p:cNvPr>
          <p:cNvCxnSpPr>
            <a:cxnSpLocks/>
            <a:stCxn id="114" idx="3"/>
          </p:cNvCxnSpPr>
          <p:nvPr/>
        </p:nvCxnSpPr>
        <p:spPr>
          <a:xfrm flipV="1">
            <a:off x="4013830" y="1945457"/>
            <a:ext cx="963221" cy="3962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9EB4F4D-E780-4D8E-A282-B23942B0101A}"/>
              </a:ext>
            </a:extLst>
          </p:cNvPr>
          <p:cNvCxnSpPr>
            <a:cxnSpLocks/>
            <a:stCxn id="113" idx="3"/>
          </p:cNvCxnSpPr>
          <p:nvPr/>
        </p:nvCxnSpPr>
        <p:spPr>
          <a:xfrm flipV="1">
            <a:off x="4013835" y="1560856"/>
            <a:ext cx="688960" cy="57024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8FB35EE-69BF-4819-BCCC-1602C369DEAA}"/>
              </a:ext>
            </a:extLst>
          </p:cNvPr>
          <p:cNvSpPr txBox="1"/>
          <p:nvPr/>
        </p:nvSpPr>
        <p:spPr>
          <a:xfrm>
            <a:off x="7478404" y="2049526"/>
            <a:ext cx="1527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free this object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9D4D3C8-4782-4CC1-AF2F-193F5295153B}"/>
              </a:ext>
            </a:extLst>
          </p:cNvPr>
          <p:cNvCxnSpPr>
            <a:cxnSpLocks/>
            <a:stCxn id="91" idx="3"/>
            <a:endCxn id="126" idx="2"/>
          </p:cNvCxnSpPr>
          <p:nvPr/>
        </p:nvCxnSpPr>
        <p:spPr>
          <a:xfrm>
            <a:off x="4250054" y="4289889"/>
            <a:ext cx="470811" cy="20700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879C8F3-DF60-4F28-845E-86F3A5BC48A4}"/>
              </a:ext>
            </a:extLst>
          </p:cNvPr>
          <p:cNvGrpSpPr/>
          <p:nvPr/>
        </p:nvGrpSpPr>
        <p:grpSpPr>
          <a:xfrm>
            <a:off x="4720864" y="3859941"/>
            <a:ext cx="735393" cy="1022487"/>
            <a:chOff x="4559919" y="899141"/>
            <a:chExt cx="735393" cy="1022487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E6B5917-A5FA-4716-ABD6-16A2DAE3AFB5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3AB6D44-6789-4372-AA0B-C49EBEBC6FC2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B76F0DF-B804-49E6-8803-EF489A5B3E60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23113B4-E5E6-4F53-862E-64B1CFE729DB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AE5C609-2784-48BB-8292-D4C0DD983AB8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14C89A1-5F16-4BF3-8825-86A9EA3F386D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F0C506B-FA20-42AA-97BE-23BB149207E8}"/>
              </a:ext>
            </a:extLst>
          </p:cNvPr>
          <p:cNvSpPr/>
          <p:nvPr/>
        </p:nvSpPr>
        <p:spPr>
          <a:xfrm>
            <a:off x="4589258" y="3840609"/>
            <a:ext cx="1307257" cy="1101962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987E98F-AB54-4BC3-AA73-665B7A125534}"/>
              </a:ext>
            </a:extLst>
          </p:cNvPr>
          <p:cNvSpPr txBox="1"/>
          <p:nvPr/>
        </p:nvSpPr>
        <p:spPr>
          <a:xfrm>
            <a:off x="6054577" y="3262640"/>
            <a:ext cx="55373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rgbClr val="C00000"/>
                </a:solidFill>
              </a:rPr>
              <a:t>CONFIG_SLUB_DEBUG=y &amp;&amp; CONFIG_SLUB_DEBUG_ON=y &amp;&amp; !page-&gt;</a:t>
            </a:r>
            <a:r>
              <a:rPr lang="en-US" sz="1400" b="1" dirty="0" err="1">
                <a:solidFill>
                  <a:srgbClr val="C00000"/>
                </a:solidFill>
              </a:rPr>
              <a:t>freelist</a:t>
            </a:r>
            <a:r>
              <a:rPr lang="en-US" sz="1400" b="1" dirty="0">
                <a:solidFill>
                  <a:srgbClr val="C00000"/>
                </a:solidFill>
              </a:rPr>
              <a:t> (in </a:t>
            </a:r>
            <a:r>
              <a:rPr lang="en-US" sz="1400" b="1" dirty="0" err="1">
                <a:solidFill>
                  <a:srgbClr val="C00000"/>
                </a:solidFill>
              </a:rPr>
              <a:t>percpu</a:t>
            </a:r>
            <a:r>
              <a:rPr lang="en-US" sz="1400" b="1" dirty="0">
                <a:solidFill>
                  <a:srgbClr val="C00000"/>
                </a:solidFill>
              </a:rPr>
              <a:t> cache or page is full of objects)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b="1" dirty="0" err="1">
                <a:solidFill>
                  <a:srgbClr val="C00000"/>
                </a:solidFill>
              </a:rPr>
              <a:t>add_partial</a:t>
            </a:r>
            <a:r>
              <a:rPr lang="en-US" sz="1400" b="1" dirty="0">
                <a:solidFill>
                  <a:srgbClr val="C00000"/>
                </a:solidFill>
              </a:rPr>
              <a:t>(): Move this page to node partial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3E8A948-0A64-4D90-AA32-0B6834AA5C80}"/>
              </a:ext>
            </a:extLst>
          </p:cNvPr>
          <p:cNvSpPr/>
          <p:nvPr/>
        </p:nvSpPr>
        <p:spPr>
          <a:xfrm>
            <a:off x="4248150" y="3524250"/>
            <a:ext cx="1525099" cy="971550"/>
          </a:xfrm>
          <a:custGeom>
            <a:avLst/>
            <a:gdLst>
              <a:gd name="connsiteX0" fmla="*/ 1209675 w 1525099"/>
              <a:gd name="connsiteY0" fmla="*/ 971550 h 971550"/>
              <a:gd name="connsiteX1" fmla="*/ 1524000 w 1525099"/>
              <a:gd name="connsiteY1" fmla="*/ 733425 h 971550"/>
              <a:gd name="connsiteX2" fmla="*/ 1285875 w 1525099"/>
              <a:gd name="connsiteY2" fmla="*/ 133350 h 971550"/>
              <a:gd name="connsiteX3" fmla="*/ 609600 w 1525099"/>
              <a:gd name="connsiteY3" fmla="*/ 47625 h 971550"/>
              <a:gd name="connsiteX4" fmla="*/ 0 w 1525099"/>
              <a:gd name="connsiteY4" fmla="*/ 733425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5099" h="971550">
                <a:moveTo>
                  <a:pt x="1209675" y="971550"/>
                </a:moveTo>
                <a:cubicBezTo>
                  <a:pt x="1360487" y="922337"/>
                  <a:pt x="1511300" y="873125"/>
                  <a:pt x="1524000" y="733425"/>
                </a:cubicBezTo>
                <a:cubicBezTo>
                  <a:pt x="1536700" y="593725"/>
                  <a:pt x="1438275" y="247650"/>
                  <a:pt x="1285875" y="133350"/>
                </a:cubicBezTo>
                <a:cubicBezTo>
                  <a:pt x="1133475" y="19050"/>
                  <a:pt x="823912" y="-52388"/>
                  <a:pt x="609600" y="47625"/>
                </a:cubicBezTo>
                <a:cubicBezTo>
                  <a:pt x="395287" y="147637"/>
                  <a:pt x="197643" y="440531"/>
                  <a:pt x="0" y="733425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AA8769-60E7-43CB-B9C3-312A24806705}"/>
              </a:ext>
            </a:extLst>
          </p:cNvPr>
          <p:cNvCxnSpPr>
            <a:cxnSpLocks/>
          </p:cNvCxnSpPr>
          <p:nvPr/>
        </p:nvCxnSpPr>
        <p:spPr>
          <a:xfrm flipH="1">
            <a:off x="5688538" y="2032660"/>
            <a:ext cx="1120525" cy="1807949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34A03832-DF77-400C-BCF3-6DF96B7D7EDA}"/>
              </a:ext>
            </a:extLst>
          </p:cNvPr>
          <p:cNvSpPr/>
          <p:nvPr/>
        </p:nvSpPr>
        <p:spPr>
          <a:xfrm>
            <a:off x="5826019" y="3286029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E59497D-C24C-49E6-B6A3-F0CE556FE8CA}"/>
              </a:ext>
            </a:extLst>
          </p:cNvPr>
          <p:cNvCxnSpPr/>
          <p:nvPr/>
        </p:nvCxnSpPr>
        <p:spPr>
          <a:xfrm>
            <a:off x="6373334" y="1945456"/>
            <a:ext cx="151613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00724AE-FDF8-4426-9233-9A8748F9469E}"/>
              </a:ext>
            </a:extLst>
          </p:cNvPr>
          <p:cNvGrpSpPr/>
          <p:nvPr/>
        </p:nvGrpSpPr>
        <p:grpSpPr>
          <a:xfrm>
            <a:off x="4702794" y="923906"/>
            <a:ext cx="735393" cy="1021551"/>
            <a:chOff x="4559919" y="899141"/>
            <a:chExt cx="735393" cy="1021551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D36B4B8-6484-48EB-821F-F3BFE423BA3E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FA7D036-77B9-4111-B01F-422C4FA932DD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4BC1964-7E04-4B09-8F6B-ECC9D3BC398E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E92E95B4-62FE-4710-9DAF-0A3F4BCA0BD7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06325D5-B65D-4B9D-8486-1C70D21D2052}"/>
                </a:ext>
              </a:extLst>
            </p:cNvPr>
            <p:cNvSpPr/>
            <p:nvPr/>
          </p:nvSpPr>
          <p:spPr>
            <a:xfrm rot="5400000">
              <a:off x="4818358" y="143832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6B3F0135-7C20-425D-BB54-622E5C8C2D3C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776164B-8A17-417C-8956-1476389EF7F7}"/>
              </a:ext>
            </a:extLst>
          </p:cNvPr>
          <p:cNvGrpSpPr/>
          <p:nvPr/>
        </p:nvGrpSpPr>
        <p:grpSpPr>
          <a:xfrm>
            <a:off x="5714615" y="923906"/>
            <a:ext cx="735393" cy="1021551"/>
            <a:chOff x="4559919" y="899141"/>
            <a:chExt cx="735393" cy="1021551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92AC0773-F96B-4578-AE31-43A8A4CC215A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5D83320D-729F-442A-A66C-CEEFF9153C37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71CCDD91-2AE8-46C1-A5C8-6CA76C06D102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647EB342-5D8D-4D10-8DAB-4CFB06D20F9D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316837F5-3434-42D5-8FC3-DAC19218E6BD}"/>
                </a:ext>
              </a:extLst>
            </p:cNvPr>
            <p:cNvSpPr/>
            <p:nvPr/>
          </p:nvSpPr>
          <p:spPr>
            <a:xfrm rot="5400000">
              <a:off x="4818358" y="143832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2FF0CB8-34C1-4CF4-A5EF-7C741543AA5F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E5916DC-7E38-49A8-B00D-D19A8A24E03B}"/>
              </a:ext>
            </a:extLst>
          </p:cNvPr>
          <p:cNvGrpSpPr/>
          <p:nvPr/>
        </p:nvGrpSpPr>
        <p:grpSpPr>
          <a:xfrm>
            <a:off x="6704452" y="920164"/>
            <a:ext cx="735393" cy="1022487"/>
            <a:chOff x="4559919" y="899141"/>
            <a:chExt cx="735393" cy="1022487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660B87D2-862C-45FB-9EEE-27655347AF9E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BB9E0CB4-0472-4435-B21E-CC50DCCB5D23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B8EF4BB9-421A-49EA-863A-11264DA63F6C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8EBD50A2-FE17-4703-AA6C-D9B0898A7831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01CAAD83-D9AD-46B0-9C7E-CBCEEE822370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E5622B5A-56AE-496E-9B38-F3359F60C0B5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AD16C37E-6ED2-413A-9123-DAA87EDF5C7A}"/>
              </a:ext>
            </a:extLst>
          </p:cNvPr>
          <p:cNvSpPr txBox="1"/>
          <p:nvPr/>
        </p:nvSpPr>
        <p:spPr>
          <a:xfrm>
            <a:off x="7440472" y="1212291"/>
            <a:ext cx="400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..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E6284BD-086B-4CA8-BF00-90247FA566A0}"/>
              </a:ext>
            </a:extLst>
          </p:cNvPr>
          <p:cNvGrpSpPr/>
          <p:nvPr/>
        </p:nvGrpSpPr>
        <p:grpSpPr>
          <a:xfrm>
            <a:off x="7771590" y="923906"/>
            <a:ext cx="735393" cy="1021551"/>
            <a:chOff x="4559919" y="899141"/>
            <a:chExt cx="735393" cy="1021551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F5050C58-0B87-45B2-84A9-853265CD7A63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3401F9F7-C9EC-4936-BDC3-1C34E4B79E78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08942EC3-A12C-4F20-9C3C-DB5152EF4A0D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85BD5A6D-AF7D-42B6-9489-63C3C72BE84A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42120B47-A3EB-417E-8155-0BFE1FECC0D0}"/>
                </a:ext>
              </a:extLst>
            </p:cNvPr>
            <p:cNvSpPr/>
            <p:nvPr/>
          </p:nvSpPr>
          <p:spPr>
            <a:xfrm rot="5400000">
              <a:off x="4818358" y="1439911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83432383-43AD-41F6-93A0-98FEE1785CC0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12D42C38-CE7C-417F-A1EF-60EA8D58C09B}"/>
              </a:ext>
            </a:extLst>
          </p:cNvPr>
          <p:cNvCxnSpPr/>
          <p:nvPr/>
        </p:nvCxnSpPr>
        <p:spPr>
          <a:xfrm>
            <a:off x="6437354" y="985617"/>
            <a:ext cx="151613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angle 196">
            <a:extLst>
              <a:ext uri="{FF2B5EF4-FFF2-40B4-BE49-F238E27FC236}">
                <a16:creationId xmlns:a16="http://schemas.microsoft.com/office/drawing/2014/main" id="{6B081024-CD08-44FE-BE13-3CB95967503D}"/>
              </a:ext>
            </a:extLst>
          </p:cNvPr>
          <p:cNvSpPr/>
          <p:nvPr/>
        </p:nvSpPr>
        <p:spPr>
          <a:xfrm>
            <a:off x="6631108" y="923906"/>
            <a:ext cx="869593" cy="1101964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E9AE59B2-17DD-4070-93EB-9B3C4D3F9F0C}"/>
              </a:ext>
            </a:extLst>
          </p:cNvPr>
          <p:cNvSpPr/>
          <p:nvPr/>
        </p:nvSpPr>
        <p:spPr>
          <a:xfrm>
            <a:off x="6978014" y="1906904"/>
            <a:ext cx="547907" cy="300698"/>
          </a:xfrm>
          <a:custGeom>
            <a:avLst/>
            <a:gdLst>
              <a:gd name="connsiteX0" fmla="*/ 243840 w 243840"/>
              <a:gd name="connsiteY0" fmla="*/ 99060 h 99304"/>
              <a:gd name="connsiteX1" fmla="*/ 45720 w 243840"/>
              <a:gd name="connsiteY1" fmla="*/ 83820 h 99304"/>
              <a:gd name="connsiteX2" fmla="*/ 0 w 243840"/>
              <a:gd name="connsiteY2" fmla="*/ 0 h 99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" h="99304">
                <a:moveTo>
                  <a:pt x="243840" y="99060"/>
                </a:moveTo>
                <a:cubicBezTo>
                  <a:pt x="165100" y="99695"/>
                  <a:pt x="86360" y="100330"/>
                  <a:pt x="45720" y="83820"/>
                </a:cubicBezTo>
                <a:cubicBezTo>
                  <a:pt x="5080" y="67310"/>
                  <a:pt x="6350" y="10160"/>
                  <a:pt x="0" y="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91C3083E-F4BD-4282-A950-B88C9355C644}"/>
              </a:ext>
            </a:extLst>
          </p:cNvPr>
          <p:cNvSpPr/>
          <p:nvPr/>
        </p:nvSpPr>
        <p:spPr>
          <a:xfrm>
            <a:off x="7188286" y="2055505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63664E8F-C388-43FE-BF93-86DBB82174F2}"/>
              </a:ext>
            </a:extLst>
          </p:cNvPr>
          <p:cNvSpPr txBox="1"/>
          <p:nvPr/>
        </p:nvSpPr>
        <p:spPr>
          <a:xfrm>
            <a:off x="5885910" y="644275"/>
            <a:ext cx="2621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Fully-allocated objects of pages</a:t>
            </a:r>
          </a:p>
        </p:txBody>
      </p:sp>
    </p:spTree>
    <p:extLst>
      <p:ext uri="{BB962C8B-B14F-4D97-AF65-F5344CB8AC3E}">
        <p14:creationId xmlns:p14="http://schemas.microsoft.com/office/powerpoint/2010/main" val="204826907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668C6DB-302A-4300-B17B-1E0CE21AA0CB}"/>
              </a:ext>
            </a:extLst>
          </p:cNvPr>
          <p:cNvSpPr/>
          <p:nvPr/>
        </p:nvSpPr>
        <p:spPr>
          <a:xfrm>
            <a:off x="313056" y="2471611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09577-3468-467D-A468-7A4771B740BD}"/>
              </a:ext>
            </a:extLst>
          </p:cNvPr>
          <p:cNvSpPr/>
          <p:nvPr/>
        </p:nvSpPr>
        <p:spPr>
          <a:xfrm>
            <a:off x="313056" y="2728117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665CE-8806-4ABD-BA32-E834A7E7A888}"/>
              </a:ext>
            </a:extLst>
          </p:cNvPr>
          <p:cNvSpPr/>
          <p:nvPr/>
        </p:nvSpPr>
        <p:spPr>
          <a:xfrm>
            <a:off x="313056" y="2936230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4F4E7F2-A704-4D78-9F21-7C76E074F23B}"/>
              </a:ext>
            </a:extLst>
          </p:cNvPr>
          <p:cNvSpPr/>
          <p:nvPr/>
        </p:nvSpPr>
        <p:spPr>
          <a:xfrm>
            <a:off x="2629032" y="1599447"/>
            <a:ext cx="1384803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F5F62B7-8A2A-4DAB-AC06-316B1369047A}"/>
              </a:ext>
            </a:extLst>
          </p:cNvPr>
          <p:cNvSpPr/>
          <p:nvPr/>
        </p:nvSpPr>
        <p:spPr>
          <a:xfrm>
            <a:off x="2629032" y="2025872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531903-6C54-4E1F-B5DB-9F8AEC2CAF8D}"/>
              </a:ext>
            </a:extLst>
          </p:cNvPr>
          <p:cNvSpPr/>
          <p:nvPr/>
        </p:nvSpPr>
        <p:spPr>
          <a:xfrm>
            <a:off x="2629027" y="2236490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5EB7623-C48D-47BB-B323-409240050960}"/>
              </a:ext>
            </a:extLst>
          </p:cNvPr>
          <p:cNvSpPr/>
          <p:nvPr/>
        </p:nvSpPr>
        <p:spPr>
          <a:xfrm>
            <a:off x="2629030" y="2446685"/>
            <a:ext cx="138480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5BA4F-54EC-4A93-B20F-146C3B542425}"/>
              </a:ext>
            </a:extLst>
          </p:cNvPr>
          <p:cNvSpPr/>
          <p:nvPr/>
        </p:nvSpPr>
        <p:spPr>
          <a:xfrm>
            <a:off x="2615728" y="3757298"/>
            <a:ext cx="1634327" cy="4382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0)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258DB9-FCDE-491A-A5D8-FC10455576B5}"/>
              </a:ext>
            </a:extLst>
          </p:cNvPr>
          <p:cNvSpPr/>
          <p:nvPr/>
        </p:nvSpPr>
        <p:spPr>
          <a:xfrm>
            <a:off x="2615727" y="4184662"/>
            <a:ext cx="1634327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8972F9-B2B7-4C35-A665-CBB61B6BC752}"/>
              </a:ext>
            </a:extLst>
          </p:cNvPr>
          <p:cNvSpPr/>
          <p:nvPr/>
        </p:nvSpPr>
        <p:spPr>
          <a:xfrm>
            <a:off x="2615726" y="4548426"/>
            <a:ext cx="1634323" cy="4517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(node 1)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479BF2-AC42-4237-B671-67070AE83E17}"/>
              </a:ext>
            </a:extLst>
          </p:cNvPr>
          <p:cNvSpPr/>
          <p:nvPr/>
        </p:nvSpPr>
        <p:spPr>
          <a:xfrm>
            <a:off x="2615725" y="4975791"/>
            <a:ext cx="163432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34085B-346B-44D5-97B4-130A5A84D9E6}"/>
              </a:ext>
            </a:extLst>
          </p:cNvPr>
          <p:cNvSpPr txBox="1"/>
          <p:nvPr/>
        </p:nvSpPr>
        <p:spPr>
          <a:xfrm>
            <a:off x="2449517" y="5169942"/>
            <a:ext cx="1966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9F50299-C47D-4E2D-97BA-1411D24B27AB}"/>
              </a:ext>
            </a:extLst>
          </p:cNvPr>
          <p:cNvCxnSpPr>
            <a:cxnSpLocks/>
          </p:cNvCxnSpPr>
          <p:nvPr/>
        </p:nvCxnSpPr>
        <p:spPr>
          <a:xfrm flipH="1">
            <a:off x="2615719" y="4164890"/>
            <a:ext cx="2" cy="383537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" y="-86213"/>
            <a:ext cx="12259408" cy="689951"/>
          </a:xfrm>
        </p:spPr>
        <p:txBody>
          <a:bodyPr>
            <a:noAutofit/>
          </a:bodyPr>
          <a:lstStyle/>
          <a:p>
            <a:r>
              <a:rPr lang="en-US" sz="3600" dirty="0" err="1">
                <a:solidFill>
                  <a:schemeClr val="tx1"/>
                </a:solidFill>
              </a:rPr>
              <a:t>slowpath</a:t>
            </a:r>
            <a:r>
              <a:rPr lang="en-US" sz="3600" dirty="0">
                <a:solidFill>
                  <a:schemeClr val="tx1"/>
                </a:solidFill>
              </a:rPr>
              <a:t> #3: </a:t>
            </a:r>
            <a:r>
              <a:rPr lang="en-US" sz="3600" dirty="0" err="1">
                <a:solidFill>
                  <a:schemeClr val="tx1"/>
                </a:solidFill>
              </a:rPr>
              <a:t>remove_partial</a:t>
            </a:r>
            <a:r>
              <a:rPr lang="en-US" sz="3600" dirty="0"/>
              <a:t>() and </a:t>
            </a:r>
            <a:r>
              <a:rPr lang="en-US" sz="3600" dirty="0" err="1"/>
              <a:t>discard_slab</a:t>
            </a:r>
            <a:r>
              <a:rPr lang="en-US" sz="3600" dirty="0"/>
              <a:t>()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338E9A7-39EF-4A8A-A583-00235FCCF53E}"/>
              </a:ext>
            </a:extLst>
          </p:cNvPr>
          <p:cNvCxnSpPr>
            <a:stCxn id="24" idx="3"/>
            <a:endCxn id="112" idx="1"/>
          </p:cNvCxnSpPr>
          <p:nvPr/>
        </p:nvCxnSpPr>
        <p:spPr>
          <a:xfrm flipV="1">
            <a:off x="2131695" y="1816054"/>
            <a:ext cx="497337" cy="101729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63F9F1C-AC80-4507-94B3-DF5FAC3D155E}"/>
              </a:ext>
            </a:extLst>
          </p:cNvPr>
          <p:cNvCxnSpPr>
            <a:cxnSpLocks/>
            <a:stCxn id="37" idx="3"/>
            <a:endCxn id="89" idx="1"/>
          </p:cNvCxnSpPr>
          <p:nvPr/>
        </p:nvCxnSpPr>
        <p:spPr>
          <a:xfrm>
            <a:off x="2131695" y="3041457"/>
            <a:ext cx="484033" cy="9349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1780790-7346-4886-B5EE-AB3862BAE6C2}"/>
              </a:ext>
            </a:extLst>
          </p:cNvPr>
          <p:cNvCxnSpPr>
            <a:cxnSpLocks/>
            <a:stCxn id="114" idx="3"/>
          </p:cNvCxnSpPr>
          <p:nvPr/>
        </p:nvCxnSpPr>
        <p:spPr>
          <a:xfrm flipV="1">
            <a:off x="4013830" y="1945457"/>
            <a:ext cx="963221" cy="3962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9EB4F4D-E780-4D8E-A282-B23942B0101A}"/>
              </a:ext>
            </a:extLst>
          </p:cNvPr>
          <p:cNvCxnSpPr>
            <a:cxnSpLocks/>
            <a:stCxn id="113" idx="3"/>
          </p:cNvCxnSpPr>
          <p:nvPr/>
        </p:nvCxnSpPr>
        <p:spPr>
          <a:xfrm flipV="1">
            <a:off x="4013835" y="1560856"/>
            <a:ext cx="688960" cy="57024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E92BE16-5994-4471-A0EE-8A68D839114C}"/>
              </a:ext>
            </a:extLst>
          </p:cNvPr>
          <p:cNvSpPr txBox="1"/>
          <p:nvPr/>
        </p:nvSpPr>
        <p:spPr>
          <a:xfrm>
            <a:off x="5885910" y="644275"/>
            <a:ext cx="2621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Fully-allocated objects of pages</a:t>
            </a:r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E9AE59B2-17DD-4070-93EB-9B3C4D3F9F0C}"/>
              </a:ext>
            </a:extLst>
          </p:cNvPr>
          <p:cNvSpPr/>
          <p:nvPr/>
        </p:nvSpPr>
        <p:spPr>
          <a:xfrm>
            <a:off x="5747405" y="4783883"/>
            <a:ext cx="547907" cy="300698"/>
          </a:xfrm>
          <a:custGeom>
            <a:avLst/>
            <a:gdLst>
              <a:gd name="connsiteX0" fmla="*/ 243840 w 243840"/>
              <a:gd name="connsiteY0" fmla="*/ 99060 h 99304"/>
              <a:gd name="connsiteX1" fmla="*/ 45720 w 243840"/>
              <a:gd name="connsiteY1" fmla="*/ 83820 h 99304"/>
              <a:gd name="connsiteX2" fmla="*/ 0 w 243840"/>
              <a:gd name="connsiteY2" fmla="*/ 0 h 99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" h="99304">
                <a:moveTo>
                  <a:pt x="243840" y="99060"/>
                </a:moveTo>
                <a:cubicBezTo>
                  <a:pt x="165100" y="99695"/>
                  <a:pt x="86360" y="100330"/>
                  <a:pt x="45720" y="83820"/>
                </a:cubicBezTo>
                <a:cubicBezTo>
                  <a:pt x="5080" y="67310"/>
                  <a:pt x="6350" y="10160"/>
                  <a:pt x="0" y="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8FB35EE-69BF-4819-BCCC-1602C369DEAA}"/>
              </a:ext>
            </a:extLst>
          </p:cNvPr>
          <p:cNvSpPr txBox="1"/>
          <p:nvPr/>
        </p:nvSpPr>
        <p:spPr>
          <a:xfrm>
            <a:off x="6247796" y="4926505"/>
            <a:ext cx="1474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free this object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987E98F-AB54-4BC3-AA73-665B7A125534}"/>
              </a:ext>
            </a:extLst>
          </p:cNvPr>
          <p:cNvSpPr txBox="1"/>
          <p:nvPr/>
        </p:nvSpPr>
        <p:spPr>
          <a:xfrm>
            <a:off x="5167566" y="2397366"/>
            <a:ext cx="52080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rgbClr val="C00000"/>
                </a:solidFill>
              </a:rPr>
              <a:t>All objects in page(s) are available (free) &amp;&amp;</a:t>
            </a:r>
            <a:br>
              <a:rPr lang="en-US" sz="1400" b="1" dirty="0">
                <a:solidFill>
                  <a:srgbClr val="C00000"/>
                </a:solidFill>
              </a:rPr>
            </a:br>
            <a:r>
              <a:rPr lang="en-US" sz="1400" b="1" dirty="0">
                <a:solidFill>
                  <a:srgbClr val="C00000"/>
                </a:solidFill>
              </a:rPr>
              <a:t>  </a:t>
            </a:r>
            <a:r>
              <a:rPr lang="en-US" sz="1400" b="1" dirty="0" err="1">
                <a:solidFill>
                  <a:srgbClr val="C00000"/>
                </a:solidFill>
              </a:rPr>
              <a:t>kmem_cache_node</a:t>
            </a:r>
            <a:r>
              <a:rPr lang="en-US" sz="1400" b="1" dirty="0">
                <a:solidFill>
                  <a:srgbClr val="C00000"/>
                </a:solidFill>
              </a:rPr>
              <a:t>-&gt;</a:t>
            </a:r>
            <a:r>
              <a:rPr lang="en-US" sz="1400" b="1" dirty="0" err="1">
                <a:solidFill>
                  <a:srgbClr val="C00000"/>
                </a:solidFill>
              </a:rPr>
              <a:t>nr_partial</a:t>
            </a:r>
            <a:r>
              <a:rPr lang="en-US" sz="1400" b="1" dirty="0">
                <a:solidFill>
                  <a:srgbClr val="C00000"/>
                </a:solidFill>
              </a:rPr>
              <a:t> &gt;= </a:t>
            </a:r>
            <a:r>
              <a:rPr lang="en-US" sz="1400" b="1" dirty="0" err="1">
                <a:solidFill>
                  <a:srgbClr val="C00000"/>
                </a:solidFill>
              </a:rPr>
              <a:t>kmem_cache</a:t>
            </a:r>
            <a:r>
              <a:rPr lang="en-US" sz="1400" b="1" dirty="0">
                <a:solidFill>
                  <a:srgbClr val="C00000"/>
                </a:solidFill>
              </a:rPr>
              <a:t>-&gt;</a:t>
            </a:r>
            <a:r>
              <a:rPr lang="en-US" sz="1400" b="1" dirty="0" err="1">
                <a:solidFill>
                  <a:srgbClr val="C00000"/>
                </a:solidFill>
              </a:rPr>
              <a:t>min_partial</a:t>
            </a:r>
            <a:endParaRPr lang="en-US" sz="1400" b="1" dirty="0">
              <a:solidFill>
                <a:srgbClr val="C00000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b="1" dirty="0" err="1">
                <a:solidFill>
                  <a:srgbClr val="C00000"/>
                </a:solidFill>
              </a:rPr>
              <a:t>remove_partial</a:t>
            </a:r>
            <a:r>
              <a:rPr lang="en-US" sz="1400" b="1" dirty="0">
                <a:solidFill>
                  <a:srgbClr val="C00000"/>
                </a:solidFill>
              </a:rPr>
              <a:t>()</a:t>
            </a: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91C3083E-F4BD-4282-A950-B88C9355C644}"/>
              </a:ext>
            </a:extLst>
          </p:cNvPr>
          <p:cNvSpPr/>
          <p:nvPr/>
        </p:nvSpPr>
        <p:spPr>
          <a:xfrm>
            <a:off x="5957677" y="4932484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747C4B4A-12B4-45B2-B28E-D525684394CB}"/>
              </a:ext>
            </a:extLst>
          </p:cNvPr>
          <p:cNvSpPr/>
          <p:nvPr/>
        </p:nvSpPr>
        <p:spPr>
          <a:xfrm>
            <a:off x="4267200" y="3361970"/>
            <a:ext cx="3619027" cy="1067155"/>
          </a:xfrm>
          <a:custGeom>
            <a:avLst/>
            <a:gdLst>
              <a:gd name="connsiteX0" fmla="*/ 3114675 w 3619027"/>
              <a:gd name="connsiteY0" fmla="*/ 1067155 h 1067155"/>
              <a:gd name="connsiteX1" fmla="*/ 3571875 w 3619027"/>
              <a:gd name="connsiteY1" fmla="*/ 895705 h 1067155"/>
              <a:gd name="connsiteX2" fmla="*/ 3381375 w 3619027"/>
              <a:gd name="connsiteY2" fmla="*/ 76555 h 1067155"/>
              <a:gd name="connsiteX3" fmla="*/ 1600200 w 3619027"/>
              <a:gd name="connsiteY3" fmla="*/ 38455 h 1067155"/>
              <a:gd name="connsiteX4" fmla="*/ 352425 w 3619027"/>
              <a:gd name="connsiteY4" fmla="*/ 105130 h 1067155"/>
              <a:gd name="connsiteX5" fmla="*/ 0 w 3619027"/>
              <a:gd name="connsiteY5" fmla="*/ 867130 h 1067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9027" h="1067155">
                <a:moveTo>
                  <a:pt x="3114675" y="1067155"/>
                </a:moveTo>
                <a:cubicBezTo>
                  <a:pt x="3321050" y="1063980"/>
                  <a:pt x="3527425" y="1060805"/>
                  <a:pt x="3571875" y="895705"/>
                </a:cubicBezTo>
                <a:cubicBezTo>
                  <a:pt x="3616325" y="730605"/>
                  <a:pt x="3709987" y="219430"/>
                  <a:pt x="3381375" y="76555"/>
                </a:cubicBezTo>
                <a:cubicBezTo>
                  <a:pt x="3052763" y="-66320"/>
                  <a:pt x="2105025" y="33692"/>
                  <a:pt x="1600200" y="38455"/>
                </a:cubicBezTo>
                <a:cubicBezTo>
                  <a:pt x="1095375" y="43217"/>
                  <a:pt x="619125" y="-32982"/>
                  <a:pt x="352425" y="105130"/>
                </a:cubicBezTo>
                <a:cubicBezTo>
                  <a:pt x="85725" y="243242"/>
                  <a:pt x="42862" y="555186"/>
                  <a:pt x="0" y="867130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69DFA1-057D-4F60-B178-7F1F1C190819}"/>
              </a:ext>
            </a:extLst>
          </p:cNvPr>
          <p:cNvGrpSpPr/>
          <p:nvPr/>
        </p:nvGrpSpPr>
        <p:grpSpPr>
          <a:xfrm>
            <a:off x="4653681" y="3757000"/>
            <a:ext cx="735393" cy="1022487"/>
            <a:chOff x="4559919" y="899141"/>
            <a:chExt cx="735393" cy="1022487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AB35DB9-F6D6-407F-A487-ECF04744B34F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81FBF44-538F-47C4-A262-A43DDDB78591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70321D7-3B99-40F8-A1DF-A38B34DFACA2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F998AF8-8435-44FE-9AF1-EEBE3D69B698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F63F7BC-2725-4EFA-8EBE-F2AC862B8884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B7E045F-A59E-4BEC-98F9-C745E3EB6176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5D38F59-0405-41BE-8454-5BF56BCEDAF0}"/>
              </a:ext>
            </a:extLst>
          </p:cNvPr>
          <p:cNvGrpSpPr/>
          <p:nvPr/>
        </p:nvGrpSpPr>
        <p:grpSpPr>
          <a:xfrm>
            <a:off x="5643768" y="3755606"/>
            <a:ext cx="735393" cy="1022487"/>
            <a:chOff x="4559919" y="899141"/>
            <a:chExt cx="735393" cy="1022487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9016B69-975B-42EC-B696-92A08CBD87F3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89FAB09-148A-4AD7-A918-315274ACA1F3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E3AEBF8-E5E5-428C-B6EE-69DA519A3C30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CE32AE8-F13E-4C21-9BAC-FCFF41211EAF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14EBE0A-F158-4E2D-A8C7-C665261353F3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4A8AA5A-E9E1-4796-9E63-1F2E50AB4C25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66569A5-0129-4300-B02D-381260DAD764}"/>
              </a:ext>
            </a:extLst>
          </p:cNvPr>
          <p:cNvGrpSpPr/>
          <p:nvPr/>
        </p:nvGrpSpPr>
        <p:grpSpPr>
          <a:xfrm>
            <a:off x="6639033" y="3763772"/>
            <a:ext cx="735393" cy="1022487"/>
            <a:chOff x="4559919" y="899141"/>
            <a:chExt cx="735393" cy="1022487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9AE2E83-C84D-40F3-861A-E6E1B020BA70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B1F10F1C-CC23-45B1-BE28-AF532095B923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EA132EC-DF54-463B-86C7-D40F4C98569A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D1BC5EF-6115-40A3-9AD4-EE088E2FAAD6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2381CB6-0717-42BD-AC82-BE435C4B0914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BB26F0F-5697-4787-819A-9DE98E36E724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7E55575-C20B-41B8-B247-3890B232D6C5}"/>
              </a:ext>
            </a:extLst>
          </p:cNvPr>
          <p:cNvCxnSpPr>
            <a:cxnSpLocks/>
            <a:stCxn id="76" idx="0"/>
            <a:endCxn id="81" idx="2"/>
          </p:cNvCxnSpPr>
          <p:nvPr/>
        </p:nvCxnSpPr>
        <p:spPr>
          <a:xfrm flipV="1">
            <a:off x="5389074" y="4392556"/>
            <a:ext cx="254695" cy="2331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670C27E-B98D-44B8-BA23-BA7767F77869}"/>
              </a:ext>
            </a:extLst>
          </p:cNvPr>
          <p:cNvCxnSpPr>
            <a:stCxn id="85" idx="0"/>
            <a:endCxn id="90" idx="2"/>
          </p:cNvCxnSpPr>
          <p:nvPr/>
        </p:nvCxnSpPr>
        <p:spPr>
          <a:xfrm>
            <a:off x="6379161" y="4393493"/>
            <a:ext cx="259873" cy="7229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50EBA781-1657-4E1C-9629-34F6BE945062}"/>
              </a:ext>
            </a:extLst>
          </p:cNvPr>
          <p:cNvSpPr/>
          <p:nvPr/>
        </p:nvSpPr>
        <p:spPr>
          <a:xfrm>
            <a:off x="5590936" y="3710284"/>
            <a:ext cx="869593" cy="1193724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0E44B42-92A7-48E3-B1F7-A4F82481891F}"/>
              </a:ext>
            </a:extLst>
          </p:cNvPr>
          <p:cNvCxnSpPr>
            <a:endCxn id="99" idx="0"/>
          </p:cNvCxnSpPr>
          <p:nvPr/>
        </p:nvCxnSpPr>
        <p:spPr>
          <a:xfrm flipH="1">
            <a:off x="6025733" y="3146684"/>
            <a:ext cx="239567" cy="56360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34A03832-DF77-400C-BCF3-6DF96B7D7EDA}"/>
              </a:ext>
            </a:extLst>
          </p:cNvPr>
          <p:cNvSpPr/>
          <p:nvPr/>
        </p:nvSpPr>
        <p:spPr>
          <a:xfrm>
            <a:off x="6053152" y="3293697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B4C0D37-F71D-413B-9E5A-797D682841B9}"/>
              </a:ext>
            </a:extLst>
          </p:cNvPr>
          <p:cNvSpPr/>
          <p:nvPr/>
        </p:nvSpPr>
        <p:spPr>
          <a:xfrm>
            <a:off x="5617854" y="5807742"/>
            <a:ext cx="1310874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Buddy system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8C21094-50C9-4D42-B010-C4AE7F55BE8A}"/>
              </a:ext>
            </a:extLst>
          </p:cNvPr>
          <p:cNvSpPr/>
          <p:nvPr/>
        </p:nvSpPr>
        <p:spPr>
          <a:xfrm>
            <a:off x="5512004" y="4905375"/>
            <a:ext cx="422071" cy="904875"/>
          </a:xfrm>
          <a:custGeom>
            <a:avLst/>
            <a:gdLst>
              <a:gd name="connsiteX0" fmla="*/ 136321 w 422071"/>
              <a:gd name="connsiteY0" fmla="*/ 0 h 904875"/>
              <a:gd name="connsiteX1" fmla="*/ 12496 w 422071"/>
              <a:gd name="connsiteY1" fmla="*/ 314325 h 904875"/>
              <a:gd name="connsiteX2" fmla="*/ 50596 w 422071"/>
              <a:gd name="connsiteY2" fmla="*/ 542925 h 904875"/>
              <a:gd name="connsiteX3" fmla="*/ 422071 w 422071"/>
              <a:gd name="connsiteY3" fmla="*/ 904875 h 90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071" h="904875">
                <a:moveTo>
                  <a:pt x="136321" y="0"/>
                </a:moveTo>
                <a:cubicBezTo>
                  <a:pt x="81552" y="111919"/>
                  <a:pt x="26783" y="223838"/>
                  <a:pt x="12496" y="314325"/>
                </a:cubicBezTo>
                <a:cubicBezTo>
                  <a:pt x="-1791" y="404812"/>
                  <a:pt x="-17667" y="444500"/>
                  <a:pt x="50596" y="542925"/>
                </a:cubicBezTo>
                <a:cubicBezTo>
                  <a:pt x="118859" y="641350"/>
                  <a:pt x="270465" y="773112"/>
                  <a:pt x="422071" y="904875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6FBFEF3-A67D-45D1-9308-83E54D89006A}"/>
              </a:ext>
            </a:extLst>
          </p:cNvPr>
          <p:cNvSpPr txBox="1"/>
          <p:nvPr/>
        </p:nvSpPr>
        <p:spPr>
          <a:xfrm>
            <a:off x="5747404" y="5390018"/>
            <a:ext cx="5625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free page(s): </a:t>
            </a:r>
            <a:r>
              <a:rPr lang="en-US" sz="1400" b="1" dirty="0" err="1">
                <a:solidFill>
                  <a:srgbClr val="C00000"/>
                </a:solidFill>
              </a:rPr>
              <a:t>discard_slab</a:t>
            </a:r>
            <a:r>
              <a:rPr lang="en-US" sz="1400" b="1" dirty="0">
                <a:solidFill>
                  <a:srgbClr val="C00000"/>
                </a:solidFill>
              </a:rPr>
              <a:t> -&gt; </a:t>
            </a:r>
            <a:r>
              <a:rPr lang="en-US" sz="1400" b="1" dirty="0" err="1">
                <a:solidFill>
                  <a:srgbClr val="C00000"/>
                </a:solidFill>
              </a:rPr>
              <a:t>free_slab</a:t>
            </a:r>
            <a:r>
              <a:rPr lang="en-US" sz="1400" b="1" dirty="0">
                <a:solidFill>
                  <a:srgbClr val="C00000"/>
                </a:solidFill>
              </a:rPr>
              <a:t> -&gt; __</a:t>
            </a:r>
            <a:r>
              <a:rPr lang="en-US" sz="1400" b="1" dirty="0" err="1">
                <a:solidFill>
                  <a:srgbClr val="C00000"/>
                </a:solidFill>
              </a:rPr>
              <a:t>free_slab</a:t>
            </a:r>
            <a:r>
              <a:rPr lang="en-US" sz="1400" b="1" dirty="0">
                <a:solidFill>
                  <a:srgbClr val="C00000"/>
                </a:solidFill>
              </a:rPr>
              <a:t> -&gt; __</a:t>
            </a:r>
            <a:r>
              <a:rPr lang="en-US" sz="1400" b="1" dirty="0" err="1">
                <a:solidFill>
                  <a:srgbClr val="C00000"/>
                </a:solidFill>
              </a:rPr>
              <a:t>free_pages</a:t>
            </a:r>
            <a:r>
              <a:rPr lang="en-US" sz="1400" b="1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8903CC22-2852-422E-8982-426DF1C4D2D3}"/>
              </a:ext>
            </a:extLst>
          </p:cNvPr>
          <p:cNvSpPr/>
          <p:nvPr/>
        </p:nvSpPr>
        <p:spPr>
          <a:xfrm>
            <a:off x="5566839" y="5409901"/>
            <a:ext cx="222739" cy="285941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D3CBDEA-DC28-4616-B3A7-04079E197170}"/>
              </a:ext>
            </a:extLst>
          </p:cNvPr>
          <p:cNvCxnSpPr/>
          <p:nvPr/>
        </p:nvCxnSpPr>
        <p:spPr>
          <a:xfrm>
            <a:off x="6373334" y="1945456"/>
            <a:ext cx="151613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F8BF4BDB-361A-4CD1-A378-41AD4511F021}"/>
              </a:ext>
            </a:extLst>
          </p:cNvPr>
          <p:cNvGrpSpPr/>
          <p:nvPr/>
        </p:nvGrpSpPr>
        <p:grpSpPr>
          <a:xfrm>
            <a:off x="4702794" y="923906"/>
            <a:ext cx="735393" cy="1021551"/>
            <a:chOff x="4559919" y="899141"/>
            <a:chExt cx="735393" cy="1021551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0B0A815-DE22-4399-A9E5-239B82D8D723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2288FD5-8CDC-4A15-BF0D-2A5A63511EDE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2191616C-D875-4969-8AFF-0A571D3F7836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BB0D3FA-8C3D-4B1B-98C0-F33CF60DAAFF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7805B581-0037-47A0-A492-9ABAD6CEEE1A}"/>
                </a:ext>
              </a:extLst>
            </p:cNvPr>
            <p:cNvSpPr/>
            <p:nvPr/>
          </p:nvSpPr>
          <p:spPr>
            <a:xfrm rot="5400000">
              <a:off x="4818358" y="1438324"/>
              <a:ext cx="769200" cy="1847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7E915E8E-C0EF-4AFF-811E-B60EB019AFB2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9D94071-89BA-49B2-A129-62C15BFECA44}"/>
              </a:ext>
            </a:extLst>
          </p:cNvPr>
          <p:cNvGrpSpPr/>
          <p:nvPr/>
        </p:nvGrpSpPr>
        <p:grpSpPr>
          <a:xfrm>
            <a:off x="5714615" y="923906"/>
            <a:ext cx="735393" cy="1021551"/>
            <a:chOff x="4559919" y="899141"/>
            <a:chExt cx="735393" cy="102155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6CF971E-252F-4754-9814-70533FC21231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4B882745-9CAC-4FDF-AA10-94A00B6277E6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740A5646-A70B-4C88-BE4E-EE90F152D186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286CD1D-C577-4A07-9BE7-1B0697C668BF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1D71A062-A8FB-4819-B2D7-3A749B27E23D}"/>
                </a:ext>
              </a:extLst>
            </p:cNvPr>
            <p:cNvSpPr/>
            <p:nvPr/>
          </p:nvSpPr>
          <p:spPr>
            <a:xfrm rot="5400000">
              <a:off x="4818358" y="143832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0F0219AB-CA54-4A2B-AB0E-9D51BC050B1B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A1C1FBF-2A1A-49D8-8323-AA0B208E6D90}"/>
              </a:ext>
            </a:extLst>
          </p:cNvPr>
          <p:cNvGrpSpPr/>
          <p:nvPr/>
        </p:nvGrpSpPr>
        <p:grpSpPr>
          <a:xfrm>
            <a:off x="6704452" y="920164"/>
            <a:ext cx="735393" cy="1022487"/>
            <a:chOff x="4559919" y="899141"/>
            <a:chExt cx="735393" cy="1022487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1768710-1F09-4F85-88DC-1DD553D4EA9B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D78AEB68-3B78-42B1-8621-534A295052AE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BD26BA75-BFDB-45F6-BD97-EEDE8F7A65AA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965A561-1B8E-4795-A03D-070B192E56CE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FE3BAA55-1C8D-4530-997F-47457322E2D2}"/>
                </a:ext>
              </a:extLst>
            </p:cNvPr>
            <p:cNvSpPr/>
            <p:nvPr/>
          </p:nvSpPr>
          <p:spPr>
            <a:xfrm rot="5400000">
              <a:off x="4818358" y="1444674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30063B87-8214-45C7-8E60-542D77CAAE80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4862B9C4-91DB-403D-AE60-A90C9C3211FC}"/>
              </a:ext>
            </a:extLst>
          </p:cNvPr>
          <p:cNvSpPr txBox="1"/>
          <p:nvPr/>
        </p:nvSpPr>
        <p:spPr>
          <a:xfrm>
            <a:off x="7440472" y="1212291"/>
            <a:ext cx="400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..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A2F2A458-BABA-4A76-8573-965818BCC32E}"/>
              </a:ext>
            </a:extLst>
          </p:cNvPr>
          <p:cNvGrpSpPr/>
          <p:nvPr/>
        </p:nvGrpSpPr>
        <p:grpSpPr>
          <a:xfrm>
            <a:off x="7771590" y="923906"/>
            <a:ext cx="735393" cy="1021551"/>
            <a:chOff x="4559919" y="899141"/>
            <a:chExt cx="735393" cy="1021551"/>
          </a:xfrm>
        </p:grpSpPr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EC02E2AF-C7F5-49AF-A19E-CA1E501AB623}"/>
                </a:ext>
              </a:extLst>
            </p:cNvPr>
            <p:cNvSpPr/>
            <p:nvPr/>
          </p:nvSpPr>
          <p:spPr>
            <a:xfrm>
              <a:off x="4559919" y="960852"/>
              <a:ext cx="735393" cy="9598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9C098E2F-A9B5-4F8A-A95A-491B7BCDC4D1}"/>
                </a:ext>
              </a:extLst>
            </p:cNvPr>
            <p:cNvSpPr/>
            <p:nvPr/>
          </p:nvSpPr>
          <p:spPr>
            <a:xfrm rot="5400000">
              <a:off x="4267673" y="1443737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3BD691C2-3495-4893-82AF-A49E310DED24}"/>
                </a:ext>
              </a:extLst>
            </p:cNvPr>
            <p:cNvSpPr/>
            <p:nvPr/>
          </p:nvSpPr>
          <p:spPr>
            <a:xfrm rot="5400000">
              <a:off x="4449576" y="1443738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C19E6A9D-F974-4E53-AA68-84AEE66C5F71}"/>
                </a:ext>
              </a:extLst>
            </p:cNvPr>
            <p:cNvSpPr txBox="1"/>
            <p:nvPr/>
          </p:nvSpPr>
          <p:spPr>
            <a:xfrm>
              <a:off x="4882609" y="1286587"/>
              <a:ext cx="400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..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439B028C-DD79-466D-9B8E-745FCD3CC2BF}"/>
                </a:ext>
              </a:extLst>
            </p:cNvPr>
            <p:cNvSpPr/>
            <p:nvPr/>
          </p:nvSpPr>
          <p:spPr>
            <a:xfrm rot="5400000">
              <a:off x="4818358" y="1439911"/>
              <a:ext cx="769200" cy="18470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slab object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5CC3DFF3-1D48-4F7F-AB7C-4362F117703D}"/>
                </a:ext>
              </a:extLst>
            </p:cNvPr>
            <p:cNvSpPr txBox="1"/>
            <p:nvPr/>
          </p:nvSpPr>
          <p:spPr>
            <a:xfrm>
              <a:off x="4664530" y="899141"/>
              <a:ext cx="554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Page</a:t>
              </a:r>
              <a:endParaRPr lang="en-US" sz="1200" b="1" dirty="0"/>
            </a:p>
          </p:txBody>
        </p:sp>
      </p:grp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54BCFAA1-5C3B-4020-98ED-D003916BA191}"/>
              </a:ext>
            </a:extLst>
          </p:cNvPr>
          <p:cNvCxnSpPr/>
          <p:nvPr/>
        </p:nvCxnSpPr>
        <p:spPr>
          <a:xfrm>
            <a:off x="6437354" y="985617"/>
            <a:ext cx="151613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9788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7BAF19-8A0C-4A55-AB89-C2A25F87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24" y="1624075"/>
            <a:ext cx="11776075" cy="1416939"/>
          </a:xfrm>
        </p:spPr>
        <p:txBody>
          <a:bodyPr>
            <a:normAutofit/>
          </a:bodyPr>
          <a:lstStyle/>
          <a:p>
            <a:r>
              <a:rPr lang="en-US" sz="6000" dirty="0" err="1">
                <a:solidFill>
                  <a:schemeClr val="tx1"/>
                </a:solidFill>
              </a:rPr>
              <a:t>kmalloc</a:t>
            </a:r>
            <a:r>
              <a:rPr lang="en-US" sz="6000" dirty="0">
                <a:solidFill>
                  <a:schemeClr val="tx1"/>
                </a:solidFill>
              </a:rPr>
              <a:t> &amp; slab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E3936-3B4D-4D0F-AF56-E3F143EF7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1578" y="3429000"/>
            <a:ext cx="10515600" cy="322897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Call path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Compound page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94597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>
            <a:extLst>
              <a:ext uri="{FF2B5EF4-FFF2-40B4-BE49-F238E27FC236}">
                <a16:creationId xmlns:a16="http://schemas.microsoft.com/office/drawing/2014/main" id="{A43CA860-A070-4F63-9D84-5A704A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" y="-86213"/>
            <a:ext cx="12259408" cy="689951"/>
          </a:xfrm>
        </p:spPr>
        <p:txBody>
          <a:bodyPr>
            <a:noAutofit/>
          </a:bodyPr>
          <a:lstStyle/>
          <a:p>
            <a:r>
              <a:rPr lang="en-US" sz="3600" dirty="0" err="1">
                <a:solidFill>
                  <a:schemeClr val="tx1"/>
                </a:solidFill>
              </a:rPr>
              <a:t>kmalloc</a:t>
            </a:r>
            <a:r>
              <a:rPr lang="en-US" sz="3600" dirty="0">
                <a:solidFill>
                  <a:schemeClr val="tx1"/>
                </a:solidFill>
              </a:rPr>
              <a:t> &amp; slab</a:t>
            </a:r>
            <a:endParaRPr lang="en-US" sz="360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0B0A815-DE22-4399-A9E5-239B82D8D723}"/>
              </a:ext>
            </a:extLst>
          </p:cNvPr>
          <p:cNvSpPr/>
          <p:nvPr/>
        </p:nvSpPr>
        <p:spPr>
          <a:xfrm>
            <a:off x="118816" y="3202756"/>
            <a:ext cx="5188476" cy="4524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struct 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*</a:t>
            </a:r>
            <a:r>
              <a:rPr lang="en-US" sz="1400" dirty="0" err="1">
                <a:solidFill>
                  <a:schemeClr val="tx1"/>
                </a:solidFill>
              </a:rPr>
              <a:t>kmalloc_caches</a:t>
            </a:r>
            <a:r>
              <a:rPr lang="en-US" sz="1400" dirty="0">
                <a:solidFill>
                  <a:schemeClr val="tx1"/>
                </a:solidFill>
              </a:rPr>
              <a:t>[NR_KMALLOC_TYPES][KMALLOC_SHIFT_HIGH + 1]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46522F9-E0F7-40DD-B1CC-8F178A79A17B}"/>
              </a:ext>
            </a:extLst>
          </p:cNvPr>
          <p:cNvSpPr/>
          <p:nvPr/>
        </p:nvSpPr>
        <p:spPr>
          <a:xfrm>
            <a:off x="6275895" y="113123"/>
            <a:ext cx="2729060" cy="17313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09050D4-3472-4254-B191-61E7A97258AF}"/>
              </a:ext>
            </a:extLst>
          </p:cNvPr>
          <p:cNvSpPr txBox="1"/>
          <p:nvPr/>
        </p:nvSpPr>
        <p:spPr>
          <a:xfrm>
            <a:off x="6323030" y="61060"/>
            <a:ext cx="27290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 </a:t>
            </a:r>
            <a:r>
              <a:rPr lang="en-US" sz="1200" b="1" dirty="0" err="1">
                <a:solidFill>
                  <a:schemeClr val="tx1"/>
                </a:solidFill>
              </a:rPr>
              <a:t>kmem_cache</a:t>
            </a:r>
            <a:r>
              <a:rPr lang="en-US" sz="1200" b="1" dirty="0">
                <a:solidFill>
                  <a:schemeClr val="tx1"/>
                </a:solidFill>
              </a:rPr>
              <a:t> *</a:t>
            </a:r>
            <a:r>
              <a:rPr lang="en-US" sz="1200" b="1" dirty="0" err="1">
                <a:solidFill>
                  <a:schemeClr val="tx1"/>
                </a:solidFill>
              </a:rPr>
              <a:t>kmalloc_caches</a:t>
            </a:r>
            <a:r>
              <a:rPr lang="en-US" sz="1200" b="1" dirty="0">
                <a:solidFill>
                  <a:schemeClr val="tx1"/>
                </a:solidFill>
              </a:rPr>
              <a:t>[KMALLOC_NORMAL][]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A472397-B0AB-4DB8-9963-44F09FF19425}"/>
              </a:ext>
            </a:extLst>
          </p:cNvPr>
          <p:cNvCxnSpPr>
            <a:cxnSpLocks/>
            <a:stCxn id="137" idx="3"/>
            <a:endCxn id="98" idx="1"/>
          </p:cNvCxnSpPr>
          <p:nvPr/>
        </p:nvCxnSpPr>
        <p:spPr>
          <a:xfrm flipV="1">
            <a:off x="5307292" y="978818"/>
            <a:ext cx="968603" cy="245018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273151E1-E7BD-420D-BF70-B2AB35B3103C}"/>
              </a:ext>
            </a:extLst>
          </p:cNvPr>
          <p:cNvCxnSpPr>
            <a:cxnSpLocks/>
            <a:stCxn id="137" idx="3"/>
          </p:cNvCxnSpPr>
          <p:nvPr/>
        </p:nvCxnSpPr>
        <p:spPr>
          <a:xfrm flipV="1">
            <a:off x="5307292" y="3421820"/>
            <a:ext cx="968603" cy="718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22E473FF-4747-4501-AED5-D5C7C06DFE45}"/>
              </a:ext>
            </a:extLst>
          </p:cNvPr>
          <p:cNvCxnSpPr>
            <a:cxnSpLocks/>
            <a:stCxn id="137" idx="3"/>
          </p:cNvCxnSpPr>
          <p:nvPr/>
        </p:nvCxnSpPr>
        <p:spPr>
          <a:xfrm>
            <a:off x="5307292" y="3429000"/>
            <a:ext cx="968603" cy="213921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9382ECD-5F45-406F-86B5-7130945FE144}"/>
              </a:ext>
            </a:extLst>
          </p:cNvPr>
          <p:cNvSpPr/>
          <p:nvPr/>
        </p:nvSpPr>
        <p:spPr>
          <a:xfrm>
            <a:off x="9551323" y="1668295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5B7F7B5-607B-4D16-AD32-19943DBB7E3F}"/>
              </a:ext>
            </a:extLst>
          </p:cNvPr>
          <p:cNvSpPr/>
          <p:nvPr/>
        </p:nvSpPr>
        <p:spPr>
          <a:xfrm>
            <a:off x="9551323" y="1924801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32735AC-2FEB-4299-9091-1C5C8DC8562C}"/>
              </a:ext>
            </a:extLst>
          </p:cNvPr>
          <p:cNvSpPr/>
          <p:nvPr/>
        </p:nvSpPr>
        <p:spPr>
          <a:xfrm>
            <a:off x="9551323" y="2132914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D3C1FA9-CCC5-42BF-8CAF-4C53C552B52C}"/>
              </a:ext>
            </a:extLst>
          </p:cNvPr>
          <p:cNvCxnSpPr>
            <a:cxnSpLocks/>
            <a:endCxn id="127" idx="1"/>
          </p:cNvCxnSpPr>
          <p:nvPr/>
        </p:nvCxnSpPr>
        <p:spPr>
          <a:xfrm>
            <a:off x="8239027" y="1578265"/>
            <a:ext cx="1312296" cy="221678"/>
          </a:xfrm>
          <a:prstGeom prst="bentConnector3">
            <a:avLst>
              <a:gd name="adj1" fmla="val 7729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03AB56E-2221-4034-A0AD-04ADC3E56E96}"/>
              </a:ext>
            </a:extLst>
          </p:cNvPr>
          <p:cNvSpPr/>
          <p:nvPr/>
        </p:nvSpPr>
        <p:spPr>
          <a:xfrm>
            <a:off x="9551323" y="2732852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FCA4EB4-D2BA-49E6-92BC-2C146495CF02}"/>
              </a:ext>
            </a:extLst>
          </p:cNvPr>
          <p:cNvSpPr/>
          <p:nvPr/>
        </p:nvSpPr>
        <p:spPr>
          <a:xfrm>
            <a:off x="9551323" y="2989358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E9403A6-1CD3-4034-AD89-495B0C2D2204}"/>
              </a:ext>
            </a:extLst>
          </p:cNvPr>
          <p:cNvSpPr/>
          <p:nvPr/>
        </p:nvSpPr>
        <p:spPr>
          <a:xfrm>
            <a:off x="9551323" y="3197471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2B4C694F-6C4C-4762-AE91-18317995406A}"/>
              </a:ext>
            </a:extLst>
          </p:cNvPr>
          <p:cNvSpPr/>
          <p:nvPr/>
        </p:nvSpPr>
        <p:spPr>
          <a:xfrm>
            <a:off x="9551323" y="535185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32F40EC-436D-4048-B377-EA0EB8CDE27D}"/>
              </a:ext>
            </a:extLst>
          </p:cNvPr>
          <p:cNvSpPr/>
          <p:nvPr/>
        </p:nvSpPr>
        <p:spPr>
          <a:xfrm>
            <a:off x="9551323" y="791691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6CD01ED-138E-4EF2-B698-A5A4E30C09C7}"/>
              </a:ext>
            </a:extLst>
          </p:cNvPr>
          <p:cNvSpPr/>
          <p:nvPr/>
        </p:nvSpPr>
        <p:spPr>
          <a:xfrm>
            <a:off x="9551323" y="999804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CF78C212-8044-4E6F-965A-236ABB71ED89}"/>
              </a:ext>
            </a:extLst>
          </p:cNvPr>
          <p:cNvSpPr/>
          <p:nvPr/>
        </p:nvSpPr>
        <p:spPr>
          <a:xfrm>
            <a:off x="9551323" y="3677350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4D8D9EC-3AE2-4DA9-9408-EF9847D36004}"/>
              </a:ext>
            </a:extLst>
          </p:cNvPr>
          <p:cNvSpPr/>
          <p:nvPr/>
        </p:nvSpPr>
        <p:spPr>
          <a:xfrm>
            <a:off x="9551323" y="3933856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19EF614-C62A-420F-9BE2-84E91AA15601}"/>
              </a:ext>
            </a:extLst>
          </p:cNvPr>
          <p:cNvSpPr/>
          <p:nvPr/>
        </p:nvSpPr>
        <p:spPr>
          <a:xfrm>
            <a:off x="9551323" y="4141969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3CA5B425-5DD7-4462-8543-2038FB390B29}"/>
              </a:ext>
            </a:extLst>
          </p:cNvPr>
          <p:cNvSpPr/>
          <p:nvPr/>
        </p:nvSpPr>
        <p:spPr>
          <a:xfrm>
            <a:off x="9551323" y="4881790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BC19075-B36E-41DC-AF63-4A7274103526}"/>
              </a:ext>
            </a:extLst>
          </p:cNvPr>
          <p:cNvSpPr/>
          <p:nvPr/>
        </p:nvSpPr>
        <p:spPr>
          <a:xfrm>
            <a:off x="9551323" y="5138296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E9B420F-E565-4816-9622-1690779B13A0}"/>
              </a:ext>
            </a:extLst>
          </p:cNvPr>
          <p:cNvSpPr/>
          <p:nvPr/>
        </p:nvSpPr>
        <p:spPr>
          <a:xfrm>
            <a:off x="9551323" y="5346409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9ECA283-FC33-480C-ADFF-C55C6FE5A735}"/>
              </a:ext>
            </a:extLst>
          </p:cNvPr>
          <p:cNvCxnSpPr>
            <a:cxnSpLocks/>
            <a:endCxn id="154" idx="1"/>
          </p:cNvCxnSpPr>
          <p:nvPr/>
        </p:nvCxnSpPr>
        <p:spPr>
          <a:xfrm flipV="1">
            <a:off x="8239027" y="666833"/>
            <a:ext cx="1312296" cy="675942"/>
          </a:xfrm>
          <a:prstGeom prst="bentConnector3">
            <a:avLst>
              <a:gd name="adj1" fmla="val 7370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DDB4D0C-F3C3-4C36-AB1F-6151FCBEB5F9}"/>
              </a:ext>
            </a:extLst>
          </p:cNvPr>
          <p:cNvSpPr/>
          <p:nvPr/>
        </p:nvSpPr>
        <p:spPr>
          <a:xfrm>
            <a:off x="7041823" y="588066"/>
            <a:ext cx="1197204" cy="1777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7948FA2-EFC4-434E-8D23-8B4FAEBE467D}"/>
              </a:ext>
            </a:extLst>
          </p:cNvPr>
          <p:cNvSpPr/>
          <p:nvPr/>
        </p:nvSpPr>
        <p:spPr>
          <a:xfrm>
            <a:off x="7041823" y="765594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kmalloc-96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CFF04F-DE39-4D7D-AD7A-25556CFAE693}"/>
              </a:ext>
            </a:extLst>
          </p:cNvPr>
          <p:cNvSpPr txBox="1"/>
          <p:nvPr/>
        </p:nvSpPr>
        <p:spPr>
          <a:xfrm>
            <a:off x="6837963" y="516341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39DF8BF-5934-483E-9516-9910FBFC7FC0}"/>
              </a:ext>
            </a:extLst>
          </p:cNvPr>
          <p:cNvSpPr txBox="1"/>
          <p:nvPr/>
        </p:nvSpPr>
        <p:spPr>
          <a:xfrm>
            <a:off x="6834885" y="685795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3C979FD-EF00-4002-AFEC-3CB6B70BE733}"/>
              </a:ext>
            </a:extLst>
          </p:cNvPr>
          <p:cNvSpPr txBox="1"/>
          <p:nvPr/>
        </p:nvSpPr>
        <p:spPr>
          <a:xfrm>
            <a:off x="6839594" y="859331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2C6C13D-B3EA-4C0D-8893-54CE0D28E51B}"/>
              </a:ext>
            </a:extLst>
          </p:cNvPr>
          <p:cNvSpPr txBox="1"/>
          <p:nvPr/>
        </p:nvSpPr>
        <p:spPr>
          <a:xfrm>
            <a:off x="6841128" y="1027255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6AD1C2A2-2B96-4B6A-B948-AF8801F7B087}"/>
              </a:ext>
            </a:extLst>
          </p:cNvPr>
          <p:cNvSpPr txBox="1"/>
          <p:nvPr/>
        </p:nvSpPr>
        <p:spPr>
          <a:xfrm>
            <a:off x="6833298" y="1196103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9A8EBA3-1FE1-4039-B0E7-E85E330CE79F}"/>
              </a:ext>
            </a:extLst>
          </p:cNvPr>
          <p:cNvSpPr txBox="1"/>
          <p:nvPr/>
        </p:nvSpPr>
        <p:spPr>
          <a:xfrm>
            <a:off x="6755534" y="1536735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13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40020C00-82AB-4F92-B9B1-5CC174588201}"/>
              </a:ext>
            </a:extLst>
          </p:cNvPr>
          <p:cNvSpPr/>
          <p:nvPr/>
        </p:nvSpPr>
        <p:spPr>
          <a:xfrm>
            <a:off x="7041823" y="933151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kmalloc-192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99E5EA2C-2BD2-4B5F-8C5F-22C166D4B852}"/>
              </a:ext>
            </a:extLst>
          </p:cNvPr>
          <p:cNvSpPr/>
          <p:nvPr/>
        </p:nvSpPr>
        <p:spPr>
          <a:xfrm>
            <a:off x="7041823" y="1099238"/>
            <a:ext cx="1197204" cy="1777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kmalloc-8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B75E729F-3DD6-4DEC-89D9-BA4198B9FBED}"/>
              </a:ext>
            </a:extLst>
          </p:cNvPr>
          <p:cNvSpPr/>
          <p:nvPr/>
        </p:nvSpPr>
        <p:spPr>
          <a:xfrm>
            <a:off x="7041823" y="1276766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kmalloc-16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AB9672C-64C4-4F48-89F2-814DF3190E48}"/>
              </a:ext>
            </a:extLst>
          </p:cNvPr>
          <p:cNvSpPr/>
          <p:nvPr/>
        </p:nvSpPr>
        <p:spPr>
          <a:xfrm>
            <a:off x="7041823" y="1444323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B466CB71-01F1-4C58-AC30-89C1DD8466CE}"/>
              </a:ext>
            </a:extLst>
          </p:cNvPr>
          <p:cNvSpPr/>
          <p:nvPr/>
        </p:nvSpPr>
        <p:spPr>
          <a:xfrm>
            <a:off x="7041823" y="1610373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kmalloc-8192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C3CBEE60-F996-48B9-B9E8-3E7C1E9159EE}"/>
              </a:ext>
            </a:extLst>
          </p:cNvPr>
          <p:cNvSpPr/>
          <p:nvPr/>
        </p:nvSpPr>
        <p:spPr>
          <a:xfrm>
            <a:off x="6287565" y="2080001"/>
            <a:ext cx="2729060" cy="20619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385539B-4A58-4274-A497-92935F341232}"/>
              </a:ext>
            </a:extLst>
          </p:cNvPr>
          <p:cNvSpPr txBox="1"/>
          <p:nvPr/>
        </p:nvSpPr>
        <p:spPr>
          <a:xfrm>
            <a:off x="6275895" y="2027939"/>
            <a:ext cx="2787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 </a:t>
            </a:r>
            <a:r>
              <a:rPr lang="en-US" sz="1200" b="1" dirty="0" err="1">
                <a:solidFill>
                  <a:schemeClr val="tx1"/>
                </a:solidFill>
              </a:rPr>
              <a:t>kmem_cache</a:t>
            </a:r>
            <a:r>
              <a:rPr lang="en-US" sz="1200" b="1" dirty="0">
                <a:solidFill>
                  <a:schemeClr val="tx1"/>
                </a:solidFill>
              </a:rPr>
              <a:t> *</a:t>
            </a:r>
            <a:r>
              <a:rPr lang="en-US" sz="1200" b="1" dirty="0" err="1">
                <a:solidFill>
                  <a:schemeClr val="tx1"/>
                </a:solidFill>
              </a:rPr>
              <a:t>kmalloc_caches</a:t>
            </a:r>
            <a:r>
              <a:rPr lang="en-US" sz="1200" b="1" dirty="0">
                <a:solidFill>
                  <a:schemeClr val="tx1"/>
                </a:solidFill>
              </a:rPr>
              <a:t>[KMALLOC_RECLAIM][]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2F4993AE-075E-4CC5-A986-9263D2B950D8}"/>
              </a:ext>
            </a:extLst>
          </p:cNvPr>
          <p:cNvSpPr/>
          <p:nvPr/>
        </p:nvSpPr>
        <p:spPr>
          <a:xfrm>
            <a:off x="7053493" y="2554945"/>
            <a:ext cx="1197204" cy="1777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DD80BECD-5759-485E-806F-FDDE84D06178}"/>
              </a:ext>
            </a:extLst>
          </p:cNvPr>
          <p:cNvSpPr/>
          <p:nvPr/>
        </p:nvSpPr>
        <p:spPr>
          <a:xfrm>
            <a:off x="7053493" y="2732473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kmalloc-96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05311BA2-233E-4C26-8BEA-10240D57E788}"/>
              </a:ext>
            </a:extLst>
          </p:cNvPr>
          <p:cNvSpPr txBox="1"/>
          <p:nvPr/>
        </p:nvSpPr>
        <p:spPr>
          <a:xfrm>
            <a:off x="6849633" y="2483220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13293DF1-E105-40B1-B76D-16C3D06099A8}"/>
              </a:ext>
            </a:extLst>
          </p:cNvPr>
          <p:cNvSpPr txBox="1"/>
          <p:nvPr/>
        </p:nvSpPr>
        <p:spPr>
          <a:xfrm>
            <a:off x="6846555" y="2652674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ED6A7C06-6EF6-4D09-9DEC-B397AF30B078}"/>
              </a:ext>
            </a:extLst>
          </p:cNvPr>
          <p:cNvSpPr txBox="1"/>
          <p:nvPr/>
        </p:nvSpPr>
        <p:spPr>
          <a:xfrm>
            <a:off x="6851264" y="2826210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8EADC3F1-5F7E-4C76-AF85-A6D28893F553}"/>
              </a:ext>
            </a:extLst>
          </p:cNvPr>
          <p:cNvSpPr txBox="1"/>
          <p:nvPr/>
        </p:nvSpPr>
        <p:spPr>
          <a:xfrm>
            <a:off x="6852798" y="2994134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D38DB95C-77ED-46DB-900E-BFA119F70AED}"/>
              </a:ext>
            </a:extLst>
          </p:cNvPr>
          <p:cNvSpPr txBox="1"/>
          <p:nvPr/>
        </p:nvSpPr>
        <p:spPr>
          <a:xfrm>
            <a:off x="6844968" y="3162982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2D3AEAD-BB81-47E3-942B-4847F8588250}"/>
              </a:ext>
            </a:extLst>
          </p:cNvPr>
          <p:cNvSpPr txBox="1"/>
          <p:nvPr/>
        </p:nvSpPr>
        <p:spPr>
          <a:xfrm>
            <a:off x="6767204" y="3503614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13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8073E6F-F48B-49D5-B3CA-0093023041E7}"/>
              </a:ext>
            </a:extLst>
          </p:cNvPr>
          <p:cNvSpPr/>
          <p:nvPr/>
        </p:nvSpPr>
        <p:spPr>
          <a:xfrm>
            <a:off x="7053493" y="2900030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kmalloc-192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137CD4CA-F7B0-449C-8390-78DE0C416D5B}"/>
              </a:ext>
            </a:extLst>
          </p:cNvPr>
          <p:cNvSpPr/>
          <p:nvPr/>
        </p:nvSpPr>
        <p:spPr>
          <a:xfrm>
            <a:off x="7053493" y="3066117"/>
            <a:ext cx="1197204" cy="1777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kmalloc-8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24626581-A0EA-4F4A-AD18-21C18C99E84A}"/>
              </a:ext>
            </a:extLst>
          </p:cNvPr>
          <p:cNvSpPr/>
          <p:nvPr/>
        </p:nvSpPr>
        <p:spPr>
          <a:xfrm>
            <a:off x="7053493" y="3243645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kmalloc-16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45486088-8348-4FD9-9D4B-A4A1673A4F7D}"/>
              </a:ext>
            </a:extLst>
          </p:cNvPr>
          <p:cNvSpPr/>
          <p:nvPr/>
        </p:nvSpPr>
        <p:spPr>
          <a:xfrm>
            <a:off x="7053493" y="3411202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89418DB9-E3EB-4805-9802-A9983AB4DCD9}"/>
              </a:ext>
            </a:extLst>
          </p:cNvPr>
          <p:cNvSpPr/>
          <p:nvPr/>
        </p:nvSpPr>
        <p:spPr>
          <a:xfrm>
            <a:off x="7053493" y="3577252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kmalloc-8192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04E74986-D907-4738-B8C4-792A1FFD32D9}"/>
              </a:ext>
            </a:extLst>
          </p:cNvPr>
          <p:cNvSpPr txBox="1"/>
          <p:nvPr/>
        </p:nvSpPr>
        <p:spPr>
          <a:xfrm>
            <a:off x="6735201" y="3791498"/>
            <a:ext cx="1800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__GFP_RECLAIMABLE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58633F70-C671-4BE3-8FA3-E8A916F1ADD1}"/>
              </a:ext>
            </a:extLst>
          </p:cNvPr>
          <p:cNvSpPr/>
          <p:nvPr/>
        </p:nvSpPr>
        <p:spPr>
          <a:xfrm>
            <a:off x="6275895" y="4362718"/>
            <a:ext cx="2729060" cy="20619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2DAD2A9-7D5F-4D88-B486-46C7362935B2}"/>
              </a:ext>
            </a:extLst>
          </p:cNvPr>
          <p:cNvSpPr txBox="1"/>
          <p:nvPr/>
        </p:nvSpPr>
        <p:spPr>
          <a:xfrm>
            <a:off x="6264225" y="4310656"/>
            <a:ext cx="2787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 </a:t>
            </a:r>
            <a:r>
              <a:rPr lang="en-US" sz="1200" b="1" dirty="0" err="1">
                <a:solidFill>
                  <a:schemeClr val="tx1"/>
                </a:solidFill>
              </a:rPr>
              <a:t>kmem_cache</a:t>
            </a:r>
            <a:r>
              <a:rPr lang="en-US" sz="1200" b="1" dirty="0">
                <a:solidFill>
                  <a:schemeClr val="tx1"/>
                </a:solidFill>
              </a:rPr>
              <a:t> *</a:t>
            </a:r>
            <a:r>
              <a:rPr lang="en-US" sz="1200" b="1" dirty="0" err="1">
                <a:solidFill>
                  <a:schemeClr val="tx1"/>
                </a:solidFill>
              </a:rPr>
              <a:t>kmalloc_caches</a:t>
            </a:r>
            <a:r>
              <a:rPr lang="en-US" sz="1200" b="1" dirty="0">
                <a:solidFill>
                  <a:schemeClr val="tx1"/>
                </a:solidFill>
              </a:rPr>
              <a:t>[KMALLOC_DMA][]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F8B02A3-E3DB-496B-8218-0EB6CBE37F94}"/>
              </a:ext>
            </a:extLst>
          </p:cNvPr>
          <p:cNvSpPr/>
          <p:nvPr/>
        </p:nvSpPr>
        <p:spPr>
          <a:xfrm>
            <a:off x="7041823" y="4837662"/>
            <a:ext cx="1197204" cy="1777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F99A0519-3630-428C-B508-4C2B4C131B0B}"/>
              </a:ext>
            </a:extLst>
          </p:cNvPr>
          <p:cNvSpPr/>
          <p:nvPr/>
        </p:nvSpPr>
        <p:spPr>
          <a:xfrm>
            <a:off x="7041823" y="5015190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kmalloc-96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58BD998B-FDFF-4C42-A384-BC0B97B29E80}"/>
              </a:ext>
            </a:extLst>
          </p:cNvPr>
          <p:cNvSpPr txBox="1"/>
          <p:nvPr/>
        </p:nvSpPr>
        <p:spPr>
          <a:xfrm>
            <a:off x="6837963" y="4765937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027924DB-577B-40BF-9065-2A06A207EEE4}"/>
              </a:ext>
            </a:extLst>
          </p:cNvPr>
          <p:cNvSpPr txBox="1"/>
          <p:nvPr/>
        </p:nvSpPr>
        <p:spPr>
          <a:xfrm>
            <a:off x="6834885" y="4935391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3ABE5944-3431-4C0F-9949-AB1EBA8001FA}"/>
              </a:ext>
            </a:extLst>
          </p:cNvPr>
          <p:cNvSpPr txBox="1"/>
          <p:nvPr/>
        </p:nvSpPr>
        <p:spPr>
          <a:xfrm>
            <a:off x="6839594" y="5108927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0E5F969B-DD26-4562-988F-81AB6F988BF3}"/>
              </a:ext>
            </a:extLst>
          </p:cNvPr>
          <p:cNvSpPr txBox="1"/>
          <p:nvPr/>
        </p:nvSpPr>
        <p:spPr>
          <a:xfrm>
            <a:off x="6841128" y="5276851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8E0777CA-D1B7-4B3E-8EAE-FBC92804184B}"/>
              </a:ext>
            </a:extLst>
          </p:cNvPr>
          <p:cNvSpPr txBox="1"/>
          <p:nvPr/>
        </p:nvSpPr>
        <p:spPr>
          <a:xfrm>
            <a:off x="6833298" y="5445699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A470CDC3-0351-4637-B42D-BB1992C120CA}"/>
              </a:ext>
            </a:extLst>
          </p:cNvPr>
          <p:cNvSpPr txBox="1"/>
          <p:nvPr/>
        </p:nvSpPr>
        <p:spPr>
          <a:xfrm>
            <a:off x="6755534" y="5786331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13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BFDBD336-5014-435C-A1EA-A8EB556D0BC0}"/>
              </a:ext>
            </a:extLst>
          </p:cNvPr>
          <p:cNvSpPr/>
          <p:nvPr/>
        </p:nvSpPr>
        <p:spPr>
          <a:xfrm>
            <a:off x="7041823" y="5182747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kmalloc-192</a:t>
            </a: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F72921A4-96E1-4EDA-90E6-CE031ABFE790}"/>
              </a:ext>
            </a:extLst>
          </p:cNvPr>
          <p:cNvSpPr/>
          <p:nvPr/>
        </p:nvSpPr>
        <p:spPr>
          <a:xfrm>
            <a:off x="7041823" y="5348834"/>
            <a:ext cx="1197204" cy="1777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kmalloc-8</a:t>
            </a: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ECF07F4F-5D52-4BC1-9237-081107EDCB66}"/>
              </a:ext>
            </a:extLst>
          </p:cNvPr>
          <p:cNvSpPr/>
          <p:nvPr/>
        </p:nvSpPr>
        <p:spPr>
          <a:xfrm>
            <a:off x="7041823" y="5526362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kmalloc-16</a:t>
            </a: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3E3D921F-9821-4AC7-A769-BFAA80E0A842}"/>
              </a:ext>
            </a:extLst>
          </p:cNvPr>
          <p:cNvSpPr/>
          <p:nvPr/>
        </p:nvSpPr>
        <p:spPr>
          <a:xfrm>
            <a:off x="7041823" y="5693919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F3F9719C-B73B-4FEB-BE08-1B4D6ECF8DC2}"/>
              </a:ext>
            </a:extLst>
          </p:cNvPr>
          <p:cNvSpPr/>
          <p:nvPr/>
        </p:nvSpPr>
        <p:spPr>
          <a:xfrm>
            <a:off x="7041823" y="5859969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kmalloc-8192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B47C2661-2DEF-4BE3-A5C0-0C336E779912}"/>
              </a:ext>
            </a:extLst>
          </p:cNvPr>
          <p:cNvSpPr txBox="1"/>
          <p:nvPr/>
        </p:nvSpPr>
        <p:spPr>
          <a:xfrm>
            <a:off x="7042997" y="6083474"/>
            <a:ext cx="11972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__GFP_DMA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72A6F263-FE6C-45D3-9776-E7102C0598DC}"/>
              </a:ext>
            </a:extLst>
          </p:cNvPr>
          <p:cNvCxnSpPr>
            <a:cxnSpLocks/>
            <a:stCxn id="250" idx="3"/>
            <a:endCxn id="170" idx="1"/>
          </p:cNvCxnSpPr>
          <p:nvPr/>
        </p:nvCxnSpPr>
        <p:spPr>
          <a:xfrm flipV="1">
            <a:off x="8239027" y="5013438"/>
            <a:ext cx="1312296" cy="424250"/>
          </a:xfrm>
          <a:prstGeom prst="bentConnector3">
            <a:avLst>
              <a:gd name="adj1" fmla="val 7298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2624D9A-22DE-4A9F-87C4-B52F43B706D5}"/>
              </a:ext>
            </a:extLst>
          </p:cNvPr>
          <p:cNvCxnSpPr>
            <a:cxnSpLocks/>
            <a:stCxn id="227" idx="3"/>
            <a:endCxn id="131" idx="1"/>
          </p:cNvCxnSpPr>
          <p:nvPr/>
        </p:nvCxnSpPr>
        <p:spPr>
          <a:xfrm>
            <a:off x="8250697" y="2818082"/>
            <a:ext cx="1300626" cy="46418"/>
          </a:xfrm>
          <a:prstGeom prst="bentConnector3">
            <a:avLst>
              <a:gd name="adj1" fmla="val 6884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1FD0605-F1D5-4E3F-8BE0-4D511B0FD6C7}"/>
              </a:ext>
            </a:extLst>
          </p:cNvPr>
          <p:cNvCxnSpPr>
            <a:cxnSpLocks/>
            <a:stCxn id="236" idx="3"/>
            <a:endCxn id="167" idx="1"/>
          </p:cNvCxnSpPr>
          <p:nvPr/>
        </p:nvCxnSpPr>
        <p:spPr>
          <a:xfrm>
            <a:off x="8250697" y="3329254"/>
            <a:ext cx="1300626" cy="479744"/>
          </a:xfrm>
          <a:prstGeom prst="bentConnector3">
            <a:avLst>
              <a:gd name="adj1" fmla="val 7391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40">
            <a:extLst>
              <a:ext uri="{FF2B5EF4-FFF2-40B4-BE49-F238E27FC236}">
                <a16:creationId xmlns:a16="http://schemas.microsoft.com/office/drawing/2014/main" id="{CD8CF82F-FDAD-469F-BB7F-078236D273A0}"/>
              </a:ext>
            </a:extLst>
          </p:cNvPr>
          <p:cNvSpPr/>
          <p:nvPr/>
        </p:nvSpPr>
        <p:spPr>
          <a:xfrm>
            <a:off x="71683" y="6348882"/>
            <a:ext cx="6109332" cy="4376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Check </a:t>
            </a:r>
            <a:r>
              <a:rPr lang="en-US" b="1" dirty="0" err="1">
                <a:solidFill>
                  <a:schemeClr val="tx1"/>
                </a:solidFill>
              </a:rPr>
              <a:t>create_kmalloc_caches</a:t>
            </a:r>
            <a:r>
              <a:rPr lang="en-US" b="1" dirty="0">
                <a:solidFill>
                  <a:schemeClr val="tx1"/>
                </a:solidFill>
              </a:rPr>
              <a:t>() &amp;</a:t>
            </a:r>
            <a:r>
              <a:rPr lang="en-US" b="1" dirty="0" err="1">
                <a:solidFill>
                  <a:schemeClr val="tx1"/>
                </a:solidFill>
              </a:rPr>
              <a:t>kmalloc_info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43174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9129-3B0A-415B-9636-B4561F98D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66187"/>
            <a:ext cx="10515600" cy="689951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kmalloc</a:t>
            </a:r>
            <a:r>
              <a:rPr lang="en-US" dirty="0"/>
              <a:t>() &amp; </a:t>
            </a:r>
            <a:r>
              <a:rPr lang="en-US" dirty="0" err="1"/>
              <a:t>kfree</a:t>
            </a:r>
            <a:r>
              <a:rPr lang="en-US" dirty="0"/>
              <a:t>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7C83B3-2FC6-4FAD-8A10-72007FDC961D}"/>
              </a:ext>
            </a:extLst>
          </p:cNvPr>
          <p:cNvSpPr/>
          <p:nvPr/>
        </p:nvSpPr>
        <p:spPr>
          <a:xfrm>
            <a:off x="156442" y="1705332"/>
            <a:ext cx="102577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kmalloc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9AB601-ADC1-4334-A685-E465EC1AE6E0}"/>
              </a:ext>
            </a:extLst>
          </p:cNvPr>
          <p:cNvSpPr/>
          <p:nvPr/>
        </p:nvSpPr>
        <p:spPr>
          <a:xfrm>
            <a:off x="9732581" y="1859679"/>
            <a:ext cx="186250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0496BEC-40B7-437C-9A61-43992FF98990}"/>
              </a:ext>
            </a:extLst>
          </p:cNvPr>
          <p:cNvSpPr/>
          <p:nvPr/>
        </p:nvSpPr>
        <p:spPr>
          <a:xfrm>
            <a:off x="3689746" y="1305230"/>
            <a:ext cx="159088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kmalloc_large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B906C31-F29F-4A71-AA36-7757DC1E437E}"/>
              </a:ext>
            </a:extLst>
          </p:cNvPr>
          <p:cNvSpPr/>
          <p:nvPr/>
        </p:nvSpPr>
        <p:spPr>
          <a:xfrm>
            <a:off x="5653894" y="1305247"/>
            <a:ext cx="177020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kmalloc_order_trace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3C0C0B3-EDFA-49D2-87B9-D20CE1C2E6FC}"/>
              </a:ext>
            </a:extLst>
          </p:cNvPr>
          <p:cNvSpPr/>
          <p:nvPr/>
        </p:nvSpPr>
        <p:spPr>
          <a:xfrm>
            <a:off x="7714601" y="1305230"/>
            <a:ext cx="117419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kmalloc_order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7DCC69F-FBF7-45F1-B827-858FD75D53D1}"/>
              </a:ext>
            </a:extLst>
          </p:cNvPr>
          <p:cNvSpPr/>
          <p:nvPr/>
        </p:nvSpPr>
        <p:spPr>
          <a:xfrm>
            <a:off x="7190680" y="1858345"/>
            <a:ext cx="217025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kmem_cache_alloc_trace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F64F86C3-2FA7-4727-BD3A-3D6202A2DEB9}"/>
              </a:ext>
            </a:extLst>
          </p:cNvPr>
          <p:cNvCxnSpPr>
            <a:cxnSpLocks/>
            <a:stCxn id="4" idx="3"/>
            <a:endCxn id="48" idx="1"/>
          </p:cNvCxnSpPr>
          <p:nvPr/>
        </p:nvCxnSpPr>
        <p:spPr>
          <a:xfrm flipV="1">
            <a:off x="1182212" y="1426125"/>
            <a:ext cx="2507534" cy="400102"/>
          </a:xfrm>
          <a:prstGeom prst="bentConnector3">
            <a:avLst>
              <a:gd name="adj1" fmla="val 526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C9EE209-0F9E-4D48-8528-63D78C6F1B15}"/>
              </a:ext>
            </a:extLst>
          </p:cNvPr>
          <p:cNvSpPr txBox="1"/>
          <p:nvPr/>
        </p:nvSpPr>
        <p:spPr>
          <a:xfrm>
            <a:off x="992499" y="1155426"/>
            <a:ext cx="28492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size &gt; KMALLOC_MAX_CACHE_SIZE (8KB)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0612EE-7CF8-42A3-ACF6-426381B925AB}"/>
              </a:ext>
            </a:extLst>
          </p:cNvPr>
          <p:cNvSpPr txBox="1"/>
          <p:nvPr/>
        </p:nvSpPr>
        <p:spPr>
          <a:xfrm>
            <a:off x="922204" y="1942846"/>
            <a:ext cx="28492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size &lt;= KMALLOC_MAX_CACHE_SIZE (8KB)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FCD5960-F9DF-4E7F-BB4B-881463ABBB0A}"/>
              </a:ext>
            </a:extLst>
          </p:cNvPr>
          <p:cNvCxnSpPr>
            <a:stCxn id="48" idx="3"/>
            <a:endCxn id="54" idx="1"/>
          </p:cNvCxnSpPr>
          <p:nvPr/>
        </p:nvCxnSpPr>
        <p:spPr>
          <a:xfrm>
            <a:off x="5280635" y="1426125"/>
            <a:ext cx="373259" cy="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3009BB7-5FC4-45A7-8646-ED37D3CDE45D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 flipV="1">
            <a:off x="7424100" y="1426125"/>
            <a:ext cx="290501" cy="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CBAB4FD-C941-4D88-99AB-77DA9063C186}"/>
              </a:ext>
            </a:extLst>
          </p:cNvPr>
          <p:cNvCxnSpPr>
            <a:stCxn id="59" idx="3"/>
            <a:endCxn id="18" idx="1"/>
          </p:cNvCxnSpPr>
          <p:nvPr/>
        </p:nvCxnSpPr>
        <p:spPr>
          <a:xfrm>
            <a:off x="9360933" y="1979240"/>
            <a:ext cx="371648" cy="13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25DA0334-BF00-4F28-97A9-3463BFE38644}"/>
              </a:ext>
            </a:extLst>
          </p:cNvPr>
          <p:cNvSpPr/>
          <p:nvPr/>
        </p:nvSpPr>
        <p:spPr>
          <a:xfrm>
            <a:off x="1557252" y="4146121"/>
            <a:ext cx="102577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kfree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8F5B5EE-7608-4973-A2AF-CE76FD9C8C83}"/>
              </a:ext>
            </a:extLst>
          </p:cNvPr>
          <p:cNvSpPr/>
          <p:nvPr/>
        </p:nvSpPr>
        <p:spPr>
          <a:xfrm>
            <a:off x="2980476" y="4146121"/>
            <a:ext cx="2310904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= </a:t>
            </a:r>
            <a:r>
              <a:rPr lang="en-US" sz="1400" dirty="0" err="1">
                <a:solidFill>
                  <a:schemeClr val="tx1"/>
                </a:solidFill>
              </a:rPr>
              <a:t>virt_to_head_page</a:t>
            </a:r>
            <a:r>
              <a:rPr lang="en-US" sz="14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9ADA874-1DE8-4021-A567-AE62D79091B4}"/>
              </a:ext>
            </a:extLst>
          </p:cNvPr>
          <p:cNvSpPr/>
          <p:nvPr/>
        </p:nvSpPr>
        <p:spPr>
          <a:xfrm>
            <a:off x="6750185" y="4616126"/>
            <a:ext cx="159088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slab_free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4216E8F-7D72-4FC6-B6A2-D1434DCE36BF}"/>
              </a:ext>
            </a:extLst>
          </p:cNvPr>
          <p:cNvSpPr/>
          <p:nvPr/>
        </p:nvSpPr>
        <p:spPr>
          <a:xfrm>
            <a:off x="6750184" y="3869953"/>
            <a:ext cx="159088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compound_order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E104DD0-95AD-4798-A7AF-B0D5DD662E1D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2583022" y="4267016"/>
            <a:ext cx="3974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86ACFBF4-8BF8-4611-95BD-C445DD735801}"/>
              </a:ext>
            </a:extLst>
          </p:cNvPr>
          <p:cNvCxnSpPr>
            <a:stCxn id="66" idx="3"/>
            <a:endCxn id="67" idx="1"/>
          </p:cNvCxnSpPr>
          <p:nvPr/>
        </p:nvCxnSpPr>
        <p:spPr>
          <a:xfrm>
            <a:off x="5291380" y="4267016"/>
            <a:ext cx="1458805" cy="470005"/>
          </a:xfrm>
          <a:prstGeom prst="bentConnector3">
            <a:avLst>
              <a:gd name="adj1" fmla="val 1387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98D1670A-53AA-4556-A4A8-E4DF9082CDEA}"/>
              </a:ext>
            </a:extLst>
          </p:cNvPr>
          <p:cNvSpPr txBox="1"/>
          <p:nvPr/>
        </p:nvSpPr>
        <p:spPr>
          <a:xfrm>
            <a:off x="5322466" y="4684886"/>
            <a:ext cx="1516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A slab page</a:t>
            </a:r>
            <a:br>
              <a:rPr lang="en-US" sz="1200" dirty="0"/>
            </a:br>
            <a:r>
              <a:rPr lang="en-US" sz="1200" dirty="0"/>
              <a:t>(check </a:t>
            </a:r>
            <a:r>
              <a:rPr lang="en-US" sz="1200" dirty="0" err="1"/>
              <a:t>PG_slab</a:t>
            </a:r>
            <a:r>
              <a:rPr lang="en-US" sz="1200" dirty="0"/>
              <a:t> flag)</a:t>
            </a:r>
          </a:p>
        </p:txBody>
      </p: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87B06F3A-2840-4E5F-A981-4806086291C8}"/>
              </a:ext>
            </a:extLst>
          </p:cNvPr>
          <p:cNvCxnSpPr>
            <a:stCxn id="66" idx="3"/>
            <a:endCxn id="68" idx="1"/>
          </p:cNvCxnSpPr>
          <p:nvPr/>
        </p:nvCxnSpPr>
        <p:spPr>
          <a:xfrm flipV="1">
            <a:off x="5291380" y="3990848"/>
            <a:ext cx="1458804" cy="276168"/>
          </a:xfrm>
          <a:prstGeom prst="bentConnector3">
            <a:avLst>
              <a:gd name="adj1" fmla="val 1430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2D8C71CE-7A46-4CEF-B7DB-4B1B2C0009A4}"/>
              </a:ext>
            </a:extLst>
          </p:cNvPr>
          <p:cNvSpPr txBox="1"/>
          <p:nvPr/>
        </p:nvSpPr>
        <p:spPr>
          <a:xfrm>
            <a:off x="5468424" y="3729115"/>
            <a:ext cx="12245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 Not a slab page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F2EF68B-0B84-435F-9C36-D138D77B1E6E}"/>
              </a:ext>
            </a:extLst>
          </p:cNvPr>
          <p:cNvCxnSpPr>
            <a:cxnSpLocks/>
          </p:cNvCxnSpPr>
          <p:nvPr/>
        </p:nvCxnSpPr>
        <p:spPr>
          <a:xfrm>
            <a:off x="531958" y="3102857"/>
            <a:ext cx="11536710" cy="0"/>
          </a:xfrm>
          <a:prstGeom prst="line">
            <a:avLst/>
          </a:prstGeom>
          <a:ln w="508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456266CE-EAD9-409E-B351-B2DB2782CB6C}"/>
              </a:ext>
            </a:extLst>
          </p:cNvPr>
          <p:cNvSpPr/>
          <p:nvPr/>
        </p:nvSpPr>
        <p:spPr>
          <a:xfrm>
            <a:off x="10368998" y="1293925"/>
            <a:ext cx="117419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alloc_pages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D4F009F3-3E64-4BCD-886E-A2D439BDA6C8}"/>
              </a:ext>
            </a:extLst>
          </p:cNvPr>
          <p:cNvCxnSpPr>
            <a:stCxn id="55" idx="3"/>
            <a:endCxn id="94" idx="1"/>
          </p:cNvCxnSpPr>
          <p:nvPr/>
        </p:nvCxnSpPr>
        <p:spPr>
          <a:xfrm flipV="1">
            <a:off x="8888791" y="1414820"/>
            <a:ext cx="1480207" cy="113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DA6975E3-6757-4E63-B8F4-B7C71989FBDA}"/>
              </a:ext>
            </a:extLst>
          </p:cNvPr>
          <p:cNvSpPr txBox="1"/>
          <p:nvPr/>
        </p:nvSpPr>
        <p:spPr>
          <a:xfrm>
            <a:off x="9029406" y="990377"/>
            <a:ext cx="1305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__GFP_COMP</a:t>
            </a:r>
          </a:p>
          <a:p>
            <a:r>
              <a:rPr lang="en-US" sz="1200" dirty="0"/>
              <a:t>(Compound page)</a:t>
            </a:r>
            <a:endParaRPr lang="en-US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B8E7A72-3530-4D9E-AB82-07705C04B8B8}"/>
              </a:ext>
            </a:extLst>
          </p:cNvPr>
          <p:cNvSpPr/>
          <p:nvPr/>
        </p:nvSpPr>
        <p:spPr>
          <a:xfrm>
            <a:off x="8899061" y="3867614"/>
            <a:ext cx="159088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__</a:t>
            </a:r>
            <a:r>
              <a:rPr lang="en-US" sz="1400" dirty="0" err="1">
                <a:solidFill>
                  <a:schemeClr val="tx1"/>
                </a:solidFill>
              </a:rPr>
              <a:t>free_pages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0FD435C-8175-4AE1-B0D5-60B9914F2762}"/>
              </a:ext>
            </a:extLst>
          </p:cNvPr>
          <p:cNvCxnSpPr>
            <a:stCxn id="68" idx="3"/>
            <a:endCxn id="99" idx="1"/>
          </p:cNvCxnSpPr>
          <p:nvPr/>
        </p:nvCxnSpPr>
        <p:spPr>
          <a:xfrm flipV="1">
            <a:off x="8341073" y="3988509"/>
            <a:ext cx="557988" cy="23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B676FBC-2EF0-4017-8F18-C7BFBBCF8177}"/>
              </a:ext>
            </a:extLst>
          </p:cNvPr>
          <p:cNvSpPr/>
          <p:nvPr/>
        </p:nvSpPr>
        <p:spPr>
          <a:xfrm>
            <a:off x="3907402" y="1859679"/>
            <a:ext cx="295528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kmalloc_index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38B5F7-F164-45E4-8478-F2704BAE1BA9}"/>
              </a:ext>
            </a:extLst>
          </p:cNvPr>
          <p:cNvSpPr txBox="1"/>
          <p:nvPr/>
        </p:nvSpPr>
        <p:spPr>
          <a:xfrm>
            <a:off x="3880050" y="2070256"/>
            <a:ext cx="3908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Get index based on size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if size &lt; 8 </a:t>
            </a:r>
            <a:r>
              <a:rPr lang="en-US" sz="1200" dirty="0">
                <a:sym typeface="Wingdings" panose="05000000000000000000" pitchFamily="2" charset="2"/>
              </a:rPr>
              <a:t> return KMALLOC_SHIFT_LOW (3)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ym typeface="Wingdings" panose="05000000000000000000" pitchFamily="2" charset="2"/>
              </a:rPr>
              <a:t>if size == 0  zero allocation</a:t>
            </a:r>
            <a:endParaRPr lang="en-US" sz="1200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85DAC746-722B-4308-8BAE-DF33256712F8}"/>
              </a:ext>
            </a:extLst>
          </p:cNvPr>
          <p:cNvCxnSpPr>
            <a:stCxn id="4" idx="3"/>
            <a:endCxn id="35" idx="1"/>
          </p:cNvCxnSpPr>
          <p:nvPr/>
        </p:nvCxnSpPr>
        <p:spPr>
          <a:xfrm>
            <a:off x="1182212" y="1826227"/>
            <a:ext cx="2725190" cy="154347"/>
          </a:xfrm>
          <a:prstGeom prst="bentConnector3">
            <a:avLst>
              <a:gd name="adj1" fmla="val 468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1617A7-5911-48CB-A391-E22EE0546722}"/>
              </a:ext>
            </a:extLst>
          </p:cNvPr>
          <p:cNvCxnSpPr>
            <a:stCxn id="35" idx="3"/>
            <a:endCxn id="59" idx="1"/>
          </p:cNvCxnSpPr>
          <p:nvPr/>
        </p:nvCxnSpPr>
        <p:spPr>
          <a:xfrm flipV="1">
            <a:off x="6862682" y="1979240"/>
            <a:ext cx="327998" cy="13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2235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D842892-0F58-49DF-8C2D-34C537B9BA1E}"/>
              </a:ext>
            </a:extLst>
          </p:cNvPr>
          <p:cNvSpPr/>
          <p:nvPr/>
        </p:nvSpPr>
        <p:spPr>
          <a:xfrm>
            <a:off x="325244" y="832308"/>
            <a:ext cx="11091500" cy="29340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ABF888-9FC3-4E1E-834D-F68D4407E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66187"/>
            <a:ext cx="10515600" cy="68995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Compound page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ACA5EC-FD9F-444B-9201-E6B62F1E9A61}"/>
              </a:ext>
            </a:extLst>
          </p:cNvPr>
          <p:cNvSpPr/>
          <p:nvPr/>
        </p:nvSpPr>
        <p:spPr>
          <a:xfrm>
            <a:off x="848944" y="1607663"/>
            <a:ext cx="1818639" cy="5013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(head page)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8A216D-C83E-488C-B58A-29AAD043C13E}"/>
              </a:ext>
            </a:extLst>
          </p:cNvPr>
          <p:cNvSpPr/>
          <p:nvPr/>
        </p:nvSpPr>
        <p:spPr>
          <a:xfrm>
            <a:off x="848944" y="2102225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flags |= </a:t>
            </a:r>
            <a:r>
              <a:rPr lang="en-US" sz="1200" dirty="0" err="1">
                <a:solidFill>
                  <a:schemeClr val="tx1"/>
                </a:solidFill>
              </a:rPr>
              <a:t>PG_head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414993-0371-4A29-BA85-175B05026863}"/>
              </a:ext>
            </a:extLst>
          </p:cNvPr>
          <p:cNvSpPr/>
          <p:nvPr/>
        </p:nvSpPr>
        <p:spPr>
          <a:xfrm>
            <a:off x="3205244" y="1600874"/>
            <a:ext cx="1818639" cy="5013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(Tail page)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70BCDF-96D6-4892-AE6A-B10C5B7D838A}"/>
              </a:ext>
            </a:extLst>
          </p:cNvPr>
          <p:cNvSpPr/>
          <p:nvPr/>
        </p:nvSpPr>
        <p:spPr>
          <a:xfrm>
            <a:off x="3205244" y="2095436"/>
            <a:ext cx="1818639" cy="28621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compound_head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F86552-BDCF-4164-B15B-19ACAD316549}"/>
              </a:ext>
            </a:extLst>
          </p:cNvPr>
          <p:cNvSpPr/>
          <p:nvPr/>
        </p:nvSpPr>
        <p:spPr>
          <a:xfrm>
            <a:off x="3205243" y="2382532"/>
            <a:ext cx="1818639" cy="30050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compound_dtor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147FBB-AB8C-46B7-AFDF-8DF1CE13C2ED}"/>
              </a:ext>
            </a:extLst>
          </p:cNvPr>
          <p:cNvSpPr/>
          <p:nvPr/>
        </p:nvSpPr>
        <p:spPr>
          <a:xfrm>
            <a:off x="3205243" y="2681906"/>
            <a:ext cx="1818639" cy="3005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compound_order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7B54E1-09BB-4AD7-9102-19B544E3989C}"/>
              </a:ext>
            </a:extLst>
          </p:cNvPr>
          <p:cNvSpPr/>
          <p:nvPr/>
        </p:nvSpPr>
        <p:spPr>
          <a:xfrm>
            <a:off x="3205242" y="2978529"/>
            <a:ext cx="1818639" cy="28374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compound_mapcount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A37861-4278-4CA5-8EDA-9698AF49A301}"/>
              </a:ext>
            </a:extLst>
          </p:cNvPr>
          <p:cNvSpPr/>
          <p:nvPr/>
        </p:nvSpPr>
        <p:spPr>
          <a:xfrm>
            <a:off x="3205241" y="3257957"/>
            <a:ext cx="1818639" cy="33171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compound_nr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0D09EE-EE20-465B-B39C-6715037D79A2}"/>
              </a:ext>
            </a:extLst>
          </p:cNvPr>
          <p:cNvSpPr/>
          <p:nvPr/>
        </p:nvSpPr>
        <p:spPr>
          <a:xfrm rot="5400000">
            <a:off x="2475010" y="2859444"/>
            <a:ext cx="1207581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First Tail Page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0D4B16-9DC6-4ABF-8517-16C4831A871A}"/>
              </a:ext>
            </a:extLst>
          </p:cNvPr>
          <p:cNvSpPr/>
          <p:nvPr/>
        </p:nvSpPr>
        <p:spPr>
          <a:xfrm>
            <a:off x="5696984" y="1607663"/>
            <a:ext cx="1818639" cy="5013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(Tail page)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340B51-689A-458E-BDCE-C92BCC95A156}"/>
              </a:ext>
            </a:extLst>
          </p:cNvPr>
          <p:cNvSpPr/>
          <p:nvPr/>
        </p:nvSpPr>
        <p:spPr>
          <a:xfrm>
            <a:off x="5696984" y="2102225"/>
            <a:ext cx="1818639" cy="28621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sz="1100" dirty="0">
                <a:solidFill>
                  <a:schemeClr val="tx1"/>
                </a:solidFill>
              </a:rPr>
              <a:t>_compound_pad_1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</a:t>
            </a:r>
            <a:r>
              <a:rPr lang="en-US" sz="1100" dirty="0" err="1">
                <a:solidFill>
                  <a:schemeClr val="tx1"/>
                </a:solidFill>
              </a:rPr>
              <a:t>compound_head</a:t>
            </a:r>
            <a:r>
              <a:rPr lang="en-US" sz="11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D9728B-CF9E-4D86-A9EA-CCFA62F2FB2D}"/>
              </a:ext>
            </a:extLst>
          </p:cNvPr>
          <p:cNvSpPr/>
          <p:nvPr/>
        </p:nvSpPr>
        <p:spPr>
          <a:xfrm>
            <a:off x="5696983" y="2389320"/>
            <a:ext cx="1818639" cy="689951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hpage_pinned_refcount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8868AD-5C62-471D-9B81-B2C7B4C71F2A}"/>
              </a:ext>
            </a:extLst>
          </p:cNvPr>
          <p:cNvSpPr/>
          <p:nvPr/>
        </p:nvSpPr>
        <p:spPr>
          <a:xfrm>
            <a:off x="5696983" y="3079271"/>
            <a:ext cx="1818639" cy="51719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deferred_list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35C4EE-EB45-4885-AD24-B9B8FC19B94A}"/>
              </a:ext>
            </a:extLst>
          </p:cNvPr>
          <p:cNvSpPr/>
          <p:nvPr/>
        </p:nvSpPr>
        <p:spPr>
          <a:xfrm rot="5400000">
            <a:off x="4966750" y="2866233"/>
            <a:ext cx="1207581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2nd Tail Page only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E457D8F-6228-43F5-93A1-63F21F0F76BA}"/>
              </a:ext>
            </a:extLst>
          </p:cNvPr>
          <p:cNvCxnSpPr>
            <a:stCxn id="10" idx="1"/>
            <a:endCxn id="7" idx="3"/>
          </p:cNvCxnSpPr>
          <p:nvPr/>
        </p:nvCxnSpPr>
        <p:spPr>
          <a:xfrm rot="10800000">
            <a:off x="2667584" y="1858339"/>
            <a:ext cx="537661" cy="3802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46033BE-EC0D-46B9-BAA4-652FACCD4254}"/>
              </a:ext>
            </a:extLst>
          </p:cNvPr>
          <p:cNvCxnSpPr>
            <a:stCxn id="17" idx="1"/>
            <a:endCxn id="7" idx="0"/>
          </p:cNvCxnSpPr>
          <p:nvPr/>
        </p:nvCxnSpPr>
        <p:spPr>
          <a:xfrm rot="10800000">
            <a:off x="1758264" y="1607664"/>
            <a:ext cx="3938720" cy="637671"/>
          </a:xfrm>
          <a:prstGeom prst="bentConnector4">
            <a:avLst>
              <a:gd name="adj1" fmla="val 8470"/>
              <a:gd name="adj2" fmla="val 1358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B89865F-CE1F-4642-89AD-0DA7E3959119}"/>
              </a:ext>
            </a:extLst>
          </p:cNvPr>
          <p:cNvSpPr txBox="1"/>
          <p:nvPr/>
        </p:nvSpPr>
        <p:spPr>
          <a:xfrm>
            <a:off x="9189148" y="1774362"/>
            <a:ext cx="617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. . 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5DDE61-A79B-4175-BF50-8F6F7137BC80}"/>
              </a:ext>
            </a:extLst>
          </p:cNvPr>
          <p:cNvSpPr txBox="1"/>
          <p:nvPr/>
        </p:nvSpPr>
        <p:spPr>
          <a:xfrm>
            <a:off x="325244" y="823287"/>
            <a:ext cx="1574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Compound Page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510ADA-BA34-47BB-95C3-63C72D119BDF}"/>
              </a:ext>
            </a:extLst>
          </p:cNvPr>
          <p:cNvSpPr/>
          <p:nvPr/>
        </p:nvSpPr>
        <p:spPr>
          <a:xfrm>
            <a:off x="7894771" y="1607663"/>
            <a:ext cx="1313230" cy="5013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(Tail page)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8AACDB-590D-47F8-AF56-EC7303F1A441}"/>
              </a:ext>
            </a:extLst>
          </p:cNvPr>
          <p:cNvSpPr/>
          <p:nvPr/>
        </p:nvSpPr>
        <p:spPr>
          <a:xfrm>
            <a:off x="7894771" y="2102225"/>
            <a:ext cx="1313230" cy="28621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sz="1100" dirty="0">
                <a:solidFill>
                  <a:schemeClr val="tx1"/>
                </a:solidFill>
              </a:rPr>
              <a:t>_compound_pad_1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</a:t>
            </a:r>
            <a:r>
              <a:rPr lang="en-US" sz="1100" dirty="0" err="1">
                <a:solidFill>
                  <a:schemeClr val="tx1"/>
                </a:solidFill>
              </a:rPr>
              <a:t>compound_head</a:t>
            </a:r>
            <a:r>
              <a:rPr lang="en-US" sz="11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306D32E-4052-4336-ACC3-18FEC43F6652}"/>
              </a:ext>
            </a:extLst>
          </p:cNvPr>
          <p:cNvSpPr/>
          <p:nvPr/>
        </p:nvSpPr>
        <p:spPr>
          <a:xfrm>
            <a:off x="9876416" y="1607663"/>
            <a:ext cx="1313230" cy="5013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(Tail page)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12E4F6-4902-4CC5-82FD-603806A92661}"/>
              </a:ext>
            </a:extLst>
          </p:cNvPr>
          <p:cNvSpPr/>
          <p:nvPr/>
        </p:nvSpPr>
        <p:spPr>
          <a:xfrm>
            <a:off x="9876416" y="2102225"/>
            <a:ext cx="1313230" cy="28621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sz="1100" dirty="0">
                <a:solidFill>
                  <a:schemeClr val="tx1"/>
                </a:solidFill>
              </a:rPr>
              <a:t>_compound_pad_1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</a:t>
            </a:r>
            <a:r>
              <a:rPr lang="en-US" sz="1100" dirty="0" err="1">
                <a:solidFill>
                  <a:schemeClr val="tx1"/>
                </a:solidFill>
              </a:rPr>
              <a:t>compound_head</a:t>
            </a:r>
            <a:r>
              <a:rPr lang="en-US" sz="11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0D2ED85-423B-4E17-AAE5-12BE05B74941}"/>
              </a:ext>
            </a:extLst>
          </p:cNvPr>
          <p:cNvCxnSpPr>
            <a:stCxn id="37" idx="1"/>
            <a:endCxn id="7" idx="0"/>
          </p:cNvCxnSpPr>
          <p:nvPr/>
        </p:nvCxnSpPr>
        <p:spPr>
          <a:xfrm rot="10800000">
            <a:off x="1758265" y="1607664"/>
            <a:ext cx="6136507" cy="637671"/>
          </a:xfrm>
          <a:prstGeom prst="bentConnector4">
            <a:avLst>
              <a:gd name="adj1" fmla="val 3879"/>
              <a:gd name="adj2" fmla="val 1358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411BFF15-8CD0-4851-8478-D84F49FE6820}"/>
              </a:ext>
            </a:extLst>
          </p:cNvPr>
          <p:cNvCxnSpPr>
            <a:stCxn id="41" idx="1"/>
            <a:endCxn id="7" idx="0"/>
          </p:cNvCxnSpPr>
          <p:nvPr/>
        </p:nvCxnSpPr>
        <p:spPr>
          <a:xfrm rot="10800000">
            <a:off x="1758264" y="1607664"/>
            <a:ext cx="8118152" cy="637671"/>
          </a:xfrm>
          <a:prstGeom prst="bentConnector4">
            <a:avLst>
              <a:gd name="adj1" fmla="val 1086"/>
              <a:gd name="adj2" fmla="val 1358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C59DC99-DD79-42BC-B40D-F60BA4B716E6}"/>
              </a:ext>
            </a:extLst>
          </p:cNvPr>
          <p:cNvSpPr txBox="1"/>
          <p:nvPr/>
        </p:nvSpPr>
        <p:spPr>
          <a:xfrm>
            <a:off x="325244" y="4060999"/>
            <a:ext cx="452540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Compound page – Use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Mainly used in huge page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kmalloc</a:t>
            </a:r>
            <a:r>
              <a:rPr lang="en-US" sz="2000" dirty="0"/>
              <a:t>: allocation size &gt; 8192 bytes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Check </a:t>
            </a:r>
            <a:r>
              <a:rPr lang="en-US" dirty="0" err="1"/>
              <a:t>kmalloc_order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3090784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ABF888-9FC3-4E1E-834D-F68D4407E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66187"/>
            <a:ext cx="10515600" cy="68995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Compound page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92E7E5-6F70-4735-8C48-8994A01D5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11" y="2830470"/>
            <a:ext cx="6410270" cy="329327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4E9E61-A386-44B9-A93E-0F892A0529FA}"/>
              </a:ext>
            </a:extLst>
          </p:cNvPr>
          <p:cNvSpPr/>
          <p:nvPr/>
        </p:nvSpPr>
        <p:spPr>
          <a:xfrm>
            <a:off x="419335" y="2960918"/>
            <a:ext cx="5029200" cy="30046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C28AC4-28CE-4737-9B2E-044D6683F30B}"/>
              </a:ext>
            </a:extLst>
          </p:cNvPr>
          <p:cNvSpPr txBox="1"/>
          <p:nvPr/>
        </p:nvSpPr>
        <p:spPr>
          <a:xfrm>
            <a:off x="6994132" y="2782669"/>
            <a:ext cx="2615128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Allocation size = 8195</a:t>
            </a:r>
          </a:p>
          <a:p>
            <a:r>
              <a:rPr lang="en-US" dirty="0"/>
              <a:t>order = 2 </a:t>
            </a:r>
            <a:r>
              <a:rPr lang="en-US" dirty="0">
                <a:sym typeface="Wingdings" panose="05000000000000000000" pitchFamily="2" charset="2"/>
              </a:rPr>
              <a:t> 4 Pages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7BDA65-DBEA-402F-8403-5FEF929C9EC5}"/>
              </a:ext>
            </a:extLst>
          </p:cNvPr>
          <p:cNvSpPr/>
          <p:nvPr/>
        </p:nvSpPr>
        <p:spPr>
          <a:xfrm>
            <a:off x="156442" y="1705332"/>
            <a:ext cx="1025770" cy="2417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kmalloc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3A8191-CB75-4B49-A67D-7C6A9FD21865}"/>
              </a:ext>
            </a:extLst>
          </p:cNvPr>
          <p:cNvSpPr/>
          <p:nvPr/>
        </p:nvSpPr>
        <p:spPr>
          <a:xfrm>
            <a:off x="6231647" y="1943830"/>
            <a:ext cx="186250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kmem_cache_alloc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D928335-D6A6-44FC-9217-629D9F923099}"/>
              </a:ext>
            </a:extLst>
          </p:cNvPr>
          <p:cNvSpPr/>
          <p:nvPr/>
        </p:nvSpPr>
        <p:spPr>
          <a:xfrm>
            <a:off x="3689746" y="1305230"/>
            <a:ext cx="1590889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kmalloc_large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920B0F0-48C4-4FBC-9054-089F6033A189}"/>
              </a:ext>
            </a:extLst>
          </p:cNvPr>
          <p:cNvSpPr/>
          <p:nvPr/>
        </p:nvSpPr>
        <p:spPr>
          <a:xfrm>
            <a:off x="5653894" y="1305247"/>
            <a:ext cx="1770206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kmalloc_order_trace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E40786A-793E-4487-B85C-2FC47A9A4A72}"/>
              </a:ext>
            </a:extLst>
          </p:cNvPr>
          <p:cNvSpPr/>
          <p:nvPr/>
        </p:nvSpPr>
        <p:spPr>
          <a:xfrm>
            <a:off x="7714601" y="1305230"/>
            <a:ext cx="117419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kmalloc_order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F10C76-0C70-4CBC-BAE2-467A22B27A80}"/>
              </a:ext>
            </a:extLst>
          </p:cNvPr>
          <p:cNvSpPr/>
          <p:nvPr/>
        </p:nvSpPr>
        <p:spPr>
          <a:xfrm>
            <a:off x="3689746" y="1942496"/>
            <a:ext cx="2170253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kmem_cache_alloc_trace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64441C14-824C-4422-9E4D-B2375EE5200A}"/>
              </a:ext>
            </a:extLst>
          </p:cNvPr>
          <p:cNvCxnSpPr>
            <a:cxnSpLocks/>
            <a:stCxn id="32" idx="3"/>
            <a:endCxn id="39" idx="1"/>
          </p:cNvCxnSpPr>
          <p:nvPr/>
        </p:nvCxnSpPr>
        <p:spPr>
          <a:xfrm flipV="1">
            <a:off x="1182212" y="1426125"/>
            <a:ext cx="2507534" cy="400102"/>
          </a:xfrm>
          <a:prstGeom prst="bentConnector3">
            <a:avLst>
              <a:gd name="adj1" fmla="val 526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21E0DAF-95D9-4F18-8A7D-A486273CB925}"/>
              </a:ext>
            </a:extLst>
          </p:cNvPr>
          <p:cNvSpPr txBox="1"/>
          <p:nvPr/>
        </p:nvSpPr>
        <p:spPr>
          <a:xfrm>
            <a:off x="992499" y="1155426"/>
            <a:ext cx="28492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size &gt; KMALLOC_MAX_CACHE_SIZE (8KB)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CA691757-31B4-4AE0-B887-3C5FAD6450D3}"/>
              </a:ext>
            </a:extLst>
          </p:cNvPr>
          <p:cNvCxnSpPr>
            <a:cxnSpLocks/>
            <a:stCxn id="32" idx="3"/>
            <a:endCxn id="45" idx="1"/>
          </p:cNvCxnSpPr>
          <p:nvPr/>
        </p:nvCxnSpPr>
        <p:spPr>
          <a:xfrm>
            <a:off x="1182212" y="1826227"/>
            <a:ext cx="2507534" cy="237164"/>
          </a:xfrm>
          <a:prstGeom prst="bentConnector3">
            <a:avLst>
              <a:gd name="adj1" fmla="val 530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DE64741-8B05-4E50-97F4-66C25367FB86}"/>
              </a:ext>
            </a:extLst>
          </p:cNvPr>
          <p:cNvSpPr txBox="1"/>
          <p:nvPr/>
        </p:nvSpPr>
        <p:spPr>
          <a:xfrm>
            <a:off x="950485" y="2037116"/>
            <a:ext cx="28492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size &lt;= KMALLOC_MAX_CACHE_SIZE (8KB)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510E08E-4035-4F07-B75E-D97FD99BE835}"/>
              </a:ext>
            </a:extLst>
          </p:cNvPr>
          <p:cNvCxnSpPr>
            <a:stCxn id="39" idx="3"/>
            <a:endCxn id="42" idx="1"/>
          </p:cNvCxnSpPr>
          <p:nvPr/>
        </p:nvCxnSpPr>
        <p:spPr>
          <a:xfrm>
            <a:off x="5280635" y="1426125"/>
            <a:ext cx="373259" cy="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3B43C7B-3835-4690-8BAB-656B11062B97}"/>
              </a:ext>
            </a:extLst>
          </p:cNvPr>
          <p:cNvCxnSpPr>
            <a:stCxn id="42" idx="3"/>
            <a:endCxn id="44" idx="1"/>
          </p:cNvCxnSpPr>
          <p:nvPr/>
        </p:nvCxnSpPr>
        <p:spPr>
          <a:xfrm flipV="1">
            <a:off x="7424100" y="1426125"/>
            <a:ext cx="290501" cy="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5B3FD4A-1507-4FC8-AD76-2BC67B51C100}"/>
              </a:ext>
            </a:extLst>
          </p:cNvPr>
          <p:cNvCxnSpPr>
            <a:stCxn id="45" idx="3"/>
            <a:endCxn id="38" idx="1"/>
          </p:cNvCxnSpPr>
          <p:nvPr/>
        </p:nvCxnSpPr>
        <p:spPr>
          <a:xfrm>
            <a:off x="5859999" y="2063391"/>
            <a:ext cx="371648" cy="13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0F67485A-4023-432F-8CA0-D1148B98BAD7}"/>
              </a:ext>
            </a:extLst>
          </p:cNvPr>
          <p:cNvSpPr/>
          <p:nvPr/>
        </p:nvSpPr>
        <p:spPr>
          <a:xfrm>
            <a:off x="10368998" y="1293925"/>
            <a:ext cx="1174190" cy="2417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alloc_pages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89C784F-9B00-413F-995C-CEF50C707C9C}"/>
              </a:ext>
            </a:extLst>
          </p:cNvPr>
          <p:cNvCxnSpPr>
            <a:stCxn id="44" idx="3"/>
            <a:endCxn id="54" idx="1"/>
          </p:cNvCxnSpPr>
          <p:nvPr/>
        </p:nvCxnSpPr>
        <p:spPr>
          <a:xfrm flipV="1">
            <a:off x="8888791" y="1414820"/>
            <a:ext cx="1480207" cy="113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FA732E5-D313-40F1-921A-78F4E24CB726}"/>
              </a:ext>
            </a:extLst>
          </p:cNvPr>
          <p:cNvSpPr txBox="1"/>
          <p:nvPr/>
        </p:nvSpPr>
        <p:spPr>
          <a:xfrm>
            <a:off x="9029406" y="990377"/>
            <a:ext cx="1305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__GFP_COMP</a:t>
            </a:r>
          </a:p>
          <a:p>
            <a:r>
              <a:rPr lang="en-US" sz="1200" dirty="0"/>
              <a:t>(Compound page)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10592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D842892-0F58-49DF-8C2D-34C537B9BA1E}"/>
              </a:ext>
            </a:extLst>
          </p:cNvPr>
          <p:cNvSpPr/>
          <p:nvPr/>
        </p:nvSpPr>
        <p:spPr>
          <a:xfrm>
            <a:off x="1857691" y="612759"/>
            <a:ext cx="9098575" cy="2421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ABF888-9FC3-4E1E-834D-F68D4407E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-86213"/>
            <a:ext cx="10515600" cy="68995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Compound page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ACA5EC-FD9F-444B-9201-E6B62F1E9A61}"/>
              </a:ext>
            </a:extLst>
          </p:cNvPr>
          <p:cNvSpPr/>
          <p:nvPr/>
        </p:nvSpPr>
        <p:spPr>
          <a:xfrm>
            <a:off x="2514741" y="940439"/>
            <a:ext cx="1818639" cy="5013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(Head page)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8A216D-C83E-488C-B58A-29AAD043C13E}"/>
              </a:ext>
            </a:extLst>
          </p:cNvPr>
          <p:cNvSpPr/>
          <p:nvPr/>
        </p:nvSpPr>
        <p:spPr>
          <a:xfrm>
            <a:off x="2514741" y="1435001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flags |= </a:t>
            </a:r>
            <a:r>
              <a:rPr lang="en-US" sz="1200" dirty="0" err="1">
                <a:solidFill>
                  <a:schemeClr val="tx1"/>
                </a:solidFill>
              </a:rPr>
              <a:t>PG_head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414993-0371-4A29-BA85-175B05026863}"/>
              </a:ext>
            </a:extLst>
          </p:cNvPr>
          <p:cNvSpPr/>
          <p:nvPr/>
        </p:nvSpPr>
        <p:spPr>
          <a:xfrm>
            <a:off x="4871041" y="933650"/>
            <a:ext cx="1818639" cy="5013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(Tail page)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70BCDF-96D6-4892-AE6A-B10C5B7D838A}"/>
              </a:ext>
            </a:extLst>
          </p:cNvPr>
          <p:cNvSpPr/>
          <p:nvPr/>
        </p:nvSpPr>
        <p:spPr>
          <a:xfrm>
            <a:off x="4871041" y="1428212"/>
            <a:ext cx="1818639" cy="28621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compound_head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F86552-BDCF-4164-B15B-19ACAD316549}"/>
              </a:ext>
            </a:extLst>
          </p:cNvPr>
          <p:cNvSpPr/>
          <p:nvPr/>
        </p:nvSpPr>
        <p:spPr>
          <a:xfrm>
            <a:off x="4871040" y="1715308"/>
            <a:ext cx="1818639" cy="30050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compound_dtor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147FBB-AB8C-46B7-AFDF-8DF1CE13C2ED}"/>
              </a:ext>
            </a:extLst>
          </p:cNvPr>
          <p:cNvSpPr/>
          <p:nvPr/>
        </p:nvSpPr>
        <p:spPr>
          <a:xfrm>
            <a:off x="4871040" y="2014682"/>
            <a:ext cx="1818639" cy="3005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compound_order</a:t>
            </a:r>
            <a:r>
              <a:rPr lang="en-US" sz="1200" dirty="0">
                <a:solidFill>
                  <a:schemeClr val="tx1"/>
                </a:solidFill>
              </a:rPr>
              <a:t> =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7B54E1-09BB-4AD7-9102-19B544E3989C}"/>
              </a:ext>
            </a:extLst>
          </p:cNvPr>
          <p:cNvSpPr/>
          <p:nvPr/>
        </p:nvSpPr>
        <p:spPr>
          <a:xfrm>
            <a:off x="4871039" y="2311305"/>
            <a:ext cx="1818639" cy="28374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compound_mapcount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A37861-4278-4CA5-8EDA-9698AF49A301}"/>
              </a:ext>
            </a:extLst>
          </p:cNvPr>
          <p:cNvSpPr/>
          <p:nvPr/>
        </p:nvSpPr>
        <p:spPr>
          <a:xfrm>
            <a:off x="4871038" y="2590733"/>
            <a:ext cx="1818639" cy="33171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compound_nr</a:t>
            </a:r>
            <a:r>
              <a:rPr lang="en-US" sz="1200" dirty="0">
                <a:solidFill>
                  <a:schemeClr val="tx1"/>
                </a:solidFill>
              </a:rPr>
              <a:t> = 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0D09EE-EE20-465B-B39C-6715037D79A2}"/>
              </a:ext>
            </a:extLst>
          </p:cNvPr>
          <p:cNvSpPr/>
          <p:nvPr/>
        </p:nvSpPr>
        <p:spPr>
          <a:xfrm rot="5400000">
            <a:off x="4140807" y="2192220"/>
            <a:ext cx="1207581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First Tail Page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0D4B16-9DC6-4ABF-8517-16C4831A871A}"/>
              </a:ext>
            </a:extLst>
          </p:cNvPr>
          <p:cNvSpPr/>
          <p:nvPr/>
        </p:nvSpPr>
        <p:spPr>
          <a:xfrm>
            <a:off x="7362781" y="940439"/>
            <a:ext cx="1818639" cy="5013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(Tail page)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340B51-689A-458E-BDCE-C92BCC95A156}"/>
              </a:ext>
            </a:extLst>
          </p:cNvPr>
          <p:cNvSpPr/>
          <p:nvPr/>
        </p:nvSpPr>
        <p:spPr>
          <a:xfrm>
            <a:off x="7362781" y="1435001"/>
            <a:ext cx="1818639" cy="28621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sz="1100" dirty="0">
                <a:solidFill>
                  <a:schemeClr val="tx1"/>
                </a:solidFill>
              </a:rPr>
              <a:t>_compound_pad_1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</a:t>
            </a:r>
            <a:r>
              <a:rPr lang="en-US" sz="1100" dirty="0" err="1">
                <a:solidFill>
                  <a:schemeClr val="tx1"/>
                </a:solidFill>
              </a:rPr>
              <a:t>compound_head</a:t>
            </a:r>
            <a:r>
              <a:rPr lang="en-US" sz="11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D9728B-CF9E-4D86-A9EA-CCFA62F2FB2D}"/>
              </a:ext>
            </a:extLst>
          </p:cNvPr>
          <p:cNvSpPr/>
          <p:nvPr/>
        </p:nvSpPr>
        <p:spPr>
          <a:xfrm>
            <a:off x="7362780" y="1722096"/>
            <a:ext cx="1818639" cy="689951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hpage_pinned_refcount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8868AD-5C62-471D-9B81-B2C7B4C71F2A}"/>
              </a:ext>
            </a:extLst>
          </p:cNvPr>
          <p:cNvSpPr/>
          <p:nvPr/>
        </p:nvSpPr>
        <p:spPr>
          <a:xfrm>
            <a:off x="7362780" y="2412047"/>
            <a:ext cx="1818639" cy="51719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deferred_list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35C4EE-EB45-4885-AD24-B9B8FC19B94A}"/>
              </a:ext>
            </a:extLst>
          </p:cNvPr>
          <p:cNvSpPr/>
          <p:nvPr/>
        </p:nvSpPr>
        <p:spPr>
          <a:xfrm rot="5400000">
            <a:off x="6632547" y="2199009"/>
            <a:ext cx="1207581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2nd Tail Page only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E457D8F-6228-43F5-93A1-63F21F0F76BA}"/>
              </a:ext>
            </a:extLst>
          </p:cNvPr>
          <p:cNvCxnSpPr>
            <a:stCxn id="10" idx="1"/>
            <a:endCxn id="7" idx="3"/>
          </p:cNvCxnSpPr>
          <p:nvPr/>
        </p:nvCxnSpPr>
        <p:spPr>
          <a:xfrm rot="10800000">
            <a:off x="4333381" y="1191115"/>
            <a:ext cx="537661" cy="3802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46033BE-EC0D-46B9-BAA4-652FACCD4254}"/>
              </a:ext>
            </a:extLst>
          </p:cNvPr>
          <p:cNvCxnSpPr>
            <a:stCxn id="17" idx="1"/>
            <a:endCxn id="7" idx="0"/>
          </p:cNvCxnSpPr>
          <p:nvPr/>
        </p:nvCxnSpPr>
        <p:spPr>
          <a:xfrm rot="10800000">
            <a:off x="3424061" y="940440"/>
            <a:ext cx="3938720" cy="637671"/>
          </a:xfrm>
          <a:prstGeom prst="bentConnector4">
            <a:avLst>
              <a:gd name="adj1" fmla="val 8470"/>
              <a:gd name="adj2" fmla="val 1358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45DDE61-A79B-4175-BF50-8F6F7137BC80}"/>
              </a:ext>
            </a:extLst>
          </p:cNvPr>
          <p:cNvSpPr txBox="1"/>
          <p:nvPr/>
        </p:nvSpPr>
        <p:spPr>
          <a:xfrm>
            <a:off x="1857691" y="603738"/>
            <a:ext cx="1574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Compound Page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510ADA-BA34-47BB-95C3-63C72D119BDF}"/>
              </a:ext>
            </a:extLst>
          </p:cNvPr>
          <p:cNvSpPr/>
          <p:nvPr/>
        </p:nvSpPr>
        <p:spPr>
          <a:xfrm>
            <a:off x="9560568" y="940439"/>
            <a:ext cx="1313230" cy="5013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(Tail page)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8AACDB-590D-47F8-AF56-EC7303F1A441}"/>
              </a:ext>
            </a:extLst>
          </p:cNvPr>
          <p:cNvSpPr/>
          <p:nvPr/>
        </p:nvSpPr>
        <p:spPr>
          <a:xfrm>
            <a:off x="9560568" y="1435001"/>
            <a:ext cx="1313230" cy="28621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sz="1100" dirty="0">
                <a:solidFill>
                  <a:schemeClr val="tx1"/>
                </a:solidFill>
              </a:rPr>
              <a:t>_compound_pad_1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</a:t>
            </a:r>
            <a:r>
              <a:rPr lang="en-US" sz="1100" dirty="0" err="1">
                <a:solidFill>
                  <a:schemeClr val="tx1"/>
                </a:solidFill>
              </a:rPr>
              <a:t>compound_head</a:t>
            </a:r>
            <a:r>
              <a:rPr lang="en-US" sz="11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0D2ED85-423B-4E17-AAE5-12BE05B74941}"/>
              </a:ext>
            </a:extLst>
          </p:cNvPr>
          <p:cNvCxnSpPr>
            <a:stCxn id="37" idx="1"/>
            <a:endCxn id="7" idx="0"/>
          </p:cNvCxnSpPr>
          <p:nvPr/>
        </p:nvCxnSpPr>
        <p:spPr>
          <a:xfrm rot="10800000">
            <a:off x="3424062" y="940440"/>
            <a:ext cx="6136507" cy="637671"/>
          </a:xfrm>
          <a:prstGeom prst="bentConnector4">
            <a:avLst>
              <a:gd name="adj1" fmla="val 3879"/>
              <a:gd name="adj2" fmla="val 1358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B94B1402-BBC8-48FB-BF82-72A5821E3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836" y="3391168"/>
            <a:ext cx="3543795" cy="102884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ED3311E-A0D6-4665-A01F-DA98DA2A8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836" y="4827680"/>
            <a:ext cx="3662664" cy="191382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8745B4B-C94C-4B8C-AC04-0302A7C49874}"/>
              </a:ext>
            </a:extLst>
          </p:cNvPr>
          <p:cNvSpPr txBox="1"/>
          <p:nvPr/>
        </p:nvSpPr>
        <p:spPr>
          <a:xfrm>
            <a:off x="161192" y="3177600"/>
            <a:ext cx="968521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Head Page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7BCBAC-09D1-4A8D-B565-94462F1CF858}"/>
              </a:ext>
            </a:extLst>
          </p:cNvPr>
          <p:cNvSpPr txBox="1"/>
          <p:nvPr/>
        </p:nvSpPr>
        <p:spPr>
          <a:xfrm>
            <a:off x="7543306" y="3129466"/>
            <a:ext cx="1191120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First Tail Page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A12A3C-768D-47FB-ADDE-C6B4568386BE}"/>
              </a:ext>
            </a:extLst>
          </p:cNvPr>
          <p:cNvSpPr txBox="1"/>
          <p:nvPr/>
        </p:nvSpPr>
        <p:spPr>
          <a:xfrm>
            <a:off x="7548261" y="4581459"/>
            <a:ext cx="1452863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Second Tail Page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BD21C72-13BD-4E6A-9CC3-892493D7D7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46" y="3429000"/>
            <a:ext cx="6479842" cy="218946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A9F2B6B-5AC8-424E-B92A-39ACB1FFD62A}"/>
              </a:ext>
            </a:extLst>
          </p:cNvPr>
          <p:cNvSpPr/>
          <p:nvPr/>
        </p:nvSpPr>
        <p:spPr>
          <a:xfrm>
            <a:off x="85724" y="5343525"/>
            <a:ext cx="1628775" cy="27493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04C9FA91-EF78-44E4-B26A-01DAEBE2E999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1714499" y="5248503"/>
            <a:ext cx="247650" cy="232491"/>
          </a:xfrm>
          <a:prstGeom prst="bentConnector3">
            <a:avLst>
              <a:gd name="adj1" fmla="val 192308"/>
            </a:avLst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57853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D842892-0F58-49DF-8C2D-34C537B9BA1E}"/>
              </a:ext>
            </a:extLst>
          </p:cNvPr>
          <p:cNvSpPr/>
          <p:nvPr/>
        </p:nvSpPr>
        <p:spPr>
          <a:xfrm>
            <a:off x="1857691" y="612759"/>
            <a:ext cx="9098575" cy="2421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ABF888-9FC3-4E1E-834D-F68D4407E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2" y="-86213"/>
            <a:ext cx="10515600" cy="68995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Compound page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ACA5EC-FD9F-444B-9201-E6B62F1E9A61}"/>
              </a:ext>
            </a:extLst>
          </p:cNvPr>
          <p:cNvSpPr/>
          <p:nvPr/>
        </p:nvSpPr>
        <p:spPr>
          <a:xfrm>
            <a:off x="2514741" y="940439"/>
            <a:ext cx="1818639" cy="5013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(Head page)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8A216D-C83E-488C-B58A-29AAD043C13E}"/>
              </a:ext>
            </a:extLst>
          </p:cNvPr>
          <p:cNvSpPr/>
          <p:nvPr/>
        </p:nvSpPr>
        <p:spPr>
          <a:xfrm>
            <a:off x="2514741" y="1435001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flags |= </a:t>
            </a:r>
            <a:r>
              <a:rPr lang="en-US" sz="1200" dirty="0" err="1">
                <a:solidFill>
                  <a:schemeClr val="tx1"/>
                </a:solidFill>
              </a:rPr>
              <a:t>PG_head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414993-0371-4A29-BA85-175B05026863}"/>
              </a:ext>
            </a:extLst>
          </p:cNvPr>
          <p:cNvSpPr/>
          <p:nvPr/>
        </p:nvSpPr>
        <p:spPr>
          <a:xfrm>
            <a:off x="4871041" y="933650"/>
            <a:ext cx="1818639" cy="5013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(Tail page)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70BCDF-96D6-4892-AE6A-B10C5B7D838A}"/>
              </a:ext>
            </a:extLst>
          </p:cNvPr>
          <p:cNvSpPr/>
          <p:nvPr/>
        </p:nvSpPr>
        <p:spPr>
          <a:xfrm>
            <a:off x="4871041" y="1428212"/>
            <a:ext cx="1818639" cy="28621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compound_head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F86552-BDCF-4164-B15B-19ACAD316549}"/>
              </a:ext>
            </a:extLst>
          </p:cNvPr>
          <p:cNvSpPr/>
          <p:nvPr/>
        </p:nvSpPr>
        <p:spPr>
          <a:xfrm>
            <a:off x="4871040" y="1715308"/>
            <a:ext cx="1818639" cy="30050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compound_dtor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147FBB-AB8C-46B7-AFDF-8DF1CE13C2ED}"/>
              </a:ext>
            </a:extLst>
          </p:cNvPr>
          <p:cNvSpPr/>
          <p:nvPr/>
        </p:nvSpPr>
        <p:spPr>
          <a:xfrm>
            <a:off x="4871040" y="2014682"/>
            <a:ext cx="1818639" cy="30050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compound_order</a:t>
            </a:r>
            <a:r>
              <a:rPr lang="en-US" sz="1200" dirty="0">
                <a:solidFill>
                  <a:schemeClr val="tx1"/>
                </a:solidFill>
              </a:rPr>
              <a:t> =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7B54E1-09BB-4AD7-9102-19B544E3989C}"/>
              </a:ext>
            </a:extLst>
          </p:cNvPr>
          <p:cNvSpPr/>
          <p:nvPr/>
        </p:nvSpPr>
        <p:spPr>
          <a:xfrm>
            <a:off x="4871039" y="2311305"/>
            <a:ext cx="1818639" cy="28374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compound_mapcount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A37861-4278-4CA5-8EDA-9698AF49A301}"/>
              </a:ext>
            </a:extLst>
          </p:cNvPr>
          <p:cNvSpPr/>
          <p:nvPr/>
        </p:nvSpPr>
        <p:spPr>
          <a:xfrm>
            <a:off x="4871038" y="2590733"/>
            <a:ext cx="1818639" cy="331717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compound_nr</a:t>
            </a:r>
            <a:r>
              <a:rPr lang="en-US" sz="1200" dirty="0">
                <a:solidFill>
                  <a:schemeClr val="tx1"/>
                </a:solidFill>
              </a:rPr>
              <a:t> = 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0D09EE-EE20-465B-B39C-6715037D79A2}"/>
              </a:ext>
            </a:extLst>
          </p:cNvPr>
          <p:cNvSpPr/>
          <p:nvPr/>
        </p:nvSpPr>
        <p:spPr>
          <a:xfrm rot="5400000">
            <a:off x="4140807" y="2192220"/>
            <a:ext cx="1207581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First Tail Page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0D4B16-9DC6-4ABF-8517-16C4831A871A}"/>
              </a:ext>
            </a:extLst>
          </p:cNvPr>
          <p:cNvSpPr/>
          <p:nvPr/>
        </p:nvSpPr>
        <p:spPr>
          <a:xfrm>
            <a:off x="7362781" y="940439"/>
            <a:ext cx="1818639" cy="5013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(Tail page)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340B51-689A-458E-BDCE-C92BCC95A156}"/>
              </a:ext>
            </a:extLst>
          </p:cNvPr>
          <p:cNvSpPr/>
          <p:nvPr/>
        </p:nvSpPr>
        <p:spPr>
          <a:xfrm>
            <a:off x="7362781" y="1435001"/>
            <a:ext cx="1818639" cy="28621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sz="1100" dirty="0">
                <a:solidFill>
                  <a:schemeClr val="tx1"/>
                </a:solidFill>
              </a:rPr>
              <a:t>_compound_pad_1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</a:t>
            </a:r>
            <a:r>
              <a:rPr lang="en-US" sz="1100" dirty="0" err="1">
                <a:solidFill>
                  <a:schemeClr val="tx1"/>
                </a:solidFill>
              </a:rPr>
              <a:t>compound_head</a:t>
            </a:r>
            <a:r>
              <a:rPr lang="en-US" sz="11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D9728B-CF9E-4D86-A9EA-CCFA62F2FB2D}"/>
              </a:ext>
            </a:extLst>
          </p:cNvPr>
          <p:cNvSpPr/>
          <p:nvPr/>
        </p:nvSpPr>
        <p:spPr>
          <a:xfrm>
            <a:off x="7362780" y="1722096"/>
            <a:ext cx="1818639" cy="689951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hpage_pinned_refcount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8868AD-5C62-471D-9B81-B2C7B4C71F2A}"/>
              </a:ext>
            </a:extLst>
          </p:cNvPr>
          <p:cNvSpPr/>
          <p:nvPr/>
        </p:nvSpPr>
        <p:spPr>
          <a:xfrm>
            <a:off x="7362780" y="2412047"/>
            <a:ext cx="1818639" cy="517193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deferred_list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35C4EE-EB45-4885-AD24-B9B8FC19B94A}"/>
              </a:ext>
            </a:extLst>
          </p:cNvPr>
          <p:cNvSpPr/>
          <p:nvPr/>
        </p:nvSpPr>
        <p:spPr>
          <a:xfrm rot="5400000">
            <a:off x="6632547" y="2199009"/>
            <a:ext cx="1207581" cy="252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2nd Tail Page only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E457D8F-6228-43F5-93A1-63F21F0F76BA}"/>
              </a:ext>
            </a:extLst>
          </p:cNvPr>
          <p:cNvCxnSpPr>
            <a:stCxn id="10" idx="1"/>
            <a:endCxn id="7" idx="3"/>
          </p:cNvCxnSpPr>
          <p:nvPr/>
        </p:nvCxnSpPr>
        <p:spPr>
          <a:xfrm rot="10800000">
            <a:off x="4333381" y="1191115"/>
            <a:ext cx="537661" cy="3802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46033BE-EC0D-46B9-BAA4-652FACCD4254}"/>
              </a:ext>
            </a:extLst>
          </p:cNvPr>
          <p:cNvCxnSpPr>
            <a:stCxn id="17" idx="1"/>
            <a:endCxn id="7" idx="0"/>
          </p:cNvCxnSpPr>
          <p:nvPr/>
        </p:nvCxnSpPr>
        <p:spPr>
          <a:xfrm rot="10800000">
            <a:off x="3424061" y="940440"/>
            <a:ext cx="3938720" cy="637671"/>
          </a:xfrm>
          <a:prstGeom prst="bentConnector4">
            <a:avLst>
              <a:gd name="adj1" fmla="val 8470"/>
              <a:gd name="adj2" fmla="val 1358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45DDE61-A79B-4175-BF50-8F6F7137BC80}"/>
              </a:ext>
            </a:extLst>
          </p:cNvPr>
          <p:cNvSpPr txBox="1"/>
          <p:nvPr/>
        </p:nvSpPr>
        <p:spPr>
          <a:xfrm>
            <a:off x="1857691" y="603738"/>
            <a:ext cx="1574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Compound Page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510ADA-BA34-47BB-95C3-63C72D119BDF}"/>
              </a:ext>
            </a:extLst>
          </p:cNvPr>
          <p:cNvSpPr/>
          <p:nvPr/>
        </p:nvSpPr>
        <p:spPr>
          <a:xfrm>
            <a:off x="9560568" y="940439"/>
            <a:ext cx="1313230" cy="5013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(Tail page)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8AACDB-590D-47F8-AF56-EC7303F1A441}"/>
              </a:ext>
            </a:extLst>
          </p:cNvPr>
          <p:cNvSpPr/>
          <p:nvPr/>
        </p:nvSpPr>
        <p:spPr>
          <a:xfrm>
            <a:off x="9560568" y="1435001"/>
            <a:ext cx="1313230" cy="286218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sz="1100" dirty="0">
                <a:solidFill>
                  <a:schemeClr val="tx1"/>
                </a:solidFill>
              </a:rPr>
              <a:t>_compound_pad_1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</a:t>
            </a:r>
            <a:r>
              <a:rPr lang="en-US" sz="1100" dirty="0" err="1">
                <a:solidFill>
                  <a:schemeClr val="tx1"/>
                </a:solidFill>
              </a:rPr>
              <a:t>compound_head</a:t>
            </a:r>
            <a:r>
              <a:rPr lang="en-US" sz="11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0D2ED85-423B-4E17-AAE5-12BE05B74941}"/>
              </a:ext>
            </a:extLst>
          </p:cNvPr>
          <p:cNvCxnSpPr>
            <a:stCxn id="37" idx="1"/>
            <a:endCxn id="7" idx="0"/>
          </p:cNvCxnSpPr>
          <p:nvPr/>
        </p:nvCxnSpPr>
        <p:spPr>
          <a:xfrm rot="10800000">
            <a:off x="3424062" y="940440"/>
            <a:ext cx="6136507" cy="637671"/>
          </a:xfrm>
          <a:prstGeom prst="bentConnector4">
            <a:avLst>
              <a:gd name="adj1" fmla="val 3879"/>
              <a:gd name="adj2" fmla="val 1358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B94B1402-BBC8-48FB-BF82-72A5821E3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85" y="3429000"/>
            <a:ext cx="3543795" cy="102884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ED3311E-A0D6-4665-A01F-DA98DA2A8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385" y="4865512"/>
            <a:ext cx="3662664" cy="191382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67BCBAC-09D1-4A8D-B565-94462F1CF858}"/>
              </a:ext>
            </a:extLst>
          </p:cNvPr>
          <p:cNvSpPr txBox="1"/>
          <p:nvPr/>
        </p:nvSpPr>
        <p:spPr>
          <a:xfrm>
            <a:off x="354855" y="3167298"/>
            <a:ext cx="1191120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First Tail Page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A12A3C-768D-47FB-ADDE-C6B4568386BE}"/>
              </a:ext>
            </a:extLst>
          </p:cNvPr>
          <p:cNvSpPr txBox="1"/>
          <p:nvPr/>
        </p:nvSpPr>
        <p:spPr>
          <a:xfrm>
            <a:off x="359810" y="4619291"/>
            <a:ext cx="1452863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Second Tail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502827-1198-46DF-8CD7-657E433AD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281" y="3689819"/>
            <a:ext cx="5734050" cy="258127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5CA0FE2-9DBE-49EE-8E9C-3F1DFAAD8560}"/>
              </a:ext>
            </a:extLst>
          </p:cNvPr>
          <p:cNvSpPr/>
          <p:nvPr/>
        </p:nvSpPr>
        <p:spPr>
          <a:xfrm>
            <a:off x="905149" y="3612083"/>
            <a:ext cx="1765625" cy="15547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EA62447-B97A-4C63-9587-C407BABCEF73}"/>
              </a:ext>
            </a:extLst>
          </p:cNvPr>
          <p:cNvSpPr/>
          <p:nvPr/>
        </p:nvSpPr>
        <p:spPr>
          <a:xfrm>
            <a:off x="862013" y="5007819"/>
            <a:ext cx="1555262" cy="13329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05B27CF-0A40-48F1-AA35-6A76AB69D28D}"/>
              </a:ext>
            </a:extLst>
          </p:cNvPr>
          <p:cNvCxnSpPr>
            <a:cxnSpLocks/>
            <a:stCxn id="20" idx="3"/>
            <a:endCxn id="6" idx="1"/>
          </p:cNvCxnSpPr>
          <p:nvPr/>
        </p:nvCxnSpPr>
        <p:spPr>
          <a:xfrm>
            <a:off x="2670774" y="3689819"/>
            <a:ext cx="3319507" cy="1290638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109C60AF-6647-411C-8E3C-6394ABA8C1DA}"/>
              </a:ext>
            </a:extLst>
          </p:cNvPr>
          <p:cNvCxnSpPr>
            <a:stCxn id="40" idx="3"/>
            <a:endCxn id="6" idx="1"/>
          </p:cNvCxnSpPr>
          <p:nvPr/>
        </p:nvCxnSpPr>
        <p:spPr>
          <a:xfrm flipV="1">
            <a:off x="2417275" y="4980457"/>
            <a:ext cx="3573006" cy="94012"/>
          </a:xfrm>
          <a:prstGeom prst="bentConnector3">
            <a:avLst>
              <a:gd name="adj1" fmla="val 53574"/>
            </a:avLst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BA05CEC-98E9-49FE-A180-F1AEB2532727}"/>
              </a:ext>
            </a:extLst>
          </p:cNvPr>
          <p:cNvSpPr txBox="1"/>
          <p:nvPr/>
        </p:nvSpPr>
        <p:spPr>
          <a:xfrm>
            <a:off x="4473143" y="4674421"/>
            <a:ext cx="1388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chemeClr val="accent1"/>
                </a:solidFill>
              </a:rPr>
              <a:t>bit 0: purpose</a:t>
            </a:r>
            <a:endParaRPr lang="zh-TW" altLang="en-US" sz="1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23662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74C82B-2011-4527-9B80-FBA2BD0C97F1}"/>
              </a:ext>
            </a:extLst>
          </p:cNvPr>
          <p:cNvGrpSpPr/>
          <p:nvPr/>
        </p:nvGrpSpPr>
        <p:grpSpPr>
          <a:xfrm>
            <a:off x="543872" y="3576208"/>
            <a:ext cx="11438645" cy="1726210"/>
            <a:chOff x="99881" y="575597"/>
            <a:chExt cx="11438645" cy="172621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F7C83B3-2FC6-4FAD-8A10-72007FDC961D}"/>
                </a:ext>
              </a:extLst>
            </p:cNvPr>
            <p:cNvSpPr/>
            <p:nvPr/>
          </p:nvSpPr>
          <p:spPr>
            <a:xfrm>
              <a:off x="99881" y="1290552"/>
              <a:ext cx="1025770" cy="2417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45720" rtlCol="0" anchor="ctr"/>
            <a:lstStyle/>
            <a:p>
              <a:pPr algn="ctr"/>
              <a:r>
                <a:rPr lang="en-US" sz="1400" b="1" dirty="0" err="1">
                  <a:solidFill>
                    <a:schemeClr val="tx1"/>
                  </a:solidFill>
                </a:rPr>
                <a:t>kmalloc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A9AB601-ADC1-4334-A685-E465EC1AE6E0}"/>
                </a:ext>
              </a:extLst>
            </p:cNvPr>
            <p:cNvSpPr/>
            <p:nvPr/>
          </p:nvSpPr>
          <p:spPr>
            <a:xfrm>
              <a:off x="9676020" y="1444899"/>
              <a:ext cx="1862506" cy="2417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45720"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kmem_cache_alloc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0496BEC-40B7-437C-9A61-43992FF98990}"/>
                </a:ext>
              </a:extLst>
            </p:cNvPr>
            <p:cNvSpPr/>
            <p:nvPr/>
          </p:nvSpPr>
          <p:spPr>
            <a:xfrm>
              <a:off x="3633185" y="890450"/>
              <a:ext cx="1590889" cy="2417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45720"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kmalloc_large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B906C31-F29F-4A71-AA36-7757DC1E437E}"/>
                </a:ext>
              </a:extLst>
            </p:cNvPr>
            <p:cNvSpPr/>
            <p:nvPr/>
          </p:nvSpPr>
          <p:spPr>
            <a:xfrm>
              <a:off x="5597333" y="890467"/>
              <a:ext cx="1770206" cy="2417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45720"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kmalloc_order_trace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3C0C0B3-EDFA-49D2-87B9-D20CE1C2E6FC}"/>
                </a:ext>
              </a:extLst>
            </p:cNvPr>
            <p:cNvSpPr/>
            <p:nvPr/>
          </p:nvSpPr>
          <p:spPr>
            <a:xfrm>
              <a:off x="7658040" y="890450"/>
              <a:ext cx="1174190" cy="2417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45720"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kmalloc_order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7DCC69F-FBF7-45F1-B827-858FD75D53D1}"/>
                </a:ext>
              </a:extLst>
            </p:cNvPr>
            <p:cNvSpPr/>
            <p:nvPr/>
          </p:nvSpPr>
          <p:spPr>
            <a:xfrm>
              <a:off x="7134119" y="1443565"/>
              <a:ext cx="2170253" cy="2417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45720"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kmem_cache_alloc_trace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F64F86C3-2FA7-4727-BD3A-3D6202A2DEB9}"/>
                </a:ext>
              </a:extLst>
            </p:cNvPr>
            <p:cNvCxnSpPr>
              <a:cxnSpLocks/>
              <a:stCxn id="4" idx="3"/>
              <a:endCxn id="48" idx="1"/>
            </p:cNvCxnSpPr>
            <p:nvPr/>
          </p:nvCxnSpPr>
          <p:spPr>
            <a:xfrm flipV="1">
              <a:off x="1125651" y="1011345"/>
              <a:ext cx="2507534" cy="400102"/>
            </a:xfrm>
            <a:prstGeom prst="bentConnector3">
              <a:avLst>
                <a:gd name="adj1" fmla="val 5263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C9EE209-0F9E-4D48-8528-63D78C6F1B15}"/>
                </a:ext>
              </a:extLst>
            </p:cNvPr>
            <p:cNvSpPr txBox="1"/>
            <p:nvPr/>
          </p:nvSpPr>
          <p:spPr>
            <a:xfrm>
              <a:off x="935938" y="740646"/>
              <a:ext cx="284925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size &gt; KMALLOC_MAX_CACHE_SIZE (8KB)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10612EE-7CF8-42A3-ACF6-426381B925AB}"/>
                </a:ext>
              </a:extLst>
            </p:cNvPr>
            <p:cNvSpPr txBox="1"/>
            <p:nvPr/>
          </p:nvSpPr>
          <p:spPr>
            <a:xfrm>
              <a:off x="865643" y="1528066"/>
              <a:ext cx="284925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size &lt;= KMALLOC_MAX_CACHE_SIZE (8KB)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FCD5960-F9DF-4E7F-BB4B-881463ABBB0A}"/>
                </a:ext>
              </a:extLst>
            </p:cNvPr>
            <p:cNvCxnSpPr>
              <a:stCxn id="48" idx="3"/>
              <a:endCxn id="54" idx="1"/>
            </p:cNvCxnSpPr>
            <p:nvPr/>
          </p:nvCxnSpPr>
          <p:spPr>
            <a:xfrm>
              <a:off x="5224074" y="1011345"/>
              <a:ext cx="373259" cy="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3009BB7-5FC4-45A7-8646-ED37D3CDE45D}"/>
                </a:ext>
              </a:extLst>
            </p:cNvPr>
            <p:cNvCxnSpPr>
              <a:stCxn id="54" idx="3"/>
              <a:endCxn id="55" idx="1"/>
            </p:cNvCxnSpPr>
            <p:nvPr/>
          </p:nvCxnSpPr>
          <p:spPr>
            <a:xfrm flipV="1">
              <a:off x="7367539" y="1011345"/>
              <a:ext cx="290501" cy="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CBAB4FD-C941-4D88-99AB-77DA9063C186}"/>
                </a:ext>
              </a:extLst>
            </p:cNvPr>
            <p:cNvCxnSpPr>
              <a:stCxn id="59" idx="3"/>
              <a:endCxn id="18" idx="1"/>
            </p:cNvCxnSpPr>
            <p:nvPr/>
          </p:nvCxnSpPr>
          <p:spPr>
            <a:xfrm>
              <a:off x="9304372" y="1564460"/>
              <a:ext cx="371648" cy="13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56266CE-EAD9-409E-B351-B2DB2782CB6C}"/>
                </a:ext>
              </a:extLst>
            </p:cNvPr>
            <p:cNvSpPr/>
            <p:nvPr/>
          </p:nvSpPr>
          <p:spPr>
            <a:xfrm>
              <a:off x="10312437" y="879145"/>
              <a:ext cx="1174190" cy="2417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45720"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alloc_pages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4F009F3-3E64-4BCD-886E-A2D439BDA6C8}"/>
                </a:ext>
              </a:extLst>
            </p:cNvPr>
            <p:cNvCxnSpPr>
              <a:stCxn id="55" idx="3"/>
              <a:endCxn id="94" idx="1"/>
            </p:cNvCxnSpPr>
            <p:nvPr/>
          </p:nvCxnSpPr>
          <p:spPr>
            <a:xfrm flipV="1">
              <a:off x="8832230" y="1000040"/>
              <a:ext cx="1480207" cy="1130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A6975E3-6757-4E63-B8F4-B7C71989FBDA}"/>
                </a:ext>
              </a:extLst>
            </p:cNvPr>
            <p:cNvSpPr txBox="1"/>
            <p:nvPr/>
          </p:nvSpPr>
          <p:spPr>
            <a:xfrm>
              <a:off x="8972845" y="575597"/>
              <a:ext cx="130521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__GFP_COMP</a:t>
              </a:r>
            </a:p>
            <a:p>
              <a:r>
                <a:rPr lang="en-US" sz="1200" dirty="0"/>
                <a:t>(Compound page)</a:t>
              </a:r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B676FBC-2EF0-4017-8F18-C7BFBBCF8177}"/>
                </a:ext>
              </a:extLst>
            </p:cNvPr>
            <p:cNvSpPr/>
            <p:nvPr/>
          </p:nvSpPr>
          <p:spPr>
            <a:xfrm>
              <a:off x="3850841" y="1444899"/>
              <a:ext cx="2955280" cy="2417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45720"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kmalloc_index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538B5F7-F164-45E4-8478-F2704BAE1BA9}"/>
                </a:ext>
              </a:extLst>
            </p:cNvPr>
            <p:cNvSpPr txBox="1"/>
            <p:nvPr/>
          </p:nvSpPr>
          <p:spPr>
            <a:xfrm>
              <a:off x="3823489" y="1655476"/>
              <a:ext cx="390825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Get index based on size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if size &lt; 8 </a:t>
              </a:r>
              <a:r>
                <a:rPr lang="en-US" sz="1200" dirty="0">
                  <a:sym typeface="Wingdings" panose="05000000000000000000" pitchFamily="2" charset="2"/>
                </a:rPr>
                <a:t> return KMALLOC_SHIFT_LOW (3)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ym typeface="Wingdings" panose="05000000000000000000" pitchFamily="2" charset="2"/>
                </a:rPr>
                <a:t>if size == 0  zero allocation</a:t>
              </a:r>
              <a:endParaRPr lang="en-US" sz="1200" dirty="0"/>
            </a:p>
          </p:txBody>
        </p: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85DAC746-722B-4308-8BAE-DF33256712F8}"/>
                </a:ext>
              </a:extLst>
            </p:cNvPr>
            <p:cNvCxnSpPr>
              <a:stCxn id="4" idx="3"/>
              <a:endCxn id="35" idx="1"/>
            </p:cNvCxnSpPr>
            <p:nvPr/>
          </p:nvCxnSpPr>
          <p:spPr>
            <a:xfrm>
              <a:off x="1125651" y="1411447"/>
              <a:ext cx="2725190" cy="154347"/>
            </a:xfrm>
            <a:prstGeom prst="bentConnector3">
              <a:avLst>
                <a:gd name="adj1" fmla="val 4685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81617A7-5911-48CB-A391-E22EE0546722}"/>
                </a:ext>
              </a:extLst>
            </p:cNvPr>
            <p:cNvCxnSpPr>
              <a:stCxn id="35" idx="3"/>
              <a:endCxn id="59" idx="1"/>
            </p:cNvCxnSpPr>
            <p:nvPr/>
          </p:nvCxnSpPr>
          <p:spPr>
            <a:xfrm flipV="1">
              <a:off x="6806121" y="1564460"/>
              <a:ext cx="327998" cy="13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E2998460-3F65-4B88-B4F3-149DB084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085163" cy="502141"/>
          </a:xfrm>
        </p:spPr>
        <p:txBody>
          <a:bodyPr>
            <a:noAutofit/>
          </a:bodyPr>
          <a:lstStyle/>
          <a:p>
            <a:r>
              <a:rPr lang="en-US" sz="3600" dirty="0"/>
              <a:t>Q1: [SLUB] </a:t>
            </a:r>
            <a:r>
              <a:rPr lang="en-US" sz="3600" dirty="0" err="1"/>
              <a:t>kmalloc</a:t>
            </a:r>
            <a:r>
              <a:rPr lang="en-US" sz="3600" dirty="0"/>
              <a:t>: allocation size = 0, 1, 2, or 4 </a:t>
            </a:r>
            <a:r>
              <a:rPr lang="en-US" sz="3600" dirty="0">
                <a:sym typeface="Wingdings" panose="05000000000000000000" pitchFamily="2" charset="2"/>
              </a:rPr>
              <a:t> workable?</a:t>
            </a:r>
            <a:endParaRPr lang="en-US" sz="360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BB79F74-1696-429F-905D-857C1C742715}"/>
              </a:ext>
            </a:extLst>
          </p:cNvPr>
          <p:cNvSpPr/>
          <p:nvPr/>
        </p:nvSpPr>
        <p:spPr>
          <a:xfrm>
            <a:off x="445807" y="1293956"/>
            <a:ext cx="5188476" cy="4524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struct </a:t>
            </a:r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*</a:t>
            </a:r>
            <a:r>
              <a:rPr lang="en-US" sz="1400" dirty="0" err="1">
                <a:solidFill>
                  <a:schemeClr val="tx1"/>
                </a:solidFill>
              </a:rPr>
              <a:t>kmalloc_caches</a:t>
            </a:r>
            <a:r>
              <a:rPr lang="en-US" sz="1400" dirty="0">
                <a:solidFill>
                  <a:schemeClr val="tx1"/>
                </a:solidFill>
              </a:rPr>
              <a:t>[NR_KMALLOC_TYPES][KMALLOC_SHIFT_HIGH + 1]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4384076-0DDB-441A-9272-3D64D4F301DF}"/>
              </a:ext>
            </a:extLst>
          </p:cNvPr>
          <p:cNvSpPr/>
          <p:nvPr/>
        </p:nvSpPr>
        <p:spPr>
          <a:xfrm>
            <a:off x="9458327" y="938761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91F4112-1C2D-431C-BFFF-EBEC03A17FDC}"/>
              </a:ext>
            </a:extLst>
          </p:cNvPr>
          <p:cNvSpPr/>
          <p:nvPr/>
        </p:nvSpPr>
        <p:spPr>
          <a:xfrm>
            <a:off x="9458327" y="1195267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6474B4B-8FFB-4289-AFE5-C12573035B48}"/>
              </a:ext>
            </a:extLst>
          </p:cNvPr>
          <p:cNvSpPr/>
          <p:nvPr/>
        </p:nvSpPr>
        <p:spPr>
          <a:xfrm>
            <a:off x="9458327" y="1403380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2D78542-FB9B-4617-9127-EFE4DE88DEC0}"/>
              </a:ext>
            </a:extLst>
          </p:cNvPr>
          <p:cNvSpPr/>
          <p:nvPr/>
        </p:nvSpPr>
        <p:spPr>
          <a:xfrm>
            <a:off x="9458327" y="1883259"/>
            <a:ext cx="1818639" cy="263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01509B9-C9B7-4FF5-A4A3-82EBF84DE866}"/>
              </a:ext>
            </a:extLst>
          </p:cNvPr>
          <p:cNvSpPr/>
          <p:nvPr/>
        </p:nvSpPr>
        <p:spPr>
          <a:xfrm>
            <a:off x="9458327" y="2139765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E983BE9-42ED-4A6C-BB01-B621E3B06C59}"/>
              </a:ext>
            </a:extLst>
          </p:cNvPr>
          <p:cNvSpPr/>
          <p:nvPr/>
        </p:nvSpPr>
        <p:spPr>
          <a:xfrm>
            <a:off x="9458327" y="2347878"/>
            <a:ext cx="181863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77849A4-0872-41FD-9B79-BEB8B5F97698}"/>
              </a:ext>
            </a:extLst>
          </p:cNvPr>
          <p:cNvSpPr/>
          <p:nvPr/>
        </p:nvSpPr>
        <p:spPr>
          <a:xfrm>
            <a:off x="6194569" y="634702"/>
            <a:ext cx="2729060" cy="17751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E0539F5-7666-42EF-BB5D-C072BEE8CC44}"/>
              </a:ext>
            </a:extLst>
          </p:cNvPr>
          <p:cNvSpPr txBox="1"/>
          <p:nvPr/>
        </p:nvSpPr>
        <p:spPr>
          <a:xfrm>
            <a:off x="6182899" y="582639"/>
            <a:ext cx="2787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struct </a:t>
            </a:r>
            <a:r>
              <a:rPr lang="en-US" sz="1200" b="1" dirty="0" err="1">
                <a:solidFill>
                  <a:schemeClr val="tx1"/>
                </a:solidFill>
              </a:rPr>
              <a:t>kmem_cache</a:t>
            </a:r>
            <a:r>
              <a:rPr lang="en-US" sz="1200" b="1" dirty="0">
                <a:solidFill>
                  <a:schemeClr val="tx1"/>
                </a:solidFill>
              </a:rPr>
              <a:t> *</a:t>
            </a:r>
            <a:r>
              <a:rPr lang="en-US" sz="1200" b="1" dirty="0" err="1">
                <a:solidFill>
                  <a:schemeClr val="tx1"/>
                </a:solidFill>
              </a:rPr>
              <a:t>kmalloc_caches</a:t>
            </a:r>
            <a:r>
              <a:rPr lang="en-US" sz="1200" b="1" dirty="0">
                <a:solidFill>
                  <a:schemeClr val="tx1"/>
                </a:solidFill>
              </a:rPr>
              <a:t>[KMALLOC_NORMAL][]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7AC895A-5C6D-4A04-9E7F-9247984D975C}"/>
              </a:ext>
            </a:extLst>
          </p:cNvPr>
          <p:cNvSpPr/>
          <p:nvPr/>
        </p:nvSpPr>
        <p:spPr>
          <a:xfrm>
            <a:off x="6960497" y="1109645"/>
            <a:ext cx="1197204" cy="1777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ABDF28C-96A2-4CBE-92E5-AFD7B6CDC4A3}"/>
              </a:ext>
            </a:extLst>
          </p:cNvPr>
          <p:cNvSpPr/>
          <p:nvPr/>
        </p:nvSpPr>
        <p:spPr>
          <a:xfrm>
            <a:off x="6960497" y="1287173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kmalloc-96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C3F8E49-B8C1-4FC6-BFF9-C72BF7DDB759}"/>
              </a:ext>
            </a:extLst>
          </p:cNvPr>
          <p:cNvSpPr txBox="1"/>
          <p:nvPr/>
        </p:nvSpPr>
        <p:spPr>
          <a:xfrm>
            <a:off x="6756637" y="1037920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27DF23C-DB1E-401E-BAC9-5D9B28F652C0}"/>
              </a:ext>
            </a:extLst>
          </p:cNvPr>
          <p:cNvSpPr txBox="1"/>
          <p:nvPr/>
        </p:nvSpPr>
        <p:spPr>
          <a:xfrm>
            <a:off x="6753559" y="1207374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590B3BB-43A0-4F62-8656-67756E50AD98}"/>
              </a:ext>
            </a:extLst>
          </p:cNvPr>
          <p:cNvSpPr txBox="1"/>
          <p:nvPr/>
        </p:nvSpPr>
        <p:spPr>
          <a:xfrm>
            <a:off x="6758268" y="1380910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47E32C1-01CA-46F1-AD58-511EB26B3DA9}"/>
              </a:ext>
            </a:extLst>
          </p:cNvPr>
          <p:cNvSpPr txBox="1"/>
          <p:nvPr/>
        </p:nvSpPr>
        <p:spPr>
          <a:xfrm>
            <a:off x="6759802" y="1548834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C58A282-1229-4947-983A-9B23CBBDCCFE}"/>
              </a:ext>
            </a:extLst>
          </p:cNvPr>
          <p:cNvSpPr txBox="1"/>
          <p:nvPr/>
        </p:nvSpPr>
        <p:spPr>
          <a:xfrm>
            <a:off x="6751972" y="1717682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567912D-A8B6-4ABC-A62C-3CDF2394389B}"/>
              </a:ext>
            </a:extLst>
          </p:cNvPr>
          <p:cNvSpPr txBox="1"/>
          <p:nvPr/>
        </p:nvSpPr>
        <p:spPr>
          <a:xfrm>
            <a:off x="6674208" y="2058314"/>
            <a:ext cx="36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13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13607ED-4824-4C2F-A4C3-FB8545DA457E}"/>
              </a:ext>
            </a:extLst>
          </p:cNvPr>
          <p:cNvSpPr/>
          <p:nvPr/>
        </p:nvSpPr>
        <p:spPr>
          <a:xfrm>
            <a:off x="6960497" y="1454730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kmalloc-192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5A5E375-92B2-4EEA-8BDF-2976C9CDB410}"/>
              </a:ext>
            </a:extLst>
          </p:cNvPr>
          <p:cNvSpPr/>
          <p:nvPr/>
        </p:nvSpPr>
        <p:spPr>
          <a:xfrm>
            <a:off x="6960497" y="1620817"/>
            <a:ext cx="1197204" cy="1777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kmalloc-8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DE1C886-8501-4A76-AE9C-F2AA2201A8FE}"/>
              </a:ext>
            </a:extLst>
          </p:cNvPr>
          <p:cNvSpPr/>
          <p:nvPr/>
        </p:nvSpPr>
        <p:spPr>
          <a:xfrm>
            <a:off x="6960497" y="1798345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kmalloc-16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850B7A4-00A9-45C0-9906-1085550825ED}"/>
              </a:ext>
            </a:extLst>
          </p:cNvPr>
          <p:cNvSpPr/>
          <p:nvPr/>
        </p:nvSpPr>
        <p:spPr>
          <a:xfrm>
            <a:off x="6960497" y="1965902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4D250D0-8BA2-4343-9F40-70E814E8C367}"/>
              </a:ext>
            </a:extLst>
          </p:cNvPr>
          <p:cNvSpPr/>
          <p:nvPr/>
        </p:nvSpPr>
        <p:spPr>
          <a:xfrm>
            <a:off x="6960497" y="2131952"/>
            <a:ext cx="1197204" cy="171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kmalloc-8192</a:t>
            </a:r>
          </a:p>
        </p:txBody>
      </p: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6D280D0E-620D-4425-B69F-82977FA71E3C}"/>
              </a:ext>
            </a:extLst>
          </p:cNvPr>
          <p:cNvCxnSpPr>
            <a:cxnSpLocks/>
            <a:stCxn id="106" idx="3"/>
            <a:endCxn id="90" idx="1"/>
          </p:cNvCxnSpPr>
          <p:nvPr/>
        </p:nvCxnSpPr>
        <p:spPr>
          <a:xfrm flipV="1">
            <a:off x="8157701" y="1070409"/>
            <a:ext cx="1300626" cy="3023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D58A6EE7-C883-44BB-A188-E1DB08D9ECC9}"/>
              </a:ext>
            </a:extLst>
          </p:cNvPr>
          <p:cNvCxnSpPr>
            <a:cxnSpLocks/>
            <a:stCxn id="115" idx="3"/>
            <a:endCxn id="97" idx="1"/>
          </p:cNvCxnSpPr>
          <p:nvPr/>
        </p:nvCxnSpPr>
        <p:spPr>
          <a:xfrm>
            <a:off x="8157701" y="1883954"/>
            <a:ext cx="1300626" cy="13095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E2214059-706A-43AF-AD62-7E79CA89DC57}"/>
              </a:ext>
            </a:extLst>
          </p:cNvPr>
          <p:cNvCxnSpPr>
            <a:cxnSpLocks/>
            <a:stCxn id="88" idx="3"/>
            <a:endCxn id="103" idx="1"/>
          </p:cNvCxnSpPr>
          <p:nvPr/>
        </p:nvCxnSpPr>
        <p:spPr>
          <a:xfrm>
            <a:off x="5634283" y="1520200"/>
            <a:ext cx="560286" cy="20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94A5682-4CFF-40E5-B409-04822CFD8CD3}"/>
              </a:ext>
            </a:extLst>
          </p:cNvPr>
          <p:cNvCxnSpPr>
            <a:cxnSpLocks/>
          </p:cNvCxnSpPr>
          <p:nvPr/>
        </p:nvCxnSpPr>
        <p:spPr>
          <a:xfrm>
            <a:off x="445807" y="3263113"/>
            <a:ext cx="11536710" cy="0"/>
          </a:xfrm>
          <a:prstGeom prst="line">
            <a:avLst/>
          </a:prstGeom>
          <a:ln w="508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A43EC973-F6CC-4FF7-93C3-8374B1221C6B}"/>
              </a:ext>
            </a:extLst>
          </p:cNvPr>
          <p:cNvSpPr txBox="1"/>
          <p:nvPr/>
        </p:nvSpPr>
        <p:spPr>
          <a:xfrm>
            <a:off x="3867130" y="2714534"/>
            <a:ext cx="4880944" cy="369332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45720" tIns="0" rIns="0" bIns="0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minimum </a:t>
            </a:r>
            <a:r>
              <a:rPr lang="en-US" sz="2400" b="1" dirty="0" err="1">
                <a:solidFill>
                  <a:schemeClr val="bg1"/>
                </a:solidFill>
              </a:rPr>
              <a:t>kmalloc</a:t>
            </a:r>
            <a:r>
              <a:rPr lang="en-US" sz="2400" b="1" dirty="0">
                <a:solidFill>
                  <a:schemeClr val="bg1"/>
                </a:solidFill>
              </a:rPr>
              <a:t> cache size = 8 bytes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2A5125F-C064-4783-9FEC-59C8EE7079A9}"/>
              </a:ext>
            </a:extLst>
          </p:cNvPr>
          <p:cNvSpPr txBox="1"/>
          <p:nvPr/>
        </p:nvSpPr>
        <p:spPr>
          <a:xfrm>
            <a:off x="3456975" y="5748355"/>
            <a:ext cx="6082410" cy="73866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4572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if size &lt; 8 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 return KMALLOC_SHIFT_LOW (3)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if size == 0  zero allocation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24107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5C0E-D9B9-497C-999F-8006CA74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A37CF-FF22-42B9-8C44-944B0A5EF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https://www.cnblogs.com/LoyenWang/p/11922887.html</a:t>
            </a:r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3812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68CC0-82D5-49AB-9CB4-7DCCD317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Backup</a:t>
            </a:r>
            <a:endParaRPr lang="zh-TW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43645-E0F0-4EB3-8FFB-5F2ED0626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273388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86">
            <a:extLst>
              <a:ext uri="{FF2B5EF4-FFF2-40B4-BE49-F238E27FC236}">
                <a16:creationId xmlns:a16="http://schemas.microsoft.com/office/drawing/2014/main" id="{75BD9CEA-186D-46F6-B0D0-0A436B5FCB7C}"/>
              </a:ext>
            </a:extLst>
          </p:cNvPr>
          <p:cNvSpPr/>
          <p:nvPr/>
        </p:nvSpPr>
        <p:spPr>
          <a:xfrm>
            <a:off x="4472560" y="3689526"/>
            <a:ext cx="4509515" cy="242216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71AD74B-8172-4526-9826-E7AB9424F43D}"/>
              </a:ext>
            </a:extLst>
          </p:cNvPr>
          <p:cNvSpPr/>
          <p:nvPr/>
        </p:nvSpPr>
        <p:spPr>
          <a:xfrm>
            <a:off x="4463113" y="163182"/>
            <a:ext cx="4518962" cy="3428641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10AD8-7238-4CAF-A1A4-6B2B2E2E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62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Slab Cache</a:t>
            </a:r>
          </a:p>
        </p:txBody>
      </p:sp>
      <p:sp>
        <p:nvSpPr>
          <p:cNvPr id="101" name="矩形 40">
            <a:extLst>
              <a:ext uri="{FF2B5EF4-FFF2-40B4-BE49-F238E27FC236}">
                <a16:creationId xmlns:a16="http://schemas.microsoft.com/office/drawing/2014/main" id="{EC23BBA4-4F56-427F-A2F0-41DB61395C40}"/>
              </a:ext>
            </a:extLst>
          </p:cNvPr>
          <p:cNvSpPr/>
          <p:nvPr/>
        </p:nvSpPr>
        <p:spPr>
          <a:xfrm>
            <a:off x="209550" y="6226755"/>
            <a:ext cx="11772899" cy="4608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</a:rPr>
              <a:t>Node-based cache: </a:t>
            </a:r>
            <a:r>
              <a:rPr lang="en-US" sz="2800" b="1" dirty="0" err="1">
                <a:solidFill>
                  <a:schemeClr val="tx1"/>
                </a:solidFill>
              </a:rPr>
              <a:t>freelist</a:t>
            </a:r>
            <a:r>
              <a:rPr lang="en-US" sz="2800" b="1" dirty="0">
                <a:solidFill>
                  <a:schemeClr val="tx1"/>
                </a:solidFill>
              </a:rPr>
              <a:t> concept is implemented in page struct (not shown)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5181C43-F440-4589-A2E0-9F6088BC02B3}"/>
              </a:ext>
            </a:extLst>
          </p:cNvPr>
          <p:cNvSpPr/>
          <p:nvPr/>
        </p:nvSpPr>
        <p:spPr>
          <a:xfrm>
            <a:off x="6949518" y="602981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AAE8359-FDCB-4DD0-ABE2-F15C9E379A8E}"/>
              </a:ext>
            </a:extLst>
          </p:cNvPr>
          <p:cNvSpPr/>
          <p:nvPr/>
        </p:nvSpPr>
        <p:spPr>
          <a:xfrm rot="5400000">
            <a:off x="6657272" y="1085866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C0BDF37-74EE-4AAA-A166-368AC1484106}"/>
              </a:ext>
            </a:extLst>
          </p:cNvPr>
          <p:cNvSpPr/>
          <p:nvPr/>
        </p:nvSpPr>
        <p:spPr>
          <a:xfrm rot="5400000">
            <a:off x="6845525" y="1085867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0E127C-345D-4108-8179-4BDCF0AC8ECD}"/>
              </a:ext>
            </a:extLst>
          </p:cNvPr>
          <p:cNvSpPr txBox="1"/>
          <p:nvPr/>
        </p:nvSpPr>
        <p:spPr>
          <a:xfrm>
            <a:off x="7272208" y="928716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1F6D744-CB6E-4E0D-9449-1DA383F0C10A}"/>
              </a:ext>
            </a:extLst>
          </p:cNvPr>
          <p:cNvSpPr/>
          <p:nvPr/>
        </p:nvSpPr>
        <p:spPr>
          <a:xfrm rot="5400000">
            <a:off x="7207957" y="1086803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299FE3-42B8-44B0-A9B8-E43217C5092A}"/>
              </a:ext>
            </a:extLst>
          </p:cNvPr>
          <p:cNvSpPr txBox="1"/>
          <p:nvPr/>
        </p:nvSpPr>
        <p:spPr>
          <a:xfrm>
            <a:off x="7063495" y="534341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32C243-9A53-4E0E-BAFE-BDF172499B5A}"/>
              </a:ext>
            </a:extLst>
          </p:cNvPr>
          <p:cNvSpPr txBox="1"/>
          <p:nvPr/>
        </p:nvSpPr>
        <p:spPr>
          <a:xfrm>
            <a:off x="5436456" y="1986842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A6145D-C379-480E-AD73-16E6E4B733C7}"/>
              </a:ext>
            </a:extLst>
          </p:cNvPr>
          <p:cNvSpPr/>
          <p:nvPr/>
        </p:nvSpPr>
        <p:spPr>
          <a:xfrm>
            <a:off x="4881579" y="967345"/>
            <a:ext cx="1427216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#0)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E76C757-CF4E-4245-A374-4AED73581B46}"/>
              </a:ext>
            </a:extLst>
          </p:cNvPr>
          <p:cNvSpPr/>
          <p:nvPr/>
        </p:nvSpPr>
        <p:spPr>
          <a:xfrm>
            <a:off x="4881579" y="1393770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0DAC7CE-53A5-40C6-94DD-195F82A4AF72}"/>
              </a:ext>
            </a:extLst>
          </p:cNvPr>
          <p:cNvSpPr/>
          <p:nvPr/>
        </p:nvSpPr>
        <p:spPr>
          <a:xfrm>
            <a:off x="4881574" y="1604388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4D14553-733A-4D87-8625-E8E89057FC42}"/>
              </a:ext>
            </a:extLst>
          </p:cNvPr>
          <p:cNvSpPr/>
          <p:nvPr/>
        </p:nvSpPr>
        <p:spPr>
          <a:xfrm>
            <a:off x="4881577" y="1814583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CF4A0BE-5749-4159-A8F2-6E891ED95995}"/>
              </a:ext>
            </a:extLst>
          </p:cNvPr>
          <p:cNvSpPr/>
          <p:nvPr/>
        </p:nvSpPr>
        <p:spPr>
          <a:xfrm>
            <a:off x="4881574" y="2371751"/>
            <a:ext cx="1427216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8BFA659-3AE3-4B85-9BD7-6E56E509A597}"/>
              </a:ext>
            </a:extLst>
          </p:cNvPr>
          <p:cNvSpPr/>
          <p:nvPr/>
        </p:nvSpPr>
        <p:spPr>
          <a:xfrm>
            <a:off x="4881574" y="2798176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struct page *page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ECCBBD5-30B4-4B7A-BC89-2CDE032662F0}"/>
              </a:ext>
            </a:extLst>
          </p:cNvPr>
          <p:cNvSpPr/>
          <p:nvPr/>
        </p:nvSpPr>
        <p:spPr>
          <a:xfrm>
            <a:off x="4881569" y="3008794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296BED3-4067-4E62-B674-F3ECB04335B9}"/>
              </a:ext>
            </a:extLst>
          </p:cNvPr>
          <p:cNvSpPr/>
          <p:nvPr/>
        </p:nvSpPr>
        <p:spPr>
          <a:xfrm>
            <a:off x="4881572" y="3218989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A989CC34-BF76-44D3-8D57-3F83556CEBD4}"/>
              </a:ext>
            </a:extLst>
          </p:cNvPr>
          <p:cNvCxnSpPr>
            <a:cxnSpLocks/>
            <a:stCxn id="79" idx="3"/>
            <a:endCxn id="60" idx="0"/>
          </p:cNvCxnSpPr>
          <p:nvPr/>
        </p:nvCxnSpPr>
        <p:spPr>
          <a:xfrm flipV="1">
            <a:off x="6308795" y="602981"/>
            <a:ext cx="1008420" cy="896016"/>
          </a:xfrm>
          <a:prstGeom prst="bentConnector4">
            <a:avLst>
              <a:gd name="adj1" fmla="val 31769"/>
              <a:gd name="adj2" fmla="val 12551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F9CE4257-32CC-40A8-9612-C4FF1F9DE32E}"/>
              </a:ext>
            </a:extLst>
          </p:cNvPr>
          <p:cNvCxnSpPr>
            <a:cxnSpLocks/>
            <a:stCxn id="81" idx="3"/>
            <a:endCxn id="62" idx="3"/>
          </p:cNvCxnSpPr>
          <p:nvPr/>
        </p:nvCxnSpPr>
        <p:spPr>
          <a:xfrm flipV="1">
            <a:off x="6308790" y="1562821"/>
            <a:ext cx="921335" cy="14679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CCF3663-D621-47F8-88F4-0D8121F86594}"/>
              </a:ext>
            </a:extLst>
          </p:cNvPr>
          <p:cNvSpPr/>
          <p:nvPr/>
        </p:nvSpPr>
        <p:spPr>
          <a:xfrm>
            <a:off x="6949518" y="2038903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C114D2C-8090-4737-ABBF-F3E6D552CF2A}"/>
              </a:ext>
            </a:extLst>
          </p:cNvPr>
          <p:cNvSpPr/>
          <p:nvPr/>
        </p:nvSpPr>
        <p:spPr>
          <a:xfrm rot="5400000">
            <a:off x="6657272" y="2521788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CD8676B-99CC-44A4-8F8F-974920D04C6D}"/>
              </a:ext>
            </a:extLst>
          </p:cNvPr>
          <p:cNvSpPr/>
          <p:nvPr/>
        </p:nvSpPr>
        <p:spPr>
          <a:xfrm rot="5400000">
            <a:off x="6845525" y="2521789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5959CA6-3A7A-4C3F-9A9D-A282E336DFF9}"/>
              </a:ext>
            </a:extLst>
          </p:cNvPr>
          <p:cNvSpPr txBox="1"/>
          <p:nvPr/>
        </p:nvSpPr>
        <p:spPr>
          <a:xfrm>
            <a:off x="7272208" y="2364638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8FCA2FD-50EC-4A46-A9F1-2EA62F061D40}"/>
              </a:ext>
            </a:extLst>
          </p:cNvPr>
          <p:cNvSpPr/>
          <p:nvPr/>
        </p:nvSpPr>
        <p:spPr>
          <a:xfrm rot="5400000">
            <a:off x="7207957" y="2522725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DFC9A56-51DE-421B-8B77-3960EFE26DF4}"/>
              </a:ext>
            </a:extLst>
          </p:cNvPr>
          <p:cNvSpPr txBox="1"/>
          <p:nvPr/>
        </p:nvSpPr>
        <p:spPr>
          <a:xfrm>
            <a:off x="7062929" y="1983637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1E43DF8-F296-4AC4-9C1C-2D4A2C124C8E}"/>
              </a:ext>
            </a:extLst>
          </p:cNvPr>
          <p:cNvSpPr/>
          <p:nvPr/>
        </p:nvSpPr>
        <p:spPr>
          <a:xfrm>
            <a:off x="8004608" y="2031974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78413DB-126A-41A7-BB05-73AECD63427A}"/>
              </a:ext>
            </a:extLst>
          </p:cNvPr>
          <p:cNvSpPr/>
          <p:nvPr/>
        </p:nvSpPr>
        <p:spPr>
          <a:xfrm rot="5400000">
            <a:off x="7712362" y="2514859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EC010DF-31AA-4075-8E24-2DC62307434B}"/>
              </a:ext>
            </a:extLst>
          </p:cNvPr>
          <p:cNvSpPr/>
          <p:nvPr/>
        </p:nvSpPr>
        <p:spPr>
          <a:xfrm rot="5400000">
            <a:off x="7900615" y="2514860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3877DFD-43C0-489A-989A-6C9836F05B4F}"/>
              </a:ext>
            </a:extLst>
          </p:cNvPr>
          <p:cNvSpPr txBox="1"/>
          <p:nvPr/>
        </p:nvSpPr>
        <p:spPr>
          <a:xfrm>
            <a:off x="8327298" y="2357709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F8DEDAB-5997-4A81-B7EC-07FAED380E9B}"/>
              </a:ext>
            </a:extLst>
          </p:cNvPr>
          <p:cNvSpPr/>
          <p:nvPr/>
        </p:nvSpPr>
        <p:spPr>
          <a:xfrm rot="5400000">
            <a:off x="8263047" y="251579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41C987D-6DB8-441E-8DCD-0EC8C72984B5}"/>
              </a:ext>
            </a:extLst>
          </p:cNvPr>
          <p:cNvSpPr txBox="1"/>
          <p:nvPr/>
        </p:nvSpPr>
        <p:spPr>
          <a:xfrm>
            <a:off x="8162559" y="1970263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1DE9055B-FBD2-4B8B-906C-8167CBF6B010}"/>
              </a:ext>
            </a:extLst>
          </p:cNvPr>
          <p:cNvCxnSpPr>
            <a:cxnSpLocks/>
            <a:stCxn id="82" idx="3"/>
            <a:endCxn id="121" idx="0"/>
          </p:cNvCxnSpPr>
          <p:nvPr/>
        </p:nvCxnSpPr>
        <p:spPr>
          <a:xfrm>
            <a:off x="6308793" y="1919810"/>
            <a:ext cx="1008422" cy="11909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7E96D23B-57A6-49B5-BE6B-19578F56C896}"/>
              </a:ext>
            </a:extLst>
          </p:cNvPr>
          <p:cNvCxnSpPr/>
          <p:nvPr/>
        </p:nvCxnSpPr>
        <p:spPr>
          <a:xfrm>
            <a:off x="7684911" y="2137525"/>
            <a:ext cx="31969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9E2A6C5-1A19-45AE-B81C-EE45CDE6985A}"/>
              </a:ext>
            </a:extLst>
          </p:cNvPr>
          <p:cNvSpPr/>
          <p:nvPr/>
        </p:nvSpPr>
        <p:spPr>
          <a:xfrm>
            <a:off x="4881569" y="4182296"/>
            <a:ext cx="1519231" cy="4374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(Node #0)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C5BC1EB-DEDA-416E-B9C0-B907160B3DC0}"/>
              </a:ext>
            </a:extLst>
          </p:cNvPr>
          <p:cNvSpPr/>
          <p:nvPr/>
        </p:nvSpPr>
        <p:spPr>
          <a:xfrm>
            <a:off x="4881569" y="4616974"/>
            <a:ext cx="1519231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9EE2316-10E6-4A15-B39F-37EA2AA5C73A}"/>
              </a:ext>
            </a:extLst>
          </p:cNvPr>
          <p:cNvSpPr/>
          <p:nvPr/>
        </p:nvSpPr>
        <p:spPr>
          <a:xfrm>
            <a:off x="4881569" y="5250987"/>
            <a:ext cx="1519231" cy="4374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(Node #N)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B5FE843-9A60-467A-BBBB-717387D3C2B9}"/>
              </a:ext>
            </a:extLst>
          </p:cNvPr>
          <p:cNvSpPr/>
          <p:nvPr/>
        </p:nvSpPr>
        <p:spPr>
          <a:xfrm>
            <a:off x="4881569" y="5685665"/>
            <a:ext cx="1519231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8D0643C-0148-47E6-8814-DDA27692C1CB}"/>
              </a:ext>
            </a:extLst>
          </p:cNvPr>
          <p:cNvSpPr txBox="1"/>
          <p:nvPr/>
        </p:nvSpPr>
        <p:spPr>
          <a:xfrm>
            <a:off x="5522181" y="4807209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D5C1E2C4-DC99-4BBD-AFBB-AA5F1657DB33}"/>
              </a:ext>
            </a:extLst>
          </p:cNvPr>
          <p:cNvSpPr/>
          <p:nvPr/>
        </p:nvSpPr>
        <p:spPr>
          <a:xfrm>
            <a:off x="6949518" y="4172886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F04C28C-0C6D-4F15-BDEE-7253D195D19E}"/>
              </a:ext>
            </a:extLst>
          </p:cNvPr>
          <p:cNvSpPr/>
          <p:nvPr/>
        </p:nvSpPr>
        <p:spPr>
          <a:xfrm rot="5400000">
            <a:off x="6657272" y="4655771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46D53C97-15CE-4127-A9C9-ED67CD860D32}"/>
              </a:ext>
            </a:extLst>
          </p:cNvPr>
          <p:cNvSpPr/>
          <p:nvPr/>
        </p:nvSpPr>
        <p:spPr>
          <a:xfrm rot="5400000">
            <a:off x="6845525" y="4655772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F4D541C-9063-4EE9-A4BA-C054ACEAC072}"/>
              </a:ext>
            </a:extLst>
          </p:cNvPr>
          <p:cNvSpPr txBox="1"/>
          <p:nvPr/>
        </p:nvSpPr>
        <p:spPr>
          <a:xfrm>
            <a:off x="7272208" y="4498621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48ED0A5-AFB7-4C08-A86A-5C13C3814883}"/>
              </a:ext>
            </a:extLst>
          </p:cNvPr>
          <p:cNvSpPr/>
          <p:nvPr/>
        </p:nvSpPr>
        <p:spPr>
          <a:xfrm rot="5400000">
            <a:off x="7207957" y="4656708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635DF08-C233-4BA1-94CD-A560A55E9137}"/>
              </a:ext>
            </a:extLst>
          </p:cNvPr>
          <p:cNvSpPr txBox="1"/>
          <p:nvPr/>
        </p:nvSpPr>
        <p:spPr>
          <a:xfrm>
            <a:off x="7062929" y="4117620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3C236FF-DD41-4181-83D3-F569E50B75F7}"/>
              </a:ext>
            </a:extLst>
          </p:cNvPr>
          <p:cNvSpPr/>
          <p:nvPr/>
        </p:nvSpPr>
        <p:spPr>
          <a:xfrm>
            <a:off x="8004608" y="4165957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384DB26-627C-48DA-B016-26131C6F48A0}"/>
              </a:ext>
            </a:extLst>
          </p:cNvPr>
          <p:cNvSpPr/>
          <p:nvPr/>
        </p:nvSpPr>
        <p:spPr>
          <a:xfrm rot="5400000">
            <a:off x="7712362" y="4648842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8230B71-4DBF-4D1D-A439-0529277E7E42}"/>
              </a:ext>
            </a:extLst>
          </p:cNvPr>
          <p:cNvSpPr/>
          <p:nvPr/>
        </p:nvSpPr>
        <p:spPr>
          <a:xfrm rot="5400000">
            <a:off x="7900615" y="4648843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98A08B7-FFD7-4C1F-80B7-DF3079B3DC16}"/>
              </a:ext>
            </a:extLst>
          </p:cNvPr>
          <p:cNvSpPr txBox="1"/>
          <p:nvPr/>
        </p:nvSpPr>
        <p:spPr>
          <a:xfrm>
            <a:off x="8327298" y="4491692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E1E34DA-1AC5-42B8-945C-57C717836108}"/>
              </a:ext>
            </a:extLst>
          </p:cNvPr>
          <p:cNvSpPr/>
          <p:nvPr/>
        </p:nvSpPr>
        <p:spPr>
          <a:xfrm rot="5400000">
            <a:off x="8263047" y="464977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B2B68F3-2159-4413-B8B9-A8689FEB6050}"/>
              </a:ext>
            </a:extLst>
          </p:cNvPr>
          <p:cNvSpPr txBox="1"/>
          <p:nvPr/>
        </p:nvSpPr>
        <p:spPr>
          <a:xfrm>
            <a:off x="8162559" y="4104246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2E612C48-5F59-479A-B2C7-D42FE5EFBEBC}"/>
              </a:ext>
            </a:extLst>
          </p:cNvPr>
          <p:cNvCxnSpPr/>
          <p:nvPr/>
        </p:nvCxnSpPr>
        <p:spPr>
          <a:xfrm>
            <a:off x="7684911" y="4271508"/>
            <a:ext cx="31969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AFD5A5F9-C223-4F2C-8033-6ABC65C3E2FD}"/>
              </a:ext>
            </a:extLst>
          </p:cNvPr>
          <p:cNvCxnSpPr>
            <a:stCxn id="143" idx="3"/>
          </p:cNvCxnSpPr>
          <p:nvPr/>
        </p:nvCxnSpPr>
        <p:spPr>
          <a:xfrm flipV="1">
            <a:off x="6400800" y="4271508"/>
            <a:ext cx="548718" cy="450693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F6618F4-D6FB-4025-8D46-48090AB24190}"/>
              </a:ext>
            </a:extLst>
          </p:cNvPr>
          <p:cNvSpPr/>
          <p:nvPr/>
        </p:nvSpPr>
        <p:spPr>
          <a:xfrm>
            <a:off x="1781984" y="2402960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C3DE938-D47C-4E0E-9F91-04BF811A5012}"/>
              </a:ext>
            </a:extLst>
          </p:cNvPr>
          <p:cNvSpPr/>
          <p:nvPr/>
        </p:nvSpPr>
        <p:spPr>
          <a:xfrm>
            <a:off x="1781984" y="2865519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9BE78E3-F397-49C0-A77F-DCC25E345B83}"/>
              </a:ext>
            </a:extLst>
          </p:cNvPr>
          <p:cNvSpPr/>
          <p:nvPr/>
        </p:nvSpPr>
        <p:spPr>
          <a:xfrm>
            <a:off x="1781984" y="3070960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3F5C2243-44DC-4EEE-BD77-60718BA6F064}"/>
              </a:ext>
            </a:extLst>
          </p:cNvPr>
          <p:cNvCxnSpPr>
            <a:stCxn id="163" idx="3"/>
            <a:endCxn id="77" idx="1"/>
          </p:cNvCxnSpPr>
          <p:nvPr/>
        </p:nvCxnSpPr>
        <p:spPr>
          <a:xfrm flipV="1">
            <a:off x="3614049" y="1183952"/>
            <a:ext cx="1267530" cy="178679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0B1C0CEB-5A44-4741-8039-1FE004D2EB91}"/>
              </a:ext>
            </a:extLst>
          </p:cNvPr>
          <p:cNvCxnSpPr>
            <a:stCxn id="163" idx="3"/>
            <a:endCxn id="84" idx="1"/>
          </p:cNvCxnSpPr>
          <p:nvPr/>
        </p:nvCxnSpPr>
        <p:spPr>
          <a:xfrm flipV="1">
            <a:off x="3614049" y="2588358"/>
            <a:ext cx="1267525" cy="38238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EA21911C-BE65-4F5B-88A7-0168EFB384CF}"/>
              </a:ext>
            </a:extLst>
          </p:cNvPr>
          <p:cNvCxnSpPr>
            <a:stCxn id="173" idx="3"/>
            <a:endCxn id="142" idx="1"/>
          </p:cNvCxnSpPr>
          <p:nvPr/>
        </p:nvCxnSpPr>
        <p:spPr>
          <a:xfrm>
            <a:off x="3614049" y="3176187"/>
            <a:ext cx="1267520" cy="122484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DC37723-B7A8-471A-95E0-9E1EB75B4AE6}"/>
              </a:ext>
            </a:extLst>
          </p:cNvPr>
          <p:cNvSpPr txBox="1"/>
          <p:nvPr/>
        </p:nvSpPr>
        <p:spPr>
          <a:xfrm>
            <a:off x="4519508" y="214091"/>
            <a:ext cx="1205281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percpu</a:t>
            </a:r>
            <a:r>
              <a:rPr lang="en-US" sz="16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899A084-3BE0-424A-BD1B-97F5F1FB9BE3}"/>
              </a:ext>
            </a:extLst>
          </p:cNvPr>
          <p:cNvSpPr txBox="1"/>
          <p:nvPr/>
        </p:nvSpPr>
        <p:spPr>
          <a:xfrm>
            <a:off x="7230125" y="5762610"/>
            <a:ext cx="1609722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B4984B-BF81-45F1-A31B-E2C80DC37462}"/>
              </a:ext>
            </a:extLst>
          </p:cNvPr>
          <p:cNvSpPr txBox="1"/>
          <p:nvPr/>
        </p:nvSpPr>
        <p:spPr>
          <a:xfrm>
            <a:off x="2108061" y="2110845"/>
            <a:ext cx="1077141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E9F4EF-E922-48D1-AE06-E6233E4B15A1}"/>
              </a:ext>
            </a:extLst>
          </p:cNvPr>
          <p:cNvSpPr txBox="1"/>
          <p:nvPr/>
        </p:nvSpPr>
        <p:spPr>
          <a:xfrm>
            <a:off x="2045360" y="1839659"/>
            <a:ext cx="1325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global variable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6443CF-9530-4295-98B9-FD6D3F732657}"/>
              </a:ext>
            </a:extLst>
          </p:cNvPr>
          <p:cNvSpPr txBox="1"/>
          <p:nvPr/>
        </p:nvSpPr>
        <p:spPr>
          <a:xfrm>
            <a:off x="4900625" y="3900423"/>
            <a:ext cx="1519231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F304B0-997D-4191-B46F-795CDCC9BFE5}"/>
              </a:ext>
            </a:extLst>
          </p:cNvPr>
          <p:cNvSpPr txBox="1"/>
          <p:nvPr/>
        </p:nvSpPr>
        <p:spPr>
          <a:xfrm>
            <a:off x="5033155" y="3648984"/>
            <a:ext cx="1325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global variable</a:t>
            </a:r>
          </a:p>
        </p:txBody>
      </p:sp>
    </p:spTree>
    <p:extLst>
      <p:ext uri="{BB962C8B-B14F-4D97-AF65-F5344CB8AC3E}">
        <p14:creationId xmlns:p14="http://schemas.microsoft.com/office/powerpoint/2010/main" val="325412322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86">
            <a:extLst>
              <a:ext uri="{FF2B5EF4-FFF2-40B4-BE49-F238E27FC236}">
                <a16:creationId xmlns:a16="http://schemas.microsoft.com/office/drawing/2014/main" id="{75BD9CEA-186D-46F6-B0D0-0A436B5FCB7C}"/>
              </a:ext>
            </a:extLst>
          </p:cNvPr>
          <p:cNvSpPr/>
          <p:nvPr/>
        </p:nvSpPr>
        <p:spPr>
          <a:xfrm>
            <a:off x="6857541" y="4292847"/>
            <a:ext cx="4509515" cy="242216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71AD74B-8172-4526-9826-E7AB9424F43D}"/>
              </a:ext>
            </a:extLst>
          </p:cNvPr>
          <p:cNvSpPr/>
          <p:nvPr/>
        </p:nvSpPr>
        <p:spPr>
          <a:xfrm>
            <a:off x="6848094" y="766503"/>
            <a:ext cx="4518962" cy="3428641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5181C43-F440-4589-A2E0-9F6088BC02B3}"/>
              </a:ext>
            </a:extLst>
          </p:cNvPr>
          <p:cNvSpPr/>
          <p:nvPr/>
        </p:nvSpPr>
        <p:spPr>
          <a:xfrm>
            <a:off x="9334499" y="1206302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AAE8359-FDCB-4DD0-ABE2-F15C9E379A8E}"/>
              </a:ext>
            </a:extLst>
          </p:cNvPr>
          <p:cNvSpPr/>
          <p:nvPr/>
        </p:nvSpPr>
        <p:spPr>
          <a:xfrm rot="5400000">
            <a:off x="9042253" y="1689187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C0BDF37-74EE-4AAA-A166-368AC1484106}"/>
              </a:ext>
            </a:extLst>
          </p:cNvPr>
          <p:cNvSpPr/>
          <p:nvPr/>
        </p:nvSpPr>
        <p:spPr>
          <a:xfrm rot="5400000">
            <a:off x="9230506" y="1689188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0E127C-345D-4108-8179-4BDCF0AC8ECD}"/>
              </a:ext>
            </a:extLst>
          </p:cNvPr>
          <p:cNvSpPr txBox="1"/>
          <p:nvPr/>
        </p:nvSpPr>
        <p:spPr>
          <a:xfrm>
            <a:off x="9657189" y="1532037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1F6D744-CB6E-4E0D-9449-1DA383F0C10A}"/>
              </a:ext>
            </a:extLst>
          </p:cNvPr>
          <p:cNvSpPr/>
          <p:nvPr/>
        </p:nvSpPr>
        <p:spPr>
          <a:xfrm rot="5400000">
            <a:off x="9592938" y="1690124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299FE3-42B8-44B0-A9B8-E43217C5092A}"/>
              </a:ext>
            </a:extLst>
          </p:cNvPr>
          <p:cNvSpPr txBox="1"/>
          <p:nvPr/>
        </p:nvSpPr>
        <p:spPr>
          <a:xfrm>
            <a:off x="9448476" y="1137662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32C243-9A53-4E0E-BAFE-BDF172499B5A}"/>
              </a:ext>
            </a:extLst>
          </p:cNvPr>
          <p:cNvSpPr txBox="1"/>
          <p:nvPr/>
        </p:nvSpPr>
        <p:spPr>
          <a:xfrm>
            <a:off x="7821437" y="2590163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A6145D-C379-480E-AD73-16E6E4B733C7}"/>
              </a:ext>
            </a:extLst>
          </p:cNvPr>
          <p:cNvSpPr/>
          <p:nvPr/>
        </p:nvSpPr>
        <p:spPr>
          <a:xfrm>
            <a:off x="7266560" y="1570666"/>
            <a:ext cx="1427216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#0)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E76C757-CF4E-4245-A374-4AED73581B46}"/>
              </a:ext>
            </a:extLst>
          </p:cNvPr>
          <p:cNvSpPr/>
          <p:nvPr/>
        </p:nvSpPr>
        <p:spPr>
          <a:xfrm>
            <a:off x="7266560" y="1997091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0DAC7CE-53A5-40C6-94DD-195F82A4AF72}"/>
              </a:ext>
            </a:extLst>
          </p:cNvPr>
          <p:cNvSpPr/>
          <p:nvPr/>
        </p:nvSpPr>
        <p:spPr>
          <a:xfrm>
            <a:off x="7266555" y="2207709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4D14553-733A-4D87-8625-E8E89057FC42}"/>
              </a:ext>
            </a:extLst>
          </p:cNvPr>
          <p:cNvSpPr/>
          <p:nvPr/>
        </p:nvSpPr>
        <p:spPr>
          <a:xfrm>
            <a:off x="7266558" y="2417904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CF4A0BE-5749-4159-A8F2-6E891ED95995}"/>
              </a:ext>
            </a:extLst>
          </p:cNvPr>
          <p:cNvSpPr/>
          <p:nvPr/>
        </p:nvSpPr>
        <p:spPr>
          <a:xfrm>
            <a:off x="7266555" y="2975072"/>
            <a:ext cx="1427216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8BFA659-3AE3-4B85-9BD7-6E56E509A597}"/>
              </a:ext>
            </a:extLst>
          </p:cNvPr>
          <p:cNvSpPr/>
          <p:nvPr/>
        </p:nvSpPr>
        <p:spPr>
          <a:xfrm>
            <a:off x="7266555" y="3401497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struct page *page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ECCBBD5-30B4-4B7A-BC89-2CDE032662F0}"/>
              </a:ext>
            </a:extLst>
          </p:cNvPr>
          <p:cNvSpPr/>
          <p:nvPr/>
        </p:nvSpPr>
        <p:spPr>
          <a:xfrm>
            <a:off x="7266550" y="3612115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296BED3-4067-4E62-B674-F3ECB04335B9}"/>
              </a:ext>
            </a:extLst>
          </p:cNvPr>
          <p:cNvSpPr/>
          <p:nvPr/>
        </p:nvSpPr>
        <p:spPr>
          <a:xfrm>
            <a:off x="7266553" y="3822310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A989CC34-BF76-44D3-8D57-3F83556CEBD4}"/>
              </a:ext>
            </a:extLst>
          </p:cNvPr>
          <p:cNvCxnSpPr>
            <a:cxnSpLocks/>
            <a:stCxn id="79" idx="3"/>
            <a:endCxn id="60" idx="0"/>
          </p:cNvCxnSpPr>
          <p:nvPr/>
        </p:nvCxnSpPr>
        <p:spPr>
          <a:xfrm flipV="1">
            <a:off x="8693776" y="1206302"/>
            <a:ext cx="1008420" cy="896016"/>
          </a:xfrm>
          <a:prstGeom prst="bentConnector4">
            <a:avLst>
              <a:gd name="adj1" fmla="val 31769"/>
              <a:gd name="adj2" fmla="val 12551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F9CE4257-32CC-40A8-9612-C4FF1F9DE32E}"/>
              </a:ext>
            </a:extLst>
          </p:cNvPr>
          <p:cNvCxnSpPr>
            <a:cxnSpLocks/>
            <a:stCxn id="81" idx="3"/>
            <a:endCxn id="62" idx="3"/>
          </p:cNvCxnSpPr>
          <p:nvPr/>
        </p:nvCxnSpPr>
        <p:spPr>
          <a:xfrm flipV="1">
            <a:off x="8693771" y="2166142"/>
            <a:ext cx="921335" cy="14679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CCF3663-D621-47F8-88F4-0D8121F86594}"/>
              </a:ext>
            </a:extLst>
          </p:cNvPr>
          <p:cNvSpPr/>
          <p:nvPr/>
        </p:nvSpPr>
        <p:spPr>
          <a:xfrm>
            <a:off x="9334499" y="2642224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C114D2C-8090-4737-ABBF-F3E6D552CF2A}"/>
              </a:ext>
            </a:extLst>
          </p:cNvPr>
          <p:cNvSpPr/>
          <p:nvPr/>
        </p:nvSpPr>
        <p:spPr>
          <a:xfrm rot="5400000">
            <a:off x="9042253" y="3125109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CD8676B-99CC-44A4-8F8F-974920D04C6D}"/>
              </a:ext>
            </a:extLst>
          </p:cNvPr>
          <p:cNvSpPr/>
          <p:nvPr/>
        </p:nvSpPr>
        <p:spPr>
          <a:xfrm rot="5400000">
            <a:off x="9230506" y="3125110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5959CA6-3A7A-4C3F-9A9D-A282E336DFF9}"/>
              </a:ext>
            </a:extLst>
          </p:cNvPr>
          <p:cNvSpPr txBox="1"/>
          <p:nvPr/>
        </p:nvSpPr>
        <p:spPr>
          <a:xfrm>
            <a:off x="9657189" y="2967959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8FCA2FD-50EC-4A46-A9F1-2EA62F061D40}"/>
              </a:ext>
            </a:extLst>
          </p:cNvPr>
          <p:cNvSpPr/>
          <p:nvPr/>
        </p:nvSpPr>
        <p:spPr>
          <a:xfrm rot="5400000">
            <a:off x="9592938" y="312604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DFC9A56-51DE-421B-8B77-3960EFE26DF4}"/>
              </a:ext>
            </a:extLst>
          </p:cNvPr>
          <p:cNvSpPr txBox="1"/>
          <p:nvPr/>
        </p:nvSpPr>
        <p:spPr>
          <a:xfrm>
            <a:off x="9447910" y="2586958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1E43DF8-F296-4AC4-9C1C-2D4A2C124C8E}"/>
              </a:ext>
            </a:extLst>
          </p:cNvPr>
          <p:cNvSpPr/>
          <p:nvPr/>
        </p:nvSpPr>
        <p:spPr>
          <a:xfrm>
            <a:off x="10389589" y="2635295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78413DB-126A-41A7-BB05-73AECD63427A}"/>
              </a:ext>
            </a:extLst>
          </p:cNvPr>
          <p:cNvSpPr/>
          <p:nvPr/>
        </p:nvSpPr>
        <p:spPr>
          <a:xfrm rot="5400000">
            <a:off x="10097343" y="3118180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EC010DF-31AA-4075-8E24-2DC62307434B}"/>
              </a:ext>
            </a:extLst>
          </p:cNvPr>
          <p:cNvSpPr/>
          <p:nvPr/>
        </p:nvSpPr>
        <p:spPr>
          <a:xfrm rot="5400000">
            <a:off x="10285596" y="3118181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3877DFD-43C0-489A-989A-6C9836F05B4F}"/>
              </a:ext>
            </a:extLst>
          </p:cNvPr>
          <p:cNvSpPr txBox="1"/>
          <p:nvPr/>
        </p:nvSpPr>
        <p:spPr>
          <a:xfrm>
            <a:off x="10712279" y="2961030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F8DEDAB-5997-4A81-B7EC-07FAED380E9B}"/>
              </a:ext>
            </a:extLst>
          </p:cNvPr>
          <p:cNvSpPr/>
          <p:nvPr/>
        </p:nvSpPr>
        <p:spPr>
          <a:xfrm rot="5400000">
            <a:off x="10648028" y="3119117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41C987D-6DB8-441E-8DCD-0EC8C72984B5}"/>
              </a:ext>
            </a:extLst>
          </p:cNvPr>
          <p:cNvSpPr txBox="1"/>
          <p:nvPr/>
        </p:nvSpPr>
        <p:spPr>
          <a:xfrm>
            <a:off x="10547540" y="2573584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1DE9055B-FBD2-4B8B-906C-8167CBF6B010}"/>
              </a:ext>
            </a:extLst>
          </p:cNvPr>
          <p:cNvCxnSpPr>
            <a:cxnSpLocks/>
            <a:stCxn id="82" idx="3"/>
            <a:endCxn id="121" idx="0"/>
          </p:cNvCxnSpPr>
          <p:nvPr/>
        </p:nvCxnSpPr>
        <p:spPr>
          <a:xfrm>
            <a:off x="8693774" y="2523131"/>
            <a:ext cx="1008422" cy="11909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7E96D23B-57A6-49B5-BE6B-19578F56C896}"/>
              </a:ext>
            </a:extLst>
          </p:cNvPr>
          <p:cNvCxnSpPr/>
          <p:nvPr/>
        </p:nvCxnSpPr>
        <p:spPr>
          <a:xfrm>
            <a:off x="10069892" y="2740846"/>
            <a:ext cx="31969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9E2A6C5-1A19-45AE-B81C-EE45CDE6985A}"/>
              </a:ext>
            </a:extLst>
          </p:cNvPr>
          <p:cNvSpPr/>
          <p:nvPr/>
        </p:nvSpPr>
        <p:spPr>
          <a:xfrm>
            <a:off x="7266550" y="4785617"/>
            <a:ext cx="1519231" cy="4374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(Node #0)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C5BC1EB-DEDA-416E-B9C0-B907160B3DC0}"/>
              </a:ext>
            </a:extLst>
          </p:cNvPr>
          <p:cNvSpPr/>
          <p:nvPr/>
        </p:nvSpPr>
        <p:spPr>
          <a:xfrm>
            <a:off x="7266550" y="5220295"/>
            <a:ext cx="1519231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9EE2316-10E6-4A15-B39F-37EA2AA5C73A}"/>
              </a:ext>
            </a:extLst>
          </p:cNvPr>
          <p:cNvSpPr/>
          <p:nvPr/>
        </p:nvSpPr>
        <p:spPr>
          <a:xfrm>
            <a:off x="7266550" y="5854308"/>
            <a:ext cx="1519231" cy="4374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(Node #N)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B5FE843-9A60-467A-BBBB-717387D3C2B9}"/>
              </a:ext>
            </a:extLst>
          </p:cNvPr>
          <p:cNvSpPr/>
          <p:nvPr/>
        </p:nvSpPr>
        <p:spPr>
          <a:xfrm>
            <a:off x="7266550" y="6288986"/>
            <a:ext cx="1519231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8D0643C-0148-47E6-8814-DDA27692C1CB}"/>
              </a:ext>
            </a:extLst>
          </p:cNvPr>
          <p:cNvSpPr txBox="1"/>
          <p:nvPr/>
        </p:nvSpPr>
        <p:spPr>
          <a:xfrm>
            <a:off x="7907162" y="5410530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D5C1E2C4-DC99-4BBD-AFBB-AA5F1657DB33}"/>
              </a:ext>
            </a:extLst>
          </p:cNvPr>
          <p:cNvSpPr/>
          <p:nvPr/>
        </p:nvSpPr>
        <p:spPr>
          <a:xfrm>
            <a:off x="9334499" y="4776207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F04C28C-0C6D-4F15-BDEE-7253D195D19E}"/>
              </a:ext>
            </a:extLst>
          </p:cNvPr>
          <p:cNvSpPr/>
          <p:nvPr/>
        </p:nvSpPr>
        <p:spPr>
          <a:xfrm rot="5400000">
            <a:off x="9042253" y="5259092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46D53C97-15CE-4127-A9C9-ED67CD860D32}"/>
              </a:ext>
            </a:extLst>
          </p:cNvPr>
          <p:cNvSpPr/>
          <p:nvPr/>
        </p:nvSpPr>
        <p:spPr>
          <a:xfrm rot="5400000">
            <a:off x="9230506" y="5259093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F4D541C-9063-4EE9-A4BA-C054ACEAC072}"/>
              </a:ext>
            </a:extLst>
          </p:cNvPr>
          <p:cNvSpPr txBox="1"/>
          <p:nvPr/>
        </p:nvSpPr>
        <p:spPr>
          <a:xfrm>
            <a:off x="9657189" y="5101942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48ED0A5-AFB7-4C08-A86A-5C13C3814883}"/>
              </a:ext>
            </a:extLst>
          </p:cNvPr>
          <p:cNvSpPr/>
          <p:nvPr/>
        </p:nvSpPr>
        <p:spPr>
          <a:xfrm rot="5400000">
            <a:off x="9592938" y="526002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635DF08-C233-4BA1-94CD-A560A55E9137}"/>
              </a:ext>
            </a:extLst>
          </p:cNvPr>
          <p:cNvSpPr txBox="1"/>
          <p:nvPr/>
        </p:nvSpPr>
        <p:spPr>
          <a:xfrm>
            <a:off x="9447910" y="4720941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3C236FF-DD41-4181-83D3-F569E50B75F7}"/>
              </a:ext>
            </a:extLst>
          </p:cNvPr>
          <p:cNvSpPr/>
          <p:nvPr/>
        </p:nvSpPr>
        <p:spPr>
          <a:xfrm>
            <a:off x="10389589" y="4769278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384DB26-627C-48DA-B016-26131C6F48A0}"/>
              </a:ext>
            </a:extLst>
          </p:cNvPr>
          <p:cNvSpPr/>
          <p:nvPr/>
        </p:nvSpPr>
        <p:spPr>
          <a:xfrm rot="5400000">
            <a:off x="10097343" y="5252163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8230B71-4DBF-4D1D-A439-0529277E7E42}"/>
              </a:ext>
            </a:extLst>
          </p:cNvPr>
          <p:cNvSpPr/>
          <p:nvPr/>
        </p:nvSpPr>
        <p:spPr>
          <a:xfrm rot="5400000">
            <a:off x="10285596" y="5252164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98A08B7-FFD7-4C1F-80B7-DF3079B3DC16}"/>
              </a:ext>
            </a:extLst>
          </p:cNvPr>
          <p:cNvSpPr txBox="1"/>
          <p:nvPr/>
        </p:nvSpPr>
        <p:spPr>
          <a:xfrm>
            <a:off x="10712279" y="5095013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E1E34DA-1AC5-42B8-945C-57C717836108}"/>
              </a:ext>
            </a:extLst>
          </p:cNvPr>
          <p:cNvSpPr/>
          <p:nvPr/>
        </p:nvSpPr>
        <p:spPr>
          <a:xfrm rot="5400000">
            <a:off x="10648028" y="5253100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B2B68F3-2159-4413-B8B9-A8689FEB6050}"/>
              </a:ext>
            </a:extLst>
          </p:cNvPr>
          <p:cNvSpPr txBox="1"/>
          <p:nvPr/>
        </p:nvSpPr>
        <p:spPr>
          <a:xfrm>
            <a:off x="10547540" y="4707567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2E612C48-5F59-479A-B2C7-D42FE5EFBEBC}"/>
              </a:ext>
            </a:extLst>
          </p:cNvPr>
          <p:cNvCxnSpPr/>
          <p:nvPr/>
        </p:nvCxnSpPr>
        <p:spPr>
          <a:xfrm>
            <a:off x="10069892" y="4874829"/>
            <a:ext cx="31969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AFD5A5F9-C223-4F2C-8033-6ABC65C3E2FD}"/>
              </a:ext>
            </a:extLst>
          </p:cNvPr>
          <p:cNvCxnSpPr>
            <a:stCxn id="143" idx="3"/>
          </p:cNvCxnSpPr>
          <p:nvPr/>
        </p:nvCxnSpPr>
        <p:spPr>
          <a:xfrm flipV="1">
            <a:off x="8785781" y="4874829"/>
            <a:ext cx="548718" cy="450693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F6618F4-D6FB-4025-8D46-48090AB24190}"/>
              </a:ext>
            </a:extLst>
          </p:cNvPr>
          <p:cNvSpPr/>
          <p:nvPr/>
        </p:nvSpPr>
        <p:spPr>
          <a:xfrm>
            <a:off x="4166965" y="3006281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C3DE938-D47C-4E0E-9F91-04BF811A5012}"/>
              </a:ext>
            </a:extLst>
          </p:cNvPr>
          <p:cNvSpPr/>
          <p:nvPr/>
        </p:nvSpPr>
        <p:spPr>
          <a:xfrm>
            <a:off x="4166965" y="3468840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9BE78E3-F397-49C0-A77F-DCC25E345B83}"/>
              </a:ext>
            </a:extLst>
          </p:cNvPr>
          <p:cNvSpPr/>
          <p:nvPr/>
        </p:nvSpPr>
        <p:spPr>
          <a:xfrm>
            <a:off x="4166965" y="3674281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3F5C2243-44DC-4EEE-BD77-60718BA6F064}"/>
              </a:ext>
            </a:extLst>
          </p:cNvPr>
          <p:cNvCxnSpPr>
            <a:stCxn id="163" idx="3"/>
            <a:endCxn id="77" idx="1"/>
          </p:cNvCxnSpPr>
          <p:nvPr/>
        </p:nvCxnSpPr>
        <p:spPr>
          <a:xfrm flipV="1">
            <a:off x="5999030" y="1787273"/>
            <a:ext cx="1267530" cy="178679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0B1C0CEB-5A44-4741-8039-1FE004D2EB91}"/>
              </a:ext>
            </a:extLst>
          </p:cNvPr>
          <p:cNvCxnSpPr>
            <a:stCxn id="163" idx="3"/>
            <a:endCxn id="84" idx="1"/>
          </p:cNvCxnSpPr>
          <p:nvPr/>
        </p:nvCxnSpPr>
        <p:spPr>
          <a:xfrm flipV="1">
            <a:off x="5999030" y="3191679"/>
            <a:ext cx="1267525" cy="38238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EA21911C-BE65-4F5B-88A7-0168EFB384CF}"/>
              </a:ext>
            </a:extLst>
          </p:cNvPr>
          <p:cNvCxnSpPr>
            <a:stCxn id="173" idx="3"/>
            <a:endCxn id="142" idx="1"/>
          </p:cNvCxnSpPr>
          <p:nvPr/>
        </p:nvCxnSpPr>
        <p:spPr>
          <a:xfrm>
            <a:off x="5999030" y="3779508"/>
            <a:ext cx="1267520" cy="122484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DC37723-B7A8-471A-95E0-9E1EB75B4AE6}"/>
              </a:ext>
            </a:extLst>
          </p:cNvPr>
          <p:cNvSpPr txBox="1"/>
          <p:nvPr/>
        </p:nvSpPr>
        <p:spPr>
          <a:xfrm>
            <a:off x="6904489" y="817412"/>
            <a:ext cx="1205281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percpu</a:t>
            </a:r>
            <a:r>
              <a:rPr lang="en-US" sz="16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899A084-3BE0-424A-BD1B-97F5F1FB9BE3}"/>
              </a:ext>
            </a:extLst>
          </p:cNvPr>
          <p:cNvSpPr txBox="1"/>
          <p:nvPr/>
        </p:nvSpPr>
        <p:spPr>
          <a:xfrm>
            <a:off x="9615106" y="6365931"/>
            <a:ext cx="1609722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B4984B-BF81-45F1-A31B-E2C80DC37462}"/>
              </a:ext>
            </a:extLst>
          </p:cNvPr>
          <p:cNvSpPr txBox="1"/>
          <p:nvPr/>
        </p:nvSpPr>
        <p:spPr>
          <a:xfrm>
            <a:off x="4493042" y="2714166"/>
            <a:ext cx="1077141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E9F4EF-E922-48D1-AE06-E6233E4B15A1}"/>
              </a:ext>
            </a:extLst>
          </p:cNvPr>
          <p:cNvSpPr txBox="1"/>
          <p:nvPr/>
        </p:nvSpPr>
        <p:spPr>
          <a:xfrm>
            <a:off x="4430341" y="2442980"/>
            <a:ext cx="1325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global variable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6443CF-9530-4295-98B9-FD6D3F732657}"/>
              </a:ext>
            </a:extLst>
          </p:cNvPr>
          <p:cNvSpPr txBox="1"/>
          <p:nvPr/>
        </p:nvSpPr>
        <p:spPr>
          <a:xfrm>
            <a:off x="7285606" y="4503744"/>
            <a:ext cx="1519231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F304B0-997D-4191-B46F-795CDCC9BFE5}"/>
              </a:ext>
            </a:extLst>
          </p:cNvPr>
          <p:cNvSpPr txBox="1"/>
          <p:nvPr/>
        </p:nvSpPr>
        <p:spPr>
          <a:xfrm>
            <a:off x="7418136" y="4252305"/>
            <a:ext cx="1325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global variable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5223643-69C9-4E78-8781-AA725A0CBA16}"/>
              </a:ext>
            </a:extLst>
          </p:cNvPr>
          <p:cNvSpPr/>
          <p:nvPr/>
        </p:nvSpPr>
        <p:spPr>
          <a:xfrm>
            <a:off x="4021094" y="2828046"/>
            <a:ext cx="466064" cy="320512"/>
          </a:xfrm>
          <a:custGeom>
            <a:avLst/>
            <a:gdLst>
              <a:gd name="connsiteX0" fmla="*/ 277528 w 466064"/>
              <a:gd name="connsiteY0" fmla="*/ 320512 h 320512"/>
              <a:gd name="connsiteX1" fmla="*/ 4151 w 466064"/>
              <a:gd name="connsiteY1" fmla="*/ 122549 h 320512"/>
              <a:gd name="connsiteX2" fmla="*/ 466064 w 466064"/>
              <a:gd name="connsiteY2" fmla="*/ 0 h 320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6064" h="320512">
                <a:moveTo>
                  <a:pt x="277528" y="320512"/>
                </a:moveTo>
                <a:cubicBezTo>
                  <a:pt x="125128" y="248240"/>
                  <a:pt x="-27272" y="175968"/>
                  <a:pt x="4151" y="122549"/>
                </a:cubicBezTo>
                <a:cubicBezTo>
                  <a:pt x="35574" y="69130"/>
                  <a:pt x="250819" y="34565"/>
                  <a:pt x="466064" y="0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32F114-F28A-484F-8AFF-CA9E03254F10}"/>
              </a:ext>
            </a:extLst>
          </p:cNvPr>
          <p:cNvSpPr txBox="1"/>
          <p:nvPr/>
        </p:nvSpPr>
        <p:spPr>
          <a:xfrm>
            <a:off x="1441776" y="2049557"/>
            <a:ext cx="33362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[Slab allocator calls this automatically]</a:t>
            </a:r>
          </a:p>
          <a:p>
            <a:r>
              <a:rPr lang="en-US" sz="1400" b="1" dirty="0" err="1"/>
              <a:t>kmem_cache_alloc</a:t>
            </a:r>
            <a:r>
              <a:rPr lang="en-US" sz="1400" b="1" dirty="0"/>
              <a:t>(</a:t>
            </a:r>
            <a:r>
              <a:rPr lang="en-US" sz="1400" b="1" dirty="0" err="1"/>
              <a:t>kmem_cache</a:t>
            </a:r>
            <a:r>
              <a:rPr lang="en-US" sz="1400" b="1" dirty="0"/>
              <a:t>, ..): </a:t>
            </a:r>
            <a:r>
              <a:rPr lang="en-US" sz="1400" dirty="0"/>
              <a:t>Allocate a ‘</a:t>
            </a:r>
            <a:r>
              <a:rPr lang="en-US" sz="1400" dirty="0" err="1"/>
              <a:t>kmem_cache</a:t>
            </a:r>
            <a:r>
              <a:rPr lang="en-US" sz="1400" dirty="0"/>
              <a:t>’ object from global variable ‘</a:t>
            </a:r>
            <a:r>
              <a:rPr lang="en-US" sz="1400" dirty="0" err="1"/>
              <a:t>kmem_cache</a:t>
            </a:r>
            <a:r>
              <a:rPr lang="en-US" sz="1400" dirty="0"/>
              <a:t>’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30BA4B3-4578-4C6A-A9B7-023D3C95307A}"/>
              </a:ext>
            </a:extLst>
          </p:cNvPr>
          <p:cNvSpPr txBox="1"/>
          <p:nvPr/>
        </p:nvSpPr>
        <p:spPr>
          <a:xfrm>
            <a:off x="2445519" y="4510238"/>
            <a:ext cx="39786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[Slab allocator calls this automatically]</a:t>
            </a:r>
          </a:p>
          <a:p>
            <a:r>
              <a:rPr lang="en-US" sz="1400" b="1" dirty="0" err="1"/>
              <a:t>kmem_cache_alloc_node</a:t>
            </a:r>
            <a:r>
              <a:rPr lang="en-US" sz="1400" b="1" dirty="0"/>
              <a:t>(</a:t>
            </a:r>
            <a:r>
              <a:rPr lang="en-US" sz="1400" b="1" dirty="0" err="1"/>
              <a:t>kmem_cache_node</a:t>
            </a:r>
            <a:r>
              <a:rPr lang="en-US" sz="1400" b="1" dirty="0"/>
              <a:t>, …): </a:t>
            </a:r>
            <a:r>
              <a:rPr lang="en-US" sz="1400" dirty="0"/>
              <a:t>Allocate ‘</a:t>
            </a:r>
            <a:r>
              <a:rPr lang="en-US" sz="1400" dirty="0" err="1"/>
              <a:t>kmem_cache_node</a:t>
            </a:r>
            <a:r>
              <a:rPr lang="en-US" sz="1400" dirty="0"/>
              <a:t>’ objects from global variable ‘</a:t>
            </a:r>
            <a:r>
              <a:rPr lang="en-US" sz="1400" dirty="0" err="1"/>
              <a:t>kmem_cache_node</a:t>
            </a:r>
            <a:r>
              <a:rPr lang="en-US" sz="1400" dirty="0"/>
              <a:t>’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F43CA0B-6325-4CBA-BF3A-9C76395FC207}"/>
              </a:ext>
            </a:extLst>
          </p:cNvPr>
          <p:cNvSpPr/>
          <p:nvPr/>
        </p:nvSpPr>
        <p:spPr>
          <a:xfrm>
            <a:off x="6315944" y="4619139"/>
            <a:ext cx="952122" cy="509048"/>
          </a:xfrm>
          <a:custGeom>
            <a:avLst/>
            <a:gdLst>
              <a:gd name="connsiteX0" fmla="*/ 952122 w 952122"/>
              <a:gd name="connsiteY0" fmla="*/ 509048 h 509048"/>
              <a:gd name="connsiteX1" fmla="*/ 15 w 952122"/>
              <a:gd name="connsiteY1" fmla="*/ 358219 h 509048"/>
              <a:gd name="connsiteX2" fmla="*/ 933268 w 952122"/>
              <a:gd name="connsiteY2" fmla="*/ 0 h 509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122" h="509048">
                <a:moveTo>
                  <a:pt x="952122" y="509048"/>
                </a:moveTo>
                <a:cubicBezTo>
                  <a:pt x="477639" y="476054"/>
                  <a:pt x="3157" y="443060"/>
                  <a:pt x="15" y="358219"/>
                </a:cubicBezTo>
                <a:cubicBezTo>
                  <a:pt x="-3127" y="273378"/>
                  <a:pt x="465070" y="136689"/>
                  <a:pt x="933268" y="0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4692502-71C6-4CB7-8291-81CEE7AD132D}"/>
              </a:ext>
            </a:extLst>
          </p:cNvPr>
          <p:cNvCxnSpPr>
            <a:cxnSpLocks/>
            <a:endCxn id="162" idx="1"/>
          </p:cNvCxnSpPr>
          <p:nvPr/>
        </p:nvCxnSpPr>
        <p:spPr>
          <a:xfrm rot="5400000" flipH="1" flipV="1">
            <a:off x="3261194" y="2734256"/>
            <a:ext cx="399071" cy="1412471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15E692A3-8A42-420C-A8A7-600B491D4482}"/>
              </a:ext>
            </a:extLst>
          </p:cNvPr>
          <p:cNvSpPr/>
          <p:nvPr/>
        </p:nvSpPr>
        <p:spPr>
          <a:xfrm>
            <a:off x="3060660" y="3113025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753CE14-BDAF-40A5-AA69-8FBB7324671B}"/>
              </a:ext>
            </a:extLst>
          </p:cNvPr>
          <p:cNvSpPr txBox="1"/>
          <p:nvPr/>
        </p:nvSpPr>
        <p:spPr>
          <a:xfrm>
            <a:off x="1410082" y="3555771"/>
            <a:ext cx="27549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[User calls this function]</a:t>
            </a:r>
          </a:p>
          <a:p>
            <a:r>
              <a:rPr lang="en-US" sz="1400" b="1" dirty="0" err="1"/>
              <a:t>k_cache</a:t>
            </a:r>
            <a:r>
              <a:rPr lang="en-US" sz="1400" b="1" dirty="0"/>
              <a:t> = </a:t>
            </a:r>
            <a:r>
              <a:rPr lang="en-US" sz="1400" b="1" dirty="0" err="1"/>
              <a:t>kmem_cache_create</a:t>
            </a:r>
            <a:r>
              <a:rPr lang="en-US" sz="1400" b="1" dirty="0"/>
              <a:t>(): </a:t>
            </a:r>
            <a:r>
              <a:rPr lang="en-US" sz="1400" dirty="0"/>
              <a:t>create/get a new cache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3B8A4D61-F28B-44C4-BF3E-C58CF1DAFD2E}"/>
              </a:ext>
            </a:extLst>
          </p:cNvPr>
          <p:cNvSpPr/>
          <p:nvPr/>
        </p:nvSpPr>
        <p:spPr>
          <a:xfrm>
            <a:off x="3920892" y="2820903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645452B-067D-4981-A9C1-1316083A1E16}"/>
              </a:ext>
            </a:extLst>
          </p:cNvPr>
          <p:cNvSpPr/>
          <p:nvPr/>
        </p:nvSpPr>
        <p:spPr>
          <a:xfrm>
            <a:off x="6308290" y="4820347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2" name="矩形 40">
            <a:extLst>
              <a:ext uri="{FF2B5EF4-FFF2-40B4-BE49-F238E27FC236}">
                <a16:creationId xmlns:a16="http://schemas.microsoft.com/office/drawing/2014/main" id="{69B0D15A-5BCA-4973-AD2E-0490BCC658C7}"/>
              </a:ext>
            </a:extLst>
          </p:cNvPr>
          <p:cNvSpPr/>
          <p:nvPr/>
        </p:nvSpPr>
        <p:spPr>
          <a:xfrm>
            <a:off x="834550" y="6303976"/>
            <a:ext cx="11015278" cy="4608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</a:rPr>
              <a:t>Who initializes global variables ‘</a:t>
            </a:r>
            <a:r>
              <a:rPr lang="en-US" sz="2800" b="1" dirty="0" err="1">
                <a:solidFill>
                  <a:schemeClr val="tx1"/>
                </a:solidFill>
              </a:rPr>
              <a:t>kmem_cache</a:t>
            </a:r>
            <a:r>
              <a:rPr lang="en-US" sz="2800" b="1" dirty="0">
                <a:solidFill>
                  <a:schemeClr val="tx1"/>
                </a:solidFill>
              </a:rPr>
              <a:t>’ and ‘</a:t>
            </a:r>
            <a:r>
              <a:rPr lang="en-US" sz="2800" b="1" dirty="0" err="1">
                <a:solidFill>
                  <a:schemeClr val="tx1"/>
                </a:solidFill>
              </a:rPr>
              <a:t>kmem_cache_node</a:t>
            </a:r>
            <a:r>
              <a:rPr lang="en-US" sz="2800" b="1" dirty="0">
                <a:solidFill>
                  <a:schemeClr val="tx1"/>
                </a:solidFill>
              </a:rPr>
              <a:t>’?</a:t>
            </a:r>
          </a:p>
        </p:txBody>
      </p:sp>
      <p:sp>
        <p:nvSpPr>
          <p:cNvPr id="83" name="Title 1">
            <a:extLst>
              <a:ext uri="{FF2B5EF4-FFF2-40B4-BE49-F238E27FC236}">
                <a16:creationId xmlns:a16="http://schemas.microsoft.com/office/drawing/2014/main" id="{822529C0-2B6D-4CE5-A127-9EB674E0E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62"/>
            <a:ext cx="12264272" cy="663575"/>
          </a:xfrm>
        </p:spPr>
        <p:txBody>
          <a:bodyPr>
            <a:noAutofit/>
          </a:bodyPr>
          <a:lstStyle/>
          <a:p>
            <a:r>
              <a:rPr lang="en-US" sz="3600" dirty="0"/>
              <a:t>Slab Allocator Initialization: “Chicken or the egg” problem</a:t>
            </a:r>
          </a:p>
        </p:txBody>
      </p:sp>
    </p:spTree>
    <p:extLst>
      <p:ext uri="{BB962C8B-B14F-4D97-AF65-F5344CB8AC3E}">
        <p14:creationId xmlns:p14="http://schemas.microsoft.com/office/powerpoint/2010/main" val="222054577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86">
            <a:extLst>
              <a:ext uri="{FF2B5EF4-FFF2-40B4-BE49-F238E27FC236}">
                <a16:creationId xmlns:a16="http://schemas.microsoft.com/office/drawing/2014/main" id="{75BD9CEA-186D-46F6-B0D0-0A436B5FCB7C}"/>
              </a:ext>
            </a:extLst>
          </p:cNvPr>
          <p:cNvSpPr/>
          <p:nvPr/>
        </p:nvSpPr>
        <p:spPr>
          <a:xfrm>
            <a:off x="6857541" y="4292847"/>
            <a:ext cx="4509515" cy="242216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71AD74B-8172-4526-9826-E7AB9424F43D}"/>
              </a:ext>
            </a:extLst>
          </p:cNvPr>
          <p:cNvSpPr/>
          <p:nvPr/>
        </p:nvSpPr>
        <p:spPr>
          <a:xfrm>
            <a:off x="6848094" y="766503"/>
            <a:ext cx="4518962" cy="3428641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10AD8-7238-4CAF-A1A4-6B2B2E2E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62"/>
            <a:ext cx="12264272" cy="663575"/>
          </a:xfrm>
        </p:spPr>
        <p:txBody>
          <a:bodyPr>
            <a:noAutofit/>
          </a:bodyPr>
          <a:lstStyle/>
          <a:p>
            <a:r>
              <a:rPr lang="en-US" sz="3600" dirty="0"/>
              <a:t>Slab Allocator Initialization: “Chicken or the egg” problem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5181C43-F440-4589-A2E0-9F6088BC02B3}"/>
              </a:ext>
            </a:extLst>
          </p:cNvPr>
          <p:cNvSpPr/>
          <p:nvPr/>
        </p:nvSpPr>
        <p:spPr>
          <a:xfrm>
            <a:off x="9334499" y="1206302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AAE8359-FDCB-4DD0-ABE2-F15C9E379A8E}"/>
              </a:ext>
            </a:extLst>
          </p:cNvPr>
          <p:cNvSpPr/>
          <p:nvPr/>
        </p:nvSpPr>
        <p:spPr>
          <a:xfrm rot="5400000">
            <a:off x="9042253" y="1689187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C0BDF37-74EE-4AAA-A166-368AC1484106}"/>
              </a:ext>
            </a:extLst>
          </p:cNvPr>
          <p:cNvSpPr/>
          <p:nvPr/>
        </p:nvSpPr>
        <p:spPr>
          <a:xfrm rot="5400000">
            <a:off x="9230506" y="1689188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0E127C-345D-4108-8179-4BDCF0AC8ECD}"/>
              </a:ext>
            </a:extLst>
          </p:cNvPr>
          <p:cNvSpPr txBox="1"/>
          <p:nvPr/>
        </p:nvSpPr>
        <p:spPr>
          <a:xfrm>
            <a:off x="9657189" y="1532037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1F6D744-CB6E-4E0D-9449-1DA383F0C10A}"/>
              </a:ext>
            </a:extLst>
          </p:cNvPr>
          <p:cNvSpPr/>
          <p:nvPr/>
        </p:nvSpPr>
        <p:spPr>
          <a:xfrm rot="5400000">
            <a:off x="9592938" y="1690124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299FE3-42B8-44B0-A9B8-E43217C5092A}"/>
              </a:ext>
            </a:extLst>
          </p:cNvPr>
          <p:cNvSpPr txBox="1"/>
          <p:nvPr/>
        </p:nvSpPr>
        <p:spPr>
          <a:xfrm>
            <a:off x="9448476" y="1137662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32C243-9A53-4E0E-BAFE-BDF172499B5A}"/>
              </a:ext>
            </a:extLst>
          </p:cNvPr>
          <p:cNvSpPr txBox="1"/>
          <p:nvPr/>
        </p:nvSpPr>
        <p:spPr>
          <a:xfrm>
            <a:off x="7821437" y="2590163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A6145D-C379-480E-AD73-16E6E4B733C7}"/>
              </a:ext>
            </a:extLst>
          </p:cNvPr>
          <p:cNvSpPr/>
          <p:nvPr/>
        </p:nvSpPr>
        <p:spPr>
          <a:xfrm>
            <a:off x="7266560" y="1570666"/>
            <a:ext cx="1427216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#0)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E76C757-CF4E-4245-A374-4AED73581B46}"/>
              </a:ext>
            </a:extLst>
          </p:cNvPr>
          <p:cNvSpPr/>
          <p:nvPr/>
        </p:nvSpPr>
        <p:spPr>
          <a:xfrm>
            <a:off x="7266560" y="1997091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0DAC7CE-53A5-40C6-94DD-195F82A4AF72}"/>
              </a:ext>
            </a:extLst>
          </p:cNvPr>
          <p:cNvSpPr/>
          <p:nvPr/>
        </p:nvSpPr>
        <p:spPr>
          <a:xfrm>
            <a:off x="7266555" y="2207709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4D14553-733A-4D87-8625-E8E89057FC42}"/>
              </a:ext>
            </a:extLst>
          </p:cNvPr>
          <p:cNvSpPr/>
          <p:nvPr/>
        </p:nvSpPr>
        <p:spPr>
          <a:xfrm>
            <a:off x="7266558" y="2417904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CF4A0BE-5749-4159-A8F2-6E891ED95995}"/>
              </a:ext>
            </a:extLst>
          </p:cNvPr>
          <p:cNvSpPr/>
          <p:nvPr/>
        </p:nvSpPr>
        <p:spPr>
          <a:xfrm>
            <a:off x="7266555" y="2975072"/>
            <a:ext cx="1427216" cy="4332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kmem_cache_cpu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(CPU #N)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8BFA659-3AE3-4B85-9BD7-6E56E509A597}"/>
              </a:ext>
            </a:extLst>
          </p:cNvPr>
          <p:cNvSpPr/>
          <p:nvPr/>
        </p:nvSpPr>
        <p:spPr>
          <a:xfrm>
            <a:off x="7266555" y="3401497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struct page *page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ECCBBD5-30B4-4B7A-BC89-2CDE032662F0}"/>
              </a:ext>
            </a:extLst>
          </p:cNvPr>
          <p:cNvSpPr/>
          <p:nvPr/>
        </p:nvSpPr>
        <p:spPr>
          <a:xfrm>
            <a:off x="7266550" y="3612115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void **</a:t>
            </a:r>
            <a:r>
              <a:rPr lang="en-US" sz="1200" dirty="0" err="1">
                <a:solidFill>
                  <a:schemeClr val="tx1"/>
                </a:solidFill>
              </a:rPr>
              <a:t>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296BED3-4067-4E62-B674-F3ECB04335B9}"/>
              </a:ext>
            </a:extLst>
          </p:cNvPr>
          <p:cNvSpPr/>
          <p:nvPr/>
        </p:nvSpPr>
        <p:spPr>
          <a:xfrm>
            <a:off x="7266553" y="3822310"/>
            <a:ext cx="1427216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A989CC34-BF76-44D3-8D57-3F83556CEBD4}"/>
              </a:ext>
            </a:extLst>
          </p:cNvPr>
          <p:cNvCxnSpPr>
            <a:cxnSpLocks/>
            <a:stCxn id="79" idx="3"/>
            <a:endCxn id="60" idx="0"/>
          </p:cNvCxnSpPr>
          <p:nvPr/>
        </p:nvCxnSpPr>
        <p:spPr>
          <a:xfrm flipV="1">
            <a:off x="8693776" y="1206302"/>
            <a:ext cx="1008420" cy="896016"/>
          </a:xfrm>
          <a:prstGeom prst="bentConnector4">
            <a:avLst>
              <a:gd name="adj1" fmla="val 31769"/>
              <a:gd name="adj2" fmla="val 12551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F9CE4257-32CC-40A8-9612-C4FF1F9DE32E}"/>
              </a:ext>
            </a:extLst>
          </p:cNvPr>
          <p:cNvCxnSpPr>
            <a:cxnSpLocks/>
            <a:stCxn id="81" idx="3"/>
            <a:endCxn id="62" idx="3"/>
          </p:cNvCxnSpPr>
          <p:nvPr/>
        </p:nvCxnSpPr>
        <p:spPr>
          <a:xfrm flipV="1">
            <a:off x="8693771" y="2166142"/>
            <a:ext cx="921335" cy="14679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CCF3663-D621-47F8-88F4-0D8121F86594}"/>
              </a:ext>
            </a:extLst>
          </p:cNvPr>
          <p:cNvSpPr/>
          <p:nvPr/>
        </p:nvSpPr>
        <p:spPr>
          <a:xfrm>
            <a:off x="9334499" y="2642224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C114D2C-8090-4737-ABBF-F3E6D552CF2A}"/>
              </a:ext>
            </a:extLst>
          </p:cNvPr>
          <p:cNvSpPr/>
          <p:nvPr/>
        </p:nvSpPr>
        <p:spPr>
          <a:xfrm rot="5400000">
            <a:off x="9042253" y="3125109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CD8676B-99CC-44A4-8F8F-974920D04C6D}"/>
              </a:ext>
            </a:extLst>
          </p:cNvPr>
          <p:cNvSpPr/>
          <p:nvPr/>
        </p:nvSpPr>
        <p:spPr>
          <a:xfrm rot="5400000">
            <a:off x="9230506" y="3125110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5959CA6-3A7A-4C3F-9A9D-A282E336DFF9}"/>
              </a:ext>
            </a:extLst>
          </p:cNvPr>
          <p:cNvSpPr txBox="1"/>
          <p:nvPr/>
        </p:nvSpPr>
        <p:spPr>
          <a:xfrm>
            <a:off x="9657189" y="2967959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8FCA2FD-50EC-4A46-A9F1-2EA62F061D40}"/>
              </a:ext>
            </a:extLst>
          </p:cNvPr>
          <p:cNvSpPr/>
          <p:nvPr/>
        </p:nvSpPr>
        <p:spPr>
          <a:xfrm rot="5400000">
            <a:off x="9592938" y="3126046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DFC9A56-51DE-421B-8B77-3960EFE26DF4}"/>
              </a:ext>
            </a:extLst>
          </p:cNvPr>
          <p:cNvSpPr txBox="1"/>
          <p:nvPr/>
        </p:nvSpPr>
        <p:spPr>
          <a:xfrm>
            <a:off x="9447910" y="2586958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1E43DF8-F296-4AC4-9C1C-2D4A2C124C8E}"/>
              </a:ext>
            </a:extLst>
          </p:cNvPr>
          <p:cNvSpPr/>
          <p:nvPr/>
        </p:nvSpPr>
        <p:spPr>
          <a:xfrm>
            <a:off x="10389589" y="2635295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78413DB-126A-41A7-BB05-73AECD63427A}"/>
              </a:ext>
            </a:extLst>
          </p:cNvPr>
          <p:cNvSpPr/>
          <p:nvPr/>
        </p:nvSpPr>
        <p:spPr>
          <a:xfrm rot="5400000">
            <a:off x="10097343" y="3118180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EC010DF-31AA-4075-8E24-2DC62307434B}"/>
              </a:ext>
            </a:extLst>
          </p:cNvPr>
          <p:cNvSpPr/>
          <p:nvPr/>
        </p:nvSpPr>
        <p:spPr>
          <a:xfrm rot="5400000">
            <a:off x="10285596" y="3118181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3877DFD-43C0-489A-989A-6C9836F05B4F}"/>
              </a:ext>
            </a:extLst>
          </p:cNvPr>
          <p:cNvSpPr txBox="1"/>
          <p:nvPr/>
        </p:nvSpPr>
        <p:spPr>
          <a:xfrm>
            <a:off x="10712279" y="2961030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F8DEDAB-5997-4A81-B7EC-07FAED380E9B}"/>
              </a:ext>
            </a:extLst>
          </p:cNvPr>
          <p:cNvSpPr/>
          <p:nvPr/>
        </p:nvSpPr>
        <p:spPr>
          <a:xfrm rot="5400000">
            <a:off x="10648028" y="3119117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41C987D-6DB8-441E-8DCD-0EC8C72984B5}"/>
              </a:ext>
            </a:extLst>
          </p:cNvPr>
          <p:cNvSpPr txBox="1"/>
          <p:nvPr/>
        </p:nvSpPr>
        <p:spPr>
          <a:xfrm>
            <a:off x="10547540" y="2573584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1DE9055B-FBD2-4B8B-906C-8167CBF6B010}"/>
              </a:ext>
            </a:extLst>
          </p:cNvPr>
          <p:cNvCxnSpPr>
            <a:cxnSpLocks/>
            <a:stCxn id="82" idx="3"/>
            <a:endCxn id="121" idx="0"/>
          </p:cNvCxnSpPr>
          <p:nvPr/>
        </p:nvCxnSpPr>
        <p:spPr>
          <a:xfrm>
            <a:off x="8693774" y="2523131"/>
            <a:ext cx="1008422" cy="11909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7E96D23B-57A6-49B5-BE6B-19578F56C896}"/>
              </a:ext>
            </a:extLst>
          </p:cNvPr>
          <p:cNvCxnSpPr/>
          <p:nvPr/>
        </p:nvCxnSpPr>
        <p:spPr>
          <a:xfrm>
            <a:off x="10069892" y="2740846"/>
            <a:ext cx="31969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9E2A6C5-1A19-45AE-B81C-EE45CDE6985A}"/>
              </a:ext>
            </a:extLst>
          </p:cNvPr>
          <p:cNvSpPr/>
          <p:nvPr/>
        </p:nvSpPr>
        <p:spPr>
          <a:xfrm>
            <a:off x="7266550" y="4785617"/>
            <a:ext cx="1519231" cy="4374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(Node #0)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C5BC1EB-DEDA-416E-B9C0-B907160B3DC0}"/>
              </a:ext>
            </a:extLst>
          </p:cNvPr>
          <p:cNvSpPr/>
          <p:nvPr/>
        </p:nvSpPr>
        <p:spPr>
          <a:xfrm>
            <a:off x="7266550" y="5220295"/>
            <a:ext cx="1519231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9EE2316-10E6-4A15-B39F-37EA2AA5C73A}"/>
              </a:ext>
            </a:extLst>
          </p:cNvPr>
          <p:cNvSpPr/>
          <p:nvPr/>
        </p:nvSpPr>
        <p:spPr>
          <a:xfrm>
            <a:off x="7266550" y="5854308"/>
            <a:ext cx="1519231" cy="4374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kmem_cache_node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(Node #N)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B5FE843-9A60-467A-BBBB-717387D3C2B9}"/>
              </a:ext>
            </a:extLst>
          </p:cNvPr>
          <p:cNvSpPr/>
          <p:nvPr/>
        </p:nvSpPr>
        <p:spPr>
          <a:xfrm>
            <a:off x="7266550" y="6288986"/>
            <a:ext cx="1519231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8D0643C-0148-47E6-8814-DDA27692C1CB}"/>
              </a:ext>
            </a:extLst>
          </p:cNvPr>
          <p:cNvSpPr txBox="1"/>
          <p:nvPr/>
        </p:nvSpPr>
        <p:spPr>
          <a:xfrm>
            <a:off x="7907162" y="5410530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D5C1E2C4-DC99-4BBD-AFBB-AA5F1657DB33}"/>
              </a:ext>
            </a:extLst>
          </p:cNvPr>
          <p:cNvSpPr/>
          <p:nvPr/>
        </p:nvSpPr>
        <p:spPr>
          <a:xfrm>
            <a:off x="9334499" y="4776207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F04C28C-0C6D-4F15-BDEE-7253D195D19E}"/>
              </a:ext>
            </a:extLst>
          </p:cNvPr>
          <p:cNvSpPr/>
          <p:nvPr/>
        </p:nvSpPr>
        <p:spPr>
          <a:xfrm rot="5400000">
            <a:off x="9042253" y="5259092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46D53C97-15CE-4127-A9C9-ED67CD860D32}"/>
              </a:ext>
            </a:extLst>
          </p:cNvPr>
          <p:cNvSpPr/>
          <p:nvPr/>
        </p:nvSpPr>
        <p:spPr>
          <a:xfrm rot="5400000">
            <a:off x="9230506" y="5259093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F4D541C-9063-4EE9-A4BA-C054ACEAC072}"/>
              </a:ext>
            </a:extLst>
          </p:cNvPr>
          <p:cNvSpPr txBox="1"/>
          <p:nvPr/>
        </p:nvSpPr>
        <p:spPr>
          <a:xfrm>
            <a:off x="9657189" y="5101942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48ED0A5-AFB7-4C08-A86A-5C13C3814883}"/>
              </a:ext>
            </a:extLst>
          </p:cNvPr>
          <p:cNvSpPr/>
          <p:nvPr/>
        </p:nvSpPr>
        <p:spPr>
          <a:xfrm rot="5400000">
            <a:off x="9592938" y="5260029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635DF08-C233-4BA1-94CD-A560A55E9137}"/>
              </a:ext>
            </a:extLst>
          </p:cNvPr>
          <p:cNvSpPr txBox="1"/>
          <p:nvPr/>
        </p:nvSpPr>
        <p:spPr>
          <a:xfrm>
            <a:off x="9447910" y="4720941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3C236FF-DD41-4181-83D3-F569E50B75F7}"/>
              </a:ext>
            </a:extLst>
          </p:cNvPr>
          <p:cNvSpPr/>
          <p:nvPr/>
        </p:nvSpPr>
        <p:spPr>
          <a:xfrm>
            <a:off x="10389589" y="4769278"/>
            <a:ext cx="735393" cy="959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384DB26-627C-48DA-B016-26131C6F48A0}"/>
              </a:ext>
            </a:extLst>
          </p:cNvPr>
          <p:cNvSpPr/>
          <p:nvPr/>
        </p:nvSpPr>
        <p:spPr>
          <a:xfrm rot="5400000">
            <a:off x="10097343" y="5252163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8230B71-4DBF-4D1D-A439-0529277E7E42}"/>
              </a:ext>
            </a:extLst>
          </p:cNvPr>
          <p:cNvSpPr/>
          <p:nvPr/>
        </p:nvSpPr>
        <p:spPr>
          <a:xfrm rot="5400000">
            <a:off x="10285596" y="5252164"/>
            <a:ext cx="769200" cy="1847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98A08B7-FFD7-4C1F-80B7-DF3079B3DC16}"/>
              </a:ext>
            </a:extLst>
          </p:cNvPr>
          <p:cNvSpPr txBox="1"/>
          <p:nvPr/>
        </p:nvSpPr>
        <p:spPr>
          <a:xfrm>
            <a:off x="10712279" y="5095013"/>
            <a:ext cx="40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E1E34DA-1AC5-42B8-945C-57C717836108}"/>
              </a:ext>
            </a:extLst>
          </p:cNvPr>
          <p:cNvSpPr/>
          <p:nvPr/>
        </p:nvSpPr>
        <p:spPr>
          <a:xfrm rot="5400000">
            <a:off x="10648028" y="5253100"/>
            <a:ext cx="769200" cy="1847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slab object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B2B68F3-2159-4413-B8B9-A8689FEB6050}"/>
              </a:ext>
            </a:extLst>
          </p:cNvPr>
          <p:cNvSpPr txBox="1"/>
          <p:nvPr/>
        </p:nvSpPr>
        <p:spPr>
          <a:xfrm>
            <a:off x="10547540" y="4707567"/>
            <a:ext cx="5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Page</a:t>
            </a:r>
            <a:endParaRPr lang="en-US" sz="1200" b="1" dirty="0"/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2E612C48-5F59-479A-B2C7-D42FE5EFBEBC}"/>
              </a:ext>
            </a:extLst>
          </p:cNvPr>
          <p:cNvCxnSpPr/>
          <p:nvPr/>
        </p:nvCxnSpPr>
        <p:spPr>
          <a:xfrm>
            <a:off x="10069892" y="4874829"/>
            <a:ext cx="319697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AFD5A5F9-C223-4F2C-8033-6ABC65C3E2FD}"/>
              </a:ext>
            </a:extLst>
          </p:cNvPr>
          <p:cNvCxnSpPr>
            <a:stCxn id="143" idx="3"/>
          </p:cNvCxnSpPr>
          <p:nvPr/>
        </p:nvCxnSpPr>
        <p:spPr>
          <a:xfrm flipV="1">
            <a:off x="8785781" y="4874829"/>
            <a:ext cx="548718" cy="450693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F6618F4-D6FB-4025-8D46-48090AB24190}"/>
              </a:ext>
            </a:extLst>
          </p:cNvPr>
          <p:cNvSpPr/>
          <p:nvPr/>
        </p:nvSpPr>
        <p:spPr>
          <a:xfrm>
            <a:off x="4166965" y="3006281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C3DE938-D47C-4E0E-9F91-04BF811A5012}"/>
              </a:ext>
            </a:extLst>
          </p:cNvPr>
          <p:cNvSpPr/>
          <p:nvPr/>
        </p:nvSpPr>
        <p:spPr>
          <a:xfrm>
            <a:off x="4166965" y="3468840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9BE78E3-F397-49C0-A77F-DCC25E345B83}"/>
              </a:ext>
            </a:extLst>
          </p:cNvPr>
          <p:cNvSpPr/>
          <p:nvPr/>
        </p:nvSpPr>
        <p:spPr>
          <a:xfrm>
            <a:off x="4166965" y="3674281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3F5C2243-44DC-4EEE-BD77-60718BA6F064}"/>
              </a:ext>
            </a:extLst>
          </p:cNvPr>
          <p:cNvCxnSpPr>
            <a:stCxn id="163" idx="3"/>
            <a:endCxn id="77" idx="1"/>
          </p:cNvCxnSpPr>
          <p:nvPr/>
        </p:nvCxnSpPr>
        <p:spPr>
          <a:xfrm flipV="1">
            <a:off x="5999030" y="1787273"/>
            <a:ext cx="1267530" cy="178679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0B1C0CEB-5A44-4741-8039-1FE004D2EB91}"/>
              </a:ext>
            </a:extLst>
          </p:cNvPr>
          <p:cNvCxnSpPr>
            <a:stCxn id="163" idx="3"/>
            <a:endCxn id="84" idx="1"/>
          </p:cNvCxnSpPr>
          <p:nvPr/>
        </p:nvCxnSpPr>
        <p:spPr>
          <a:xfrm flipV="1">
            <a:off x="5999030" y="3191679"/>
            <a:ext cx="1267525" cy="38238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EA21911C-BE65-4F5B-88A7-0168EFB384CF}"/>
              </a:ext>
            </a:extLst>
          </p:cNvPr>
          <p:cNvCxnSpPr>
            <a:stCxn id="173" idx="3"/>
            <a:endCxn id="142" idx="1"/>
          </p:cNvCxnSpPr>
          <p:nvPr/>
        </p:nvCxnSpPr>
        <p:spPr>
          <a:xfrm>
            <a:off x="5999030" y="3779508"/>
            <a:ext cx="1267520" cy="122484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DC37723-B7A8-471A-95E0-9E1EB75B4AE6}"/>
              </a:ext>
            </a:extLst>
          </p:cNvPr>
          <p:cNvSpPr txBox="1"/>
          <p:nvPr/>
        </p:nvSpPr>
        <p:spPr>
          <a:xfrm>
            <a:off x="6904489" y="817412"/>
            <a:ext cx="1205281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percpu</a:t>
            </a:r>
            <a:r>
              <a:rPr lang="en-US" sz="16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899A084-3BE0-424A-BD1B-97F5F1FB9BE3}"/>
              </a:ext>
            </a:extLst>
          </p:cNvPr>
          <p:cNvSpPr txBox="1"/>
          <p:nvPr/>
        </p:nvSpPr>
        <p:spPr>
          <a:xfrm>
            <a:off x="9615106" y="6365931"/>
            <a:ext cx="1609722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B4984B-BF81-45F1-A31B-E2C80DC37462}"/>
              </a:ext>
            </a:extLst>
          </p:cNvPr>
          <p:cNvSpPr txBox="1"/>
          <p:nvPr/>
        </p:nvSpPr>
        <p:spPr>
          <a:xfrm>
            <a:off x="4493042" y="2714166"/>
            <a:ext cx="1077141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E9F4EF-E922-48D1-AE06-E6233E4B15A1}"/>
              </a:ext>
            </a:extLst>
          </p:cNvPr>
          <p:cNvSpPr txBox="1"/>
          <p:nvPr/>
        </p:nvSpPr>
        <p:spPr>
          <a:xfrm>
            <a:off x="4430341" y="2442980"/>
            <a:ext cx="1325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global variable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6443CF-9530-4295-98B9-FD6D3F732657}"/>
              </a:ext>
            </a:extLst>
          </p:cNvPr>
          <p:cNvSpPr txBox="1"/>
          <p:nvPr/>
        </p:nvSpPr>
        <p:spPr>
          <a:xfrm>
            <a:off x="7285606" y="4503744"/>
            <a:ext cx="1519231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kmem_cache_node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F304B0-997D-4191-B46F-795CDCC9BFE5}"/>
              </a:ext>
            </a:extLst>
          </p:cNvPr>
          <p:cNvSpPr txBox="1"/>
          <p:nvPr/>
        </p:nvSpPr>
        <p:spPr>
          <a:xfrm>
            <a:off x="7418136" y="4252305"/>
            <a:ext cx="1325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global variable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5223643-69C9-4E78-8781-AA725A0CBA16}"/>
              </a:ext>
            </a:extLst>
          </p:cNvPr>
          <p:cNvSpPr/>
          <p:nvPr/>
        </p:nvSpPr>
        <p:spPr>
          <a:xfrm>
            <a:off x="4021094" y="2828046"/>
            <a:ext cx="466064" cy="320512"/>
          </a:xfrm>
          <a:custGeom>
            <a:avLst/>
            <a:gdLst>
              <a:gd name="connsiteX0" fmla="*/ 277528 w 466064"/>
              <a:gd name="connsiteY0" fmla="*/ 320512 h 320512"/>
              <a:gd name="connsiteX1" fmla="*/ 4151 w 466064"/>
              <a:gd name="connsiteY1" fmla="*/ 122549 h 320512"/>
              <a:gd name="connsiteX2" fmla="*/ 466064 w 466064"/>
              <a:gd name="connsiteY2" fmla="*/ 0 h 320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6064" h="320512">
                <a:moveTo>
                  <a:pt x="277528" y="320512"/>
                </a:moveTo>
                <a:cubicBezTo>
                  <a:pt x="125128" y="248240"/>
                  <a:pt x="-27272" y="175968"/>
                  <a:pt x="4151" y="122549"/>
                </a:cubicBezTo>
                <a:cubicBezTo>
                  <a:pt x="35574" y="69130"/>
                  <a:pt x="250819" y="34565"/>
                  <a:pt x="466064" y="0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32F114-F28A-484F-8AFF-CA9E03254F10}"/>
              </a:ext>
            </a:extLst>
          </p:cNvPr>
          <p:cNvSpPr txBox="1"/>
          <p:nvPr/>
        </p:nvSpPr>
        <p:spPr>
          <a:xfrm>
            <a:off x="1441776" y="2049557"/>
            <a:ext cx="33362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[Slab allocator calls this automatically]</a:t>
            </a:r>
          </a:p>
          <a:p>
            <a:r>
              <a:rPr lang="en-US" sz="1400" b="1" dirty="0" err="1"/>
              <a:t>kmem_cache_alloc</a:t>
            </a:r>
            <a:r>
              <a:rPr lang="en-US" sz="1400" b="1" dirty="0"/>
              <a:t>(</a:t>
            </a:r>
            <a:r>
              <a:rPr lang="en-US" sz="1400" b="1" dirty="0" err="1"/>
              <a:t>kmem_cache</a:t>
            </a:r>
            <a:r>
              <a:rPr lang="en-US" sz="1400" b="1" dirty="0"/>
              <a:t>, ..): </a:t>
            </a:r>
            <a:r>
              <a:rPr lang="en-US" sz="1400" dirty="0"/>
              <a:t>Allocate a ‘</a:t>
            </a:r>
            <a:r>
              <a:rPr lang="en-US" sz="1400" dirty="0" err="1"/>
              <a:t>kmem_cache</a:t>
            </a:r>
            <a:r>
              <a:rPr lang="en-US" sz="1400" dirty="0"/>
              <a:t>’ object from global variable ‘</a:t>
            </a:r>
            <a:r>
              <a:rPr lang="en-US" sz="1400" dirty="0" err="1"/>
              <a:t>kmem_cache</a:t>
            </a:r>
            <a:r>
              <a:rPr lang="en-US" sz="1400" dirty="0"/>
              <a:t>’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30BA4B3-4578-4C6A-A9B7-023D3C95307A}"/>
              </a:ext>
            </a:extLst>
          </p:cNvPr>
          <p:cNvSpPr txBox="1"/>
          <p:nvPr/>
        </p:nvSpPr>
        <p:spPr>
          <a:xfrm>
            <a:off x="2445519" y="4510238"/>
            <a:ext cx="39786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[Slab allocator calls this automatically]</a:t>
            </a:r>
          </a:p>
          <a:p>
            <a:r>
              <a:rPr lang="en-US" sz="1400" b="1" dirty="0" err="1"/>
              <a:t>kmem_cache_alloc_node</a:t>
            </a:r>
            <a:r>
              <a:rPr lang="en-US" sz="1400" b="1" dirty="0"/>
              <a:t>(</a:t>
            </a:r>
            <a:r>
              <a:rPr lang="en-US" sz="1400" b="1" dirty="0" err="1"/>
              <a:t>kmem_cache_node</a:t>
            </a:r>
            <a:r>
              <a:rPr lang="en-US" sz="1400" b="1" dirty="0"/>
              <a:t>, …): </a:t>
            </a:r>
            <a:r>
              <a:rPr lang="en-US" sz="1400" dirty="0"/>
              <a:t>Allocate ‘</a:t>
            </a:r>
            <a:r>
              <a:rPr lang="en-US" sz="1400" dirty="0" err="1"/>
              <a:t>kmem_cache_node</a:t>
            </a:r>
            <a:r>
              <a:rPr lang="en-US" sz="1400" dirty="0"/>
              <a:t>’ objects from global variable ‘</a:t>
            </a:r>
            <a:r>
              <a:rPr lang="en-US" sz="1400" dirty="0" err="1"/>
              <a:t>kmem_cache_node</a:t>
            </a:r>
            <a:r>
              <a:rPr lang="en-US" sz="1400" dirty="0"/>
              <a:t>’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F43CA0B-6325-4CBA-BF3A-9C76395FC207}"/>
              </a:ext>
            </a:extLst>
          </p:cNvPr>
          <p:cNvSpPr/>
          <p:nvPr/>
        </p:nvSpPr>
        <p:spPr>
          <a:xfrm>
            <a:off x="6315944" y="4619139"/>
            <a:ext cx="952122" cy="509048"/>
          </a:xfrm>
          <a:custGeom>
            <a:avLst/>
            <a:gdLst>
              <a:gd name="connsiteX0" fmla="*/ 952122 w 952122"/>
              <a:gd name="connsiteY0" fmla="*/ 509048 h 509048"/>
              <a:gd name="connsiteX1" fmla="*/ 15 w 952122"/>
              <a:gd name="connsiteY1" fmla="*/ 358219 h 509048"/>
              <a:gd name="connsiteX2" fmla="*/ 933268 w 952122"/>
              <a:gd name="connsiteY2" fmla="*/ 0 h 509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122" h="509048">
                <a:moveTo>
                  <a:pt x="952122" y="509048"/>
                </a:moveTo>
                <a:cubicBezTo>
                  <a:pt x="477639" y="476054"/>
                  <a:pt x="3157" y="443060"/>
                  <a:pt x="15" y="358219"/>
                </a:cubicBezTo>
                <a:cubicBezTo>
                  <a:pt x="-3127" y="273378"/>
                  <a:pt x="465070" y="136689"/>
                  <a:pt x="933268" y="0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4692502-71C6-4CB7-8291-81CEE7AD132D}"/>
              </a:ext>
            </a:extLst>
          </p:cNvPr>
          <p:cNvCxnSpPr>
            <a:cxnSpLocks/>
            <a:endCxn id="162" idx="1"/>
          </p:cNvCxnSpPr>
          <p:nvPr/>
        </p:nvCxnSpPr>
        <p:spPr>
          <a:xfrm rot="5400000" flipH="1" flipV="1">
            <a:off x="3261194" y="2734256"/>
            <a:ext cx="399071" cy="1412471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15E692A3-8A42-420C-A8A7-600B491D4482}"/>
              </a:ext>
            </a:extLst>
          </p:cNvPr>
          <p:cNvSpPr/>
          <p:nvPr/>
        </p:nvSpPr>
        <p:spPr>
          <a:xfrm>
            <a:off x="3060660" y="3113025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753CE14-BDAF-40A5-AA69-8FBB7324671B}"/>
              </a:ext>
            </a:extLst>
          </p:cNvPr>
          <p:cNvSpPr txBox="1"/>
          <p:nvPr/>
        </p:nvSpPr>
        <p:spPr>
          <a:xfrm>
            <a:off x="1410082" y="3555771"/>
            <a:ext cx="27549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[User calls this function]</a:t>
            </a:r>
          </a:p>
          <a:p>
            <a:r>
              <a:rPr lang="en-US" sz="1400" b="1" dirty="0" err="1"/>
              <a:t>k_cache</a:t>
            </a:r>
            <a:r>
              <a:rPr lang="en-US" sz="1400" b="1" dirty="0"/>
              <a:t> = </a:t>
            </a:r>
            <a:r>
              <a:rPr lang="en-US" sz="1400" b="1" dirty="0" err="1"/>
              <a:t>kmem_cache_create</a:t>
            </a:r>
            <a:r>
              <a:rPr lang="en-US" sz="1400" b="1" dirty="0"/>
              <a:t>(): </a:t>
            </a:r>
            <a:r>
              <a:rPr lang="en-US" sz="1400" dirty="0"/>
              <a:t>create/get a new cache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3B8A4D61-F28B-44C4-BF3E-C58CF1DAFD2E}"/>
              </a:ext>
            </a:extLst>
          </p:cNvPr>
          <p:cNvSpPr/>
          <p:nvPr/>
        </p:nvSpPr>
        <p:spPr>
          <a:xfrm>
            <a:off x="3920892" y="2820903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645452B-067D-4981-A9C1-1316083A1E16}"/>
              </a:ext>
            </a:extLst>
          </p:cNvPr>
          <p:cNvSpPr/>
          <p:nvPr/>
        </p:nvSpPr>
        <p:spPr>
          <a:xfrm>
            <a:off x="6308290" y="4820347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2" name="矩形 40">
            <a:extLst>
              <a:ext uri="{FF2B5EF4-FFF2-40B4-BE49-F238E27FC236}">
                <a16:creationId xmlns:a16="http://schemas.microsoft.com/office/drawing/2014/main" id="{69B0D15A-5BCA-4973-AD2E-0490BCC658C7}"/>
              </a:ext>
            </a:extLst>
          </p:cNvPr>
          <p:cNvSpPr/>
          <p:nvPr/>
        </p:nvSpPr>
        <p:spPr>
          <a:xfrm>
            <a:off x="149698" y="5646688"/>
            <a:ext cx="11698664" cy="116443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Slab allocator: statically initialized ‘</a:t>
            </a:r>
            <a:r>
              <a:rPr lang="en-US" b="1" dirty="0" err="1">
                <a:solidFill>
                  <a:schemeClr val="tx1"/>
                </a:solidFill>
              </a:rPr>
              <a:t>kmem_cache_boot</a:t>
            </a:r>
            <a:r>
              <a:rPr lang="en-US" b="1" dirty="0">
                <a:solidFill>
                  <a:schemeClr val="tx1"/>
                </a:solidFill>
              </a:rPr>
              <a:t>’</a:t>
            </a:r>
          </a:p>
          <a:p>
            <a:r>
              <a:rPr lang="en-US" b="1" dirty="0">
                <a:solidFill>
                  <a:schemeClr val="tx1"/>
                </a:solidFill>
              </a:rPr>
              <a:t>Slob allocator: statically initialized ‘</a:t>
            </a:r>
            <a:r>
              <a:rPr lang="en-US" b="1" dirty="0" err="1">
                <a:solidFill>
                  <a:schemeClr val="tx1"/>
                </a:solidFill>
              </a:rPr>
              <a:t>kmem_cache_boot</a:t>
            </a:r>
            <a:r>
              <a:rPr lang="en-US" b="1" dirty="0">
                <a:solidFill>
                  <a:schemeClr val="tx1"/>
                </a:solidFill>
              </a:rPr>
              <a:t>’</a:t>
            </a:r>
          </a:p>
          <a:p>
            <a:r>
              <a:rPr lang="en-US" b="1" dirty="0" err="1">
                <a:solidFill>
                  <a:schemeClr val="tx1"/>
                </a:solidFill>
              </a:rPr>
              <a:t>Slub</a:t>
            </a:r>
            <a:r>
              <a:rPr lang="en-US" b="1" dirty="0">
                <a:solidFill>
                  <a:schemeClr val="tx1"/>
                </a:solidFill>
              </a:rPr>
              <a:t> allocator: static local variables ‘</a:t>
            </a:r>
            <a:r>
              <a:rPr lang="en-US" b="1" dirty="0" err="1">
                <a:solidFill>
                  <a:schemeClr val="tx1"/>
                </a:solidFill>
              </a:rPr>
              <a:t>boot_kmem_cache</a:t>
            </a:r>
            <a:r>
              <a:rPr lang="en-US" b="1" dirty="0">
                <a:solidFill>
                  <a:schemeClr val="tx1"/>
                </a:solidFill>
              </a:rPr>
              <a:t>’ and ‘</a:t>
            </a:r>
            <a:r>
              <a:rPr lang="en-US" b="1" dirty="0" err="1">
                <a:solidFill>
                  <a:schemeClr val="tx1"/>
                </a:solidFill>
              </a:rPr>
              <a:t>boot_kmem_cache_node</a:t>
            </a:r>
            <a:r>
              <a:rPr lang="en-US" b="1" dirty="0">
                <a:solidFill>
                  <a:schemeClr val="tx1"/>
                </a:solidFill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58777243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86">
            <a:extLst>
              <a:ext uri="{FF2B5EF4-FFF2-40B4-BE49-F238E27FC236}">
                <a16:creationId xmlns:a16="http://schemas.microsoft.com/office/drawing/2014/main" id="{75BD9CEA-186D-46F6-B0D0-0A436B5FCB7C}"/>
              </a:ext>
            </a:extLst>
          </p:cNvPr>
          <p:cNvSpPr/>
          <p:nvPr/>
        </p:nvSpPr>
        <p:spPr>
          <a:xfrm>
            <a:off x="8797837" y="1976738"/>
            <a:ext cx="3107471" cy="124787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71AD74B-8172-4526-9826-E7AB9424F43D}"/>
              </a:ext>
            </a:extLst>
          </p:cNvPr>
          <p:cNvSpPr/>
          <p:nvPr/>
        </p:nvSpPr>
        <p:spPr>
          <a:xfrm>
            <a:off x="8797836" y="366637"/>
            <a:ext cx="3107471" cy="150397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10AD8-7238-4CAF-A1A4-6B2B2E2E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5966"/>
            <a:ext cx="6862527" cy="663575"/>
          </a:xfrm>
        </p:spPr>
        <p:txBody>
          <a:bodyPr>
            <a:noAutofit/>
          </a:bodyPr>
          <a:lstStyle/>
          <a:p>
            <a:r>
              <a:rPr lang="en-US" altLang="zh-TW" sz="3600" dirty="0"/>
              <a:t>Slab Allocator Initialization: “Chicken or the egg” problem</a:t>
            </a:r>
            <a:endParaRPr lang="en-US" sz="36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32C243-9A53-4E0E-BAFE-BDF172499B5A}"/>
              </a:ext>
            </a:extLst>
          </p:cNvPr>
          <p:cNvSpPr txBox="1"/>
          <p:nvPr/>
        </p:nvSpPr>
        <p:spPr>
          <a:xfrm>
            <a:off x="9809280" y="1407613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A6145D-C379-480E-AD73-16E6E4B733C7}"/>
              </a:ext>
            </a:extLst>
          </p:cNvPr>
          <p:cNvSpPr/>
          <p:nvPr/>
        </p:nvSpPr>
        <p:spPr>
          <a:xfrm>
            <a:off x="8951371" y="653827"/>
            <a:ext cx="1825498" cy="203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kmem_cache_cpu</a:t>
            </a:r>
            <a:r>
              <a:rPr lang="en-US" sz="1200" dirty="0">
                <a:solidFill>
                  <a:schemeClr val="tx1"/>
                </a:solidFill>
              </a:rPr>
              <a:t> (CPU #0)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E76C757-CF4E-4245-A374-4AED73581B46}"/>
              </a:ext>
            </a:extLst>
          </p:cNvPr>
          <p:cNvSpPr/>
          <p:nvPr/>
        </p:nvSpPr>
        <p:spPr>
          <a:xfrm>
            <a:off x="8954916" y="857103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0DAC7CE-53A5-40C6-94DD-195F82A4AF72}"/>
              </a:ext>
            </a:extLst>
          </p:cNvPr>
          <p:cNvSpPr/>
          <p:nvPr/>
        </p:nvSpPr>
        <p:spPr>
          <a:xfrm>
            <a:off x="8954911" y="1067721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4D14553-733A-4D87-8625-E8E89057FC42}"/>
              </a:ext>
            </a:extLst>
          </p:cNvPr>
          <p:cNvSpPr/>
          <p:nvPr/>
        </p:nvSpPr>
        <p:spPr>
          <a:xfrm>
            <a:off x="8954914" y="1277916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9E2A6C5-1A19-45AE-B81C-EE45CDE6985A}"/>
              </a:ext>
            </a:extLst>
          </p:cNvPr>
          <p:cNvSpPr/>
          <p:nvPr/>
        </p:nvSpPr>
        <p:spPr>
          <a:xfrm>
            <a:off x="8938286" y="2365922"/>
            <a:ext cx="1921019" cy="219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 (Node #0)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C5BC1EB-DEDA-416E-B9C0-B907160B3DC0}"/>
              </a:ext>
            </a:extLst>
          </p:cNvPr>
          <p:cNvSpPr/>
          <p:nvPr/>
        </p:nvSpPr>
        <p:spPr>
          <a:xfrm>
            <a:off x="8938286" y="2589186"/>
            <a:ext cx="1921019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8D0643C-0148-47E6-8814-DDA27692C1CB}"/>
              </a:ext>
            </a:extLst>
          </p:cNvPr>
          <p:cNvSpPr txBox="1"/>
          <p:nvPr/>
        </p:nvSpPr>
        <p:spPr>
          <a:xfrm>
            <a:off x="9625086" y="2774959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F6618F4-D6FB-4025-8D46-48090AB24190}"/>
              </a:ext>
            </a:extLst>
          </p:cNvPr>
          <p:cNvSpPr/>
          <p:nvPr/>
        </p:nvSpPr>
        <p:spPr>
          <a:xfrm>
            <a:off x="6417946" y="1252792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= NULL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C3DE938-D47C-4E0E-9F91-04BF811A5012}"/>
              </a:ext>
            </a:extLst>
          </p:cNvPr>
          <p:cNvSpPr/>
          <p:nvPr/>
        </p:nvSpPr>
        <p:spPr>
          <a:xfrm>
            <a:off x="6417946" y="1715351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9BE78E3-F397-49C0-A77F-DCC25E345B83}"/>
              </a:ext>
            </a:extLst>
          </p:cNvPr>
          <p:cNvSpPr/>
          <p:nvPr/>
        </p:nvSpPr>
        <p:spPr>
          <a:xfrm>
            <a:off x="6417946" y="1920792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3F5C2243-44DC-4EEE-BD77-60718BA6F064}"/>
              </a:ext>
            </a:extLst>
          </p:cNvPr>
          <p:cNvCxnSpPr>
            <a:cxnSpLocks/>
            <a:stCxn id="163" idx="3"/>
            <a:endCxn id="77" idx="1"/>
          </p:cNvCxnSpPr>
          <p:nvPr/>
        </p:nvCxnSpPr>
        <p:spPr>
          <a:xfrm flipV="1">
            <a:off x="8250011" y="755684"/>
            <a:ext cx="701360" cy="10648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EA21911C-BE65-4F5B-88A7-0168EFB384CF}"/>
              </a:ext>
            </a:extLst>
          </p:cNvPr>
          <p:cNvCxnSpPr>
            <a:cxnSpLocks/>
            <a:stCxn id="173" idx="3"/>
            <a:endCxn id="142" idx="1"/>
          </p:cNvCxnSpPr>
          <p:nvPr/>
        </p:nvCxnSpPr>
        <p:spPr>
          <a:xfrm>
            <a:off x="8250011" y="2026019"/>
            <a:ext cx="688275" cy="449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DC37723-B7A8-471A-95E0-9E1EB75B4AE6}"/>
              </a:ext>
            </a:extLst>
          </p:cNvPr>
          <p:cNvSpPr txBox="1"/>
          <p:nvPr/>
        </p:nvSpPr>
        <p:spPr>
          <a:xfrm>
            <a:off x="9317376" y="411088"/>
            <a:ext cx="103460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percpu</a:t>
            </a:r>
            <a:r>
              <a:rPr lang="en-US" sz="14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899A084-3BE0-424A-BD1B-97F5F1FB9BE3}"/>
              </a:ext>
            </a:extLst>
          </p:cNvPr>
          <p:cNvSpPr txBox="1"/>
          <p:nvPr/>
        </p:nvSpPr>
        <p:spPr>
          <a:xfrm>
            <a:off x="9145958" y="2058571"/>
            <a:ext cx="142947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93035D-A4F8-4A1B-91B9-6A9EAB3FF003}"/>
              </a:ext>
            </a:extLst>
          </p:cNvPr>
          <p:cNvSpPr/>
          <p:nvPr/>
        </p:nvSpPr>
        <p:spPr>
          <a:xfrm>
            <a:off x="6301212" y="289713"/>
            <a:ext cx="5794218" cy="3036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7B910C-2DA9-4A8E-BF92-BD7A1E07CA2F}"/>
              </a:ext>
            </a:extLst>
          </p:cNvPr>
          <p:cNvSpPr txBox="1"/>
          <p:nvPr/>
        </p:nvSpPr>
        <p:spPr>
          <a:xfrm>
            <a:off x="6285408" y="74269"/>
            <a:ext cx="407562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Cache]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= NULL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80DB5CAF-48A6-4DAC-B983-7AC5D28CB462}"/>
              </a:ext>
            </a:extLst>
          </p:cNvPr>
          <p:cNvSpPr/>
          <p:nvPr/>
        </p:nvSpPr>
        <p:spPr>
          <a:xfrm>
            <a:off x="8800140" y="5372452"/>
            <a:ext cx="3107471" cy="124787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1BA646B4-E960-40D1-BA72-92711A264CE3}"/>
              </a:ext>
            </a:extLst>
          </p:cNvPr>
          <p:cNvSpPr/>
          <p:nvPr/>
        </p:nvSpPr>
        <p:spPr>
          <a:xfrm>
            <a:off x="8800139" y="3762351"/>
            <a:ext cx="3107471" cy="150397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C1828FF-7989-4C03-8FFD-1E0FDFDB6A0F}"/>
              </a:ext>
            </a:extLst>
          </p:cNvPr>
          <p:cNvSpPr txBox="1"/>
          <p:nvPr/>
        </p:nvSpPr>
        <p:spPr>
          <a:xfrm>
            <a:off x="9811583" y="4803327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A4EB899-3EF5-4078-8593-51E6B21F6CCD}"/>
              </a:ext>
            </a:extLst>
          </p:cNvPr>
          <p:cNvSpPr/>
          <p:nvPr/>
        </p:nvSpPr>
        <p:spPr>
          <a:xfrm>
            <a:off x="8953674" y="4049541"/>
            <a:ext cx="1825498" cy="203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kmem_cache_cpu</a:t>
            </a:r>
            <a:r>
              <a:rPr lang="en-US" sz="1200" dirty="0">
                <a:solidFill>
                  <a:schemeClr val="tx1"/>
                </a:solidFill>
              </a:rPr>
              <a:t> (CPU #0)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E441D74E-3D17-4C7D-869B-55BCF0E22282}"/>
              </a:ext>
            </a:extLst>
          </p:cNvPr>
          <p:cNvSpPr/>
          <p:nvPr/>
        </p:nvSpPr>
        <p:spPr>
          <a:xfrm>
            <a:off x="8957219" y="4252817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61D813E-2826-4B17-A90D-BFEC33C03B77}"/>
              </a:ext>
            </a:extLst>
          </p:cNvPr>
          <p:cNvSpPr/>
          <p:nvPr/>
        </p:nvSpPr>
        <p:spPr>
          <a:xfrm>
            <a:off x="8957214" y="4463435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A4FABE9-20E6-4BF2-8404-4F997E38F0F4}"/>
              </a:ext>
            </a:extLst>
          </p:cNvPr>
          <p:cNvSpPr/>
          <p:nvPr/>
        </p:nvSpPr>
        <p:spPr>
          <a:xfrm>
            <a:off x="8957217" y="4673630"/>
            <a:ext cx="1821953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931D62B5-C2F1-4BB1-B339-73C9869E230A}"/>
              </a:ext>
            </a:extLst>
          </p:cNvPr>
          <p:cNvSpPr/>
          <p:nvPr/>
        </p:nvSpPr>
        <p:spPr>
          <a:xfrm>
            <a:off x="8940589" y="5761636"/>
            <a:ext cx="1921019" cy="21971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 (Node #0)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921499E-90A9-4D65-88E9-4E556A4CCEFD}"/>
              </a:ext>
            </a:extLst>
          </p:cNvPr>
          <p:cNvSpPr/>
          <p:nvPr/>
        </p:nvSpPr>
        <p:spPr>
          <a:xfrm>
            <a:off x="8940589" y="5984900"/>
            <a:ext cx="1921019" cy="210454"/>
          </a:xfrm>
          <a:prstGeom prst="rect">
            <a:avLst/>
          </a:prstGeom>
          <a:solidFill>
            <a:srgbClr val="FFE181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D8161B2-96E0-4120-AB41-DC22C543E814}"/>
              </a:ext>
            </a:extLst>
          </p:cNvPr>
          <p:cNvSpPr txBox="1"/>
          <p:nvPr/>
        </p:nvSpPr>
        <p:spPr>
          <a:xfrm>
            <a:off x="9627389" y="6170673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A960C1D5-AE74-4B2E-ABE9-F572A6F4F058}"/>
              </a:ext>
            </a:extLst>
          </p:cNvPr>
          <p:cNvSpPr/>
          <p:nvPr/>
        </p:nvSpPr>
        <p:spPr>
          <a:xfrm>
            <a:off x="6420249" y="4648506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r>
              <a:rPr lang="en-US" sz="1400" dirty="0">
                <a:solidFill>
                  <a:schemeClr val="tx1"/>
                </a:solidFill>
              </a:rPr>
              <a:t> = NULL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A3E2FA15-D31B-4AE1-A740-6A961ADFCA97}"/>
              </a:ext>
            </a:extLst>
          </p:cNvPr>
          <p:cNvSpPr/>
          <p:nvPr/>
        </p:nvSpPr>
        <p:spPr>
          <a:xfrm>
            <a:off x="6420249" y="5111065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E5EF8E3D-03B5-4163-B6AD-2C1A3B5F6FED}"/>
              </a:ext>
            </a:extLst>
          </p:cNvPr>
          <p:cNvSpPr/>
          <p:nvPr/>
        </p:nvSpPr>
        <p:spPr>
          <a:xfrm>
            <a:off x="6420249" y="5316506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2F5AB97A-BFE5-4DE0-A417-4A4884908874}"/>
              </a:ext>
            </a:extLst>
          </p:cNvPr>
          <p:cNvCxnSpPr>
            <a:cxnSpLocks/>
            <a:stCxn id="220" idx="3"/>
            <a:endCxn id="203" idx="1"/>
          </p:cNvCxnSpPr>
          <p:nvPr/>
        </p:nvCxnSpPr>
        <p:spPr>
          <a:xfrm flipV="1">
            <a:off x="8252314" y="4151398"/>
            <a:ext cx="701360" cy="10648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0DBF4668-8AB5-4A26-B96A-13EC194CAAE9}"/>
              </a:ext>
            </a:extLst>
          </p:cNvPr>
          <p:cNvCxnSpPr>
            <a:cxnSpLocks/>
            <a:stCxn id="221" idx="3"/>
            <a:endCxn id="209" idx="1"/>
          </p:cNvCxnSpPr>
          <p:nvPr/>
        </p:nvCxnSpPr>
        <p:spPr>
          <a:xfrm>
            <a:off x="8252314" y="5421733"/>
            <a:ext cx="688275" cy="449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37FA104B-27AA-45AA-85CE-4FED7747FAD3}"/>
              </a:ext>
            </a:extLst>
          </p:cNvPr>
          <p:cNvSpPr txBox="1"/>
          <p:nvPr/>
        </p:nvSpPr>
        <p:spPr>
          <a:xfrm>
            <a:off x="9319679" y="3806802"/>
            <a:ext cx="103460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percpu</a:t>
            </a:r>
            <a:r>
              <a:rPr lang="en-US" sz="14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79E19D7-202E-4BA4-BC9E-7FCC4A414992}"/>
              </a:ext>
            </a:extLst>
          </p:cNvPr>
          <p:cNvSpPr txBox="1"/>
          <p:nvPr/>
        </p:nvSpPr>
        <p:spPr>
          <a:xfrm>
            <a:off x="9148261" y="5454285"/>
            <a:ext cx="142947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8FDA6A1A-CE0D-47A7-83A6-DDF7E0052ED4}"/>
              </a:ext>
            </a:extLst>
          </p:cNvPr>
          <p:cNvSpPr/>
          <p:nvPr/>
        </p:nvSpPr>
        <p:spPr>
          <a:xfrm>
            <a:off x="6303514" y="3685427"/>
            <a:ext cx="5794219" cy="3036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51F1B2FF-B23E-4862-A6EB-20943A24A259}"/>
              </a:ext>
            </a:extLst>
          </p:cNvPr>
          <p:cNvSpPr txBox="1"/>
          <p:nvPr/>
        </p:nvSpPr>
        <p:spPr>
          <a:xfrm>
            <a:off x="6278658" y="3469983"/>
            <a:ext cx="458064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Cache]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kmem_cache_node</a:t>
            </a:r>
            <a:r>
              <a:rPr lang="en-US" sz="1400" b="1" dirty="0">
                <a:solidFill>
                  <a:schemeClr val="bg1"/>
                </a:solidFill>
              </a:rPr>
              <a:t> = NULL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6400EDD-7FA1-4F26-9C83-AE5A38A34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24" y="969493"/>
            <a:ext cx="5518824" cy="159870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228" name="Rectangle 227">
            <a:extLst>
              <a:ext uri="{FF2B5EF4-FFF2-40B4-BE49-F238E27FC236}">
                <a16:creationId xmlns:a16="http://schemas.microsoft.com/office/drawing/2014/main" id="{041BE2C7-B4D2-415F-8390-E859B67C768D}"/>
              </a:ext>
            </a:extLst>
          </p:cNvPr>
          <p:cNvSpPr/>
          <p:nvPr/>
        </p:nvSpPr>
        <p:spPr>
          <a:xfrm>
            <a:off x="2621932" y="5150269"/>
            <a:ext cx="3107471" cy="124787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A78E6794-6C57-4CC7-9ABD-F14F48804316}"/>
              </a:ext>
            </a:extLst>
          </p:cNvPr>
          <p:cNvSpPr/>
          <p:nvPr/>
        </p:nvSpPr>
        <p:spPr>
          <a:xfrm>
            <a:off x="2621931" y="3540168"/>
            <a:ext cx="3107471" cy="150397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D4102867-5A78-41A7-A504-B79725F5999A}"/>
              </a:ext>
            </a:extLst>
          </p:cNvPr>
          <p:cNvSpPr/>
          <p:nvPr/>
        </p:nvSpPr>
        <p:spPr>
          <a:xfrm>
            <a:off x="2775466" y="3827358"/>
            <a:ext cx="1825498" cy="203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rIns="9144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kmem_cache_cpu</a:t>
            </a:r>
            <a:r>
              <a:rPr lang="en-US" sz="1200" dirty="0">
                <a:solidFill>
                  <a:schemeClr val="tx1"/>
                </a:solidFill>
              </a:rPr>
              <a:t> (CPU #0)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B0C7D90F-5DBE-4BFF-A034-796914B9A459}"/>
              </a:ext>
            </a:extLst>
          </p:cNvPr>
          <p:cNvSpPr/>
          <p:nvPr/>
        </p:nvSpPr>
        <p:spPr>
          <a:xfrm>
            <a:off x="2779011" y="4030634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*page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7971FD8A-E5E6-4C82-A66C-7B202026CE00}"/>
              </a:ext>
            </a:extLst>
          </p:cNvPr>
          <p:cNvSpPr/>
          <p:nvPr/>
        </p:nvSpPr>
        <p:spPr>
          <a:xfrm>
            <a:off x="2779006" y="4241252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void **freelist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3F559FFF-51FD-41FD-BDDA-9D277C2E0C21}"/>
              </a:ext>
            </a:extLst>
          </p:cNvPr>
          <p:cNvSpPr/>
          <p:nvPr/>
        </p:nvSpPr>
        <p:spPr>
          <a:xfrm>
            <a:off x="2779009" y="4451447"/>
            <a:ext cx="1821953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page *partial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A5DAD6F9-BAE3-442D-8A04-FC6A4362162B}"/>
              </a:ext>
            </a:extLst>
          </p:cNvPr>
          <p:cNvSpPr/>
          <p:nvPr/>
        </p:nvSpPr>
        <p:spPr>
          <a:xfrm>
            <a:off x="2762381" y="5539453"/>
            <a:ext cx="1921019" cy="219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kmem_cache_node</a:t>
            </a:r>
            <a:r>
              <a:rPr lang="en-US" sz="1200" dirty="0">
                <a:solidFill>
                  <a:schemeClr val="tx1"/>
                </a:solidFill>
              </a:rPr>
              <a:t> (Node #0)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D124C266-1B62-402F-96D6-59E51971C025}"/>
              </a:ext>
            </a:extLst>
          </p:cNvPr>
          <p:cNvSpPr/>
          <p:nvPr/>
        </p:nvSpPr>
        <p:spPr>
          <a:xfrm>
            <a:off x="2762381" y="5753664"/>
            <a:ext cx="1921019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struct </a:t>
            </a:r>
            <a:r>
              <a:rPr lang="en-US" sz="1200" dirty="0" err="1">
                <a:solidFill>
                  <a:schemeClr val="tx1"/>
                </a:solidFill>
              </a:rPr>
              <a:t>list_head</a:t>
            </a:r>
            <a:r>
              <a:rPr lang="en-US" sz="1200" dirty="0">
                <a:solidFill>
                  <a:schemeClr val="tx1"/>
                </a:solidFill>
              </a:rPr>
              <a:t> partial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5CA2CD1C-8E13-4D84-9725-CB64CCA1F5D9}"/>
              </a:ext>
            </a:extLst>
          </p:cNvPr>
          <p:cNvSpPr/>
          <p:nvPr/>
        </p:nvSpPr>
        <p:spPr>
          <a:xfrm>
            <a:off x="242041" y="4426323"/>
            <a:ext cx="1832065" cy="4693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kmem_cache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(Slab cache)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2B39EBC5-9F95-4655-80E9-093E309F4040}"/>
              </a:ext>
            </a:extLst>
          </p:cNvPr>
          <p:cNvSpPr/>
          <p:nvPr/>
        </p:nvSpPr>
        <p:spPr>
          <a:xfrm>
            <a:off x="242041" y="4888882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__</a:t>
            </a:r>
            <a:r>
              <a:rPr lang="en-US" sz="1200" dirty="0" err="1">
                <a:solidFill>
                  <a:schemeClr val="tx1"/>
                </a:solidFill>
              </a:rPr>
              <a:t>percpu</a:t>
            </a:r>
            <a:r>
              <a:rPr lang="en-US" sz="1200" dirty="0">
                <a:solidFill>
                  <a:schemeClr val="tx1"/>
                </a:solidFill>
              </a:rPr>
              <a:t> *</a:t>
            </a:r>
            <a:r>
              <a:rPr lang="en-US" sz="1200" dirty="0" err="1">
                <a:solidFill>
                  <a:schemeClr val="tx1"/>
                </a:solidFill>
              </a:rPr>
              <a:t>cpu_slab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8B25100E-9B42-462A-B748-2C38D864CBEA}"/>
              </a:ext>
            </a:extLst>
          </p:cNvPr>
          <p:cNvSpPr/>
          <p:nvPr/>
        </p:nvSpPr>
        <p:spPr>
          <a:xfrm>
            <a:off x="242041" y="5094323"/>
            <a:ext cx="1832065" cy="210454"/>
          </a:xfrm>
          <a:prstGeom prst="rect">
            <a:avLst/>
          </a:prstGeom>
          <a:solidFill>
            <a:srgbClr val="FFE18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*node[MAX_NUMNODES]</a:t>
            </a:r>
          </a:p>
        </p:txBody>
      </p:sp>
      <p:cxnSp>
        <p:nvCxnSpPr>
          <p:cNvPr id="256" name="Connector: Elbow 255">
            <a:extLst>
              <a:ext uri="{FF2B5EF4-FFF2-40B4-BE49-F238E27FC236}">
                <a16:creationId xmlns:a16="http://schemas.microsoft.com/office/drawing/2014/main" id="{84570304-5B27-4D79-9F82-51D4FF321DDA}"/>
              </a:ext>
            </a:extLst>
          </p:cNvPr>
          <p:cNvCxnSpPr>
            <a:cxnSpLocks/>
            <a:stCxn id="254" idx="3"/>
            <a:endCxn id="237" idx="1"/>
          </p:cNvCxnSpPr>
          <p:nvPr/>
        </p:nvCxnSpPr>
        <p:spPr>
          <a:xfrm flipV="1">
            <a:off x="2074106" y="3929215"/>
            <a:ext cx="701360" cy="10648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: Elbow 256">
            <a:extLst>
              <a:ext uri="{FF2B5EF4-FFF2-40B4-BE49-F238E27FC236}">
                <a16:creationId xmlns:a16="http://schemas.microsoft.com/office/drawing/2014/main" id="{BF63DA4B-6BE6-4741-9103-C0CFCC3E671A}"/>
              </a:ext>
            </a:extLst>
          </p:cNvPr>
          <p:cNvCxnSpPr>
            <a:cxnSpLocks/>
            <a:stCxn id="255" idx="3"/>
            <a:endCxn id="243" idx="1"/>
          </p:cNvCxnSpPr>
          <p:nvPr/>
        </p:nvCxnSpPr>
        <p:spPr>
          <a:xfrm>
            <a:off x="2074106" y="5199550"/>
            <a:ext cx="688275" cy="4497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5D1FE6F6-1FAE-4FAA-8CAB-09EDAD089AC0}"/>
              </a:ext>
            </a:extLst>
          </p:cNvPr>
          <p:cNvSpPr txBox="1"/>
          <p:nvPr/>
        </p:nvSpPr>
        <p:spPr>
          <a:xfrm>
            <a:off x="3141471" y="3584619"/>
            <a:ext cx="1034607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percpu</a:t>
            </a:r>
            <a:r>
              <a:rPr lang="en-US" sz="1400" b="1" dirty="0">
                <a:solidFill>
                  <a:schemeClr val="bg1"/>
                </a:solidFill>
              </a:rPr>
              <a:t> cache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1FCB9566-2B30-47A4-9648-F316C2C3A2A2}"/>
              </a:ext>
            </a:extLst>
          </p:cNvPr>
          <p:cNvSpPr txBox="1"/>
          <p:nvPr/>
        </p:nvSpPr>
        <p:spPr>
          <a:xfrm>
            <a:off x="2970053" y="5232102"/>
            <a:ext cx="1429473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Node-based cache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B54719FB-3406-4496-BA3D-0DA197B6125A}"/>
              </a:ext>
            </a:extLst>
          </p:cNvPr>
          <p:cNvSpPr/>
          <p:nvPr/>
        </p:nvSpPr>
        <p:spPr>
          <a:xfrm>
            <a:off x="125307" y="3463244"/>
            <a:ext cx="5794218" cy="30365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A800381-552E-44AE-BB65-8A83385AA8BB}"/>
              </a:ext>
            </a:extLst>
          </p:cNvPr>
          <p:cNvSpPr txBox="1"/>
          <p:nvPr/>
        </p:nvSpPr>
        <p:spPr>
          <a:xfrm>
            <a:off x="109503" y="3247800"/>
            <a:ext cx="3765380" cy="215444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18288" tIns="0" rIns="18288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[Slab Cache] struct </a:t>
            </a:r>
            <a:r>
              <a:rPr lang="en-US" sz="1400" b="1" dirty="0" err="1">
                <a:solidFill>
                  <a:schemeClr val="bg1"/>
                </a:solidFill>
              </a:rPr>
              <a:t>kmem_cache</a:t>
            </a:r>
            <a:r>
              <a:rPr lang="en-US" sz="1400" b="1" dirty="0">
                <a:solidFill>
                  <a:schemeClr val="bg1"/>
                </a:solidFill>
              </a:rPr>
              <a:t> *</a:t>
            </a:r>
            <a:r>
              <a:rPr lang="en-US" sz="1400" b="1" dirty="0" err="1">
                <a:solidFill>
                  <a:schemeClr val="bg1"/>
                </a:solidFill>
              </a:rPr>
              <a:t>sighand_cachep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3356B38-0EE5-4756-A313-4C20A4365A86}"/>
              </a:ext>
            </a:extLst>
          </p:cNvPr>
          <p:cNvSpPr/>
          <p:nvPr/>
        </p:nvSpPr>
        <p:spPr>
          <a:xfrm>
            <a:off x="4282289" y="5374610"/>
            <a:ext cx="2009869" cy="220423"/>
          </a:xfrm>
          <a:custGeom>
            <a:avLst/>
            <a:gdLst>
              <a:gd name="connsiteX0" fmla="*/ 0 w 2009869"/>
              <a:gd name="connsiteY0" fmla="*/ 220423 h 220423"/>
              <a:gd name="connsiteX1" fmla="*/ 561315 w 2009869"/>
              <a:gd name="connsiteY1" fmla="*/ 3140 h 220423"/>
              <a:gd name="connsiteX2" fmla="*/ 2009869 w 2009869"/>
              <a:gd name="connsiteY2" fmla="*/ 111782 h 220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9869" h="220423">
                <a:moveTo>
                  <a:pt x="0" y="220423"/>
                </a:moveTo>
                <a:cubicBezTo>
                  <a:pt x="113168" y="120835"/>
                  <a:pt x="226337" y="21247"/>
                  <a:pt x="561315" y="3140"/>
                </a:cubicBezTo>
                <a:cubicBezTo>
                  <a:pt x="896293" y="-14967"/>
                  <a:pt x="1453081" y="48407"/>
                  <a:pt x="2009869" y="111782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D85654E-DFA0-4EB0-86A1-26B04472ECB1}"/>
              </a:ext>
            </a:extLst>
          </p:cNvPr>
          <p:cNvSpPr txBox="1"/>
          <p:nvPr/>
        </p:nvSpPr>
        <p:spPr>
          <a:xfrm>
            <a:off x="3418954" y="4612034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EE6D4BE-BF80-4669-9FE1-C77C0E2AEC6F}"/>
              </a:ext>
            </a:extLst>
          </p:cNvPr>
          <p:cNvSpPr txBox="1"/>
          <p:nvPr/>
        </p:nvSpPr>
        <p:spPr>
          <a:xfrm>
            <a:off x="3428382" y="5959025"/>
            <a:ext cx="385241" cy="51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  <a:p>
            <a:pPr>
              <a:lnSpc>
                <a:spcPts val="1400"/>
              </a:lnSpc>
            </a:pPr>
            <a:r>
              <a:rPr lang="en-US" sz="3200" b="1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39B36-7309-4F07-BC1A-2496714E9D0B}"/>
              </a:ext>
            </a:extLst>
          </p:cNvPr>
          <p:cNvSpPr txBox="1"/>
          <p:nvPr/>
        </p:nvSpPr>
        <p:spPr>
          <a:xfrm rot="20946082">
            <a:off x="4246370" y="2620645"/>
            <a:ext cx="2405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/>
              <a:t>[Cannot work] Allocate from ‘</a:t>
            </a:r>
            <a:r>
              <a:rPr lang="en-US" altLang="zh-TW" sz="1400" b="1" dirty="0" err="1"/>
              <a:t>kmem_cache</a:t>
            </a:r>
            <a:r>
              <a:rPr lang="en-US" altLang="zh-TW" sz="1400" b="1" dirty="0"/>
              <a:t>’ slab cache</a:t>
            </a:r>
            <a:endParaRPr lang="zh-TW" altLang="en-US" sz="14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546A59-7383-48BA-8C4F-E33811BC3EB4}"/>
              </a:ext>
            </a:extLst>
          </p:cNvPr>
          <p:cNvCxnSpPr>
            <a:stCxn id="32" idx="2"/>
            <a:endCxn id="261" idx="0"/>
          </p:cNvCxnSpPr>
          <p:nvPr/>
        </p:nvCxnSpPr>
        <p:spPr>
          <a:xfrm flipH="1">
            <a:off x="1992193" y="2568199"/>
            <a:ext cx="872643" cy="6796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72447721-4186-4C35-8D81-A0779580AA70}"/>
              </a:ext>
            </a:extLst>
          </p:cNvPr>
          <p:cNvSpPr/>
          <p:nvPr/>
        </p:nvSpPr>
        <p:spPr>
          <a:xfrm>
            <a:off x="2341728" y="2751014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2FDFBF7-1856-4D9A-95D5-9100542851B0}"/>
              </a:ext>
            </a:extLst>
          </p:cNvPr>
          <p:cNvSpPr/>
          <p:nvPr/>
        </p:nvSpPr>
        <p:spPr>
          <a:xfrm>
            <a:off x="1737279" y="3023857"/>
            <a:ext cx="4536772" cy="1539090"/>
          </a:xfrm>
          <a:custGeom>
            <a:avLst/>
            <a:gdLst>
              <a:gd name="connsiteX0" fmla="*/ 109628 w 4536772"/>
              <a:gd name="connsiteY0" fmla="*/ 1539090 h 1539090"/>
              <a:gd name="connsiteX1" fmla="*/ 571355 w 4536772"/>
              <a:gd name="connsiteY1" fmla="*/ 733331 h 1539090"/>
              <a:gd name="connsiteX2" fmla="*/ 4536772 w 4536772"/>
              <a:gd name="connsiteY2" fmla="*/ 0 h 1539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36772" h="1539090">
                <a:moveTo>
                  <a:pt x="109628" y="1539090"/>
                </a:moveTo>
                <a:cubicBezTo>
                  <a:pt x="-28437" y="1264468"/>
                  <a:pt x="-166502" y="989846"/>
                  <a:pt x="571355" y="733331"/>
                </a:cubicBezTo>
                <a:cubicBezTo>
                  <a:pt x="1309212" y="476816"/>
                  <a:pt x="2922992" y="238408"/>
                  <a:pt x="4536772" y="0"/>
                </a:cubicBezTo>
              </a:path>
            </a:pathLst>
          </a:custGeom>
          <a:noFill/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A9BC659-FDC4-45CC-BB3B-29C52AAD9B53}"/>
              </a:ext>
            </a:extLst>
          </p:cNvPr>
          <p:cNvSpPr/>
          <p:nvPr/>
        </p:nvSpPr>
        <p:spPr>
          <a:xfrm>
            <a:off x="4170919" y="3144035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E203982-30BD-4E63-8CFE-5DEE9987D673}"/>
              </a:ext>
            </a:extLst>
          </p:cNvPr>
          <p:cNvSpPr/>
          <p:nvPr/>
        </p:nvSpPr>
        <p:spPr>
          <a:xfrm>
            <a:off x="4672145" y="5215979"/>
            <a:ext cx="222739" cy="28594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4AF2258-2A30-4151-8C47-EA44AAC9F2E2}"/>
              </a:ext>
            </a:extLst>
          </p:cNvPr>
          <p:cNvSpPr txBox="1"/>
          <p:nvPr/>
        </p:nvSpPr>
        <p:spPr>
          <a:xfrm>
            <a:off x="4637886" y="5481118"/>
            <a:ext cx="2520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/>
              <a:t>[Cannot work] Allocate from ‘</a:t>
            </a:r>
            <a:r>
              <a:rPr lang="en-US" altLang="zh-TW" sz="1400" b="1" dirty="0" err="1"/>
              <a:t>kmem_cache_node</a:t>
            </a:r>
            <a:r>
              <a:rPr lang="en-US" altLang="zh-TW" sz="1400" b="1" dirty="0"/>
              <a:t>’ slab cache</a:t>
            </a:r>
            <a:endParaRPr lang="zh-TW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50475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193787</TotalTime>
  <Words>23638</Words>
  <Application>Microsoft Office PowerPoint</Application>
  <PresentationFormat>Widescreen</PresentationFormat>
  <Paragraphs>4769</Paragraphs>
  <Slides>101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8" baseType="lpstr">
      <vt:lpstr>Arial</vt:lpstr>
      <vt:lpstr>Calibri</vt:lpstr>
      <vt:lpstr>Calibri Light</vt:lpstr>
      <vt:lpstr>Courier New</vt:lpstr>
      <vt:lpstr>Roboto</vt:lpstr>
      <vt:lpstr>Wingdings</vt:lpstr>
      <vt:lpstr>Office Theme</vt:lpstr>
      <vt:lpstr>Slab Allocator in Linux Kernel</vt:lpstr>
      <vt:lpstr>Agenda</vt:lpstr>
      <vt:lpstr>Slab &amp; Buddy System</vt:lpstr>
      <vt:lpstr>Slab Concept</vt:lpstr>
      <vt:lpstr>Slab Cache</vt:lpstr>
      <vt:lpstr>Slab Cache</vt:lpstr>
      <vt:lpstr>Slab Allocator Initialization: “Chicken or the egg” problem</vt:lpstr>
      <vt:lpstr>Slab Allocator Initialization: “Chicken or the egg” problem</vt:lpstr>
      <vt:lpstr>Slab Allocator Initialization: “Chicken or the egg” problem</vt:lpstr>
      <vt:lpstr>[Init &amp; Creation] kmem_cache_init(): Let’s check the initialization detail</vt:lpstr>
      <vt:lpstr>kmem_cache_init()</vt:lpstr>
      <vt:lpstr>kmem_cache_node/boot_kmem_cache_node init</vt:lpstr>
      <vt:lpstr>kmem_cache_node/boot_kmem_cache_node init</vt:lpstr>
      <vt:lpstr>kmem_cache/boot_kmem_cache init</vt:lpstr>
      <vt:lpstr>kmem_cache/boot_kmem_cache init</vt:lpstr>
      <vt:lpstr>init_kmem_cache_nodes()</vt:lpstr>
      <vt:lpstr>early_kmem_cache_node_alloc for ‘kmem_cache_node’</vt:lpstr>
      <vt:lpstr>allocate_slab() – freelist/freepointer configuration</vt:lpstr>
      <vt:lpstr>allocate_slab() – freelist/freepointer configuration</vt:lpstr>
      <vt:lpstr>early_kmem_cache_node_alloc() – Get a slab object from freelist</vt:lpstr>
      <vt:lpstr>early_kmem_cache_node_alloc() – Get a slab object from freelist</vt:lpstr>
      <vt:lpstr>early_kmem_cache_node_alloc() – Get a slab object from freelist</vt:lpstr>
      <vt:lpstr>early_kmem_cache_node_alloc() – Get a slab object from freelist</vt:lpstr>
      <vt:lpstr>early_kmem_cache_node_alloc(): configure node #0</vt:lpstr>
      <vt:lpstr>early_kmem_cache_node_alloc(): configure node #0</vt:lpstr>
      <vt:lpstr>early_kmem_cache_node_alloc(): configure node #0</vt:lpstr>
      <vt:lpstr>early_kmem_cache_node_alloc(): Fully-configured</vt:lpstr>
      <vt:lpstr>early_kmem_cache_node_alloc(): Fully-configured</vt:lpstr>
      <vt:lpstr>[Comparison] Generic kmem_cache_create() &amp; low-level implementation __kmem_cache_create()</vt:lpstr>
      <vt:lpstr>[Cache allocation] slab_alloc_node – Allocate a slab cache with specific node id</vt:lpstr>
      <vt:lpstr>kmem_cache_init()</vt:lpstr>
      <vt:lpstr>kmem_cache: init_kmem_cache_nodes()</vt:lpstr>
      <vt:lpstr>kmem_cache_alloc_node/slab_alloc_node</vt:lpstr>
      <vt:lpstr>Fast Path</vt:lpstr>
      <vt:lpstr>slab_alloc_node(): slowpath #1 – Get an object from node’s partial page</vt:lpstr>
      <vt:lpstr>Slowpath #1 – Get an object from node’s partial page</vt:lpstr>
      <vt:lpstr>Slowpath #1 – Get an object from node’s partial page</vt:lpstr>
      <vt:lpstr>Slowpath #1 – Get an object from node’s partial page</vt:lpstr>
      <vt:lpstr>Slowpath #1 – Get an object from node’s partial page</vt:lpstr>
      <vt:lpstr>Slowpath #1 – Get an object from node’s partial page</vt:lpstr>
      <vt:lpstr>Slowpath #1 – Get an object from node’s partial page</vt:lpstr>
      <vt:lpstr>Slowpath #1 – Get an object from node’s partial page</vt:lpstr>
      <vt:lpstr>Slowpath #1 – Get an object from node’s partial page</vt:lpstr>
      <vt:lpstr>Slowpath #1 – Get an object from node’s partial page</vt:lpstr>
      <vt:lpstr>Slowpath #1 – Get an object from node’s partial page</vt:lpstr>
      <vt:lpstr>Slowpath #1 – Get an object from node’s partial page</vt:lpstr>
      <vt:lpstr>Slowpath #1 – Get an object from node’s partial page</vt:lpstr>
      <vt:lpstr>kmem_cache_init()</vt:lpstr>
      <vt:lpstr>create_boot_cache(): 1/2</vt:lpstr>
      <vt:lpstr>create_boot_cache(): 2/2</vt:lpstr>
      <vt:lpstr>kmem_cache_init()</vt:lpstr>
      <vt:lpstr>kmem_cache = bootstrap(&amp;boot_kmem_cache)</vt:lpstr>
      <vt:lpstr>slab_alloc_node(): slowpath #2 – Allocate a page from Buddy system</vt:lpstr>
      <vt:lpstr>[slowpath #2] Before: bootstrap(&amp;boot_kmem_cache) -&gt; kmem_cache_zalloc() </vt:lpstr>
      <vt:lpstr>[slowpath #2] After: bootstrap(&amp;boot_kmem_cache) -&gt; kmem_cache_zalloc() </vt:lpstr>
      <vt:lpstr>[slowpath #2] After: bootstrap(&amp;boot_kmem_cache) -&gt; kmem_cache_zalloc() </vt:lpstr>
      <vt:lpstr>PowerPoint Presentation</vt:lpstr>
      <vt:lpstr>kmem_cache = bootstrap(&amp;boot_kmem_cache): after function returns</vt:lpstr>
      <vt:lpstr>kmem_cache = bootstrap(&amp;boot_kmem_cache): after function returns</vt:lpstr>
      <vt:lpstr>kmem_cache_init()</vt:lpstr>
      <vt:lpstr>slab_alloc_node(): slowpath #1 – Get an object from node’s partial page</vt:lpstr>
      <vt:lpstr>kmem_cache_node = bootstrap(&amp;boot_kmem_cache_node) -&gt; kmem_cache_zalloc(…)</vt:lpstr>
      <vt:lpstr>kmem_cache_node = bootstrap(&amp;boot_kmem_cache_node) -&gt; kmem_cache_zalloc(…)</vt:lpstr>
      <vt:lpstr>kmem_cache_node = bootstrap(&amp;boot_kmem_cache_node) -&gt; __flush_cpu_slab()</vt:lpstr>
      <vt:lpstr>kmem_cache_node = bootstrap(&amp;boot_kmem_cache_node) -&gt; __flush_cpu_slab()</vt:lpstr>
      <vt:lpstr>kmem_cache_node = bootstrap(&amp;boot_kmem_cache_node) -&gt; __flush_cpu_slab()</vt:lpstr>
      <vt:lpstr>After ‘kmem_cache_node = bootstrap(&amp;boot_kmem_cache_node)’</vt:lpstr>
      <vt:lpstr>kmem_cache_init()</vt:lpstr>
      <vt:lpstr>slab_alloc_node(): slowpath #3 – Get a partial page from percpu cache</vt:lpstr>
      <vt:lpstr>slowpath #3: Get a partial page from percpu cache</vt:lpstr>
      <vt:lpstr>When to add a page to percpu partial page? – Case 1 (1/2)</vt:lpstr>
      <vt:lpstr>When to add a page to percpu partial page? – Case 1 (2/2)</vt:lpstr>
      <vt:lpstr>When to add a page to percpu partial page? – Case 2: slab_free()</vt:lpstr>
      <vt:lpstr>When to add a page to percpu partial page? – Case 2: slab_free()</vt:lpstr>
      <vt:lpstr>slab_alloc_node(): slowpath #4 – Get a slab object page from page-&gt;freelist</vt:lpstr>
      <vt:lpstr>slowpath #4: Get a slab object from page-&gt;freelist</vt:lpstr>
      <vt:lpstr>slowpath #4: Get a slab object from page-&gt;freelist</vt:lpstr>
      <vt:lpstr>slowpath #4: Get a slab object from page-&gt;freelist</vt:lpstr>
      <vt:lpstr>slowpath #4: Get a slab object from page-&gt;freelist</vt:lpstr>
      <vt:lpstr>/proc/slabinfo</vt:lpstr>
      <vt:lpstr>[Cache release/free] kmem_cache_free()</vt:lpstr>
      <vt:lpstr>kmem_cache_free()</vt:lpstr>
      <vt:lpstr>slowpath #1:put_cpu_partial() – Case 1: Move page(s) to percpu partial</vt:lpstr>
      <vt:lpstr>slowpath #1:put_cpu_partial() – Case 2 (1/2)</vt:lpstr>
      <vt:lpstr>slowpath #1:put_cpu_partial() – Case 2 (2/2)</vt:lpstr>
      <vt:lpstr>slowpath #2: add_partial() – Move a page to node partial</vt:lpstr>
      <vt:lpstr>slowpath #3: remove_partial() and discard_slab()</vt:lpstr>
      <vt:lpstr>kmalloc &amp; slab</vt:lpstr>
      <vt:lpstr>kmalloc &amp; slab</vt:lpstr>
      <vt:lpstr>kmalloc() &amp; kfree()</vt:lpstr>
      <vt:lpstr>Compound page</vt:lpstr>
      <vt:lpstr>Compound page</vt:lpstr>
      <vt:lpstr>Compound page</vt:lpstr>
      <vt:lpstr>Compound page</vt:lpstr>
      <vt:lpstr>Q1: [SLUB] kmalloc: allocation size = 0, 1, 2, or 4  workable?</vt:lpstr>
      <vt:lpstr>Reference</vt:lpstr>
      <vt:lpstr>Backup</vt:lpstr>
      <vt:lpstr>Slab Cache</vt:lpstr>
      <vt:lpstr>Slab Allocator Initialization: “Chicken or the egg” problem</vt:lpstr>
      <vt:lpstr>Slab Allocator Initialization: “Chicken or the egg” problem</vt:lpstr>
      <vt:lpstr>Slab Allocator Initialization: “Chicken or the egg”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Management in Linux Kernel</dc:title>
  <dc:creator>Adrian Huang12</dc:creator>
  <cp:lastModifiedBy>Adrian Huang12</cp:lastModifiedBy>
  <cp:revision>3324</cp:revision>
  <dcterms:created xsi:type="dcterms:W3CDTF">2020-12-09T10:05:08Z</dcterms:created>
  <dcterms:modified xsi:type="dcterms:W3CDTF">2022-09-26T06:46:31Z</dcterms:modified>
</cp:coreProperties>
</file>